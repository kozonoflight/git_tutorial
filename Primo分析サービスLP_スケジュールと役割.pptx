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3A5C"/>
                </a:solidFill>
              </a:defRPr>
            </a:pPr>
            <a:r>
              <a:t>Primo分析サービス LP立ち上げ　ご依頼内容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868680"/>
            <a:ext cx="11064240" cy="384048"/>
          </a:xfrm>
          <a:prstGeom prst="roundRect">
            <a:avLst/>
          </a:prstGeom>
          <a:solidFill>
            <a:srgbClr val="FFF8F0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86C00"/>
                </a:solidFill>
              </a:defRPr>
            </a:pPr>
            <a:r>
              <a:t>依頼元：フライト（Flight）　→　ご依頼先：牛尾様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A3A5C"/>
                </a:solidFill>
              </a:defRPr>
            </a:pPr>
            <a:r>
              <a:t>スケジュール・工程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303520" cy="1051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965960"/>
            <a:ext cx="411480" cy="411480"/>
          </a:xfrm>
          <a:prstGeom prst="ellipse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92024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A3A5C"/>
                </a:solidFill>
              </a:defRPr>
            </a:pPr>
            <a:r>
              <a:t>〜7/15　デザインコンテンツの作成</a:t>
            </a:r>
          </a:p>
          <a:p>
            <a:pPr>
              <a:spcBef>
                <a:spcPts val="300"/>
              </a:spcBef>
              <a:defRPr sz="1000" b="0">
                <a:solidFill>
                  <a:srgbClr val="999999"/>
                </a:solidFill>
              </a:defRPr>
            </a:pPr>
            <a:r>
              <a:t>担当：BI会社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63240"/>
            <a:ext cx="5303520" cy="1051560"/>
          </a:xfrm>
          <a:prstGeom prst="roundRect">
            <a:avLst/>
          </a:prstGeom>
          <a:solidFill>
            <a:srgbClr val="FFF8F0"/>
          </a:solidFill>
          <a:ln w="1524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3200400"/>
            <a:ext cx="411480" cy="41148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A3A5C"/>
                </a:solidFill>
              </a:defRPr>
            </a:pPr>
            <a:r>
              <a:t>7/17〜31頃　デザインコンテンツへのFB</a:t>
            </a:r>
          </a:p>
          <a:p>
            <a:pPr>
              <a:spcBef>
                <a:spcPts val="300"/>
              </a:spcBef>
              <a:defRPr sz="1000" b="1">
                <a:solidFill>
                  <a:srgbClr val="E86C00"/>
                </a:solidFill>
              </a:defRPr>
            </a:pPr>
            <a:r>
              <a:t>担当：牛尾様（フライトよりご依頼）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5303520" cy="1051560"/>
          </a:xfrm>
          <a:prstGeom prst="roundRect">
            <a:avLst/>
          </a:prstGeom>
          <a:solidFill>
            <a:srgbClr val="FFF8F0"/>
          </a:solidFill>
          <a:ln w="1524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4434840"/>
            <a:ext cx="411480" cy="41148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3891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A3A5C"/>
                </a:solidFill>
              </a:defRPr>
            </a:pPr>
            <a:r>
              <a:t>8/1〜21頃　デザインコーディング</a:t>
            </a:r>
            <a:br/>
            <a:r>
              <a:t>セールスサイトへの組み込み</a:t>
            </a:r>
          </a:p>
          <a:p>
            <a:pPr>
              <a:spcBef>
                <a:spcPts val="300"/>
              </a:spcBef>
              <a:defRPr sz="1000" b="1">
                <a:solidFill>
                  <a:srgbClr val="E86C00"/>
                </a:solidFill>
              </a:defRPr>
            </a:pPr>
            <a:r>
              <a:t>担当：牛尾様（フライトよりご依頼）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3212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999999"/>
                </a:solidFill>
              </a:defRPr>
            </a:pPr>
            <a:r>
              <a:t>※ スケジュールは若干の調整可能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1417320"/>
            <a:ext cx="18288" cy="4434840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417320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A3A5C"/>
                </a:solidFill>
              </a:defRPr>
            </a:pPr>
            <a:r>
              <a:t>牛尾様へのご依頼と責任範囲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828800"/>
            <a:ext cx="5394960" cy="1965960"/>
          </a:xfrm>
          <a:prstGeom prst="roundRect">
            <a:avLst/>
          </a:prstGeom>
          <a:solidFill>
            <a:srgbClr val="FFF8F0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828800"/>
            <a:ext cx="5394960" cy="4114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883664"/>
            <a:ext cx="5120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②  FBフェーズ（アドバイザーとしてのご助言）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・BI会社が共有するデザインコンテンツへのFB</a:t>
            </a:r>
          </a:p>
          <a:p>
            <a:pPr>
              <a:spcBef>
                <a:spcPts val="200"/>
              </a:spcBef>
              <a:defRPr sz="1000">
                <a:solidFill>
                  <a:srgbClr val="555555"/>
                </a:solidFill>
              </a:defRPr>
            </a:pPr>
            <a:r>
              <a:t>・LPの情報設計・セールスサイトとの導線など</a:t>
            </a:r>
          </a:p>
          <a:p>
            <a:pPr>
              <a:spcBef>
                <a:spcPts val="200"/>
              </a:spcBef>
              <a:defRPr sz="1000">
                <a:solidFill>
                  <a:srgbClr val="555555"/>
                </a:solidFill>
              </a:defRPr>
            </a:pPr>
            <a:r>
              <a:t>・セールスサイト全体を見たうえでのアドバイスも歓迎</a:t>
            </a:r>
          </a:p>
          <a:p>
            <a:pPr>
              <a:spcBef>
                <a:spcPts val="600"/>
              </a:spcBef>
              <a:defRPr sz="950" b="1">
                <a:solidFill>
                  <a:srgbClr val="1A3A5C"/>
                </a:solidFill>
              </a:defRPr>
            </a:pPr>
            <a:r>
              <a:t>▶ アドバイザーとしての助言をお願いするもの</a:t>
            </a:r>
          </a:p>
          <a:p>
            <a:pPr>
              <a:spcBef>
                <a:spcPts val="400"/>
              </a:spcBef>
              <a:defRPr sz="900" i="1">
                <a:solidFill>
                  <a:srgbClr val="999999"/>
                </a:solidFill>
              </a:defRPr>
            </a:pPr>
            <a:r>
              <a:t>※ デザイン責任は伴いません。BI会社とのやり取りも発生しない想定です。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977640"/>
            <a:ext cx="5394960" cy="1965960"/>
          </a:xfrm>
          <a:prstGeom prst="roundRect">
            <a:avLst/>
          </a:prstGeom>
          <a:solidFill>
            <a:srgbClr val="FFF8F0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977640"/>
            <a:ext cx="5394960" cy="4114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032504"/>
            <a:ext cx="5120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③  デザインコーディング・組み込み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45312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・②でFIXしたデザインのコーディング</a:t>
            </a:r>
          </a:p>
          <a:p>
            <a:pPr>
              <a:spcBef>
                <a:spcPts val="200"/>
              </a:spcBef>
              <a:defRPr sz="1000">
                <a:solidFill>
                  <a:srgbClr val="555555"/>
                </a:solidFill>
              </a:defRPr>
            </a:pPr>
            <a:r>
              <a:t>・セールスサイトへの組み込み</a:t>
            </a:r>
          </a:p>
          <a:p>
            <a:pPr>
              <a:spcBef>
                <a:spcPts val="600"/>
              </a:spcBef>
              <a:defRPr sz="950" b="1">
                <a:solidFill>
                  <a:srgbClr val="1A3A5C"/>
                </a:solidFill>
              </a:defRPr>
            </a:pPr>
            <a:r>
              <a:t>▶ FIXしたデザインをコーディングし、セールスサイトに埋め込む作業</a:t>
            </a:r>
          </a:p>
          <a:p>
            <a:pPr>
              <a:spcBef>
                <a:spcPts val="400"/>
              </a:spcBef>
              <a:defRPr sz="900" i="1">
                <a:solidFill>
                  <a:srgbClr val="999999"/>
                </a:solidFill>
              </a:defRPr>
            </a:pPr>
            <a:r>
              <a:t>※ FIXデザイン通りに組み込めたかが責任範囲となります。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A3A5C"/>
                </a:solidFill>
              </a:defRPr>
            </a:pPr>
            <a:r>
              <a:t>FLIGHT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