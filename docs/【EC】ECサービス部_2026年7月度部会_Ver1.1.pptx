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1029" r:id="rId30"/>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9.xml"/><Relationship Id="rId3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9000000" cy="26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650000" y="1000000"/>
          <a:ext cx="8600000" cy="1400000"/>
        </p:xfrm>
        <a:graphic>
          <a:graphicData uri="http://schemas.openxmlformats.org/drawingml/2006/table">
            <a:tbl>
              <a:tblPr firstRow="1" bandRow="1">
                <a:tableStyleId>{5C22544A-7EE6-4342-B048-85BDC9FD1C3A}</a:tableStyleId>
              </a:tblPr>
              <a:tblGrid>
                <a:gridCol w="2150000"/>
                <a:gridCol w="2150000"/>
                <a:gridCol w="2150000"/>
                <a:gridCol w="2150000"/>
              </a:tblGrid>
              <a:tr h="350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350000">
                <a:tc>
                  <a:txBody>
                    <a:bodyPr/>
                    <a:lstStyle/>
                    <a:p>
                      <a:pPr algn="l"/>
                      <a:r>
                        <a:rPr sz="1200" b="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tr>
              <a:tr h="350000">
                <a:tc>
                  <a:txBody>
                    <a:bodyPr/>
                    <a:lstStyle/>
                    <a:p>
                      <a:pPr algn="l"/>
                      <a:r>
                        <a:rPr sz="1200" b="0">
                          <a:solidFill>
                            <a:srgbClr val="333333"/>
                          </a:solidFill>
                          <a:latin typeface="メイリオ"/>
                          <a:ea typeface="メイリオ"/>
                        </a:rPr>
                        <a:t>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tr>
              <a:tr h="350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650000" y="2600000"/>
            <a:ext cx="9000000" cy="32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 顧客適用状況</a:t>
            </a:r>
          </a:p>
          <a:p>
            <a:pPr>
              <a:spcBef>
                <a:spcPts val="0"/>
              </a:spcBef>
              <a:spcAft>
                <a:spcPts val="100"/>
              </a:spcAft>
            </a:pPr>
            <a:r>
              <a:rPr sz="1300" b="0">
                <a:solidFill>
                  <a:srgbClr val="333333"/>
                </a:solidFill>
                <a:latin typeface="メイリオ"/>
                <a:ea typeface="メイリオ"/>
              </a:rPr>
              <a:t>・リリース済み</a:t>
            </a:r>
          </a:p>
          <a:p>
            <a:pPr>
              <a:spcBef>
                <a:spcPts val="0"/>
              </a:spcBef>
              <a:spcAft>
                <a:spcPts val="100"/>
              </a:spcAft>
            </a:pPr>
            <a:r>
              <a:rPr sz="1300" b="0">
                <a:solidFill>
                  <a:srgbClr val="333333"/>
                </a:solidFill>
                <a:latin typeface="メイリオ"/>
                <a:ea typeface="メイリオ"/>
              </a:rPr>
              <a:t>・キャンドゥ／ポディウム：提供準備完了、顧客都合待ち</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 今後（OS）</a:t>
            </a:r>
          </a:p>
          <a:p>
            <a:pPr>
              <a:spcBef>
                <a:spcPts val="0"/>
              </a:spcBef>
              <a:spcAft>
                <a:spcPts val="100"/>
              </a:spcAft>
            </a:pPr>
            <a:r>
              <a:rPr sz="1300" b="0">
                <a:solidFill>
                  <a:srgbClr val="333333"/>
                </a:solidFill>
                <a:latin typeface="メイリオ"/>
                <a:ea typeface="メイリオ"/>
              </a:rPr>
              <a:t>・Ubuntu 22.04 → 24.04 を実施中</a:t>
            </a:r>
          </a:p>
          <a:p>
            <a:pPr>
              <a:spcBef>
                <a:spcPts val="0"/>
              </a:spcBef>
              <a:spcAft>
                <a:spcPts val="100"/>
              </a:spcAft>
            </a:pPr>
            <a:r>
              <a:rPr sz="1300" b="0">
                <a:solidFill>
                  <a:srgbClr val="C00000"/>
                </a:solidFill>
                <a:latin typeface="メイリオ"/>
                <a:ea typeface="メイリオ"/>
              </a:rPr>
              <a:t>・8月末までにサーバー含め完了見込み</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次ページ：どのアップデートで何ができて、今後どう使えるか</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1800" b="0">
                <a:solidFill>
                  <a:srgbClr val="333333"/>
                </a:solidFill>
                <a:latin typeface="メイリオ"/>
                <a:ea typeface="メイリオ"/>
              </a:rPr>
              <a:t>5. </a:t>
            </a:r>
            <a:r>
              <a:rPr sz="1600" b="0">
                <a:solidFill>
                  <a:srgbClr val="333333"/>
                </a:solidFill>
                <a:latin typeface="メイリオ"/>
                <a:ea typeface="メイリオ"/>
              </a:rPr>
              <a:t>新パッケージのバージョンアップ状況について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400000" y="680000"/>
            <a:ext cx="9200000" cy="26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どのアップデートで → 何ができて → 今後どう使えるか</a:t>
            </a:r>
          </a:p>
        </p:txBody>
      </p:sp>
      <p:graphicFrame>
        <p:nvGraphicFramePr>
          <p:cNvPr id="4" name="Table 3"/>
          <p:cNvGraphicFramePr>
            <a:graphicFrameLocks noGrp="1"/>
          </p:cNvGraphicFramePr>
          <p:nvPr/>
        </p:nvGraphicFramePr>
        <p:xfrm>
          <a:off x="300000" y="980000"/>
          <a:ext cx="9300000" cy="4770000"/>
        </p:xfrm>
        <a:graphic>
          <a:graphicData uri="http://schemas.openxmlformats.org/drawingml/2006/table">
            <a:tbl>
              <a:tblPr firstRow="1" bandRow="1">
                <a:tableStyleId>{5C22544A-7EE6-4342-B048-85BDC9FD1C3A}</a:tableStyleId>
              </a:tblPr>
              <a:tblGrid>
                <a:gridCol w="1300000"/>
                <a:gridCol w="2200000"/>
                <a:gridCol w="3200000"/>
                <a:gridCol w="2600000"/>
              </a:tblGrid>
              <a:tr h="450000">
                <a:tc>
                  <a:txBody>
                    <a:bodyPr/>
                    <a:lstStyle/>
                    <a:p>
                      <a:pPr algn="ctr"/>
                      <a:r>
                        <a:rPr sz="1000" b="1">
                          <a:solidFill>
                            <a:srgbClr val="FFFFFF"/>
                          </a:solidFill>
                          <a:latin typeface="メイリオ"/>
                          <a:ea typeface="メイリオ"/>
                        </a:rPr>
                        <a:t>アップデート</a:t>
                      </a:r>
                    </a:p>
                  </a:txBody>
                  <a:tcPr anchor="ctr">
                    <a:solidFill>
                      <a:srgbClr val="1F4E79"/>
                    </a:solidFill>
                  </a:tcPr>
                </a:tc>
                <a:tc>
                  <a:txBody>
                    <a:bodyPr/>
                    <a:lstStyle/>
                    <a:p>
                      <a:pPr algn="ctr"/>
                      <a:r>
                        <a:rPr sz="1000" b="1">
                          <a:solidFill>
                            <a:srgbClr val="FFFFFF"/>
                          </a:solidFill>
                          <a:latin typeface="メイリオ"/>
                          <a:ea typeface="メイリオ"/>
                        </a:rPr>
                        <a:t>新機能</a:t>
                      </a:r>
                    </a:p>
                  </a:txBody>
                  <a:tcPr anchor="ctr">
                    <a:solidFill>
                      <a:srgbClr val="1F4E79"/>
                    </a:solidFill>
                  </a:tcPr>
                </a:tc>
                <a:tc>
                  <a:txBody>
                    <a:bodyPr/>
                    <a:lstStyle/>
                    <a:p>
                      <a:pPr algn="ctr"/>
                      <a:r>
                        <a:rPr sz="1000" b="1">
                          <a:solidFill>
                            <a:srgbClr val="FFFFFF"/>
                          </a:solidFill>
                          <a:latin typeface="メイリオ"/>
                          <a:ea typeface="メイリオ"/>
                        </a:rPr>
                        <a:t>できるようになること</a:t>
                      </a:r>
                    </a:p>
                  </a:txBody>
                  <a:tcPr anchor="ctr">
                    <a:solidFill>
                      <a:srgbClr val="1F4E79"/>
                    </a:solidFill>
                  </a:tcPr>
                </a:tc>
                <a:tc>
                  <a:txBody>
                    <a:bodyPr/>
                    <a:lstStyle/>
                    <a:p>
                      <a:pPr algn="ctr"/>
                      <a:r>
                        <a:rPr sz="1000" b="1">
                          <a:solidFill>
                            <a:srgbClr val="FFFFFF"/>
                          </a:solidFill>
                          <a:latin typeface="メイリオ"/>
                          <a:ea typeface="メイリオ"/>
                        </a:rPr>
                        <a:t>今後の活用イメージ</a:t>
                      </a:r>
                    </a:p>
                  </a:txBody>
                  <a:tcPr anchor="ctr">
                    <a:solidFill>
                      <a:srgbClr val="1F4E79"/>
                    </a:solidFill>
                  </a:tcPr>
                </a:tc>
              </a:tr>
              <a:tr h="780000">
                <a:tc>
                  <a:txBody>
                    <a:bodyPr/>
                    <a:lstStyle/>
                    <a:p>
                      <a:pPr algn="l"/>
                      <a:r>
                        <a:rPr sz="900" b="1">
                          <a:solidFill>
                            <a:srgbClr val="333333"/>
                          </a:solidFill>
                          <a:latin typeface="メイリオ"/>
                          <a:ea typeface="メイリオ"/>
                        </a:rPr>
                        <a:t>Ruby
3.2→3.4</a:t>
                      </a:r>
                    </a:p>
                  </a:txBody>
                  <a:tcPr anchor="ctr"/>
                </a:tc>
                <a:tc>
                  <a:txBody>
                    <a:bodyPr/>
                    <a:lstStyle/>
                    <a:p>
                      <a:pPr algn="l"/>
                      <a:r>
                        <a:rPr sz="900" b="0">
                          <a:solidFill>
                            <a:srgbClr val="333333"/>
                          </a:solidFill>
                          <a:latin typeface="メイリオ"/>
                          <a:ea typeface="メイリオ"/>
                        </a:rPr>
                        <a:t>外部接続の改善
(Happy Eyeballs v2)</a:t>
                      </a:r>
                    </a:p>
                  </a:txBody>
                  <a:tcPr anchor="ctr"/>
                </a:tc>
                <a:tc>
                  <a:txBody>
                    <a:bodyPr/>
                    <a:lstStyle/>
                    <a:p>
                      <a:pPr algn="l"/>
                      <a:r>
                        <a:rPr sz="900" b="0">
                          <a:solidFill>
                            <a:srgbClr val="333333"/>
                          </a:solidFill>
                          <a:latin typeface="メイリオ"/>
                          <a:ea typeface="メイリオ"/>
                        </a:rPr>
                        <a:t>IPv4/IPv6を並行して接続試行し、
外部通信の確立をより確実にできる</a:t>
                      </a:r>
                    </a:p>
                  </a:txBody>
                  <a:tcPr anchor="ctr"/>
                </a:tc>
                <a:tc>
                  <a:txBody>
                    <a:bodyPr/>
                    <a:lstStyle/>
                    <a:p>
                      <a:pPr algn="l"/>
                      <a:r>
                        <a:rPr sz="900" b="0">
                          <a:solidFill>
                            <a:srgbClr val="333333"/>
                          </a:solidFill>
                          <a:latin typeface="メイリオ"/>
                          <a:ea typeface="メイリオ"/>
                        </a:rPr>
                        <a:t>基幹・決済・配送など外部API連携の
接続まわりを安定させやすい</a:t>
                      </a:r>
                    </a:p>
                  </a:txBody>
                  <a:tcPr anchor="ctr"/>
                </a:tc>
              </a:tr>
              <a:tr h="78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同じジョブの途中再開
(Active Job Continuations)</a:t>
                      </a:r>
                    </a:p>
                  </a:txBody>
                  <a:tcPr anchor="ctr">
                    <a:solidFill>
                      <a:srgbClr val="D6E3F0"/>
                    </a:solidFill>
                  </a:tcPr>
                </a:tc>
                <a:tc>
                  <a:txBody>
                    <a:bodyPr/>
                    <a:lstStyle/>
                    <a:p>
                      <a:pPr algn="l"/>
                      <a:r>
                        <a:rPr sz="900" b="0">
                          <a:solidFill>
                            <a:srgbClr val="333333"/>
                          </a:solidFill>
                          <a:latin typeface="メイリオ"/>
                          <a:ea typeface="メイリオ"/>
                        </a:rPr>
                        <a:t>長時間ジョブが途中停止しても、
同じ実行を続きから再開しやすい
※再実行（新規ジョブ）とは別物</a:t>
                      </a:r>
                    </a:p>
                  </a:txBody>
                  <a:tcPr anchor="ctr">
                    <a:solidFill>
                      <a:srgbClr val="D6E3F0"/>
                    </a:solidFill>
                  </a:tcPr>
                </a:tc>
                <a:tc>
                  <a:txBody>
                    <a:bodyPr/>
                    <a:lstStyle/>
                    <a:p>
                      <a:pPr algn="l"/>
                      <a:r>
                        <a:rPr sz="900" b="0">
                          <a:solidFill>
                            <a:srgbClr val="333333"/>
                          </a:solidFill>
                          <a:latin typeface="メイリオ"/>
                          <a:ea typeface="メイリオ"/>
                        </a:rPr>
                        <a:t>CSV取込／出力など
長時間ジョブの安定運用に使える</a:t>
                      </a:r>
                    </a:p>
                  </a:txBody>
                  <a:tcPr anchor="ctr">
                    <a:solidFill>
                      <a:srgbClr val="D6E3F0"/>
                    </a:solidFill>
                  </a:tcPr>
                </a:tc>
              </a:tr>
              <a:tr h="1200000">
                <a:tc>
                  <a:txBody>
                    <a:bodyPr/>
                    <a:lstStyle/>
                    <a:p>
                      <a:pPr algn="l"/>
                      <a:r>
                        <a:rPr sz="900" b="1">
                          <a:solidFill>
                            <a:srgbClr val="333333"/>
                          </a:solidFill>
                          <a:latin typeface="メイリオ"/>
                          <a:ea typeface="メイリオ"/>
                        </a:rPr>
                        <a:t>Rails
7.2→8.1</a:t>
                      </a:r>
                    </a:p>
                  </a:txBody>
                  <a:tcPr anchor="ctr"/>
                </a:tc>
                <a:tc>
                  <a:txBody>
                    <a:bodyPr/>
                    <a:lstStyle/>
                    <a:p>
                      <a:pPr algn="l"/>
                      <a:r>
                        <a:rPr sz="900" b="0">
                          <a:solidFill>
                            <a:srgbClr val="333333"/>
                          </a:solidFill>
                          <a:latin typeface="メイリオ"/>
                          <a:ea typeface="メイリオ"/>
                        </a:rPr>
                        <a:t>構造化イベント通知
(Rails.event)</a:t>
                      </a:r>
                    </a:p>
                  </a:txBody>
                  <a:tcPr anchor="ctr"/>
                </a:tc>
                <a:tc>
                  <a:txBody>
                    <a:bodyPr/>
                    <a:lstStyle/>
                    <a:p>
                      <a:pPr algn="l"/>
                      <a:r>
                        <a:rPr sz="800" b="0">
                          <a:solidFill>
                            <a:srgbClr val="333333"/>
                          </a:solidFill>
                          <a:latin typeface="メイリオ"/>
                          <a:ea typeface="メイリオ"/>
                        </a:rPr>
                        <a:t>以前は logger（人が読むログ）と
Notifications（内部計測）が中心。
それらを継続しつつ、業務イベント
（受注確定・価格変更・CSV取込完了など）を
同じ形式で出せるようになった</a:t>
                      </a:r>
                    </a:p>
                  </a:txBody>
                  <a:tcPr anchor="ctr"/>
                </a:tc>
                <a:tc>
                  <a:txBody>
                    <a:bodyPr/>
                    <a:lstStyle/>
                    <a:p>
                      <a:pPr algn="l"/>
                      <a:r>
                        <a:rPr sz="800" b="0">
                          <a:solidFill>
                            <a:srgbClr val="333333"/>
                          </a:solidFill>
                          <a:latin typeface="メイリオ"/>
                          <a:ea typeface="メイリオ"/>
                        </a:rPr>
                        <a:t>「いつ・誰が・何をした」を
横断検索しやすくなり、
障害調査・監査・監視連携がやりやすい</a:t>
                      </a:r>
                    </a:p>
                  </a:txBody>
                  <a:tcPr anchor="ctr"/>
                </a:tc>
              </a:tr>
              <a:tr h="78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Markdown標準描画</a:t>
                      </a:r>
                    </a:p>
                  </a:txBody>
                  <a:tcPr anchor="ctr">
                    <a:solidFill>
                      <a:srgbClr val="D6E3F0"/>
                    </a:solidFill>
                  </a:tcPr>
                </a:tc>
                <a:tc>
                  <a:txBody>
                    <a:bodyPr/>
                    <a:lstStyle/>
                    <a:p>
                      <a:pPr algn="l"/>
                      <a:r>
                        <a:rPr sz="900" b="0">
                          <a:solidFill>
                            <a:srgbClr val="333333"/>
                          </a:solidFill>
                          <a:latin typeface="メイリオ"/>
                          <a:ea typeface="メイリオ"/>
                        </a:rPr>
                        <a:t>Markdownをそのまま
画面やAPI応答に使える</a:t>
                      </a:r>
                    </a:p>
                  </a:txBody>
                  <a:tcPr anchor="ctr">
                    <a:solidFill>
                      <a:srgbClr val="D6E3F0"/>
                    </a:solidFill>
                  </a:tcPr>
                </a:tc>
                <a:tc>
                  <a:txBody>
                    <a:bodyPr/>
                    <a:lstStyle/>
                    <a:p>
                      <a:pPr algn="l"/>
                      <a:r>
                        <a:rPr sz="900" b="0">
                          <a:solidFill>
                            <a:srgbClr val="333333"/>
                          </a:solidFill>
                          <a:latin typeface="メイリオ"/>
                          <a:ea typeface="メイリオ"/>
                        </a:rPr>
                        <a:t>ヘルプ・提案資料・AI出力の表示基盤
（伴走支援の説明にも応用可）</a:t>
                      </a:r>
                    </a:p>
                  </a:txBody>
                  <a:tcPr anchor="ctr">
                    <a:solidFill>
                      <a:srgbClr val="D6E3F0"/>
                    </a:solidFill>
                  </a:tcPr>
                </a:tc>
              </a:tr>
              <a:tr h="780000">
                <a:tc>
                  <a:txBody>
                    <a:bodyPr/>
                    <a:lstStyle/>
                    <a:p>
                      <a:pPr algn="l"/>
                      <a:r>
                        <a:rPr sz="900" b="1">
                          <a:solidFill>
                            <a:srgbClr val="333333"/>
                          </a:solidFill>
                          <a:latin typeface="メイリオ"/>
                          <a:ea typeface="メイリオ"/>
                        </a:rPr>
                        <a:t>MariaDB
10.6→10.11</a:t>
                      </a:r>
                    </a:p>
                  </a:txBody>
                  <a:tcPr anchor="ctr"/>
                </a:tc>
                <a:tc>
                  <a:txBody>
                    <a:bodyPr/>
                    <a:lstStyle/>
                    <a:p>
                      <a:pPr algn="l"/>
                      <a:r>
                        <a:rPr sz="900" b="0">
                          <a:solidFill>
                            <a:srgbClr val="333333"/>
                          </a:solidFill>
                          <a:latin typeface="メイリオ"/>
                          <a:ea typeface="メイリオ"/>
                        </a:rPr>
                        <a:t>UUID型
／設定の動的変更</a:t>
                      </a:r>
                    </a:p>
                  </a:txBody>
                  <a:tcPr anchor="ctr"/>
                </a:tc>
                <a:tc>
                  <a:txBody>
                    <a:bodyPr/>
                    <a:lstStyle/>
                    <a:p>
                      <a:pPr algn="l"/>
                      <a:r>
                        <a:rPr sz="900" b="0">
                          <a:solidFill>
                            <a:srgbClr val="333333"/>
                          </a:solidFill>
                          <a:latin typeface="メイリオ"/>
                          <a:ea typeface="メイリオ"/>
                        </a:rPr>
                        <a:t>UUIDをDB型で持てる
一部設定を再起動なしで変更できる</a:t>
                      </a:r>
                    </a:p>
                  </a:txBody>
                  <a:tcPr anchor="ctr"/>
                </a:tc>
                <a:tc>
                  <a:txBody>
                    <a:bodyPr/>
                    <a:lstStyle/>
                    <a:p>
                      <a:pPr algn="l"/>
                      <a:r>
                        <a:rPr sz="900" b="0">
                          <a:solidFill>
                            <a:srgbClr val="333333"/>
                          </a:solidFill>
                          <a:latin typeface="メイリオ"/>
                          <a:ea typeface="メイリオ"/>
                        </a:rPr>
                        <a:t>基幹連携IDの整備や、ピーク時の
運用チューニングに使える</a:t>
                      </a:r>
                    </a:p>
                  </a:txBody>
                  <a:tcPr anchor="ctr"/>
                </a:tc>
              </a:tr>
            </a:tbl>
          </a:graphicData>
        </a:graphic>
      </p:graphicFrame>
      <p:sp>
        <p:nvSpPr>
          <p:cNvPr id="5" name="TextBox 4"/>
          <p:cNvSpPr txBox="1"/>
          <p:nvPr/>
        </p:nvSpPr>
        <p:spPr>
          <a:xfrm>
            <a:off x="400000" y="6350000"/>
            <a:ext cx="9200000" cy="300000"/>
          </a:xfrm>
          <a:prstGeom prst="rect">
            <a:avLst/>
          </a:prstGeom>
          <a:noFill/>
        </p:spPr>
        <p:txBody>
          <a:bodyPr wrap="square">
            <a:spAutoFit/>
          </a:bodyPr>
          <a:lstStyle/>
          <a:p>
            <a:pPr>
              <a:spcBef>
                <a:spcPts val="0"/>
              </a:spcBef>
              <a:spcAft>
                <a:spcPts val="100"/>
              </a:spcAft>
            </a:pPr>
            <a:r>
              <a:rPr sz="1000" b="0">
                <a:solidFill>
                  <a:srgbClr val="C00000"/>
                </a:solidFill>
                <a:latin typeface="メイリオ"/>
                <a:ea typeface="メイリオ"/>
              </a:rPr>
              <a:t>※ いますぐ全部を使う話ではない。今後の機能追加・運用改善で選べる選択肢を増やしたアップデート</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40000"/>
            <a:ext cx="8500000" cy="560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ツール方針（ASIS → TOBE）</a:t>
            </a:r>
          </a:p>
          <a:p>
            <a:pPr>
              <a:spcBef>
                <a:spcPts val="0"/>
              </a:spcBef>
              <a:spcAft>
                <a:spcPts val="200"/>
              </a:spcAft>
            </a:pPr>
            <a:r>
              <a:rPr sz="1300" b="1">
                <a:solidFill>
                  <a:srgbClr val="333333"/>
                </a:solidFill>
                <a:latin typeface="メイリオ"/>
                <a:ea typeface="メイリオ"/>
              </a:rPr>
              <a:t>【プログラム開発】</a:t>
            </a:r>
          </a:p>
          <a:p>
            <a:pPr>
              <a:spcBef>
                <a:spcPts val="0"/>
              </a:spcBef>
              <a:spcAft>
                <a:spcPts val="200"/>
              </a:spcAft>
            </a:pPr>
            <a:r>
              <a:rPr sz="1300" b="0">
                <a:solidFill>
                  <a:srgbClr val="333333"/>
                </a:solidFill>
                <a:latin typeface="メイリオ"/>
                <a:ea typeface="メイリオ"/>
              </a:rPr>
              <a:t>・ASIS：VS Code + GitHub Copilot</a:t>
            </a:r>
          </a:p>
          <a:p>
            <a:pPr>
              <a:spcBef>
                <a:spcPts val="0"/>
              </a:spcBef>
              <a:spcAft>
                <a:spcPts val="200"/>
              </a:spcAft>
            </a:pPr>
            <a:r>
              <a:rPr sz="1300" b="0">
                <a:solidFill>
                  <a:srgbClr val="333333"/>
                </a:solidFill>
                <a:latin typeface="メイリオ"/>
                <a:ea typeface="メイリオ"/>
              </a:rPr>
              <a:t>・TOBE：Cursor + Claude ／ Claude Desktop + Claude Code</a:t>
            </a:r>
          </a:p>
          <a:p>
            <a:pPr>
              <a:spcBef>
                <a:spcPts val="0"/>
              </a:spcBef>
              <a:spcAft>
                <a:spcPts val="200"/>
              </a:spcAft>
            </a:pPr>
            <a:r>
              <a:rPr sz="1300" b="1">
                <a:solidFill>
                  <a:srgbClr val="333333"/>
                </a:solidFill>
                <a:latin typeface="メイリオ"/>
                <a:ea typeface="メイリオ"/>
              </a:rPr>
              <a:t>【ビジネス業務（資料作成・業界分析など）】</a:t>
            </a:r>
          </a:p>
          <a:p>
            <a:pPr>
              <a:spcBef>
                <a:spcPts val="0"/>
              </a:spcBef>
              <a:spcAft>
                <a:spcPts val="200"/>
              </a:spcAft>
            </a:pPr>
            <a:r>
              <a:rPr sz="1300" b="0">
                <a:solidFill>
                  <a:srgbClr val="333333"/>
                </a:solidFill>
                <a:latin typeface="メイリオ"/>
                <a:ea typeface="メイリオ"/>
              </a:rPr>
              <a:t>・ASIS：ChatGPT／Gemini</a:t>
            </a:r>
          </a:p>
          <a:p>
            <a:pPr>
              <a:spcBef>
                <a:spcPts val="0"/>
              </a:spcBef>
              <a:spcAft>
                <a:spcPts val="200"/>
              </a:spcAft>
            </a:pPr>
            <a:r>
              <a:rPr sz="1300" b="0">
                <a:solidFill>
                  <a:srgbClr val="333333"/>
                </a:solidFill>
                <a:latin typeface="メイリオ"/>
                <a:ea typeface="メイリオ"/>
              </a:rPr>
              <a:t>・TOBE：Claude（Claude Desktop 等）</a:t>
            </a:r>
          </a:p>
          <a:p>
            <a:pPr>
              <a:spcBef>
                <a:spcPts val="0"/>
              </a:spcBef>
              <a:spcAft>
                <a:spcPts val="200"/>
              </a:spcAft>
            </a:pPr>
            <a:r>
              <a:rPr sz="800" b="0">
                <a:solidFill>
                  <a:srgbClr val="333333"/>
                </a:solidFill>
                <a:latin typeface="メイリオ"/>
                <a:ea typeface="メイリオ"/>
              </a:rPr>
              <a:t/>
            </a:r>
          </a:p>
          <a:p>
            <a:pPr>
              <a:spcBef>
                <a:spcPts val="0"/>
              </a:spcBef>
              <a:spcAft>
                <a:spcPts val="200"/>
              </a:spcAft>
            </a:pPr>
            <a:r>
              <a:rPr sz="1400" b="1">
                <a:solidFill>
                  <a:srgbClr val="333333"/>
                </a:solidFill>
                <a:latin typeface="メイリオ"/>
                <a:ea typeface="メイリオ"/>
              </a:rPr>
              <a:t>② 1か月使ってみた所感（Claude）</a:t>
            </a:r>
          </a:p>
          <a:p>
            <a:pPr>
              <a:spcBef>
                <a:spcPts val="0"/>
              </a:spcBef>
              <a:spcAft>
                <a:spcPts val="200"/>
              </a:spcAft>
            </a:pPr>
            <a:r>
              <a:rPr sz="1300" b="0">
                <a:solidFill>
                  <a:srgbClr val="333333"/>
                </a:solidFill>
                <a:latin typeface="メイリオ"/>
                <a:ea typeface="メイリオ"/>
              </a:rPr>
              <a:t>・回答精度にかなり優秀さを感じる</a:t>
            </a:r>
          </a:p>
          <a:p>
            <a:pPr>
              <a:spcBef>
                <a:spcPts val="0"/>
              </a:spcBef>
              <a:spcAft>
                <a:spcPts val="200"/>
              </a:spcAft>
            </a:pPr>
            <a:r>
              <a:rPr sz="1300" b="0">
                <a:solidFill>
                  <a:srgbClr val="333333"/>
                </a:solidFill>
                <a:latin typeface="メイリオ"/>
                <a:ea typeface="メイリオ"/>
              </a:rPr>
              <a:t>・特に、表面的な答えではなく、前提や理由まで踏み込んだ深い思考の回答が多い印象</a:t>
            </a:r>
          </a:p>
          <a:p>
            <a:pPr>
              <a:spcBef>
                <a:spcPts val="0"/>
              </a:spcBef>
              <a:spcAft>
                <a:spcPts val="200"/>
              </a:spcAft>
            </a:pPr>
            <a:r>
              <a:rPr sz="1300" b="0">
                <a:solidFill>
                  <a:srgbClr val="333333"/>
                </a:solidFill>
                <a:latin typeface="メイリオ"/>
                <a:ea typeface="メイリオ"/>
              </a:rPr>
              <a:t>・開発：補完中心から、要件〜実装〜レビュー伴走へシフトできる</a:t>
            </a:r>
          </a:p>
          <a:p>
            <a:pPr>
              <a:spcBef>
                <a:spcPts val="0"/>
              </a:spcBef>
              <a:spcAft>
                <a:spcPts val="200"/>
              </a:spcAft>
            </a:pPr>
            <a:r>
              <a:rPr sz="1300" b="0">
                <a:solidFill>
                  <a:srgbClr val="333333"/>
                </a:solidFill>
                <a:latin typeface="メイリオ"/>
                <a:ea typeface="メイリオ"/>
              </a:rPr>
              <a:t>・業務：資料作成・分析でも、構成と論点を丁寧に組み立ててくれる感覚</a:t>
            </a:r>
          </a:p>
          <a:p>
            <a:pPr>
              <a:spcBef>
                <a:spcPts val="0"/>
              </a:spcBef>
              <a:spcAft>
                <a:spcPts val="200"/>
              </a:spcAft>
            </a:pPr>
            <a:r>
              <a:rPr sz="800" b="0">
                <a:solidFill>
                  <a:srgbClr val="333333"/>
                </a:solidFill>
                <a:latin typeface="メイリオ"/>
                <a:ea typeface="メイリオ"/>
              </a:rPr>
              <a:t/>
            </a:r>
          </a:p>
          <a:p>
            <a:pPr>
              <a:spcBef>
                <a:spcPts val="0"/>
              </a:spcBef>
              <a:spcAft>
                <a:spcPts val="200"/>
              </a:spcAft>
            </a:pPr>
            <a:r>
              <a:rPr sz="1400" b="1">
                <a:solidFill>
                  <a:srgbClr val="333333"/>
                </a:solidFill>
                <a:latin typeface="メイリオ"/>
                <a:ea typeface="メイリオ"/>
              </a:rPr>
              <a:t>③ いま進めている取り組み（言及）</a:t>
            </a:r>
          </a:p>
          <a:p>
            <a:pPr>
              <a:spcBef>
                <a:spcPts val="0"/>
              </a:spcBef>
              <a:spcAft>
                <a:spcPts val="200"/>
              </a:spcAft>
            </a:pPr>
            <a:r>
              <a:rPr sz="1300" b="0">
                <a:solidFill>
                  <a:srgbClr val="333333"/>
                </a:solidFill>
                <a:latin typeface="メイリオ"/>
                <a:ea typeface="メイリオ"/>
              </a:rPr>
              <a:t>・EC-Rider用プロンプト／実装ガイドを読込 → EC-Rider AI を構築中</a:t>
            </a:r>
          </a:p>
          <a:p>
            <a:pPr>
              <a:spcBef>
                <a:spcPts val="0"/>
              </a:spcBef>
              <a:spcAft>
                <a:spcPts val="200"/>
              </a:spcAft>
            </a:pPr>
            <a:r>
              <a:rPr sz="1300" b="0">
                <a:solidFill>
                  <a:srgbClr val="333333"/>
                </a:solidFill>
                <a:latin typeface="メイリオ"/>
                <a:ea typeface="メイリオ"/>
              </a:rPr>
              <a:t>・提案時に使えるモックベースを整備し、お客様へのイメージ共有を容易に</a:t>
            </a:r>
          </a:p>
          <a:p>
            <a:pPr>
              <a:spcBef>
                <a:spcPts val="0"/>
              </a:spcBef>
              <a:spcAft>
                <a:spcPts val="200"/>
              </a:spcAft>
            </a:pPr>
            <a:r>
              <a:rPr sz="800" b="0">
                <a:solidFill>
                  <a:srgbClr val="333333"/>
                </a:solidFill>
                <a:latin typeface="メイリオ"/>
                <a:ea typeface="メイリオ"/>
              </a:rPr>
              <a:t/>
            </a:r>
          </a:p>
          <a:p>
            <a:pPr>
              <a:spcBef>
                <a:spcPts val="0"/>
              </a:spcBef>
              <a:spcAft>
                <a:spcPts val="200"/>
              </a:spcAft>
            </a:pPr>
            <a:r>
              <a:rPr sz="1300" b="0">
                <a:solidFill>
                  <a:srgbClr val="C00000"/>
                </a:solidFill>
                <a:latin typeface="メイリオ"/>
                <a:ea typeface="メイリオ"/>
              </a:rPr>
              <a:t>→ 比較・リスク・加速施策は次ページ</a:t>
            </a:r>
          </a:p>
        </p:txBody>
      </p:sp>
    </p:spTree>
    <p:extLst>
      <p:ext uri="{BB962C8B-B14F-4D97-AF65-F5344CB8AC3E}">
        <p14:creationId xmlns:p14="http://schemas.microsoft.com/office/powerpoint/2010/main" val="3216946517"/>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00000" y="700000"/>
            <a:ext cx="9000000" cy="280000"/>
          </a:xfrm>
          <a:prstGeom prst="rect">
            <a:avLst/>
          </a:prstGeom>
          <a:noFill/>
        </p:spPr>
        <p:txBody>
          <a:bodyPr wrap="square">
            <a:spAutoFit/>
          </a:bodyPr>
          <a:lstStyle/>
          <a:p>
            <a:pPr>
              <a:spcBef>
                <a:spcPts val="0"/>
              </a:spcBef>
              <a:spcAft>
                <a:spcPts val="200"/>
              </a:spcAft>
            </a:pPr>
            <a:r>
              <a:rPr sz="1200" b="1">
                <a:solidFill>
                  <a:srgbClr val="333333"/>
                </a:solidFill>
                <a:latin typeface="メイリオ"/>
                <a:ea typeface="メイリオ"/>
              </a:rPr>
              <a:t>④ 比較（ビジネス業務観点）：ASIS → TOBE</a:t>
            </a:r>
          </a:p>
        </p:txBody>
      </p:sp>
      <p:graphicFrame>
        <p:nvGraphicFramePr>
          <p:cNvPr id="4" name="Table 3"/>
          <p:cNvGraphicFramePr>
            <a:graphicFrameLocks noGrp="1"/>
          </p:cNvGraphicFramePr>
          <p:nvPr/>
        </p:nvGraphicFramePr>
        <p:xfrm>
          <a:off x="600000" y="2620000"/>
          <a:ext cx="8700000" cy="1320000"/>
        </p:xfrm>
        <a:graphic>
          <a:graphicData uri="http://schemas.openxmlformats.org/drawingml/2006/table">
            <a:tbl>
              <a:tblPr firstRow="1" bandRow="1">
                <a:tableStyleId>{5C22544A-7EE6-4342-B048-85BDC9FD1C3A}</a:tableStyleId>
              </a:tblPr>
              <a:tblGrid>
                <a:gridCol w="1400000"/>
                <a:gridCol w="3650000"/>
                <a:gridCol w="3650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ASIS：VS Code + Copilot</a:t>
                      </a:r>
                    </a:p>
                  </a:txBody>
                  <a:tcPr anchor="ctr">
                    <a:solidFill>
                      <a:srgbClr val="1F4E79"/>
                    </a:solidFill>
                  </a:tcPr>
                </a:tc>
                <a:tc>
                  <a:txBody>
                    <a:bodyPr/>
                    <a:lstStyle/>
                    <a:p>
                      <a:pPr algn="ctr"/>
                      <a:r>
                        <a:rPr sz="1000" b="1">
                          <a:solidFill>
                            <a:srgbClr val="FFFFFF"/>
                          </a:solidFill>
                          <a:latin typeface="メイリオ"/>
                          <a:ea typeface="メイリオ"/>
                        </a:rPr>
                        <a:t>TOBE：Cursor + Claude</a:t>
                      </a:r>
                    </a:p>
                  </a:txBody>
                  <a:tcPr anchor="ctr">
                    <a:solidFill>
                      <a:srgbClr val="1F4E79"/>
                    </a:solidFill>
                  </a:tcPr>
                </a:tc>
              </a:tr>
              <a:tr h="330000">
                <a:tc>
                  <a:txBody>
                    <a:bodyPr/>
                    <a:lstStyle/>
                    <a:p>
                      <a:pPr algn="l"/>
                      <a:r>
                        <a:rPr sz="1000" b="0">
                          <a:solidFill>
                            <a:srgbClr val="333333"/>
                          </a:solidFill>
                          <a:latin typeface="メイリオ"/>
                          <a:ea typeface="メイリオ"/>
                        </a:rPr>
                        <a:t>得意</a:t>
                      </a:r>
                    </a:p>
                  </a:txBody>
                  <a:tcPr anchor="ctr"/>
                </a:tc>
                <a:tc>
                  <a:txBody>
                    <a:bodyPr/>
                    <a:lstStyle/>
                    <a:p>
                      <a:pPr algn="l"/>
                      <a:r>
                        <a:rPr sz="1000" b="0">
                          <a:solidFill>
                            <a:srgbClr val="333333"/>
                          </a:solidFill>
                          <a:latin typeface="メイリオ"/>
                          <a:ea typeface="メイリオ"/>
                        </a:rPr>
                        <a:t>行・関数単位の補完が速い</a:t>
                      </a:r>
                    </a:p>
                  </a:txBody>
                  <a:tcPr anchor="ctr"/>
                </a:tc>
                <a:tc>
                  <a:txBody>
                    <a:bodyPr/>
                    <a:lstStyle/>
                    <a:p>
                      <a:pPr algn="l"/>
                      <a:r>
                        <a:rPr sz="1000" b="0">
                          <a:solidFill>
                            <a:srgbClr val="333333"/>
                          </a:solidFill>
                          <a:latin typeface="メイリオ"/>
                          <a:ea typeface="メイリオ"/>
                        </a:rPr>
                        <a:t>複数ファイル横断の設計・実装・修正</a:t>
                      </a:r>
                    </a:p>
                  </a:txBody>
                  <a:tcPr anchor="ctr"/>
                </a:tc>
              </a:tr>
              <a:tr h="330000">
                <a:tc>
                  <a:txBody>
                    <a:bodyPr/>
                    <a:lstStyle/>
                    <a:p>
                      <a:pPr algn="l"/>
                      <a:r>
                        <a:rPr sz="1000" b="0">
                          <a:solidFill>
                            <a:srgbClr val="333333"/>
                          </a:solidFill>
                          <a:latin typeface="メイリオ"/>
                          <a:ea typeface="メイリオ"/>
                        </a:rPr>
                        <a:t>文脈</a:t>
                      </a:r>
                    </a:p>
                  </a:txBody>
                  <a:tcPr anchor="ctr">
                    <a:solidFill>
                      <a:srgbClr val="D6E3F0"/>
                    </a:solidFill>
                  </a:tcPr>
                </a:tc>
                <a:tc>
                  <a:txBody>
                    <a:bodyPr/>
                    <a:lstStyle/>
                    <a:p>
                      <a:pPr algn="l"/>
                      <a:r>
                        <a:rPr sz="1000" b="0">
                          <a:solidFill>
                            <a:srgbClr val="333333"/>
                          </a:solidFill>
                          <a:latin typeface="メイリオ"/>
                          <a:ea typeface="メイリオ"/>
                        </a:rPr>
                        <a:t>編集中の周辺が中心</a:t>
                      </a:r>
                    </a:p>
                  </a:txBody>
                  <a:tcPr anchor="ctr">
                    <a:solidFill>
                      <a:srgbClr val="D6E3F0"/>
                    </a:solidFill>
                  </a:tcPr>
                </a:tc>
                <a:tc>
                  <a:txBody>
                    <a:bodyPr/>
                    <a:lstStyle/>
                    <a:p>
                      <a:pPr algn="l"/>
                      <a:r>
                        <a:rPr sz="1000" b="0">
                          <a:solidFill>
                            <a:srgbClr val="333333"/>
                          </a:solidFill>
                          <a:latin typeface="メイリオ"/>
                          <a:ea typeface="メイリオ"/>
                        </a:rPr>
                        <a:t>リポジトリ／ガイドを広く読ませやすい</a:t>
                      </a:r>
                    </a:p>
                  </a:txBody>
                  <a:tcPr anchor="ctr">
                    <a:solidFill>
                      <a:srgbClr val="D6E3F0"/>
                    </a:solidFill>
                  </a:tcPr>
                </a:tc>
              </a:tr>
              <a:tr h="330000">
                <a:tc>
                  <a:txBody>
                    <a:bodyPr/>
                    <a:lstStyle/>
                    <a:p>
                      <a:pPr algn="l"/>
                      <a:r>
                        <a:rPr sz="1000" b="0">
                          <a:solidFill>
                            <a:srgbClr val="333333"/>
                          </a:solidFill>
                          <a:latin typeface="メイリオ"/>
                          <a:ea typeface="メイリオ"/>
                        </a:rPr>
                        <a:t>向く作業</a:t>
                      </a:r>
                    </a:p>
                  </a:txBody>
                  <a:tcPr anchor="ctr"/>
                </a:tc>
                <a:tc>
                  <a:txBody>
                    <a:bodyPr/>
                    <a:lstStyle/>
                    <a:p>
                      <a:pPr algn="l"/>
                      <a:r>
                        <a:rPr sz="1000" b="0">
                          <a:solidFill>
                            <a:srgbClr val="333333"/>
                          </a:solidFill>
                          <a:latin typeface="メイリオ"/>
                          <a:ea typeface="メイリオ"/>
                        </a:rPr>
                        <a:t>小改修・定型実装</a:t>
                      </a:r>
                    </a:p>
                  </a:txBody>
                  <a:tcPr anchor="ctr"/>
                </a:tc>
                <a:tc>
                  <a:txBody>
                    <a:bodyPr/>
                    <a:lstStyle/>
                    <a:p>
                      <a:pPr algn="l"/>
                      <a:r>
                        <a:rPr sz="1000" b="0">
                          <a:solidFill>
                            <a:srgbClr val="333333"/>
                          </a:solidFill>
                          <a:latin typeface="メイリオ"/>
                          <a:ea typeface="メイリオ"/>
                        </a:rPr>
                        <a:t>調査・横断改修・品質向上の伴走</a:t>
                      </a:r>
                    </a:p>
                  </a:txBody>
                  <a:tcPr anchor="ctr"/>
                </a:tc>
              </a:tr>
            </a:tbl>
          </a:graphicData>
        </a:graphic>
      </p:graphicFrame>
      <p:sp>
        <p:nvSpPr>
          <p:cNvPr id="5" name="TextBox 4"/>
          <p:cNvSpPr txBox="1"/>
          <p:nvPr/>
        </p:nvSpPr>
        <p:spPr>
          <a:xfrm>
            <a:off x="600000" y="2360000"/>
            <a:ext cx="9000000" cy="260000"/>
          </a:xfrm>
          <a:prstGeom prst="rect">
            <a:avLst/>
          </a:prstGeom>
          <a:noFill/>
        </p:spPr>
        <p:txBody>
          <a:bodyPr wrap="square">
            <a:spAutoFit/>
          </a:bodyPr>
          <a:lstStyle/>
          <a:p>
            <a:pPr>
              <a:spcBef>
                <a:spcPts val="0"/>
              </a:spcBef>
              <a:spcAft>
                <a:spcPts val="200"/>
              </a:spcAft>
            </a:pPr>
            <a:r>
              <a:rPr sz="1200" b="1">
                <a:solidFill>
                  <a:srgbClr val="333333"/>
                </a:solidFill>
                <a:latin typeface="メイリオ"/>
                <a:ea typeface="メイリオ"/>
              </a:rPr>
              <a:t>④’ 比較（プログラム観点）：ASIS → TOBE</a:t>
            </a:r>
          </a:p>
        </p:txBody>
      </p:sp>
      <p:graphicFrame>
        <p:nvGraphicFramePr>
          <p:cNvPr id="6" name="Table 5"/>
          <p:cNvGraphicFramePr>
            <a:graphicFrameLocks noGrp="1"/>
          </p:cNvGraphicFramePr>
          <p:nvPr/>
        </p:nvGraphicFramePr>
        <p:xfrm>
          <a:off x="600000" y="980000"/>
          <a:ext cx="8700000" cy="1320000"/>
        </p:xfrm>
        <a:graphic>
          <a:graphicData uri="http://schemas.openxmlformats.org/drawingml/2006/table">
            <a:tbl>
              <a:tblPr firstRow="1" bandRow="1">
                <a:tableStyleId>{5C22544A-7EE6-4342-B048-85BDC9FD1C3A}</a:tableStyleId>
              </a:tblPr>
              <a:tblGrid>
                <a:gridCol w="2175000"/>
                <a:gridCol w="2175000"/>
                <a:gridCol w="2175000"/>
                <a:gridCol w="2175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ASIS：ChatGPT</a:t>
                      </a:r>
                    </a:p>
                  </a:txBody>
                  <a:tcPr anchor="ctr">
                    <a:solidFill>
                      <a:srgbClr val="1F4E79"/>
                    </a:solidFill>
                  </a:tcPr>
                </a:tc>
                <a:tc>
                  <a:txBody>
                    <a:bodyPr/>
                    <a:lstStyle/>
                    <a:p>
                      <a:pPr algn="ctr"/>
                      <a:r>
                        <a:rPr sz="1000" b="1">
                          <a:solidFill>
                            <a:srgbClr val="FFFFFF"/>
                          </a:solidFill>
                          <a:latin typeface="メイリオ"/>
                          <a:ea typeface="メイリオ"/>
                        </a:rPr>
                        <a:t>ASIS：Gemini</a:t>
                      </a:r>
                    </a:p>
                  </a:txBody>
                  <a:tcPr anchor="ctr">
                    <a:solidFill>
                      <a:srgbClr val="1F4E79"/>
                    </a:solidFill>
                  </a:tcPr>
                </a:tc>
                <a:tc>
                  <a:txBody>
                    <a:bodyPr/>
                    <a:lstStyle/>
                    <a:p>
                      <a:pPr algn="ctr"/>
                      <a:r>
                        <a:rPr sz="1000" b="1">
                          <a:solidFill>
                            <a:srgbClr val="FFFFFF"/>
                          </a:solidFill>
                          <a:latin typeface="メイリオ"/>
                          <a:ea typeface="メイリオ"/>
                        </a:rPr>
                        <a:t>TOBE：Claude</a:t>
                      </a:r>
                    </a:p>
                  </a:txBody>
                  <a:tcPr anchor="ctr">
                    <a:solidFill>
                      <a:srgbClr val="1F4E79"/>
                    </a:solidFill>
                  </a:tcPr>
                </a:tc>
              </a:tr>
              <a:tr h="330000">
                <a:tc>
                  <a:txBody>
                    <a:bodyPr/>
                    <a:lstStyle/>
                    <a:p>
                      <a:pPr algn="l"/>
                      <a:r>
                        <a:rPr sz="1000" b="0">
                          <a:solidFill>
                            <a:srgbClr val="333333"/>
                          </a:solidFill>
                          <a:latin typeface="メイリオ"/>
                          <a:ea typeface="メイリオ"/>
                        </a:rPr>
                        <a:t>思考の深さ</a:t>
                      </a:r>
                    </a:p>
                  </a:txBody>
                  <a:tcPr anchor="ctr"/>
                </a:tc>
                <a:tc>
                  <a:txBody>
                    <a:bodyPr/>
                    <a:lstStyle/>
                    <a:p>
                      <a:pPr algn="l"/>
                      <a:r>
                        <a:rPr sz="1000" b="0">
                          <a:solidFill>
                            <a:srgbClr val="333333"/>
                          </a:solidFill>
                          <a:latin typeface="メイリオ"/>
                          <a:ea typeface="メイリオ"/>
                        </a:rPr>
                        <a:t>幅広いアイデア出しや</a:t>
                      </a:r>
                    </a:p>
                    <a:p>
                      <a:pPr algn="l"/>
                      <a:r>
                        <a:rPr sz="1000" b="0">
                          <a:solidFill>
                            <a:srgbClr val="333333"/>
                          </a:solidFill>
                          <a:latin typeface="メイリオ"/>
                          <a:ea typeface="メイリオ"/>
                        </a:rPr>
                        <a:t>壁打ちが得意</a:t>
                      </a:r>
                    </a:p>
                  </a:txBody>
                  <a:tcPr anchor="ctr"/>
                </a:tc>
                <a:tc>
                  <a:txBody>
                    <a:bodyPr/>
                    <a:lstStyle/>
                    <a:p>
                      <a:pPr algn="l"/>
                      <a:r>
                        <a:rPr sz="1000" b="0">
                          <a:solidFill>
                            <a:srgbClr val="333333"/>
                          </a:solidFill>
                          <a:latin typeface="メイリオ"/>
                          <a:ea typeface="メイリオ"/>
                        </a:rPr>
                        <a:t>広く拾う・素早い概観が得意</a:t>
                      </a:r>
                    </a:p>
                    <a:p>
                      <a:pPr algn="l"/>
                      <a:r>
                        <a:rPr sz="1000" b="0">
                          <a:solidFill>
                            <a:srgbClr val="333333"/>
                          </a:solidFill>
                          <a:latin typeface="メイリオ"/>
                          <a:ea typeface="メイリオ"/>
                        </a:rPr>
                        <a:t>（深さは用途次第）</a:t>
                      </a:r>
                    </a:p>
                  </a:txBody>
                  <a:tcPr anchor="ctr"/>
                </a:tc>
                <a:tc>
                  <a:txBody>
                    <a:bodyPr/>
                    <a:lstStyle/>
                    <a:p>
                      <a:pPr algn="l"/>
                      <a:r>
                        <a:rPr sz="1000" b="0">
                          <a:solidFill>
                            <a:srgbClr val="333333"/>
                          </a:solidFill>
                          <a:latin typeface="メイリオ"/>
                          <a:ea typeface="メイリオ"/>
                        </a:rPr>
                        <a:t>前提・理由まで踏み込む</a:t>
                      </a:r>
                    </a:p>
                    <a:p>
                      <a:pPr algn="l"/>
                      <a:r>
                        <a:rPr sz="1000" b="0">
                          <a:solidFill>
                            <a:srgbClr val="333333"/>
                          </a:solidFill>
                          <a:latin typeface="メイリオ"/>
                          <a:ea typeface="メイリオ"/>
                        </a:rPr>
                        <a:t>丁寧な深掘りが強い</a:t>
                      </a:r>
                    </a:p>
                  </a:txBody>
                  <a:tcPr anchor="ctr"/>
                </a:tc>
              </a:tr>
              <a:tr h="330000">
                <a:tc>
                  <a:txBody>
                    <a:bodyPr/>
                    <a:lstStyle/>
                    <a:p>
                      <a:pPr algn="l"/>
                      <a:r>
                        <a:rPr sz="1000" b="0">
                          <a:solidFill>
                            <a:srgbClr val="333333"/>
                          </a:solidFill>
                          <a:latin typeface="メイリオ"/>
                          <a:ea typeface="メイリオ"/>
                        </a:rPr>
                        <a:t>資料作成</a:t>
                      </a:r>
                    </a:p>
                  </a:txBody>
                  <a:tcPr anchor="ctr">
                    <a:solidFill>
                      <a:srgbClr val="D6E3F0"/>
                    </a:solidFill>
                  </a:tcPr>
                </a:tc>
                <a:tc>
                  <a:txBody>
                    <a:bodyPr/>
                    <a:lstStyle/>
                    <a:p>
                      <a:pPr algn="l"/>
                      <a:r>
                        <a:rPr sz="1000" b="0">
                          <a:solidFill>
                            <a:srgbClr val="333333"/>
                          </a:solidFill>
                          <a:latin typeface="メイリオ"/>
                          <a:ea typeface="メイリオ"/>
                        </a:rPr>
                        <a:t>たたき台作成が速く</a:t>
                      </a:r>
                    </a:p>
                    <a:p>
                      <a:pPr algn="l"/>
                      <a:r>
                        <a:rPr sz="1000" b="0">
                          <a:solidFill>
                            <a:srgbClr val="333333"/>
                          </a:solidFill>
                          <a:latin typeface="メイリオ"/>
                          <a:ea typeface="メイリオ"/>
                        </a:rPr>
                        <a:t>表現のバリエーションも豊富</a:t>
                      </a:r>
                    </a:p>
                  </a:txBody>
                  <a:tcPr anchor="ctr">
                    <a:solidFill>
                      <a:srgbClr val="D6E3F0"/>
                    </a:solidFill>
                  </a:tcPr>
                </a:tc>
                <a:tc>
                  <a:txBody>
                    <a:bodyPr/>
                    <a:lstStyle/>
                    <a:p>
                      <a:pPr algn="l"/>
                      <a:r>
                        <a:rPr sz="1000" b="0">
                          <a:solidFill>
                            <a:srgbClr val="333333"/>
                          </a:solidFill>
                          <a:latin typeface="メイリオ"/>
                          <a:ea typeface="メイリオ"/>
                        </a:rPr>
                        <a:t>草案づくりや要約に強い</a:t>
                      </a:r>
                    </a:p>
                    <a:p>
                      <a:pPr algn="l"/>
                      <a:r>
                        <a:rPr sz="1000" b="0">
                          <a:solidFill>
                            <a:srgbClr val="333333"/>
                          </a:solidFill>
                          <a:latin typeface="メイリオ"/>
                          <a:ea typeface="メイリオ"/>
                        </a:rPr>
                        <a:t>Google系資料との相性あり</a:t>
                      </a:r>
                    </a:p>
                  </a:txBody>
                  <a:tcPr anchor="ctr">
                    <a:solidFill>
                      <a:srgbClr val="D6E3F0"/>
                    </a:solidFill>
                  </a:tcPr>
                </a:tc>
                <a:tc>
                  <a:txBody>
                    <a:bodyPr/>
                    <a:lstStyle/>
                    <a:p>
                      <a:pPr algn="l"/>
                      <a:r>
                        <a:rPr sz="1000" b="0">
                          <a:solidFill>
                            <a:srgbClr val="333333"/>
                          </a:solidFill>
                          <a:latin typeface="メイリオ"/>
                          <a:ea typeface="メイリオ"/>
                        </a:rPr>
                        <a:t>構成・論点が整理されやすい</a:t>
                      </a:r>
                    </a:p>
                    <a:p>
                      <a:pPr algn="l"/>
                      <a:r>
                        <a:rPr sz="1000" b="0">
                          <a:solidFill>
                            <a:srgbClr val="333333"/>
                          </a:solidFill>
                          <a:latin typeface="メイリオ"/>
                          <a:ea typeface="メイリオ"/>
                        </a:rPr>
                        <a:t>長文でも一貫しやすい</a:t>
                      </a:r>
                    </a:p>
                  </a:txBody>
                  <a:tcPr anchor="ctr">
                    <a:solidFill>
                      <a:srgbClr val="D6E3F0"/>
                    </a:solidFill>
                  </a:tcPr>
                </a:tc>
              </a:tr>
              <a:tr h="330000">
                <a:tc>
                  <a:txBody>
                    <a:bodyPr/>
                    <a:lstStyle/>
                    <a:p>
                      <a:pPr algn="l"/>
                      <a:r>
                        <a:rPr sz="1000" b="0">
                          <a:solidFill>
                            <a:srgbClr val="333333"/>
                          </a:solidFill>
                          <a:latin typeface="メイリオ"/>
                          <a:ea typeface="メイリオ"/>
                        </a:rPr>
                        <a:t>業界分析</a:t>
                      </a:r>
                    </a:p>
                  </a:txBody>
                  <a:tcPr anchor="ctr"/>
                </a:tc>
                <a:tc>
                  <a:txBody>
                    <a:bodyPr/>
                    <a:lstStyle/>
                    <a:p>
                      <a:pPr algn="l"/>
                      <a:r>
                        <a:rPr sz="1000" b="0">
                          <a:solidFill>
                            <a:srgbClr val="333333"/>
                          </a:solidFill>
                          <a:latin typeface="メイリオ"/>
                          <a:ea typeface="メイリオ"/>
                        </a:rPr>
                        <a:t>多面的な切り口の洗い出し</a:t>
                      </a:r>
                    </a:p>
                    <a:p>
                      <a:pPr algn="l"/>
                      <a:r>
                        <a:rPr sz="1000" b="0">
                          <a:solidFill>
                            <a:srgbClr val="333333"/>
                          </a:solidFill>
                          <a:latin typeface="メイリオ"/>
                          <a:ea typeface="メイリオ"/>
                        </a:rPr>
                        <a:t>ブレインストーム向き</a:t>
                      </a:r>
                    </a:p>
                  </a:txBody>
                  <a:tcPr anchor="ctr"/>
                </a:tc>
                <a:tc>
                  <a:txBody>
                    <a:bodyPr/>
                    <a:lstStyle/>
                    <a:p>
                      <a:pPr algn="l"/>
                      <a:r>
                        <a:rPr sz="1000" b="0">
                          <a:solidFill>
                            <a:srgbClr val="333333"/>
                          </a:solidFill>
                          <a:latin typeface="メイリオ"/>
                          <a:ea typeface="メイリオ"/>
                        </a:rPr>
                        <a:t>最新情報の拾い上げや</a:t>
                      </a:r>
                    </a:p>
                    <a:p>
                      <a:pPr algn="l"/>
                      <a:r>
                        <a:rPr sz="1000" b="0">
                          <a:solidFill>
                            <a:srgbClr val="333333"/>
                          </a:solidFill>
                          <a:latin typeface="メイリオ"/>
                          <a:ea typeface="メイリオ"/>
                        </a:rPr>
                        <a:t>俯瞰整理の入口に向く</a:t>
                      </a:r>
                    </a:p>
                  </a:txBody>
                  <a:tcPr anchor="ctr"/>
                </a:tc>
                <a:tc>
                  <a:txBody>
                    <a:bodyPr/>
                    <a:lstStyle/>
                    <a:p>
                      <a:pPr algn="l"/>
                      <a:r>
                        <a:rPr sz="1000" b="0">
                          <a:solidFill>
                            <a:srgbClr val="333333"/>
                          </a:solidFill>
                          <a:latin typeface="メイリオ"/>
                          <a:ea typeface="メイリオ"/>
                        </a:rPr>
                        <a:t>仮説→根拠→示唆まで</a:t>
                      </a:r>
                    </a:p>
                    <a:p>
                      <a:pPr algn="l"/>
                      <a:r>
                        <a:rPr sz="1000" b="0">
                          <a:solidFill>
                            <a:srgbClr val="333333"/>
                          </a:solidFill>
                          <a:latin typeface="メイリオ"/>
                          <a:ea typeface="メイリオ"/>
                        </a:rPr>
                        <a:t>一段深く組み立てやすい</a:t>
                      </a:r>
                    </a:p>
                  </a:txBody>
                  <a:tcPr anchor="ctr"/>
                </a:tc>
              </a:tr>
            </a:tbl>
          </a:graphicData>
        </a:graphic>
      </p:graphicFrame>
      <p:sp>
        <p:nvSpPr>
          <p:cNvPr id="7" name="TextBox 6"/>
          <p:cNvSpPr txBox="1"/>
          <p:nvPr/>
        </p:nvSpPr>
        <p:spPr>
          <a:xfrm>
            <a:off x="600000" y="4020000"/>
            <a:ext cx="9000000" cy="2500000"/>
          </a:xfrm>
          <a:prstGeom prst="rect">
            <a:avLst/>
          </a:prstGeom>
          <a:noFill/>
        </p:spPr>
        <p:txBody>
          <a:bodyPr wrap="square">
            <a:spAutoFit/>
          </a:bodyPr>
          <a:lstStyle/>
          <a:p>
            <a:pPr>
              <a:spcBef>
                <a:spcPts val="0"/>
              </a:spcBef>
              <a:spcAft>
                <a:spcPts val="200"/>
              </a:spcAft>
            </a:pPr>
            <a:r>
              <a:rPr sz="1200" b="1">
                <a:solidFill>
                  <a:srgbClr val="C00000"/>
                </a:solidFill>
                <a:latin typeface="メイリオ"/>
                <a:ea typeface="メイリオ"/>
              </a:rPr>
              <a:t>⑤ リスク・注意事項</a:t>
            </a:r>
          </a:p>
          <a:p>
            <a:pPr>
              <a:spcBef>
                <a:spcPts val="0"/>
              </a:spcBef>
              <a:spcAft>
                <a:spcPts val="2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2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200"/>
              </a:spcAft>
            </a:pPr>
            <a:r>
              <a:rPr sz="1000" b="0">
                <a:solidFill>
                  <a:srgbClr val="333333"/>
                </a:solidFill>
                <a:latin typeface="メイリオ"/>
                <a:ea typeface="メイリオ"/>
              </a:rPr>
              <a:t>・その他：誤情報、根拠確認不足、チャット残存、属人化</a:t>
            </a:r>
          </a:p>
          <a:p>
            <a:pPr>
              <a:spcBef>
                <a:spcPts val="0"/>
              </a:spcBef>
              <a:spcAft>
                <a:spcPts val="200"/>
              </a:spcAft>
            </a:pPr>
            <a:r>
              <a:rPr sz="1200" b="1">
                <a:solidFill>
                  <a:srgbClr val="333333"/>
                </a:solidFill>
                <a:latin typeface="メイリオ"/>
                <a:ea typeface="メイリオ"/>
              </a:rPr>
              <a:t>⑥ 爆発的に速くするために</a:t>
            </a:r>
          </a:p>
          <a:p>
            <a:pPr>
              <a:spcBef>
                <a:spcPts val="0"/>
              </a:spcBef>
              <a:spcAft>
                <a:spcPts val="2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2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