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1029" r:id="rId30"/>
    <p:sldId id="1030" r:id="rId31"/>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9.xml"/><Relationship Id="rId30" Type="http://schemas.openxmlformats.org/officeDocument/2006/relationships/slide" Target="slides/slide14.xml"/><Relationship Id="rId31"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9000000" cy="26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650000" y="1000000"/>
          <a:ext cx="8600000" cy="1400000"/>
        </p:xfrm>
        <a:graphic>
          <a:graphicData uri="http://schemas.openxmlformats.org/drawingml/2006/table">
            <a:tbl>
              <a:tblPr firstRow="1" bandRow="1">
                <a:tableStyleId>{5C22544A-7EE6-4342-B048-85BDC9FD1C3A}</a:tableStyleId>
              </a:tblPr>
              <a:tblGrid>
                <a:gridCol w="2150000"/>
                <a:gridCol w="2150000"/>
                <a:gridCol w="2150000"/>
                <a:gridCol w="2150000"/>
              </a:tblGrid>
              <a:tr h="350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350000">
                <a:tc>
                  <a:txBody>
                    <a:bodyPr/>
                    <a:lstStyle/>
                    <a:p>
                      <a:pPr algn="l"/>
                      <a:r>
                        <a:rPr sz="1200" b="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tr>
              <a:tr h="350000">
                <a:tc>
                  <a:txBody>
                    <a:bodyPr/>
                    <a:lstStyle/>
                    <a:p>
                      <a:pPr algn="l"/>
                      <a:r>
                        <a:rPr sz="1200" b="0">
                          <a:solidFill>
                            <a:srgbClr val="333333"/>
                          </a:solidFill>
                          <a:latin typeface="メイリオ"/>
                          <a:ea typeface="メイリオ"/>
                        </a:rPr>
                        <a:t>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tr>
              <a:tr h="350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650000" y="2600000"/>
            <a:ext cx="9000000" cy="32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 顧客適用状況</a:t>
            </a:r>
          </a:p>
          <a:p>
            <a:pPr>
              <a:spcBef>
                <a:spcPts val="0"/>
              </a:spcBef>
              <a:spcAft>
                <a:spcPts val="100"/>
              </a:spcAft>
            </a:pPr>
            <a:r>
              <a:rPr sz="1300" b="0">
                <a:solidFill>
                  <a:srgbClr val="333333"/>
                </a:solidFill>
                <a:latin typeface="メイリオ"/>
                <a:ea typeface="メイリオ"/>
              </a:rPr>
              <a:t>・リリース済み</a:t>
            </a:r>
          </a:p>
          <a:p>
            <a:pPr>
              <a:spcBef>
                <a:spcPts val="0"/>
              </a:spcBef>
              <a:spcAft>
                <a:spcPts val="100"/>
              </a:spcAft>
            </a:pPr>
            <a:r>
              <a:rPr sz="1300" b="0">
                <a:solidFill>
                  <a:srgbClr val="333333"/>
                </a:solidFill>
                <a:latin typeface="メイリオ"/>
                <a:ea typeface="メイリオ"/>
              </a:rPr>
              <a:t>・キャンドゥ／ポディウム：提供準備完了、顧客都合待ち</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 今後（OS）</a:t>
            </a:r>
          </a:p>
          <a:p>
            <a:pPr>
              <a:spcBef>
                <a:spcPts val="0"/>
              </a:spcBef>
              <a:spcAft>
                <a:spcPts val="100"/>
              </a:spcAft>
            </a:pPr>
            <a:r>
              <a:rPr sz="1300" b="0">
                <a:solidFill>
                  <a:srgbClr val="333333"/>
                </a:solidFill>
                <a:latin typeface="メイリオ"/>
                <a:ea typeface="メイリオ"/>
              </a:rPr>
              <a:t>・Ubuntu 22.04 → 24.04 を実施中</a:t>
            </a:r>
          </a:p>
          <a:p>
            <a:pPr>
              <a:spcBef>
                <a:spcPts val="0"/>
              </a:spcBef>
              <a:spcAft>
                <a:spcPts val="100"/>
              </a:spcAft>
            </a:pPr>
            <a:r>
              <a:rPr sz="1300" b="0">
                <a:solidFill>
                  <a:srgbClr val="C00000"/>
                </a:solidFill>
                <a:latin typeface="メイリオ"/>
                <a:ea typeface="メイリオ"/>
              </a:rPr>
              <a:t>・8月末までにサーバー含め完了見込み</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次ページ：どのアップデートで何ができて、今後どう使えるか</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1800" b="0">
                <a:solidFill>
                  <a:srgbClr val="333333"/>
                </a:solidFill>
                <a:latin typeface="メイリオ"/>
                <a:ea typeface="メイリオ"/>
              </a:rPr>
              <a:t>5. </a:t>
            </a:r>
            <a:r>
              <a:rPr sz="1600" b="0">
                <a:solidFill>
                  <a:srgbClr val="333333"/>
                </a:solidFill>
                <a:latin typeface="メイリオ"/>
                <a:ea typeface="メイリオ"/>
              </a:rPr>
              <a:t>新パッケージのバージョンアップ状況について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450000" y="680000"/>
            <a:ext cx="9200000" cy="28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どのアップデートで → 何ができて → 今後どう使えるか</a:t>
            </a:r>
          </a:p>
        </p:txBody>
      </p:sp>
      <p:graphicFrame>
        <p:nvGraphicFramePr>
          <p:cNvPr id="4" name="Table 3"/>
          <p:cNvGraphicFramePr>
            <a:graphicFrameLocks noGrp="1"/>
          </p:cNvGraphicFramePr>
          <p:nvPr/>
        </p:nvGraphicFramePr>
        <p:xfrm>
          <a:off x="350000" y="980000"/>
          <a:ext cx="9200000" cy="4800000"/>
        </p:xfrm>
        <a:graphic>
          <a:graphicData uri="http://schemas.openxmlformats.org/drawingml/2006/table">
            <a:tbl>
              <a:tblPr firstRow="1" bandRow="1">
                <a:tableStyleId>{5C22544A-7EE6-4342-B048-85BDC9FD1C3A}</a:tableStyleId>
              </a:tblPr>
              <a:tblGrid>
                <a:gridCol w="1400000"/>
                <a:gridCol w="2300000"/>
                <a:gridCol w="2700000"/>
                <a:gridCol w="2800000"/>
              </a:tblGrid>
              <a:tr h="800000">
                <a:tc>
                  <a:txBody>
                    <a:bodyPr/>
                    <a:lstStyle/>
                    <a:p>
                      <a:pPr algn="ctr"/>
                      <a:r>
                        <a:rPr sz="1000" b="1">
                          <a:solidFill>
                            <a:srgbClr val="FFFFFF"/>
                          </a:solidFill>
                          <a:latin typeface="メイリオ"/>
                          <a:ea typeface="メイリオ"/>
                        </a:rPr>
                        <a:t>アップデート</a:t>
                      </a:r>
                    </a:p>
                  </a:txBody>
                  <a:tcPr anchor="ctr">
                    <a:solidFill>
                      <a:srgbClr val="1F4E79"/>
                    </a:solidFill>
                  </a:tcPr>
                </a:tc>
                <a:tc>
                  <a:txBody>
                    <a:bodyPr/>
                    <a:lstStyle/>
                    <a:p>
                      <a:pPr algn="ctr"/>
                      <a:r>
                        <a:rPr sz="1000" b="1">
                          <a:solidFill>
                            <a:srgbClr val="FFFFFF"/>
                          </a:solidFill>
                          <a:latin typeface="メイリオ"/>
                          <a:ea typeface="メイリオ"/>
                        </a:rPr>
                        <a:t>新機能</a:t>
                      </a:r>
                    </a:p>
                  </a:txBody>
                  <a:tcPr anchor="ctr">
                    <a:solidFill>
                      <a:srgbClr val="1F4E79"/>
                    </a:solidFill>
                  </a:tcPr>
                </a:tc>
                <a:tc>
                  <a:txBody>
                    <a:bodyPr/>
                    <a:lstStyle/>
                    <a:p>
                      <a:pPr algn="ctr"/>
                      <a:r>
                        <a:rPr sz="1000" b="1">
                          <a:solidFill>
                            <a:srgbClr val="FFFFFF"/>
                          </a:solidFill>
                          <a:latin typeface="メイリオ"/>
                          <a:ea typeface="メイリオ"/>
                        </a:rPr>
                        <a:t>できるようになること</a:t>
                      </a:r>
                    </a:p>
                  </a:txBody>
                  <a:tcPr anchor="ctr">
                    <a:solidFill>
                      <a:srgbClr val="1F4E79"/>
                    </a:solidFill>
                  </a:tcPr>
                </a:tc>
                <a:tc>
                  <a:txBody>
                    <a:bodyPr/>
                    <a:lstStyle/>
                    <a:p>
                      <a:pPr algn="ctr"/>
                      <a:r>
                        <a:rPr sz="1000" b="1">
                          <a:solidFill>
                            <a:srgbClr val="FFFFFF"/>
                          </a:solidFill>
                          <a:latin typeface="メイリオ"/>
                          <a:ea typeface="メイリオ"/>
                        </a:rPr>
                        <a:t>今後の活用イメージ</a:t>
                      </a:r>
                    </a:p>
                  </a:txBody>
                  <a:tcPr anchor="ctr">
                    <a:solidFill>
                      <a:srgbClr val="1F4E79"/>
                    </a:solidFill>
                  </a:tcPr>
                </a:tc>
              </a:tr>
              <a:tr h="800000">
                <a:tc>
                  <a:txBody>
                    <a:bodyPr/>
                    <a:lstStyle/>
                    <a:p>
                      <a:pPr algn="l"/>
                      <a:r>
                        <a:rPr sz="900" b="1">
                          <a:solidFill>
                            <a:srgbClr val="333333"/>
                          </a:solidFill>
                          <a:latin typeface="メイリオ"/>
                          <a:ea typeface="メイリオ"/>
                        </a:rPr>
                        <a:t>Ruby
3.2→3.4</a:t>
                      </a:r>
                    </a:p>
                  </a:txBody>
                  <a:tcPr anchor="ctr"/>
                </a:tc>
                <a:tc>
                  <a:txBody>
                    <a:bodyPr/>
                    <a:lstStyle/>
                    <a:p>
                      <a:pPr algn="l"/>
                      <a:r>
                        <a:rPr sz="900" b="0">
                          <a:solidFill>
                            <a:srgbClr val="333333"/>
                          </a:solidFill>
                          <a:latin typeface="メイリオ"/>
                          <a:ea typeface="メイリオ"/>
                        </a:rPr>
                        <a:t>外部接続の改善
(Happy Eyeballs v2)</a:t>
                      </a:r>
                    </a:p>
                  </a:txBody>
                  <a:tcPr anchor="ctr"/>
                </a:tc>
                <a:tc>
                  <a:txBody>
                    <a:bodyPr/>
                    <a:lstStyle/>
                    <a:p>
                      <a:pPr algn="l"/>
                      <a:r>
                        <a:rPr sz="900" b="0">
                          <a:solidFill>
                            <a:srgbClr val="333333"/>
                          </a:solidFill>
                          <a:latin typeface="メイリオ"/>
                          <a:ea typeface="メイリオ"/>
                        </a:rPr>
                        <a:t>IPv4/IPv6を並行して接続試行し、
外部通信の確立をより確実にできる</a:t>
                      </a:r>
                    </a:p>
                  </a:txBody>
                  <a:tcPr anchor="ctr"/>
                </a:tc>
                <a:tc>
                  <a:txBody>
                    <a:bodyPr/>
                    <a:lstStyle/>
                    <a:p>
                      <a:pPr algn="l"/>
                      <a:r>
                        <a:rPr sz="900" b="0">
                          <a:solidFill>
                            <a:srgbClr val="333333"/>
                          </a:solidFill>
                          <a:latin typeface="メイリオ"/>
                          <a:ea typeface="メイリオ"/>
                        </a:rPr>
                        <a:t>基幹・決済・配送など外部API連携の
接続まわりを安定させやすい</a:t>
                      </a:r>
                    </a:p>
                  </a:txBody>
                  <a:tcPr anchor="ctr"/>
                </a:tc>
              </a:tr>
              <a:tr h="80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ジョブ途中再開
(Active Job Continuations)</a:t>
                      </a:r>
                    </a:p>
                  </a:txBody>
                  <a:tcPr anchor="ctr">
                    <a:solidFill>
                      <a:srgbClr val="D6E3F0"/>
                    </a:solidFill>
                  </a:tcPr>
                </a:tc>
                <a:tc>
                  <a:txBody>
                    <a:bodyPr/>
                    <a:lstStyle/>
                    <a:p>
                      <a:pPr algn="l"/>
                      <a:r>
                        <a:rPr sz="900" b="0">
                          <a:solidFill>
                            <a:srgbClr val="333333"/>
                          </a:solidFill>
                          <a:latin typeface="メイリオ"/>
                          <a:ea typeface="メイリオ"/>
                        </a:rPr>
                        <a:t>同じ実行ジョブが途中停止しても、
続きから再開しやすくなる</a:t>
                      </a:r>
                    </a:p>
                  </a:txBody>
                  <a:tcPr anchor="ctr">
                    <a:solidFill>
                      <a:srgbClr val="D6E3F0"/>
                    </a:solidFill>
                  </a:tcPr>
                </a:tc>
                <a:tc>
                  <a:txBody>
                    <a:bodyPr/>
                    <a:lstStyle/>
                    <a:p>
                      <a:pPr algn="l"/>
                      <a:r>
                        <a:rPr sz="900" b="0">
                          <a:solidFill>
                            <a:srgbClr val="333333"/>
                          </a:solidFill>
                          <a:latin typeface="メイリオ"/>
                          <a:ea typeface="メイリオ"/>
                        </a:rPr>
                        <a:t>CSV取込／出力などの長時間ジョブに適用可
（詳細は次ページ）</a:t>
                      </a:r>
                    </a:p>
                  </a:txBody>
                  <a:tcPr anchor="ctr">
                    <a:solidFill>
                      <a:srgbClr val="D6E3F0"/>
                    </a:solidFill>
                  </a:tcPr>
                </a:tc>
              </a:tr>
              <a:tr h="800000">
                <a:tc>
                  <a:txBody>
                    <a:bodyPr/>
                    <a:lstStyle/>
                    <a:p>
                      <a:pPr algn="l"/>
                      <a:r>
                        <a:rPr sz="900" b="1">
                          <a:solidFill>
                            <a:srgbClr val="333333"/>
                          </a:solidFill>
                          <a:latin typeface="メイリオ"/>
                          <a:ea typeface="メイリオ"/>
                        </a:rPr>
                        <a:t>Rails
7.2→8.1</a:t>
                      </a:r>
                    </a:p>
                  </a:txBody>
                  <a:tcPr anchor="ctr"/>
                </a:tc>
                <a:tc>
                  <a:txBody>
                    <a:bodyPr/>
                    <a:lstStyle/>
                    <a:p>
                      <a:pPr algn="l"/>
                      <a:r>
                        <a:rPr sz="900" b="0">
                          <a:solidFill>
                            <a:srgbClr val="333333"/>
                          </a:solidFill>
                          <a:latin typeface="メイリオ"/>
                          <a:ea typeface="メイリオ"/>
                        </a:rPr>
                        <a:t>構造化イベント通知
(Event Reporter)</a:t>
                      </a:r>
                    </a:p>
                  </a:txBody>
                  <a:tcPr anchor="ctr"/>
                </a:tc>
                <a:tc>
                  <a:txBody>
                    <a:bodyPr/>
                    <a:lstStyle/>
                    <a:p>
                      <a:pPr algn="l"/>
                      <a:r>
                        <a:rPr sz="900" b="0">
                          <a:solidFill>
                            <a:srgbClr val="333333"/>
                          </a:solidFill>
                          <a:latin typeface="メイリオ"/>
                          <a:ea typeface="メイリオ"/>
                        </a:rPr>
                        <a:t>「誰が・いつ・何をした」を
機械可読イベントとして出せる</a:t>
                      </a:r>
                    </a:p>
                  </a:txBody>
                  <a:tcPr anchor="ctr"/>
                </a:tc>
                <a:tc>
                  <a:txBody>
                    <a:bodyPr/>
                    <a:lstStyle/>
                    <a:p>
                      <a:pPr algn="l"/>
                      <a:r>
                        <a:rPr sz="900" b="0">
                          <a:solidFill>
                            <a:srgbClr val="333333"/>
                          </a:solidFill>
                          <a:latin typeface="メイリオ"/>
                          <a:ea typeface="メイリオ"/>
                        </a:rPr>
                        <a:t>監査ログ／障害調査／監視連携で
運用品質と説明責任を強化できる</a:t>
                      </a:r>
                    </a:p>
                  </a:txBody>
                  <a:tcPr anchor="ctr"/>
                </a:tc>
              </a:tr>
              <a:tr h="80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Markdown標準描画</a:t>
                      </a:r>
                    </a:p>
                  </a:txBody>
                  <a:tcPr anchor="ctr">
                    <a:solidFill>
                      <a:srgbClr val="D6E3F0"/>
                    </a:solidFill>
                  </a:tcPr>
                </a:tc>
                <a:tc>
                  <a:txBody>
                    <a:bodyPr/>
                    <a:lstStyle/>
                    <a:p>
                      <a:pPr algn="l"/>
                      <a:r>
                        <a:rPr sz="900" b="0">
                          <a:solidFill>
                            <a:srgbClr val="333333"/>
                          </a:solidFill>
                          <a:latin typeface="メイリオ"/>
                          <a:ea typeface="メイリオ"/>
                        </a:rPr>
                        <a:t>Markdownをそのまま
画面やAPI応答に使える</a:t>
                      </a:r>
                    </a:p>
                  </a:txBody>
                  <a:tcPr anchor="ctr">
                    <a:solidFill>
                      <a:srgbClr val="D6E3F0"/>
                    </a:solidFill>
                  </a:tcPr>
                </a:tc>
                <a:tc>
                  <a:txBody>
                    <a:bodyPr/>
                    <a:lstStyle/>
                    <a:p>
                      <a:pPr algn="l"/>
                      <a:r>
                        <a:rPr sz="900" b="0">
                          <a:solidFill>
                            <a:srgbClr val="333333"/>
                          </a:solidFill>
                          <a:latin typeface="メイリオ"/>
                          <a:ea typeface="メイリオ"/>
                        </a:rPr>
                        <a:t>ヘルプ・提案資料・AI出力の表示基盤
（Primo伴走支援の説明にも応用可）</a:t>
                      </a:r>
                    </a:p>
                  </a:txBody>
                  <a:tcPr anchor="ctr">
                    <a:solidFill>
                      <a:srgbClr val="D6E3F0"/>
                    </a:solidFill>
                  </a:tcPr>
                </a:tc>
              </a:tr>
              <a:tr h="800000">
                <a:tc>
                  <a:txBody>
                    <a:bodyPr/>
                    <a:lstStyle/>
                    <a:p>
                      <a:pPr algn="l"/>
                      <a:r>
                        <a:rPr sz="900" b="1">
                          <a:solidFill>
                            <a:srgbClr val="333333"/>
                          </a:solidFill>
                          <a:latin typeface="メイリオ"/>
                          <a:ea typeface="メイリオ"/>
                        </a:rPr>
                        <a:t>MariaDB
10.6→10.11</a:t>
                      </a:r>
                    </a:p>
                  </a:txBody>
                  <a:tcPr anchor="ctr"/>
                </a:tc>
                <a:tc>
                  <a:txBody>
                    <a:bodyPr/>
                    <a:lstStyle/>
                    <a:p>
                      <a:pPr algn="l"/>
                      <a:r>
                        <a:rPr sz="900" b="0">
                          <a:solidFill>
                            <a:srgbClr val="333333"/>
                          </a:solidFill>
                          <a:latin typeface="メイリオ"/>
                          <a:ea typeface="メイリオ"/>
                        </a:rPr>
                        <a:t>UUID型
／設定の動的変更</a:t>
                      </a:r>
                    </a:p>
                  </a:txBody>
                  <a:tcPr anchor="ctr"/>
                </a:tc>
                <a:tc>
                  <a:txBody>
                    <a:bodyPr/>
                    <a:lstStyle/>
                    <a:p>
                      <a:pPr algn="l"/>
                      <a:r>
                        <a:rPr sz="900" b="0">
                          <a:solidFill>
                            <a:srgbClr val="333333"/>
                          </a:solidFill>
                          <a:latin typeface="メイリオ"/>
                          <a:ea typeface="メイリオ"/>
                        </a:rPr>
                        <a:t>UUIDをDB型で持てる
一部設定を再起動なしで変更できる</a:t>
                      </a:r>
                    </a:p>
                  </a:txBody>
                  <a:tcPr anchor="ctr"/>
                </a:tc>
                <a:tc>
                  <a:txBody>
                    <a:bodyPr/>
                    <a:lstStyle/>
                    <a:p>
                      <a:pPr algn="l"/>
                      <a:r>
                        <a:rPr sz="900" b="0">
                          <a:solidFill>
                            <a:srgbClr val="333333"/>
                          </a:solidFill>
                          <a:latin typeface="メイリオ"/>
                          <a:ea typeface="メイリオ"/>
                        </a:rPr>
                        <a:t>基幹連携IDの整備や、ピーク時の
運用チューニングに使える</a:t>
                      </a:r>
                    </a:p>
                  </a:txBody>
                  <a:tcPr anchor="ctr"/>
                </a:tc>
              </a:tr>
            </a:tbl>
          </a:graphicData>
        </a:graphic>
      </p:graphicFrame>
      <p:sp>
        <p:nvSpPr>
          <p:cNvPr id="5" name="TextBox 4"/>
          <p:cNvSpPr txBox="1"/>
          <p:nvPr/>
        </p:nvSpPr>
        <p:spPr>
          <a:xfrm>
            <a:off x="450000" y="5900000"/>
            <a:ext cx="9200000" cy="700000"/>
          </a:xfrm>
          <a:prstGeom prst="rect">
            <a:avLst/>
          </a:prstGeom>
          <a:noFill/>
        </p:spPr>
        <p:txBody>
          <a:bodyPr wrap="square">
            <a:spAutoFit/>
          </a:bodyPr>
          <a:lstStyle/>
          <a:p>
            <a:pPr>
              <a:spcBef>
                <a:spcPts val="0"/>
              </a:spcBef>
              <a:spcAft>
                <a:spcPts val="100"/>
              </a:spcAft>
            </a:pPr>
            <a:r>
              <a:rPr sz="1000" b="0">
                <a:solidFill>
                  <a:srgbClr val="C00000"/>
                </a:solidFill>
                <a:latin typeface="メイリオ"/>
                <a:ea typeface="メイリオ"/>
              </a:rPr>
              <a:t>※ いますぐ全部を使う話ではない。今後の機能追加・運用改善で選べる選択肢を増やしたアップデート</a:t>
            </a:r>
          </a:p>
          <a:p>
            <a:pPr>
              <a:spcBef>
                <a:spcPts val="0"/>
              </a:spcBef>
              <a:spcAft>
                <a:spcPts val="100"/>
              </a:spcAft>
            </a:pPr>
            <a:r>
              <a:rPr sz="1000" b="0">
                <a:solidFill>
                  <a:srgbClr val="333333"/>
                </a:solidFill>
                <a:latin typeface="メイリオ"/>
                <a:ea typeface="メイリオ"/>
              </a:rPr>
              <a:t>→ 次ページで「ジョブ途中再開」を、ECのCSV取込／出力に寄せて説明</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40000"/>
            <a:ext cx="8500000" cy="56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t>
            </a:r>
          </a:p>
          <a:p>
            <a:pPr>
              <a:spcBef>
                <a:spcPts val="0"/>
              </a:spcBef>
              <a:spcAft>
                <a:spcPts val="100"/>
              </a:spcAft>
            </a:pPr>
            <a:r>
              <a:rPr sz="1300" b="0">
                <a:solidFill>
                  <a:srgbClr val="333333"/>
                </a:solidFill>
                <a:latin typeface="メイリオ"/>
                <a:ea typeface="メイリオ"/>
              </a:rPr>
              <a:t>・これまで：VS Code + GitHub Copilot</a:t>
            </a:r>
          </a:p>
          <a:p>
            <a:pPr>
              <a:spcBef>
                <a:spcPts val="0"/>
              </a:spcBef>
              <a:spcAft>
                <a:spcPts val="100"/>
              </a:spcAft>
            </a:pPr>
            <a:r>
              <a:rPr sz="1300" b="0">
                <a:solidFill>
                  <a:srgbClr val="333333"/>
                </a:solidFill>
                <a:latin typeface="メイリオ"/>
                <a:ea typeface="メイリオ"/>
              </a:rPr>
              <a:t>・これから：Cursor + Claude　／　Claude Desktop + Claude Code</a:t>
            </a:r>
          </a:p>
          <a:p>
            <a:pPr>
              <a:spcBef>
                <a:spcPts val="0"/>
              </a:spcBef>
              <a:spcAft>
                <a:spcPts val="100"/>
              </a:spcAft>
            </a:pPr>
            <a:r>
              <a:rPr sz="1300" b="0">
                <a:solidFill>
                  <a:srgbClr val="333333"/>
                </a:solidFill>
                <a:latin typeface="メイリオ"/>
                <a:ea typeface="メイリオ"/>
              </a:rPr>
              <a:t>・目的：現状の開発の効率化・品質向上</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② 1か月使ってみた所感</a:t>
            </a:r>
          </a:p>
          <a:p>
            <a:pPr>
              <a:spcBef>
                <a:spcPts val="0"/>
              </a:spcBef>
              <a:spcAft>
                <a:spcPts val="100"/>
              </a:spcAft>
            </a:pPr>
            <a:r>
              <a:rPr sz="1300" b="0">
                <a:solidFill>
                  <a:srgbClr val="333333"/>
                </a:solidFill>
                <a:latin typeface="メイリオ"/>
                <a:ea typeface="メイリオ"/>
              </a:rPr>
              <a:t>・回答精度にかなり優秀さを感じる</a:t>
            </a:r>
          </a:p>
          <a:p>
            <a:pPr>
              <a:spcBef>
                <a:spcPts val="0"/>
              </a:spcBef>
              <a:spcAft>
                <a:spcPts val="100"/>
              </a:spcAft>
            </a:pPr>
            <a:r>
              <a:rPr sz="1300" b="0">
                <a:solidFill>
                  <a:srgbClr val="333333"/>
                </a:solidFill>
                <a:latin typeface="メイリオ"/>
                <a:ea typeface="メイリオ"/>
              </a:rPr>
              <a:t>・「補完」から「要件〜実装〜レビュー伴走」へシフトできる</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300" b="0">
                <a:solidFill>
                  <a:srgbClr val="333333"/>
                </a:solidFill>
                <a:latin typeface="メイリオ"/>
                <a:ea typeface="メイリオ"/>
              </a:rPr>
              <a:t>・EC-Rider用プロンプト／実装ガイドを読込 → EC-Rider AI を構築中</a:t>
            </a:r>
          </a:p>
          <a:p>
            <a:pPr>
              <a:spcBef>
                <a:spcPts val="0"/>
              </a:spcBef>
              <a:spcAft>
                <a:spcPts val="100"/>
              </a:spcAft>
            </a:pPr>
            <a:r>
              <a:rPr sz="13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比較・リスク・加速施策は次ページ</a:t>
            </a:r>
          </a:p>
        </p:txBody>
      </p:sp>
    </p:spTree>
    <p:extLst>
      <p:ext uri="{BB962C8B-B14F-4D97-AF65-F5344CB8AC3E}">
        <p14:creationId xmlns:p14="http://schemas.microsoft.com/office/powerpoint/2010/main" val="3216946517"/>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00000" y="700000"/>
            <a:ext cx="9000000" cy="28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比較：VS Code Copilot vs Cursor + Claude</a:t>
            </a:r>
          </a:p>
        </p:txBody>
      </p:sp>
      <p:graphicFrame>
        <p:nvGraphicFramePr>
          <p:cNvPr id="4" name="Table 3"/>
          <p:cNvGraphicFramePr>
            <a:graphicFrameLocks noGrp="1"/>
          </p:cNvGraphicFramePr>
          <p:nvPr/>
        </p:nvGraphicFramePr>
        <p:xfrm>
          <a:off x="600000" y="980000"/>
          <a:ext cx="8700000" cy="1320000"/>
        </p:xfrm>
        <a:graphic>
          <a:graphicData uri="http://schemas.openxmlformats.org/drawingml/2006/table">
            <a:tbl>
              <a:tblPr firstRow="1" bandRow="1">
                <a:tableStyleId>{5C22544A-7EE6-4342-B048-85BDC9FD1C3A}</a:tableStyleId>
              </a:tblPr>
              <a:tblGrid>
                <a:gridCol w="1400000"/>
                <a:gridCol w="3650000"/>
                <a:gridCol w="3650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VS Code + Copilot</a:t>
                      </a:r>
                    </a:p>
                  </a:txBody>
                  <a:tcPr anchor="ctr">
                    <a:solidFill>
                      <a:srgbClr val="1F4E79"/>
                    </a:solidFill>
                  </a:tcPr>
                </a:tc>
                <a:tc>
                  <a:txBody>
                    <a:bodyPr/>
                    <a:lstStyle/>
                    <a:p>
                      <a:pPr algn="ctr"/>
                      <a:r>
                        <a:rPr sz="1000" b="1">
                          <a:solidFill>
                            <a:srgbClr val="FFFFFF"/>
                          </a:solidFill>
                          <a:latin typeface="メイリオ"/>
                          <a:ea typeface="メイリオ"/>
                        </a:rPr>
                        <a:t>Cursor + Claude</a:t>
                      </a:r>
                    </a:p>
                  </a:txBody>
                  <a:tcPr anchor="ctr">
                    <a:solidFill>
                      <a:srgbClr val="1F4E79"/>
                    </a:solidFill>
                  </a:tcPr>
                </a:tc>
              </a:tr>
              <a:tr h="330000">
                <a:tc>
                  <a:txBody>
                    <a:bodyPr/>
                    <a:lstStyle/>
                    <a:p>
                      <a:pPr algn="ctr"/>
                      <a:r>
                        <a:rPr sz="1000" b="0">
                          <a:solidFill>
                            <a:srgbClr val="333333"/>
                          </a:solidFill>
                          <a:latin typeface="メイリオ"/>
                          <a:ea typeface="メイリオ"/>
                        </a:rPr>
                        <a:t>得意</a:t>
                      </a:r>
                    </a:p>
                  </a:txBody>
                  <a:tcPr anchor="ctr"/>
                </a:tc>
                <a:tc>
                  <a:txBody>
                    <a:bodyPr/>
                    <a:lstStyle/>
                    <a:p>
                      <a:pPr algn="l"/>
                      <a:r>
                        <a:rPr sz="1000" b="0">
                          <a:solidFill>
                            <a:srgbClr val="333333"/>
                          </a:solidFill>
                          <a:latin typeface="メイリオ"/>
                          <a:ea typeface="メイリオ"/>
                        </a:rPr>
                        <a:t>行・関数単位の補完が速い</a:t>
                      </a:r>
                    </a:p>
                  </a:txBody>
                  <a:tcPr anchor="ctr"/>
                </a:tc>
                <a:tc>
                  <a:txBody>
                    <a:bodyPr/>
                    <a:lstStyle/>
                    <a:p>
                      <a:pPr algn="l"/>
                      <a:r>
                        <a:rPr sz="1000" b="0">
                          <a:solidFill>
                            <a:srgbClr val="333333"/>
                          </a:solidFill>
                          <a:latin typeface="メイリオ"/>
                          <a:ea typeface="メイリオ"/>
                        </a:rPr>
                        <a:t>複数ファイル横断の設計・実装・修正</a:t>
                      </a:r>
                    </a:p>
                  </a:txBody>
                  <a:tcPr anchor="ctr"/>
                </a:tc>
              </a:tr>
              <a:tr h="330000">
                <a:tc>
                  <a:txBody>
                    <a:bodyPr/>
                    <a:lstStyle/>
                    <a:p>
                      <a:pPr algn="ctr"/>
                      <a:r>
                        <a:rPr sz="1000" b="0">
                          <a:solidFill>
                            <a:srgbClr val="333333"/>
                          </a:solidFill>
                          <a:latin typeface="メイリオ"/>
                          <a:ea typeface="メイリオ"/>
                        </a:rPr>
                        <a:t>文脈</a:t>
                      </a:r>
                    </a:p>
                  </a:txBody>
                  <a:tcPr anchor="ctr">
                    <a:solidFill>
                      <a:srgbClr val="D6E3F0"/>
                    </a:solidFill>
                  </a:tcPr>
                </a:tc>
                <a:tc>
                  <a:txBody>
                    <a:bodyPr/>
                    <a:lstStyle/>
                    <a:p>
                      <a:pPr algn="l"/>
                      <a:r>
                        <a:rPr sz="1000" b="0">
                          <a:solidFill>
                            <a:srgbClr val="333333"/>
                          </a:solidFill>
                          <a:latin typeface="メイリオ"/>
                          <a:ea typeface="メイリオ"/>
                        </a:rPr>
                        <a:t>編集中の周辺が中心</a:t>
                      </a:r>
                    </a:p>
                  </a:txBody>
                  <a:tcPr anchor="ctr">
                    <a:solidFill>
                      <a:srgbClr val="D6E3F0"/>
                    </a:solidFill>
                  </a:tcPr>
                </a:tc>
                <a:tc>
                  <a:txBody>
                    <a:bodyPr/>
                    <a:lstStyle/>
                    <a:p>
                      <a:pPr algn="l"/>
                      <a:r>
                        <a:rPr sz="1000" b="0">
                          <a:solidFill>
                            <a:srgbClr val="333333"/>
                          </a:solidFill>
                          <a:latin typeface="メイリオ"/>
                          <a:ea typeface="メイリオ"/>
                        </a:rPr>
                        <a:t>リポジトリ／ガイドを広く読ませやすい</a:t>
                      </a:r>
                    </a:p>
                  </a:txBody>
                  <a:tcPr anchor="ctr">
                    <a:solidFill>
                      <a:srgbClr val="D6E3F0"/>
                    </a:solidFill>
                  </a:tcPr>
                </a:tc>
              </a:tr>
              <a:tr h="330000">
                <a:tc>
                  <a:txBody>
                    <a:bodyPr/>
                    <a:lstStyle/>
                    <a:p>
                      <a:pPr algn="ctr"/>
                      <a:r>
                        <a:rPr sz="1000" b="0">
                          <a:solidFill>
                            <a:srgbClr val="333333"/>
                          </a:solidFill>
                          <a:latin typeface="メイリオ"/>
                          <a:ea typeface="メイリオ"/>
                        </a:rPr>
                        <a:t>向く作業</a:t>
                      </a:r>
                    </a:p>
                  </a:txBody>
                  <a:tcPr anchor="ctr"/>
                </a:tc>
                <a:tc>
                  <a:txBody>
                    <a:bodyPr/>
                    <a:lstStyle/>
                    <a:p>
                      <a:pPr algn="l"/>
                      <a:r>
                        <a:rPr sz="1000" b="0">
                          <a:solidFill>
                            <a:srgbClr val="333333"/>
                          </a:solidFill>
                          <a:latin typeface="メイリオ"/>
                          <a:ea typeface="メイリオ"/>
                        </a:rPr>
                        <a:t>小改修・定型実装</a:t>
                      </a:r>
                    </a:p>
                  </a:txBody>
                  <a:tcPr anchor="ctr"/>
                </a:tc>
                <a:tc>
                  <a:txBody>
                    <a:bodyPr/>
                    <a:lstStyle/>
                    <a:p>
                      <a:pPr algn="l"/>
                      <a:r>
                        <a:rPr sz="1000" b="0">
                          <a:solidFill>
                            <a:srgbClr val="333333"/>
                          </a:solidFill>
                          <a:latin typeface="メイリオ"/>
                          <a:ea typeface="メイリオ"/>
                        </a:rPr>
                        <a:t>調査・横断改修・品質向上の伴走</a:t>
                      </a:r>
                    </a:p>
                  </a:txBody>
                  <a:tcPr anchor="ctr"/>
                </a:tc>
              </a:tr>
            </a:tbl>
          </a:graphicData>
        </a:graphic>
      </p:graphicFrame>
      <p:sp>
        <p:nvSpPr>
          <p:cNvPr id="5" name="TextBox 4"/>
          <p:cNvSpPr txBox="1"/>
          <p:nvPr/>
        </p:nvSpPr>
        <p:spPr>
          <a:xfrm>
            <a:off x="600000" y="2360000"/>
            <a:ext cx="9000000" cy="26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Claude vs ChatGPT vs Gemini（開発用途）</a:t>
            </a:r>
          </a:p>
        </p:txBody>
      </p:sp>
      <p:graphicFrame>
        <p:nvGraphicFramePr>
          <p:cNvPr id="6" name="Table 5"/>
          <p:cNvGraphicFramePr>
            <a:graphicFrameLocks noGrp="1"/>
          </p:cNvGraphicFramePr>
          <p:nvPr/>
        </p:nvGraphicFramePr>
        <p:xfrm>
          <a:off x="600000" y="2620000"/>
          <a:ext cx="8700000" cy="1320000"/>
        </p:xfrm>
        <a:graphic>
          <a:graphicData uri="http://schemas.openxmlformats.org/drawingml/2006/table">
            <a:tbl>
              <a:tblPr firstRow="1" bandRow="1">
                <a:tableStyleId>{5C22544A-7EE6-4342-B048-85BDC9FD1C3A}</a:tableStyleId>
              </a:tblPr>
              <a:tblGrid>
                <a:gridCol w="2175000"/>
                <a:gridCol w="2175000"/>
                <a:gridCol w="2175000"/>
                <a:gridCol w="2175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Claude</a:t>
                      </a:r>
                    </a:p>
                  </a:txBody>
                  <a:tcPr anchor="ctr">
                    <a:solidFill>
                      <a:srgbClr val="1F4E79"/>
                    </a:solidFill>
                  </a:tcPr>
                </a:tc>
                <a:tc>
                  <a:txBody>
                    <a:bodyPr/>
                    <a:lstStyle/>
                    <a:p>
                      <a:pPr algn="ctr"/>
                      <a:r>
                        <a:rPr sz="1000" b="1">
                          <a:solidFill>
                            <a:srgbClr val="FFFFFF"/>
                          </a:solidFill>
                          <a:latin typeface="メイリオ"/>
                          <a:ea typeface="メイリオ"/>
                        </a:rPr>
                        <a:t>ChatGPT</a:t>
                      </a:r>
                    </a:p>
                  </a:txBody>
                  <a:tcPr anchor="ctr">
                    <a:solidFill>
                      <a:srgbClr val="1F4E79"/>
                    </a:solidFill>
                  </a:tcPr>
                </a:tc>
                <a:tc>
                  <a:txBody>
                    <a:bodyPr/>
                    <a:lstStyle/>
                    <a:p>
                      <a:pPr algn="ctr"/>
                      <a:r>
                        <a:rPr sz="1000" b="1">
                          <a:solidFill>
                            <a:srgbClr val="FFFFFF"/>
                          </a:solidFill>
                          <a:latin typeface="メイリオ"/>
                          <a:ea typeface="メイリオ"/>
                        </a:rPr>
                        <a:t>Gemini</a:t>
                      </a:r>
                    </a:p>
                  </a:txBody>
                  <a:tcPr anchor="ctr">
                    <a:solidFill>
                      <a:srgbClr val="1F4E79"/>
                    </a:solidFill>
                  </a:tcPr>
                </a:tc>
              </a:tr>
              <a:tr h="330000">
                <a:tc>
                  <a:txBody>
                    <a:bodyPr/>
                    <a:lstStyle/>
                    <a:p>
                      <a:pPr algn="ctr"/>
                      <a:r>
                        <a:rPr sz="1000" b="0">
                          <a:solidFill>
                            <a:srgbClr val="333333"/>
                          </a:solidFill>
                          <a:latin typeface="メイリオ"/>
                          <a:ea typeface="メイリオ"/>
                        </a:rPr>
                        <a:t>強み</a:t>
                      </a:r>
                    </a:p>
                  </a:txBody>
                  <a:tcPr anchor="ctr"/>
                </a:tc>
                <a:tc>
                  <a:txBody>
                    <a:bodyPr/>
                    <a:lstStyle/>
                    <a:p>
                      <a:pPr algn="l"/>
                      <a:r>
                        <a:rPr sz="1000" b="0">
                          <a:solidFill>
                            <a:srgbClr val="333333"/>
                          </a:solidFill>
                          <a:latin typeface="メイリオ"/>
                          <a:ea typeface="メイリオ"/>
                        </a:rPr>
                        <a:t>実装の一貫性・指示遵守</a:t>
                      </a:r>
                    </a:p>
                  </a:txBody>
                  <a:tcPr anchor="ctr"/>
                </a:tc>
                <a:tc>
                  <a:txBody>
                    <a:bodyPr/>
                    <a:lstStyle/>
                    <a:p>
                      <a:pPr algn="l"/>
                      <a:r>
                        <a:rPr sz="1000" b="0">
                          <a:solidFill>
                            <a:srgbClr val="333333"/>
                          </a:solidFill>
                          <a:latin typeface="メイリオ"/>
                          <a:ea typeface="メイリオ"/>
                        </a:rPr>
                        <a:t>汎用壁打ち・文書作成</a:t>
                      </a:r>
                    </a:p>
                  </a:txBody>
                  <a:tcPr anchor="ctr"/>
                </a:tc>
                <a:tc>
                  <a:txBody>
                    <a:bodyPr/>
                    <a:lstStyle/>
                    <a:p>
                      <a:pPr algn="l"/>
                      <a:r>
                        <a:rPr sz="1000" b="0">
                          <a:solidFill>
                            <a:srgbClr val="333333"/>
                          </a:solidFill>
                          <a:latin typeface="メイリオ"/>
                          <a:ea typeface="メイリオ"/>
                        </a:rPr>
                        <a:t>調査・別視点・マルチモーダル</a:t>
                      </a:r>
                    </a:p>
                  </a:txBody>
                  <a:tcPr anchor="ctr"/>
                </a:tc>
              </a:tr>
              <a:tr h="330000">
                <a:tc>
                  <a:txBody>
                    <a:bodyPr/>
                    <a:lstStyle/>
                    <a:p>
                      <a:pPr algn="ctr"/>
                      <a:r>
                        <a:rPr sz="1000" b="0">
                          <a:solidFill>
                            <a:srgbClr val="333333"/>
                          </a:solidFill>
                          <a:latin typeface="メイリオ"/>
                          <a:ea typeface="メイリオ"/>
                        </a:rPr>
                        <a:t>向く用途</a:t>
                      </a:r>
                    </a:p>
                  </a:txBody>
                  <a:tcPr anchor="ctr">
                    <a:solidFill>
                      <a:srgbClr val="D6E3F0"/>
                    </a:solidFill>
                  </a:tcPr>
                </a:tc>
                <a:tc>
                  <a:txBody>
                    <a:bodyPr/>
                    <a:lstStyle/>
                    <a:p>
                      <a:pPr algn="l"/>
                      <a:r>
                        <a:rPr sz="1000" b="0">
                          <a:solidFill>
                            <a:srgbClr val="333333"/>
                          </a:solidFill>
                          <a:latin typeface="メイリオ"/>
                          <a:ea typeface="メイリオ"/>
                        </a:rPr>
                        <a:t>実装の主戦</a:t>
                      </a:r>
                    </a:p>
                  </a:txBody>
                  <a:tcPr anchor="ctr">
                    <a:solidFill>
                      <a:srgbClr val="D6E3F0"/>
                    </a:solidFill>
                  </a:tcPr>
                </a:tc>
                <a:tc>
                  <a:txBody>
                    <a:bodyPr/>
                    <a:lstStyle/>
                    <a:p>
                      <a:pPr algn="l"/>
                      <a:r>
                        <a:rPr sz="1000" b="0">
                          <a:solidFill>
                            <a:srgbClr val="333333"/>
                          </a:solidFill>
                          <a:latin typeface="メイリオ"/>
                          <a:ea typeface="メイリオ"/>
                        </a:rPr>
                        <a:t>企画・文章・広く聞く</a:t>
                      </a:r>
                    </a:p>
                  </a:txBody>
                  <a:tcPr anchor="ctr">
                    <a:solidFill>
                      <a:srgbClr val="D6E3F0"/>
                    </a:solidFill>
                  </a:tcPr>
                </a:tc>
                <a:tc>
                  <a:txBody>
                    <a:bodyPr/>
                    <a:lstStyle/>
                    <a:p>
                      <a:pPr algn="l"/>
                      <a:r>
                        <a:rPr sz="1000" b="0">
                          <a:solidFill>
                            <a:srgbClr val="333333"/>
                          </a:solidFill>
                          <a:latin typeface="メイリオ"/>
                          <a:ea typeface="メイリオ"/>
                        </a:rPr>
                        <a:t>検算・調査の補助</a:t>
                      </a:r>
                    </a:p>
                  </a:txBody>
                  <a:tcPr anchor="ctr">
                    <a:solidFill>
                      <a:srgbClr val="D6E3F0"/>
                    </a:solidFill>
                  </a:tcPr>
                </a:tc>
              </a:tr>
              <a:tr h="330000">
                <a:tc>
                  <a:txBody>
                    <a:bodyPr/>
                    <a:lstStyle/>
                    <a:p>
                      <a:pPr algn="ctr"/>
                      <a:r>
                        <a:rPr sz="1000" b="1">
                          <a:solidFill>
                            <a:srgbClr val="333333"/>
                          </a:solidFill>
                          <a:latin typeface="メイリオ"/>
                          <a:ea typeface="メイリオ"/>
                        </a:rPr>
                        <a:t>結論</a:t>
                      </a:r>
                    </a:p>
                  </a:txBody>
                  <a:tcPr anchor="ctr"/>
                </a:tc>
                <a:tc>
                  <a:txBody>
                    <a:bodyPr/>
                    <a:lstStyle/>
                    <a:p>
                      <a:pPr algn="l"/>
                      <a:r>
                        <a:rPr sz="1000" b="1">
                          <a:solidFill>
                            <a:srgbClr val="333333"/>
                          </a:solidFill>
                          <a:latin typeface="メイリオ"/>
                          <a:ea typeface="メイリオ"/>
                        </a:rPr>
                        <a:t>開発主戦候補</a:t>
                      </a:r>
                    </a:p>
                  </a:txBody>
                  <a:tcPr anchor="ctr"/>
                </a:tc>
                <a:tc>
                  <a:txBody>
                    <a:bodyPr/>
                    <a:lstStyle/>
                    <a:p>
                      <a:pPr algn="l"/>
                      <a:r>
                        <a:rPr sz="1000" b="1">
                          <a:solidFill>
                            <a:srgbClr val="333333"/>
                          </a:solidFill>
                          <a:latin typeface="メイリオ"/>
                          <a:ea typeface="メイリオ"/>
                        </a:rPr>
                        <a:t>役割分担で併用</a:t>
                      </a:r>
                    </a:p>
                  </a:txBody>
                  <a:tcPr anchor="ctr"/>
                </a:tc>
                <a:tc>
                  <a:txBody>
                    <a:bodyPr/>
                    <a:lstStyle/>
                    <a:p>
                      <a:pPr algn="l"/>
                      <a:r>
                        <a:rPr sz="1000" b="1">
                          <a:solidFill>
                            <a:srgbClr val="333333"/>
                          </a:solidFill>
                          <a:latin typeface="メイリオ"/>
                          <a:ea typeface="メイリオ"/>
                        </a:rPr>
                        <a:t>役割分担で併用</a:t>
                      </a:r>
                    </a:p>
                  </a:txBody>
                  <a:tcPr anchor="ctr"/>
                </a:tc>
              </a:tr>
            </a:tbl>
          </a:graphicData>
        </a:graphic>
      </p:graphicFrame>
      <p:sp>
        <p:nvSpPr>
          <p:cNvPr id="7" name="TextBox 6"/>
          <p:cNvSpPr txBox="1"/>
          <p:nvPr/>
        </p:nvSpPr>
        <p:spPr>
          <a:xfrm>
            <a:off x="600000" y="4020000"/>
            <a:ext cx="9000000" cy="25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・その他：誤実装（ハルシネーション）、テスト不足マージ、チャット残存、属人化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1800" b="0">
                <a:solidFill>
                  <a:srgbClr val="333333"/>
                </a:solidFill>
                <a:latin typeface="メイリオ"/>
                <a:ea typeface="メイリオ"/>
              </a:rPr>
              <a:t>5. </a:t>
            </a:r>
            <a:r>
              <a:rPr sz="1600" b="0">
                <a:solidFill>
                  <a:srgbClr val="333333"/>
                </a:solidFill>
                <a:latin typeface="メイリオ"/>
                <a:ea typeface="メイリオ"/>
              </a:rPr>
              <a:t>ジョブ途中再開（Active Job Continuations）とは</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500000" y="700000"/>
            <a:ext cx="9000000" cy="900000"/>
          </a:xfrm>
          <a:prstGeom prst="rect">
            <a:avLst/>
          </a:prstGeom>
          <a:noFill/>
        </p:spPr>
        <p:txBody>
          <a:bodyPr wrap="square">
            <a:spAutoFit/>
          </a:bodyPr>
          <a:lstStyle/>
          <a:p>
            <a:pPr>
              <a:spcBef>
                <a:spcPts val="0"/>
              </a:spcBef>
              <a:spcAft>
                <a:spcPts val="100"/>
              </a:spcAft>
            </a:pPr>
            <a:r>
              <a:rPr sz="1300" b="1">
                <a:solidFill>
                  <a:srgbClr val="C00000"/>
                </a:solidFill>
                <a:latin typeface="メイリオ"/>
                <a:ea typeface="メイリオ"/>
              </a:rPr>
              <a:t>■ 何の話か（重要）</a:t>
            </a:r>
          </a:p>
          <a:p>
            <a:pPr>
              <a:spcBef>
                <a:spcPts val="0"/>
              </a:spcBef>
              <a:spcAft>
                <a:spcPts val="100"/>
              </a:spcAft>
            </a:pPr>
            <a:r>
              <a:rPr sz="1200" b="0">
                <a:solidFill>
                  <a:srgbClr val="333333"/>
                </a:solidFill>
                <a:latin typeface="メイリオ"/>
                <a:ea typeface="メイリオ"/>
              </a:rPr>
              <a:t>・対象は「同じ実行ジョブ」の続き　例：CSV取込／CSV出力ジョブ</a:t>
            </a:r>
          </a:p>
          <a:p>
            <a:pPr>
              <a:spcBef>
                <a:spcPts val="0"/>
              </a:spcBef>
              <a:spcAft>
                <a:spcPts val="100"/>
              </a:spcAft>
            </a:pPr>
            <a:r>
              <a:rPr sz="1200" b="0">
                <a:solidFill>
                  <a:srgbClr val="333333"/>
                </a:solidFill>
                <a:latin typeface="メイリオ"/>
                <a:ea typeface="メイリオ"/>
              </a:rPr>
              <a:t>・別ファイルをもう一度取り込む＝新規ジョブ（続き再開ではない）</a:t>
            </a:r>
          </a:p>
        </p:txBody>
      </p:sp>
      <p:graphicFrame>
        <p:nvGraphicFramePr>
          <p:cNvPr id="4" name="Table 3"/>
          <p:cNvGraphicFramePr>
            <a:graphicFrameLocks noGrp="1"/>
          </p:cNvGraphicFramePr>
          <p:nvPr/>
        </p:nvGraphicFramePr>
        <p:xfrm>
          <a:off x="500000" y="1650000"/>
          <a:ext cx="9000000" cy="1600000"/>
        </p:xfrm>
        <a:graphic>
          <a:graphicData uri="http://schemas.openxmlformats.org/drawingml/2006/table">
            <a:tbl>
              <a:tblPr firstRow="1" bandRow="1">
                <a:tableStyleId>{5C22544A-7EE6-4342-B048-85BDC9FD1C3A}</a:tableStyleId>
              </a:tblPr>
              <a:tblGrid>
                <a:gridCol w="2200000"/>
                <a:gridCol w="3400000"/>
                <a:gridCol w="3400000"/>
              </a:tblGrid>
              <a:tr h="533333">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これまで（標準のまま）</a:t>
                      </a:r>
                    </a:p>
                  </a:txBody>
                  <a:tcPr anchor="ctr">
                    <a:solidFill>
                      <a:srgbClr val="1F4E79"/>
                    </a:solidFill>
                  </a:tcPr>
                </a:tc>
                <a:tc>
                  <a:txBody>
                    <a:bodyPr/>
                    <a:lstStyle/>
                    <a:p>
                      <a:pPr algn="ctr"/>
                      <a:r>
                        <a:rPr sz="1000" b="1">
                          <a:solidFill>
                            <a:srgbClr val="FFFFFF"/>
                          </a:solidFill>
                          <a:latin typeface="メイリオ"/>
                          <a:ea typeface="メイリオ"/>
                        </a:rPr>
                        <a:t>Rails 8.1 Continuations</a:t>
                      </a:r>
                    </a:p>
                  </a:txBody>
                  <a:tcPr anchor="ctr">
                    <a:solidFill>
                      <a:srgbClr val="1F4E79"/>
                    </a:solidFill>
                  </a:tcPr>
                </a:tc>
              </a:tr>
              <a:tr h="533333">
                <a:tc>
                  <a:txBody>
                    <a:bodyPr/>
                    <a:lstStyle/>
                    <a:p>
                      <a:pPr algn="l"/>
                      <a:r>
                        <a:rPr sz="1000" b="1">
                          <a:solidFill>
                            <a:srgbClr val="333333"/>
                          </a:solidFill>
                          <a:latin typeface="メイリオ"/>
                          <a:ea typeface="メイリオ"/>
                        </a:rPr>
                        <a:t>途中でジョブ停止
（デプロイ・再起動など）</a:t>
                      </a:r>
                    </a:p>
                  </a:txBody>
                  <a:tcPr anchor="ctr"/>
                </a:tc>
                <a:tc>
                  <a:txBody>
                    <a:bodyPr/>
                    <a:lstStyle/>
                    <a:p>
                      <a:pPr algn="l"/>
                      <a:r>
                        <a:rPr sz="1000" b="0">
                          <a:solidFill>
                            <a:srgbClr val="333333"/>
                          </a:solidFill>
                          <a:latin typeface="メイリオ"/>
                          <a:ea typeface="メイリオ"/>
                        </a:rPr>
                        <a:t>同じジョブを続きから再開する仕組みは
基本手作りが必要</a:t>
                      </a:r>
                    </a:p>
                  </a:txBody>
                  <a:tcPr anchor="ctr"/>
                </a:tc>
                <a:tc>
                  <a:txBody>
                    <a:bodyPr/>
                    <a:lstStyle/>
                    <a:p>
                      <a:pPr algn="l"/>
                      <a:r>
                        <a:rPr sz="1000" b="0">
                          <a:solidFill>
                            <a:srgbClr val="333333"/>
                          </a:solidFill>
                          <a:latin typeface="メイリオ"/>
                          <a:ea typeface="メイリオ"/>
                        </a:rPr>
                        <a:t>ステップ／進捗を残して
同じジョブを続きから再開しやすい</a:t>
                      </a:r>
                    </a:p>
                  </a:txBody>
                  <a:tcPr anchor="ctr"/>
                </a:tc>
              </a:tr>
              <a:tr h="533334">
                <a:tc>
                  <a:txBody>
                    <a:bodyPr/>
                    <a:lstStyle/>
                    <a:p>
                      <a:pPr algn="l"/>
                      <a:r>
                        <a:rPr sz="1000" b="1">
                          <a:solidFill>
                            <a:srgbClr val="333333"/>
                          </a:solidFill>
                          <a:latin typeface="メイリオ"/>
                          <a:ea typeface="メイリオ"/>
                        </a:rPr>
                        <a:t>もう一度取り込み直す</a:t>
                      </a:r>
                    </a:p>
                  </a:txBody>
                  <a:tcPr anchor="ctr">
                    <a:solidFill>
                      <a:srgbClr val="D6E3F0"/>
                    </a:solidFill>
                  </a:tcPr>
                </a:tc>
                <a:tc>
                  <a:txBody>
                    <a:bodyPr/>
                    <a:lstStyle/>
                    <a:p>
                      <a:pPr algn="l"/>
                      <a:r>
                        <a:rPr sz="1000" b="0">
                          <a:solidFill>
                            <a:srgbClr val="333333"/>
                          </a:solidFill>
                          <a:latin typeface="メイリオ"/>
                          <a:ea typeface="メイリオ"/>
                        </a:rPr>
                        <a:t>履歴・ジョブが新規にできる
＝別の命令</a:t>
                      </a:r>
                    </a:p>
                  </a:txBody>
                  <a:tcPr anchor="ctr">
                    <a:solidFill>
                      <a:srgbClr val="D6E3F0"/>
                    </a:solidFill>
                  </a:tcPr>
                </a:tc>
                <a:tc>
                  <a:txBody>
                    <a:bodyPr/>
                    <a:lstStyle/>
                    <a:p>
                      <a:pPr algn="l"/>
                      <a:r>
                        <a:rPr sz="1000" b="0">
                          <a:solidFill>
                            <a:srgbClr val="333333"/>
                          </a:solidFill>
                          <a:latin typeface="メイリオ"/>
                          <a:ea typeface="メイリオ"/>
                        </a:rPr>
                        <a:t>同様に新規ジョブ
（再開機能の対象外）</a:t>
                      </a:r>
                    </a:p>
                  </a:txBody>
                  <a:tcPr anchor="ctr">
                    <a:solidFill>
                      <a:srgbClr val="D6E3F0"/>
                    </a:solidFill>
                  </a:tcPr>
                </a:tc>
              </a:tr>
            </a:tbl>
          </a:graphicData>
        </a:graphic>
      </p:graphicFrame>
      <p:sp>
        <p:nvSpPr>
          <p:cNvPr id="5" name="TextBox 4"/>
          <p:cNvSpPr txBox="1"/>
          <p:nvPr/>
        </p:nvSpPr>
        <p:spPr>
          <a:xfrm>
            <a:off x="500000" y="3400000"/>
            <a:ext cx="9000000" cy="300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 ECでの当てはめイメージ（CsvFileUploadJob など）</a:t>
            </a:r>
          </a:p>
          <a:p>
            <a:pPr>
              <a:spcBef>
                <a:spcPts val="0"/>
              </a:spcBef>
              <a:spcAft>
                <a:spcPts val="100"/>
              </a:spcAft>
            </a:pPr>
            <a:r>
              <a:rPr sz="1100" b="0">
                <a:solidFill>
                  <a:srgbClr val="333333"/>
                </a:solidFill>
                <a:latin typeface="メイリオ"/>
                <a:ea typeface="メイリオ"/>
              </a:rPr>
              <a:t>1. 画面／APIで取込開始 → 取込履歴を作成 → Jobをキュー投入（ここは入口）</a:t>
            </a:r>
          </a:p>
          <a:p>
            <a:pPr>
              <a:spcBef>
                <a:spcPts val="0"/>
              </a:spcBef>
              <a:spcAft>
                <a:spcPts val="100"/>
              </a:spcAft>
            </a:pPr>
            <a:r>
              <a:rPr sz="1100" b="0">
                <a:solidFill>
                  <a:srgbClr val="333333"/>
                </a:solidFill>
                <a:latin typeface="メイリオ"/>
                <a:ea typeface="メイリオ"/>
              </a:rPr>
              <a:t>2. Job本体で長時間の行処理を実行（ここが Continuations の適用先）</a:t>
            </a:r>
          </a:p>
          <a:p>
            <a:pPr>
              <a:spcBef>
                <a:spcPts val="0"/>
              </a:spcBef>
              <a:spcAft>
                <a:spcPts val="100"/>
              </a:spcAft>
            </a:pPr>
            <a:r>
              <a:rPr sz="1100" b="0">
                <a:solidFill>
                  <a:srgbClr val="333333"/>
                </a:solidFill>
                <a:latin typeface="メイリオ"/>
                <a:ea typeface="メイリオ"/>
              </a:rPr>
              <a:t>3. デプロイ等でJobが途中停止 → 同じ履歴IDのJobを続きから再開しやすくなる</a:t>
            </a:r>
          </a:p>
          <a:p>
            <a:pPr>
              <a:spcBef>
                <a:spcPts val="0"/>
              </a:spcBef>
              <a:spcAft>
                <a:spcPts val="100"/>
              </a:spcAft>
            </a:pPr>
            <a:r>
              <a:rPr sz="600" b="0">
                <a:solidFill>
                  <a:srgbClr val="333333"/>
                </a:solidFill>
                <a:latin typeface="メイリオ"/>
                <a:ea typeface="メイリオ"/>
              </a:rPr>
              <a:t/>
            </a:r>
          </a:p>
          <a:p>
            <a:pPr>
              <a:spcBef>
                <a:spcPts val="0"/>
              </a:spcBef>
              <a:spcAft>
                <a:spcPts val="100"/>
              </a:spcAft>
            </a:pPr>
            <a:r>
              <a:rPr sz="1300" b="1">
                <a:solidFill>
                  <a:srgbClr val="C00000"/>
                </a:solidFill>
                <a:latin typeface="メイリオ"/>
                <a:ea typeface="メイリオ"/>
              </a:rPr>
              <a:t>■ 誤解しやすい点</a:t>
            </a:r>
          </a:p>
          <a:p>
            <a:pPr>
              <a:spcBef>
                <a:spcPts val="0"/>
              </a:spcBef>
              <a:spcAft>
                <a:spcPts val="100"/>
              </a:spcAft>
            </a:pPr>
            <a:r>
              <a:rPr sz="1100" b="0">
                <a:solidFill>
                  <a:srgbClr val="333333"/>
                </a:solidFill>
                <a:latin typeface="メイリオ"/>
                <a:ea typeface="メイリオ"/>
              </a:rPr>
              <a:t>・行単位コミット＝自動で続きから、ではない（進捗管理の設計が別途必要）</a:t>
            </a:r>
          </a:p>
          <a:p>
            <a:pPr>
              <a:spcBef>
                <a:spcPts val="0"/>
              </a:spcBef>
              <a:spcAft>
                <a:spcPts val="100"/>
              </a:spcAft>
            </a:pPr>
            <a:r>
              <a:rPr sz="1100" b="0">
                <a:solidFill>
                  <a:srgbClr val="333333"/>
                </a:solidFill>
                <a:latin typeface="メイリオ"/>
                <a:ea typeface="メイリオ"/>
              </a:rPr>
              <a:t>・全体を1トランザクションで囲む処理は、落ちるとロールバック→最初から</a:t>
            </a:r>
          </a:p>
          <a:p>
            <a:pPr>
              <a:spcBef>
                <a:spcPts val="0"/>
              </a:spcBef>
              <a:spcAft>
                <a:spcPts val="100"/>
              </a:spcAft>
            </a:pPr>
            <a:r>
              <a:rPr sz="1100" b="0">
                <a:solidFill>
                  <a:srgbClr val="333333"/>
                </a:solidFill>
                <a:latin typeface="メイリオ"/>
                <a:ea typeface="メイリオ"/>
              </a:rPr>
              <a:t>・Rails 8.1にしただけでは自動適用されない。Job側の改修が必要</a:t>
            </a:r>
          </a:p>
          <a:p>
            <a:pPr>
              <a:spcBef>
                <a:spcPts val="0"/>
              </a:spcBef>
              <a:spcAft>
                <a:spcPts val="100"/>
              </a:spcAft>
            </a:pPr>
            <a:r>
              <a:rPr sz="400" b="0">
                <a:solidFill>
                  <a:srgbClr val="333333"/>
                </a:solidFill>
                <a:latin typeface="メイリオ"/>
                <a:ea typeface="メイリオ"/>
              </a:rPr>
              <a:t/>
            </a:r>
          </a:p>
          <a:p>
            <a:pPr>
              <a:spcBef>
                <a:spcPts val="0"/>
              </a:spcBef>
              <a:spcAft>
                <a:spcPts val="100"/>
              </a:spcAft>
            </a:pPr>
            <a:r>
              <a:rPr sz="1100" b="0">
                <a:solidFill>
                  <a:srgbClr val="C00000"/>
                </a:solidFill>
                <a:latin typeface="メイリオ"/>
                <a:ea typeface="メイリオ"/>
              </a:rPr>
              <a:t>→ 今後：CSV取込／出力など重いJobから、段階的に適用を検討できる</a:t>
            </a:r>
          </a:p>
        </p:txBody>
      </p:sp>
    </p:spTree>
  </p:cSld>
  <p:clrMapOvr>
    <a:masterClrMapping/>
  </p:clrMapOvr>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