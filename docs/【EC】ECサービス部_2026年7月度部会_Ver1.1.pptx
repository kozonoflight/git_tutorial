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00000" y="680000"/>
            <a:ext cx="8800000" cy="30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700000" y="980000"/>
          <a:ext cx="8500000" cy="1180000"/>
        </p:xfrm>
        <a:graphic>
          <a:graphicData uri="http://schemas.openxmlformats.org/drawingml/2006/table">
            <a:tbl>
              <a:tblPr firstRow="1" bandRow="1">
                <a:tableStyleId>{5C22544A-7EE6-4342-B048-85BDC9FD1C3A}</a:tableStyleId>
              </a:tblPr>
              <a:tblGrid>
                <a:gridCol w="2125000"/>
                <a:gridCol w="2125000"/>
                <a:gridCol w="2125000"/>
                <a:gridCol w="2125000"/>
              </a:tblGrid>
              <a:tr h="295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295000">
                <a:tc>
                  <a:txBody>
                    <a:bodyPr/>
                    <a:lstStyle/>
                    <a:p>
                      <a:pPr algn="l"/>
                      <a:r>
                        <a:rPr sz="1100" b="0">
                          <a:solidFill>
                            <a:srgbClr val="333333"/>
                          </a:solidFill>
                          <a:latin typeface="メイリオ"/>
                          <a:ea typeface="メイリオ"/>
                        </a:rPr>
                        <a:t>Ruby</a:t>
                      </a:r>
                    </a:p>
                  </a:txBody>
                  <a:tcPr anchor="ctr"/>
                </a:tc>
                <a:tc>
                  <a:txBody>
                    <a:bodyPr/>
                    <a:lstStyle/>
                    <a:p>
                      <a:pPr algn="ctr"/>
                      <a:r>
                        <a:rPr sz="1100" b="0">
                          <a:solidFill>
                            <a:srgbClr val="333333"/>
                          </a:solidFill>
                          <a:latin typeface="メイリオ"/>
                          <a:ea typeface="メイリオ"/>
                        </a:rPr>
                        <a:t>3.2.2</a:t>
                      </a:r>
                    </a:p>
                  </a:txBody>
                  <a:tcPr anchor="ctr"/>
                </a:tc>
                <a:tc>
                  <a:txBody>
                    <a:bodyPr/>
                    <a:lstStyle/>
                    <a:p>
                      <a:pPr algn="ctr"/>
                      <a:r>
                        <a:rPr sz="1100" b="1">
                          <a:solidFill>
                            <a:srgbClr val="333333"/>
                          </a:solidFill>
                          <a:latin typeface="メイリオ"/>
                          <a:ea typeface="メイリオ"/>
                        </a:rPr>
                        <a:t>3.4.9</a:t>
                      </a:r>
                    </a:p>
                  </a:txBody>
                  <a:tcPr anchor="ctr"/>
                </a:tc>
                <a:tc>
                  <a:txBody>
                    <a:bodyPr/>
                    <a:lstStyle/>
                    <a:p>
                      <a:pPr algn="ctr"/>
                      <a:r>
                        <a:rPr sz="1100" b="0">
                          <a:solidFill>
                            <a:srgbClr val="333333"/>
                          </a:solidFill>
                          <a:latin typeface="メイリオ"/>
                          <a:ea typeface="メイリオ"/>
                        </a:rPr>
                        <a:t>2028/3/31</a:t>
                      </a:r>
                    </a:p>
                  </a:txBody>
                  <a:tcPr anchor="ctr"/>
                </a:tc>
              </a:tr>
              <a:tr h="295000">
                <a:tc>
                  <a:txBody>
                    <a:bodyPr/>
                    <a:lstStyle/>
                    <a:p>
                      <a:pPr algn="l"/>
                      <a:r>
                        <a:rPr sz="1100" b="0">
                          <a:solidFill>
                            <a:srgbClr val="333333"/>
                          </a:solidFill>
                          <a:latin typeface="メイリオ"/>
                          <a:ea typeface="メイリオ"/>
                        </a:rPr>
                        <a:t>Rails</a:t>
                      </a:r>
                    </a:p>
                  </a:txBody>
                  <a:tcPr anchor="ctr">
                    <a:solidFill>
                      <a:srgbClr val="D6E3F0"/>
                    </a:solidFill>
                  </a:tcPr>
                </a:tc>
                <a:tc>
                  <a:txBody>
                    <a:bodyPr/>
                    <a:lstStyle/>
                    <a:p>
                      <a:pPr algn="ctr"/>
                      <a:r>
                        <a:rPr sz="1100" b="0">
                          <a:solidFill>
                            <a:srgbClr val="333333"/>
                          </a:solidFill>
                          <a:latin typeface="メイリオ"/>
                          <a:ea typeface="メイリオ"/>
                        </a:rPr>
                        <a:t>7.2.2</a:t>
                      </a:r>
                    </a:p>
                  </a:txBody>
                  <a:tcPr anchor="ctr">
                    <a:solidFill>
                      <a:srgbClr val="D6E3F0"/>
                    </a:solidFill>
                  </a:tcPr>
                </a:tc>
                <a:tc>
                  <a:txBody>
                    <a:bodyPr/>
                    <a:lstStyle/>
                    <a:p>
                      <a:pPr algn="ctr"/>
                      <a:r>
                        <a:rPr sz="1100" b="1">
                          <a:solidFill>
                            <a:srgbClr val="333333"/>
                          </a:solidFill>
                          <a:latin typeface="メイリオ"/>
                          <a:ea typeface="メイリオ"/>
                        </a:rPr>
                        <a:t>8.1</a:t>
                      </a:r>
                    </a:p>
                  </a:txBody>
                  <a:tcPr anchor="ctr">
                    <a:solidFill>
                      <a:srgbClr val="D6E3F0"/>
                    </a:solidFill>
                  </a:tcPr>
                </a:tc>
                <a:tc>
                  <a:txBody>
                    <a:bodyPr/>
                    <a:lstStyle/>
                    <a:p>
                      <a:pPr algn="ctr"/>
                      <a:r>
                        <a:rPr sz="1100" b="0">
                          <a:solidFill>
                            <a:srgbClr val="333333"/>
                          </a:solidFill>
                          <a:latin typeface="メイリオ"/>
                          <a:ea typeface="メイリオ"/>
                        </a:rPr>
                        <a:t>2027/10/10</a:t>
                      </a:r>
                    </a:p>
                  </a:txBody>
                  <a:tcPr anchor="ctr">
                    <a:solidFill>
                      <a:srgbClr val="D6E3F0"/>
                    </a:solidFill>
                  </a:tcPr>
                </a:tc>
              </a:tr>
              <a:tr h="295000">
                <a:tc>
                  <a:txBody>
                    <a:bodyPr/>
                    <a:lstStyle/>
                    <a:p>
                      <a:pPr algn="l"/>
                      <a:r>
                        <a:rPr sz="1100" b="0">
                          <a:solidFill>
                            <a:srgbClr val="333333"/>
                          </a:solidFill>
                          <a:latin typeface="メイリオ"/>
                          <a:ea typeface="メイリオ"/>
                        </a:rPr>
                        <a:t>MariaDB</a:t>
                      </a:r>
                    </a:p>
                  </a:txBody>
                  <a:tcPr anchor="ctr"/>
                </a:tc>
                <a:tc>
                  <a:txBody>
                    <a:bodyPr/>
                    <a:lstStyle/>
                    <a:p>
                      <a:pPr algn="ctr"/>
                      <a:r>
                        <a:rPr sz="1100" b="0">
                          <a:solidFill>
                            <a:srgbClr val="333333"/>
                          </a:solidFill>
                          <a:latin typeface="メイリオ"/>
                          <a:ea typeface="メイリオ"/>
                        </a:rPr>
                        <a:t>10.6.22</a:t>
                      </a:r>
                    </a:p>
                  </a:txBody>
                  <a:tcPr anchor="ctr"/>
                </a:tc>
                <a:tc>
                  <a:txBody>
                    <a:bodyPr/>
                    <a:lstStyle/>
                    <a:p>
                      <a:pPr algn="ctr"/>
                      <a:r>
                        <a:rPr sz="1100" b="1">
                          <a:solidFill>
                            <a:srgbClr val="333333"/>
                          </a:solidFill>
                          <a:latin typeface="メイリオ"/>
                          <a:ea typeface="メイリオ"/>
                        </a:rPr>
                        <a:t>10.11 LTS</a:t>
                      </a:r>
                    </a:p>
                  </a:txBody>
                  <a:tcPr anchor="ctr"/>
                </a:tc>
                <a:tc>
                  <a:txBody>
                    <a:bodyPr/>
                    <a:lstStyle/>
                    <a:p>
                      <a:pPr algn="ctr"/>
                      <a:r>
                        <a:rPr sz="11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700000" y="2250000"/>
            <a:ext cx="8800000" cy="28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 今回のVUで“新しくできること”（真新しい機能のピックアップ）</a:t>
            </a:r>
          </a:p>
        </p:txBody>
      </p:sp>
      <p:graphicFrame>
        <p:nvGraphicFramePr>
          <p:cNvPr id="6" name="Table 5"/>
          <p:cNvGraphicFramePr>
            <a:graphicFrameLocks noGrp="1"/>
          </p:cNvGraphicFramePr>
          <p:nvPr/>
        </p:nvGraphicFramePr>
        <p:xfrm>
          <a:off x="700000" y="2550000"/>
          <a:ext cx="8500000" cy="2300000"/>
        </p:xfrm>
        <a:graphic>
          <a:graphicData uri="http://schemas.openxmlformats.org/drawingml/2006/table">
            <a:tbl>
              <a:tblPr firstRow="1" bandRow="1">
                <a:tableStyleId>{5C22544A-7EE6-4342-B048-85BDC9FD1C3A}</a:tableStyleId>
              </a:tblPr>
              <a:tblGrid>
                <a:gridCol w="1500000"/>
                <a:gridCol w="2800000"/>
                <a:gridCol w="4200000"/>
              </a:tblGrid>
              <a:tr h="460000">
                <a:tc>
                  <a:txBody>
                    <a:bodyPr/>
                    <a:lstStyle/>
                    <a:p>
                      <a:pPr algn="ctr"/>
                      <a:r>
                        <a:rPr sz="1000" b="1">
                          <a:solidFill>
                            <a:srgbClr val="FFFFFF"/>
                          </a:solidFill>
                          <a:latin typeface="メイリオ"/>
                          <a:ea typeface="メイリオ"/>
                        </a:rPr>
                        <a:t>領域</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できるようになること（例）</a:t>
                      </a:r>
                    </a:p>
                  </a:txBody>
                  <a:tcPr anchor="ctr">
                    <a:solidFill>
                      <a:srgbClr val="1F4E79"/>
                    </a:solidFill>
                  </a:tcPr>
                </a:tc>
              </a:tr>
              <a:tr h="460000">
                <a:tc>
                  <a:txBody>
                    <a:bodyPr/>
                    <a:lstStyle/>
                    <a:p>
                      <a:pPr algn="l"/>
                      <a:r>
                        <a:rPr sz="900" b="1">
                          <a:solidFill>
                            <a:srgbClr val="333333"/>
                          </a:solidFill>
                          <a:latin typeface="メイリオ"/>
                          <a:ea typeface="メイリオ"/>
                        </a:rPr>
                        <a:t>Rails 8.1</a:t>
                      </a:r>
                    </a:p>
                  </a:txBody>
                  <a:tcPr anchor="ctr"/>
                </a:tc>
                <a:tc>
                  <a:txBody>
                    <a:bodyPr/>
                    <a:lstStyle/>
                    <a:p>
                      <a:pPr algn="l"/>
                      <a:r>
                        <a:rPr sz="900" b="0">
                          <a:solidFill>
                            <a:srgbClr val="333333"/>
                          </a:solidFill>
                          <a:latin typeface="メイリオ"/>
                          <a:ea typeface="メイリオ"/>
                        </a:rPr>
                        <a:t>ジョブ途中再開
（Active Job Continuations）</a:t>
                      </a:r>
                    </a:p>
                  </a:txBody>
                  <a:tcPr anchor="ctr"/>
                </a:tc>
                <a:tc>
                  <a:txBody>
                    <a:bodyPr/>
                    <a:lstStyle/>
                    <a:p>
                      <a:pPr algn="l"/>
                      <a:r>
                        <a:rPr sz="900" b="0">
                          <a:solidFill>
                            <a:srgbClr val="333333"/>
                          </a:solidFill>
                          <a:latin typeface="メイリオ"/>
                          <a:ea typeface="メイリオ"/>
                        </a:rPr>
                        <a:t>長い取込・同期バッチを、途中で止まっても最初からやり直さず再開できる</a:t>
                      </a:r>
                    </a:p>
                  </a:txBody>
                  <a:tcPr anchor="ctr"/>
                </a:tc>
              </a:tr>
              <a:tr h="460000">
                <a:tc>
                  <a:txBody>
                    <a:bodyPr/>
                    <a:lstStyle/>
                    <a:p>
                      <a:pPr algn="l"/>
                      <a:r>
                        <a:rPr sz="900" b="1">
                          <a:solidFill>
                            <a:srgbClr val="333333"/>
                          </a:solidFill>
                          <a:latin typeface="メイリオ"/>
                          <a:ea typeface="メイリオ"/>
                        </a:rPr>
                        <a:t>Rails 8.1</a:t>
                      </a:r>
                    </a:p>
                  </a:txBody>
                  <a:tcPr anchor="ctr">
                    <a:solidFill>
                      <a:srgbClr val="D6E3F0"/>
                    </a:solidFill>
                  </a:tcPr>
                </a:tc>
                <a:tc>
                  <a:txBody>
                    <a:bodyPr/>
                    <a:lstStyle/>
                    <a:p>
                      <a:pPr algn="l"/>
                      <a:r>
                        <a:rPr sz="900" b="0">
                          <a:solidFill>
                            <a:srgbClr val="333333"/>
                          </a:solidFill>
                          <a:latin typeface="メイリオ"/>
                          <a:ea typeface="メイリオ"/>
                        </a:rPr>
                        <a:t>構造化イベント通知
（Event Reporter）</a:t>
                      </a:r>
                    </a:p>
                  </a:txBody>
                  <a:tcPr anchor="ctr">
                    <a:solidFill>
                      <a:srgbClr val="D6E3F0"/>
                    </a:solidFill>
                  </a:tcPr>
                </a:tc>
                <a:tc>
                  <a:txBody>
                    <a:bodyPr/>
                    <a:lstStyle/>
                    <a:p>
                      <a:pPr algn="l"/>
                      <a:r>
                        <a:rPr sz="900" b="0">
                          <a:solidFill>
                            <a:srgbClr val="333333"/>
                          </a:solidFill>
                          <a:latin typeface="メイリオ"/>
                          <a:ea typeface="メイリオ"/>
                        </a:rPr>
                        <a:t>「誰が・いつ・何をした」を機械可読イベントとして出せる（監視・追跡向け）</a:t>
                      </a:r>
                    </a:p>
                  </a:txBody>
                  <a:tcPr anchor="ctr">
                    <a:solidFill>
                      <a:srgbClr val="D6E3F0"/>
                    </a:solidFill>
                  </a:tcPr>
                </a:tc>
              </a:tr>
              <a:tr h="460000">
                <a:tc>
                  <a:txBody>
                    <a:bodyPr/>
                    <a:lstStyle/>
                    <a:p>
                      <a:pPr algn="l"/>
                      <a:r>
                        <a:rPr sz="900" b="1">
                          <a:solidFill>
                            <a:srgbClr val="333333"/>
                          </a:solidFill>
                          <a:latin typeface="メイリオ"/>
                          <a:ea typeface="メイリオ"/>
                        </a:rPr>
                        <a:t>Rails 8.1</a:t>
                      </a:r>
                    </a:p>
                  </a:txBody>
                  <a:tcPr anchor="ctr"/>
                </a:tc>
                <a:tc>
                  <a:txBody>
                    <a:bodyPr/>
                    <a:lstStyle/>
                    <a:p>
                      <a:pPr algn="l"/>
                      <a:r>
                        <a:rPr sz="900" b="0">
                          <a:solidFill>
                            <a:srgbClr val="333333"/>
                          </a:solidFill>
                          <a:latin typeface="メイリオ"/>
                          <a:ea typeface="メイリオ"/>
                        </a:rPr>
                        <a:t>Markdown標準描画</a:t>
                      </a:r>
                    </a:p>
                  </a:txBody>
                  <a:tcPr anchor="ctr"/>
                </a:tc>
                <a:tc>
                  <a:txBody>
                    <a:bodyPr/>
                    <a:lstStyle/>
                    <a:p>
                      <a:pPr algn="l"/>
                      <a:r>
                        <a:rPr sz="900" b="0">
                          <a:solidFill>
                            <a:srgbClr val="333333"/>
                          </a:solidFill>
                          <a:latin typeface="メイリオ"/>
                          <a:ea typeface="メイリオ"/>
                        </a:rPr>
                        <a:t>Markdownをそのまま画面／応答に使える（資料・AI連携の土台）</a:t>
                      </a:r>
                    </a:p>
                  </a:txBody>
                  <a:tcPr anchor="ctr"/>
                </a:tc>
              </a:tr>
              <a:tr h="460000">
                <a:tc>
                  <a:txBody>
                    <a:bodyPr/>
                    <a:lstStyle/>
                    <a:p>
                      <a:pPr algn="l"/>
                      <a:r>
                        <a:rPr sz="900" b="1">
                          <a:solidFill>
                            <a:srgbClr val="333333"/>
                          </a:solidFill>
                          <a:latin typeface="メイリオ"/>
                          <a:ea typeface="メイリオ"/>
                        </a:rPr>
                        <a:t>MariaDB 10.11</a:t>
                      </a:r>
                    </a:p>
                  </a:txBody>
                  <a:tcPr anchor="ctr">
                    <a:solidFill>
                      <a:srgbClr val="D6E3F0"/>
                    </a:solidFill>
                  </a:tcPr>
                </a:tc>
                <a:tc>
                  <a:txBody>
                    <a:bodyPr/>
                    <a:lstStyle/>
                    <a:p>
                      <a:pPr algn="l"/>
                      <a:r>
                        <a:rPr sz="900" b="0">
                          <a:solidFill>
                            <a:srgbClr val="333333"/>
                          </a:solidFill>
                          <a:latin typeface="メイリオ"/>
                          <a:ea typeface="メイリオ"/>
                        </a:rPr>
                        <a:t>UUID型／設定の動的変更</a:t>
                      </a:r>
                    </a:p>
                  </a:txBody>
                  <a:tcPr anchor="ctr">
                    <a:solidFill>
                      <a:srgbClr val="D6E3F0"/>
                    </a:solidFill>
                  </a:tcPr>
                </a:tc>
                <a:tc>
                  <a:txBody>
                    <a:bodyPr/>
                    <a:lstStyle/>
                    <a:p>
                      <a:pPr algn="l"/>
                      <a:r>
                        <a:rPr sz="900" b="0">
                          <a:solidFill>
                            <a:srgbClr val="333333"/>
                          </a:solidFill>
                          <a:latin typeface="メイリオ"/>
                          <a:ea typeface="メイリオ"/>
                        </a:rPr>
                        <a:t>UUIDをDB型として扱える／一部DB設定を再起動なしで変更できる</a:t>
                      </a:r>
                    </a:p>
                  </a:txBody>
                  <a:tcPr anchor="ctr">
                    <a:solidFill>
                      <a:srgbClr val="D6E3F0"/>
                    </a:solidFill>
                  </a:tcPr>
                </a:tc>
              </a:tr>
            </a:tbl>
          </a:graphicData>
        </a:graphic>
      </p:graphicFrame>
      <p:sp>
        <p:nvSpPr>
          <p:cNvPr id="7" name="TextBox 6"/>
          <p:cNvSpPr txBox="1"/>
          <p:nvPr/>
        </p:nvSpPr>
        <p:spPr>
          <a:xfrm>
            <a:off x="700000" y="4950000"/>
            <a:ext cx="8800000" cy="150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 顧客適用／今後</a:t>
            </a:r>
          </a:p>
          <a:p>
            <a:pPr>
              <a:spcBef>
                <a:spcPts val="0"/>
              </a:spcBef>
              <a:spcAft>
                <a:spcPts val="100"/>
              </a:spcAft>
            </a:pPr>
            <a:r>
              <a:rPr sz="1100" b="0">
                <a:solidFill>
                  <a:srgbClr val="333333"/>
                </a:solidFill>
                <a:latin typeface="メイリオ"/>
                <a:ea typeface="メイリオ"/>
              </a:rPr>
              <a:t>・キャンドゥ／ポディウム：提供準備完了、顧客都合待ち</a:t>
            </a:r>
          </a:p>
          <a:p>
            <a:pPr>
              <a:spcBef>
                <a:spcPts val="0"/>
              </a:spcBef>
              <a:spcAft>
                <a:spcPts val="100"/>
              </a:spcAft>
            </a:pPr>
            <a:r>
              <a:rPr sz="1100" b="0">
                <a:solidFill>
                  <a:srgbClr val="333333"/>
                </a:solidFill>
                <a:latin typeface="メイリオ"/>
                <a:ea typeface="メイリオ"/>
              </a:rPr>
              <a:t>・次：Ubuntu 22.04 → 24.04（8月末までにサーバー含め完了見込み）</a:t>
            </a:r>
          </a:p>
          <a:p>
            <a:pPr>
              <a:spcBef>
                <a:spcPts val="0"/>
              </a:spcBef>
              <a:spcAft>
                <a:spcPts val="100"/>
              </a:spcAft>
            </a:pPr>
            <a:r>
              <a:rPr sz="1000" b="0">
                <a:solidFill>
                  <a:srgbClr val="C00000"/>
                </a:solidFill>
                <a:latin typeface="メイリオ"/>
                <a:ea typeface="メイリオ"/>
              </a:rPr>
              <a:t>※ 画面の新UI追加ではなく、基盤として“使える新機能”が増えた更新</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