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80000"/>
            <a:ext cx="8500000" cy="420000"/>
          </a:xfrm>
          <a:prstGeom prst="rect">
            <a:avLst/>
          </a:prstGeom>
          <a:noFill/>
        </p:spPr>
        <p:txBody>
          <a:bodyPr wrap="square">
            <a:spAutoFit/>
          </a:bodyPr>
          <a:lstStyle/>
          <a:p>
            <a:pPr>
              <a:spcBef>
                <a:spcPts val="0"/>
              </a:spcBef>
              <a:spcAft>
                <a:spcPts val="200"/>
              </a:spcAft>
            </a:pPr>
            <a:r>
              <a:rPr sz="1600" b="1">
                <a:solidFill>
                  <a:srgbClr val="333333"/>
                </a:solidFill>
                <a:latin typeface="メイリオ"/>
                <a:ea typeface="メイリオ"/>
              </a:rPr>
              <a:t>EC-RiderB2B Primo（B2BⅡ）　バージョンアップ状況</a:t>
            </a:r>
          </a:p>
          <a:p>
            <a:pPr>
              <a:spcBef>
                <a:spcPts val="0"/>
              </a:spcBef>
              <a:spcAft>
                <a:spcPts val="200"/>
              </a:spcAft>
            </a:pPr>
            <a:r>
              <a:rPr sz="1400" b="1">
                <a:solidFill>
                  <a:srgbClr val="333333"/>
                </a:solidFill>
                <a:latin typeface="メイリオ"/>
                <a:ea typeface="メイリオ"/>
              </a:rPr>
              <a:t>① バージョンアップ内容（リリース済み）</a:t>
            </a:r>
          </a:p>
        </p:txBody>
      </p:sp>
      <p:graphicFrame>
        <p:nvGraphicFramePr>
          <p:cNvPr id="4" name="Table 3"/>
          <p:cNvGraphicFramePr>
            <a:graphicFrameLocks noGrp="1"/>
          </p:cNvGraphicFramePr>
          <p:nvPr/>
        </p:nvGraphicFramePr>
        <p:xfrm>
          <a:off x="776537" y="1350000"/>
          <a:ext cx="8350000" cy="1700000"/>
        </p:xfrm>
        <a:graphic>
          <a:graphicData uri="http://schemas.openxmlformats.org/drawingml/2006/table">
            <a:tbl>
              <a:tblPr firstRow="1" bandRow="1">
                <a:tableStyleId>{5C22544A-7EE6-4342-B048-85BDC9FD1C3A}</a:tableStyleId>
              </a:tblPr>
              <a:tblGrid>
                <a:gridCol w="2087500"/>
                <a:gridCol w="2087500"/>
                <a:gridCol w="2087500"/>
                <a:gridCol w="2087500"/>
              </a:tblGrid>
              <a:tr h="425000">
                <a:tc>
                  <a:txBody>
                    <a:bodyPr/>
                    <a:lstStyle/>
                    <a:p>
                      <a:pPr algn="ctr"/>
                      <a:r>
                        <a:rPr sz="1200" b="1">
                          <a:solidFill>
                            <a:srgbClr val="FFFFFF"/>
                          </a:solidFill>
                          <a:latin typeface="メイリオ"/>
                          <a:ea typeface="メイリオ"/>
                        </a:rPr>
                        <a:t>コンポーネント</a:t>
                      </a:r>
                    </a:p>
                  </a:txBody>
                  <a:tcPr anchor="ctr">
                    <a:solidFill>
                      <a:srgbClr val="1F4E79"/>
                    </a:solidFill>
                  </a:tcPr>
                </a:tc>
                <a:tc>
                  <a:txBody>
                    <a:bodyPr/>
                    <a:lstStyle/>
                    <a:p>
                      <a:pPr algn="ctr"/>
                      <a:r>
                        <a:rPr sz="1200" b="1">
                          <a:solidFill>
                            <a:srgbClr val="FFFFFF"/>
                          </a:solidFill>
                          <a:latin typeface="メイリオ"/>
                          <a:ea typeface="メイリオ"/>
                        </a:rPr>
                        <a:t>Before</a:t>
                      </a:r>
                    </a:p>
                  </a:txBody>
                  <a:tcPr anchor="ctr">
                    <a:solidFill>
                      <a:srgbClr val="1F4E79"/>
                    </a:solidFill>
                  </a:tcPr>
                </a:tc>
                <a:tc>
                  <a:txBody>
                    <a:bodyPr/>
                    <a:lstStyle/>
                    <a:p>
                      <a:pPr algn="ctr"/>
                      <a:r>
                        <a:rPr sz="1200" b="1">
                          <a:solidFill>
                            <a:srgbClr val="FFFFFF"/>
                          </a:solidFill>
                          <a:latin typeface="メイリオ"/>
                          <a:ea typeface="メイリオ"/>
                        </a:rPr>
                        <a:t>After</a:t>
                      </a:r>
                    </a:p>
                  </a:txBody>
                  <a:tcPr anchor="ctr">
                    <a:solidFill>
                      <a:srgbClr val="1F4E79"/>
                    </a:solidFill>
                  </a:tcPr>
                </a:tc>
                <a:tc>
                  <a:txBody>
                    <a:bodyPr/>
                    <a:lstStyle/>
                    <a:p>
                      <a:pPr algn="ctr"/>
                      <a:r>
                        <a:rPr sz="1200" b="1">
                          <a:solidFill>
                            <a:srgbClr val="FFFFFF"/>
                          </a:solidFill>
                          <a:latin typeface="メイリオ"/>
                          <a:ea typeface="メイリオ"/>
                        </a:rPr>
                        <a:t>サポート期限（目安）</a:t>
                      </a:r>
                    </a:p>
                  </a:txBody>
                  <a:tcPr anchor="ctr">
                    <a:solidFill>
                      <a:srgbClr val="1F4E79"/>
                    </a:solidFill>
                  </a:tcPr>
                </a:tc>
              </a:tr>
              <a:tr h="425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425000">
                <a:tc>
                  <a:txBody>
                    <a:bodyPr/>
                    <a:lstStyle/>
                    <a:p>
                      <a:pPr algn="l"/>
                      <a:r>
                        <a:rPr sz="1200" b="0">
                          <a:solidFill>
                            <a:srgbClr val="333333"/>
                          </a:solidFill>
                          <a:latin typeface="メイリオ"/>
                          <a:ea typeface="メイリオ"/>
                        </a:rPr>
                        <a:t>Ruby on 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425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776537" y="3200000"/>
            <a:ext cx="8500000" cy="320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② 顧客適用状況</a:t>
            </a:r>
          </a:p>
          <a:p>
            <a:pPr>
              <a:spcBef>
                <a:spcPts val="0"/>
              </a:spcBef>
              <a:spcAft>
                <a:spcPts val="200"/>
              </a:spcAft>
            </a:pPr>
            <a:r>
              <a:rPr sz="1300" b="0">
                <a:solidFill>
                  <a:srgbClr val="333333"/>
                </a:solidFill>
                <a:latin typeface="メイリオ"/>
                <a:ea typeface="メイリオ"/>
              </a:rPr>
              <a:t>・リリース済み</a:t>
            </a:r>
          </a:p>
          <a:p>
            <a:pPr>
              <a:spcBef>
                <a:spcPts val="0"/>
              </a:spcBef>
              <a:spcAft>
                <a:spcPts val="200"/>
              </a:spcAft>
            </a:pPr>
            <a:r>
              <a:rPr sz="1300" b="0">
                <a:solidFill>
                  <a:srgbClr val="333333"/>
                </a:solidFill>
                <a:latin typeface="メイリオ"/>
                <a:ea typeface="メイリオ"/>
              </a:rPr>
              <a:t>・導入済み顧客（キャンドゥ／ポディウム）へは提供準備完了、顧客都合待ち</a:t>
            </a:r>
          </a:p>
          <a:p>
            <a:pPr>
              <a:spcBef>
                <a:spcPts val="0"/>
              </a:spcBef>
              <a:spcAft>
                <a:spcPts val="200"/>
              </a:spcAft>
            </a:pPr>
            <a:r>
              <a:rPr sz="800" b="0">
                <a:solidFill>
                  <a:srgbClr val="333333"/>
                </a:solidFill>
                <a:latin typeface="メイリオ"/>
                <a:ea typeface="メイリオ"/>
              </a:rPr>
              <a:t/>
            </a:r>
          </a:p>
          <a:p>
            <a:pPr>
              <a:spcBef>
                <a:spcPts val="0"/>
              </a:spcBef>
              <a:spcAft>
                <a:spcPts val="200"/>
              </a:spcAft>
            </a:pPr>
            <a:r>
              <a:rPr sz="1400" b="1">
                <a:solidFill>
                  <a:srgbClr val="333333"/>
                </a:solidFill>
                <a:latin typeface="メイリオ"/>
                <a:ea typeface="メイリオ"/>
              </a:rPr>
              <a:t>③ 今後</a:t>
            </a:r>
          </a:p>
          <a:p>
            <a:pPr>
              <a:spcBef>
                <a:spcPts val="0"/>
              </a:spcBef>
              <a:spcAft>
                <a:spcPts val="200"/>
              </a:spcAft>
            </a:pPr>
            <a:r>
              <a:rPr sz="1300" b="0">
                <a:solidFill>
                  <a:srgbClr val="333333"/>
                </a:solidFill>
                <a:latin typeface="メイリオ"/>
                <a:ea typeface="メイリオ"/>
              </a:rPr>
              <a:t>・OS：Ubuntu 22.04 → 24.04 を実施中</a:t>
            </a:r>
          </a:p>
          <a:p>
            <a:pPr>
              <a:spcBef>
                <a:spcPts val="0"/>
              </a:spcBef>
              <a:spcAft>
                <a:spcPts val="200"/>
              </a:spcAft>
            </a:pPr>
            <a:r>
              <a:rPr sz="1300" b="0">
                <a:solidFill>
                  <a:srgbClr val="C00000"/>
                </a:solidFill>
                <a:latin typeface="メイリオ"/>
                <a:ea typeface="メイリオ"/>
              </a:rPr>
              <a:t>・8月末までにサーバー含め完了見込み</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