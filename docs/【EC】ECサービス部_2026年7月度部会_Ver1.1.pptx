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6"/>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30" r:id="rId18"/>
    <p:sldId id="1032" r:id="rId31"/>
    <p:sldId id="264" r:id="rId19"/>
    <p:sldId id="1016" r:id="rId20"/>
    <p:sldId id="1025" r:id="rId21"/>
    <p:sldId id="1027" r:id="rId22"/>
    <p:sldId id="1031" r:id="rId23"/>
    <p:sldId id="1017" r:id="rId24"/>
    <p:sldId id="297" r:id="rId25"/>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94" d="100"/>
          <a:sy n="94" d="100"/>
        </p:scale>
        <p:origin x="1224" y="29"/>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2026/7/16</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87169-E318-986A-F482-854EF613821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0A557D-9DEA-0C90-D032-748D215D02E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BB921F-B79B-EDD9-A4B7-45EF31D69362}"/>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12F37C2-ED26-C4F8-A1C7-D24B9AAC4D26}"/>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13448869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BBD3B-B5C6-9CF8-6250-95E5F9D1AC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9EA8D1-A9B1-8A04-FD76-481DED06DEE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0B2F48-5766-BC0A-AE9A-390CE9B561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6E6C641-35E3-F80E-4C4C-20552D2B3A24}"/>
              </a:ext>
            </a:extLst>
          </p:cNvPr>
          <p:cNvSpPr>
            <a:spLocks noGrp="1"/>
          </p:cNvSpPr>
          <p:nvPr>
            <p:ph type="sldNum" sz="quarter" idx="10"/>
          </p:nvPr>
        </p:nvSpPr>
        <p:spPr/>
        <p:txBody>
          <a:bodyPr/>
          <a:lstStyle/>
          <a:p>
            <a:fld id="{13BBDFF2-C854-42AB-A0A1-39EE2E1232B0}" type="slidenum">
              <a:rPr kumimoji="1" lang="ja-JP" altLang="en-US" smtClean="0">
                <a:uFillTx/>
              </a:rPr>
              <a:pPr/>
              <a:t>18</a:t>
            </a:fld>
            <a:endParaRPr kumimoji="1" lang="ja-JP" altLang="en-US">
              <a:uFillTx/>
            </a:endParaRPr>
          </a:p>
        </p:txBody>
      </p:sp>
    </p:spTree>
    <p:extLst>
      <p:ext uri="{BB962C8B-B14F-4D97-AF65-F5344CB8AC3E}">
        <p14:creationId xmlns:p14="http://schemas.microsoft.com/office/powerpoint/2010/main" val="18468704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19</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 xmlns:a14="http://schemas.microsoft.com/office/drawing/2010/main">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 xmlns:a14="http://schemas.microsoft.com/office/drawing/2010/main"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 xmlns:a14="http://schemas.microsoft.com/office/drawing/2010/main">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 xmlns:a14="http://schemas.microsoft.com/office/drawing/2010/main">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 xmlns:a14="http://schemas.microsoft.com/office/drawing/2010/main">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224969221"/>
              </p:ext>
            </p:extLst>
          </p:nvPr>
        </p:nvGraphicFramePr>
        <p:xfrm>
          <a:off x="922194" y="1386223"/>
          <a:ext cx="3814782" cy="4054048"/>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1</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ナイガイ</a:t>
                      </a:r>
                    </a:p>
                  </a:txBody>
                  <a:tcPr anchor="ctr"/>
                </a:tc>
                <a:extLst>
                  <a:ext uri="{0D108BD9-81ED-4DB2-BD59-A6C34878D82A}">
                    <a16:rowId xmlns:a16="http://schemas.microsoft.com/office/drawing/2014/main" val="842568075"/>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2</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ジャクソン・ラボラトリー・ジャパン</a:t>
                      </a:r>
                    </a:p>
                  </a:txBody>
                  <a:tcPr anchor="ctr"/>
                </a:tc>
                <a:extLst>
                  <a:ext uri="{0D108BD9-81ED-4DB2-BD59-A6C34878D82A}">
                    <a16:rowId xmlns:a16="http://schemas.microsoft.com/office/drawing/2014/main" val="2129140566"/>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3</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タイロテック</a:t>
                      </a:r>
                    </a:p>
                  </a:txBody>
                  <a:tcPr anchor="ctr"/>
                </a:tc>
                <a:extLst>
                  <a:ext uri="{0D108BD9-81ED-4DB2-BD59-A6C34878D82A}">
                    <a16:rowId xmlns:a16="http://schemas.microsoft.com/office/drawing/2014/main" val="2125371019"/>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4</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カーコンビニ倶楽部</a:t>
                      </a:r>
                    </a:p>
                  </a:txBody>
                  <a:tcPr anchor="ctr"/>
                </a:tc>
                <a:extLst>
                  <a:ext uri="{0D108BD9-81ED-4DB2-BD59-A6C34878D82A}">
                    <a16:rowId xmlns:a16="http://schemas.microsoft.com/office/drawing/2014/main" val="3140885341"/>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5</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フジキ工芸産業　</a:t>
                      </a:r>
                      <a:r>
                        <a:rPr kumimoji="1" lang="en-US" altLang="ja-JP" sz="1400" dirty="0">
                          <a:solidFill>
                            <a:srgbClr val="FF0000"/>
                          </a:solidFill>
                          <a:latin typeface="メイリオ" panose="020B0604030504040204" pitchFamily="50" charset="-128"/>
                          <a:ea typeface="メイリオ" panose="020B0604030504040204" pitchFamily="50" charset="-128"/>
                        </a:rPr>
                        <a:t>※7</a:t>
                      </a:r>
                      <a:r>
                        <a:rPr kumimoji="1" lang="ja-JP" altLang="en-US" sz="1400" dirty="0">
                          <a:solidFill>
                            <a:srgbClr val="FF0000"/>
                          </a:solidFill>
                          <a:latin typeface="メイリオ" panose="020B0604030504040204" pitchFamily="50" charset="-128"/>
                          <a:ea typeface="メイリオ" panose="020B0604030504040204" pitchFamily="50" charset="-128"/>
                        </a:rPr>
                        <a:t>月末クローズ</a:t>
                      </a:r>
                    </a:p>
                  </a:txBody>
                  <a:tcPr anchor="ctr"/>
                </a:tc>
                <a:extLst>
                  <a:ext uri="{0D108BD9-81ED-4DB2-BD59-A6C34878D82A}">
                    <a16:rowId xmlns:a16="http://schemas.microsoft.com/office/drawing/2014/main" val="3048989387"/>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6</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加納コーポレーション</a:t>
                      </a:r>
                    </a:p>
                  </a:txBody>
                  <a:tcPr anchor="ctr"/>
                </a:tc>
                <a:extLst>
                  <a:ext uri="{0D108BD9-81ED-4DB2-BD59-A6C34878D82A}">
                    <a16:rowId xmlns:a16="http://schemas.microsoft.com/office/drawing/2014/main" val="3574178380"/>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7</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日本ウエイン</a:t>
                      </a:r>
                    </a:p>
                  </a:txBody>
                  <a:tcPr anchor="ctr"/>
                </a:tc>
                <a:extLst>
                  <a:ext uri="{0D108BD9-81ED-4DB2-BD59-A6C34878D82A}">
                    <a16:rowId xmlns:a16="http://schemas.microsoft.com/office/drawing/2014/main" val="1990382075"/>
                  </a:ext>
                </a:extLst>
              </a:tr>
              <a:tr h="345648">
                <a:tc>
                  <a:txBody>
                    <a:bodyPr/>
                    <a:lstStyle/>
                    <a:p>
                      <a:pPr algn="r"/>
                      <a:r>
                        <a:rPr kumimoji="1" lang="en-US" altLang="ja-JP" sz="1400" dirty="0">
                          <a:latin typeface="メイリオ" panose="020B0604030504040204" pitchFamily="50" charset="-128"/>
                          <a:ea typeface="メイリオ" panose="020B0604030504040204" pitchFamily="50" charset="-128"/>
                        </a:rPr>
                        <a:t>8</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日東電工</a:t>
                      </a:r>
                      <a:r>
                        <a:rPr kumimoji="1" lang="en-US" altLang="ja-JP" sz="1400" dirty="0">
                          <a:latin typeface="メイリオ" panose="020B0604030504040204" pitchFamily="50" charset="-128"/>
                          <a:ea typeface="メイリオ" panose="020B0604030504040204" pitchFamily="50" charset="-128"/>
                        </a:rPr>
                        <a:t>BM</a:t>
                      </a:r>
                      <a:endParaRPr kumimoji="1" lang="ja-JP" altLang="en-US" sz="1400" dirty="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4187584493"/>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9</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貴和製作所</a:t>
                      </a:r>
                    </a:p>
                  </a:txBody>
                  <a:tcPr anchor="ctr"/>
                </a:tc>
                <a:extLst>
                  <a:ext uri="{0D108BD9-81ED-4DB2-BD59-A6C34878D82A}">
                    <a16:rowId xmlns:a16="http://schemas.microsoft.com/office/drawing/2014/main" val="3341462380"/>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10</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マルサン</a:t>
                      </a:r>
                    </a:p>
                  </a:txBody>
                  <a:tcPr anchor="ct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933450982"/>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11</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dirty="0">
                          <a:latin typeface="メイリオ" panose="020B0604030504040204" pitchFamily="50" charset="-128"/>
                          <a:ea typeface="メイリオ" panose="020B0604030504040204" pitchFamily="50" charset="-128"/>
                        </a:rPr>
                        <a:t>EM</a:t>
                      </a:r>
                      <a:r>
                        <a:rPr kumimoji="1" lang="ja-JP" altLang="en-US" sz="1400" dirty="0">
                          <a:latin typeface="メイリオ" panose="020B0604030504040204" pitchFamily="50" charset="-128"/>
                          <a:ea typeface="メイリオ" panose="020B0604030504040204" pitchFamily="50" charset="-128"/>
                        </a:rPr>
                        <a:t>システムズ</a:t>
                      </a:r>
                    </a:p>
                  </a:txBody>
                  <a:tcPr anchor="ctr"/>
                </a:tc>
                <a:extLst>
                  <a:ext uri="{0D108BD9-81ED-4DB2-BD59-A6C34878D82A}">
                    <a16:rowId xmlns:a16="http://schemas.microsoft.com/office/drawing/2014/main" val="842568075"/>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12</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zh-TW" altLang="en-US" sz="1400" dirty="0">
                          <a:latin typeface="メイリオ" panose="020B0604030504040204" pitchFamily="50" charset="-128"/>
                          <a:ea typeface="メイリオ" panose="020B0604030504040204" pitchFamily="50" charset="-128"/>
                        </a:rPr>
                        <a:t>日本漢字能力検定協会</a:t>
                      </a:r>
                      <a:endParaRPr kumimoji="1" lang="ja-JP" altLang="en-US" sz="1400" dirty="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41406698"/>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13</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ヤーマン</a:t>
                      </a:r>
                    </a:p>
                  </a:txBody>
                  <a:tcPr anchor="ctr"/>
                </a:tc>
                <a:extLst>
                  <a:ext uri="{0D108BD9-81ED-4DB2-BD59-A6C34878D82A}">
                    <a16:rowId xmlns:a16="http://schemas.microsoft.com/office/drawing/2014/main" val="2768856662"/>
                  </a:ext>
                </a:extLst>
              </a:tr>
              <a:tr h="370840">
                <a:tc>
                  <a:txBody>
                    <a:bodyPr/>
                    <a:lstStyle/>
                    <a:p>
                      <a:r>
                        <a:rPr kumimoji="1" lang="en-US" altLang="ja-JP" sz="1400" dirty="0">
                          <a:latin typeface="メイリオ" panose="020B0604030504040204" pitchFamily="50" charset="-128"/>
                          <a:ea typeface="メイリオ" panose="020B0604030504040204" pitchFamily="50" charset="-128"/>
                        </a:rPr>
                        <a:t>14</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dirty="0">
                          <a:latin typeface="メイリオ" panose="020B0604030504040204" pitchFamily="50" charset="-128"/>
                          <a:ea typeface="メイリオ" panose="020B0604030504040204" pitchFamily="50" charset="-128"/>
                        </a:rPr>
                        <a:t>ニトムズ</a:t>
                      </a:r>
                    </a:p>
                  </a:txBody>
                  <a:tcPr anchor="ctr"/>
                </a:tc>
                <a:extLst>
                  <a:ext uri="{0D108BD9-81ED-4DB2-BD59-A6C34878D82A}">
                    <a16:rowId xmlns:a16="http://schemas.microsoft.com/office/drawing/2014/main" val="3478899416"/>
                  </a:ext>
                </a:extLst>
              </a:tr>
              <a:tr h="370840">
                <a:tc>
                  <a:txBody>
                    <a:bodyPr/>
                    <a:lstStyle/>
                    <a:p>
                      <a:r>
                        <a:rPr kumimoji="1" lang="en-US" altLang="ja-JP" sz="1400" dirty="0">
                          <a:latin typeface="メイリオ" panose="020B0604030504040204" pitchFamily="50" charset="-128"/>
                          <a:ea typeface="メイリオ" panose="020B0604030504040204" pitchFamily="50" charset="-128"/>
                        </a:rPr>
                        <a:t>15</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メイリオ" panose="020B0604030504040204" pitchFamily="50" charset="-128"/>
                          <a:ea typeface="メイリオ" panose="020B0604030504040204" pitchFamily="50" charset="-128"/>
                        </a:rPr>
                        <a:t>ティーガイア</a:t>
                      </a:r>
                    </a:p>
                  </a:txBody>
                  <a:tcPr anchor="ctr"/>
                </a:tc>
                <a:extLst>
                  <a:ext uri="{0D108BD9-81ED-4DB2-BD59-A6C34878D82A}">
                    <a16:rowId xmlns:a16="http://schemas.microsoft.com/office/drawing/2014/main" val="2129140566"/>
                  </a:ext>
                </a:extLst>
              </a:tr>
              <a:tr h="370840">
                <a:tc>
                  <a:txBody>
                    <a:bodyPr/>
                    <a:lstStyle/>
                    <a:p>
                      <a:r>
                        <a:rPr kumimoji="1" lang="en-US" altLang="ja-JP" sz="1400" dirty="0">
                          <a:latin typeface="メイリオ" panose="020B0604030504040204" pitchFamily="50" charset="-128"/>
                          <a:ea typeface="メイリオ" panose="020B0604030504040204" pitchFamily="50" charset="-128"/>
                        </a:rPr>
                        <a:t>16</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メイリオ" panose="020B0604030504040204" pitchFamily="50" charset="-128"/>
                          <a:ea typeface="メイリオ" panose="020B0604030504040204" pitchFamily="50" charset="-128"/>
                        </a:rPr>
                        <a:t>アシックス商事　</a:t>
                      </a:r>
                      <a:r>
                        <a:rPr kumimoji="1" lang="en-US" altLang="ja-JP" sz="1400" dirty="0">
                          <a:solidFill>
                            <a:srgbClr val="FF0000"/>
                          </a:solidFill>
                          <a:latin typeface="メイリオ" panose="020B0604030504040204" pitchFamily="50" charset="-128"/>
                          <a:ea typeface="メイリオ" panose="020B0604030504040204" pitchFamily="50" charset="-128"/>
                        </a:rPr>
                        <a:t>※9</a:t>
                      </a:r>
                      <a:r>
                        <a:rPr kumimoji="1" lang="ja-JP" altLang="en-US" sz="1400" dirty="0">
                          <a:solidFill>
                            <a:srgbClr val="FF0000"/>
                          </a:solidFill>
                          <a:latin typeface="メイリオ" panose="020B0604030504040204" pitchFamily="50" charset="-128"/>
                          <a:ea typeface="メイリオ" panose="020B0604030504040204" pitchFamily="50" charset="-128"/>
                        </a:rPr>
                        <a:t>月末クローズ</a:t>
                      </a:r>
                      <a:endParaRPr kumimoji="1" lang="ja-JP" altLang="en-US" sz="1400" dirty="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125371019"/>
                  </a:ext>
                </a:extLst>
              </a:tr>
              <a:tr h="370840">
                <a:tc>
                  <a:txBody>
                    <a:bodyPr/>
                    <a:lstStyle/>
                    <a:p>
                      <a:r>
                        <a:rPr kumimoji="1" lang="en-US" altLang="ja-JP" sz="1400" dirty="0">
                          <a:latin typeface="メイリオ" panose="020B0604030504040204" pitchFamily="50" charset="-128"/>
                          <a:ea typeface="メイリオ" panose="020B0604030504040204" pitchFamily="50" charset="-128"/>
                        </a:rPr>
                        <a:t>17</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メイリオ" panose="020B0604030504040204" pitchFamily="50" charset="-128"/>
                          <a:ea typeface="メイリオ" panose="020B0604030504040204" pitchFamily="50" charset="-128"/>
                        </a:rPr>
                        <a:t>パシフィックプロダクツ</a:t>
                      </a:r>
                    </a:p>
                  </a:txBody>
                  <a:tcPr anchor="ctr"/>
                </a:tc>
                <a:extLst>
                  <a:ext uri="{0D108BD9-81ED-4DB2-BD59-A6C34878D82A}">
                    <a16:rowId xmlns:a16="http://schemas.microsoft.com/office/drawing/2014/main" val="3140885341"/>
                  </a:ext>
                </a:extLst>
              </a:tr>
              <a:tr h="370840">
                <a:tc>
                  <a:txBody>
                    <a:bodyPr/>
                    <a:lstStyle/>
                    <a:p>
                      <a:r>
                        <a:rPr kumimoji="1" lang="en-US" altLang="ja-JP" sz="1400" dirty="0">
                          <a:latin typeface="メイリオ" panose="020B0604030504040204" pitchFamily="50" charset="-128"/>
                          <a:ea typeface="メイリオ" panose="020B0604030504040204" pitchFamily="50" charset="-128"/>
                        </a:rPr>
                        <a:t>18</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メイリオ" panose="020B0604030504040204" pitchFamily="50" charset="-128"/>
                          <a:ea typeface="メイリオ" panose="020B0604030504040204" pitchFamily="50" charset="-128"/>
                        </a:rPr>
                        <a:t>紀伊國屋書店</a:t>
                      </a:r>
                    </a:p>
                  </a:txBody>
                  <a:tcPr anchor="ctr"/>
                </a:tc>
                <a:extLst>
                  <a:ext uri="{0D108BD9-81ED-4DB2-BD59-A6C34878D82A}">
                    <a16:rowId xmlns:a16="http://schemas.microsoft.com/office/drawing/2014/main" val="3048989387"/>
                  </a:ext>
                </a:extLst>
              </a:tr>
              <a:tr h="370840">
                <a:tc>
                  <a:txBody>
                    <a:bodyPr/>
                    <a:lstStyle/>
                    <a:p>
                      <a:r>
                        <a:rPr kumimoji="1" lang="en-US" altLang="ja-JP" sz="1400" dirty="0">
                          <a:latin typeface="メイリオ" panose="020B0604030504040204" pitchFamily="50" charset="-128"/>
                          <a:ea typeface="メイリオ" panose="020B0604030504040204" pitchFamily="50" charset="-128"/>
                        </a:rPr>
                        <a:t>19</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solidFill>
                            <a:schemeClr val="tx1"/>
                          </a:solidFill>
                          <a:latin typeface="メイリオ" panose="020B0604030504040204" pitchFamily="50" charset="-128"/>
                          <a:ea typeface="メイリオ" panose="020B0604030504040204" pitchFamily="50" charset="-128"/>
                        </a:rPr>
                        <a:t>キャンドゥ　</a:t>
                      </a:r>
                      <a:r>
                        <a:rPr kumimoji="1" lang="en-US" altLang="ja-JP" sz="1400" dirty="0">
                          <a:solidFill>
                            <a:schemeClr val="tx1"/>
                          </a:solidFill>
                          <a:latin typeface="メイリオ" panose="020B0604030504040204" pitchFamily="50" charset="-128"/>
                          <a:ea typeface="メイリオ" panose="020B0604030504040204" pitchFamily="50" charset="-128"/>
                        </a:rPr>
                        <a:t>※1</a:t>
                      </a:r>
                      <a:endParaRPr kumimoji="1" lang="ja-JP" altLang="en-US" sz="140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574178380"/>
                  </a:ext>
                </a:extLst>
              </a:tr>
              <a:tr h="370840">
                <a:tc>
                  <a:txBody>
                    <a:bodyPr/>
                    <a:lstStyle/>
                    <a:p>
                      <a:r>
                        <a:rPr kumimoji="1" lang="en-US" altLang="ja-JP" sz="1400" dirty="0">
                          <a:latin typeface="メイリオ" panose="020B0604030504040204" pitchFamily="50" charset="-128"/>
                          <a:ea typeface="メイリオ" panose="020B0604030504040204" pitchFamily="50" charset="-128"/>
                        </a:rPr>
                        <a:t>20</a:t>
                      </a:r>
                      <a:endParaRPr kumimoji="1" lang="ja-JP" altLang="en-US" sz="14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solidFill>
                            <a:schemeClr val="tx1"/>
                          </a:solidFill>
                          <a:latin typeface="メイリオ" panose="020B0604030504040204" pitchFamily="50" charset="-128"/>
                          <a:ea typeface="メイリオ" panose="020B0604030504040204" pitchFamily="50" charset="-128"/>
                        </a:rPr>
                        <a:t>ポディウム　</a:t>
                      </a:r>
                      <a:r>
                        <a:rPr kumimoji="1" lang="en-US" altLang="ja-JP" sz="1400" dirty="0">
                          <a:solidFill>
                            <a:schemeClr val="tx1"/>
                          </a:solidFill>
                          <a:latin typeface="メイリオ" panose="020B0604030504040204" pitchFamily="50" charset="-128"/>
                          <a:ea typeface="メイリオ" panose="020B0604030504040204" pitchFamily="50" charset="-128"/>
                        </a:rPr>
                        <a:t>※1</a:t>
                      </a:r>
                      <a:endParaRPr kumimoji="1" lang="ja-JP" altLang="en-US" sz="140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07777"/>
          </a:xfrm>
          <a:prstGeom prst="rect">
            <a:avLst/>
          </a:prstGeom>
          <a:noFill/>
        </p:spPr>
        <p:txBody>
          <a:bodyPr wrap="square" rtlCol="0">
            <a:spAutoFit/>
          </a:bodyPr>
          <a:lstStyle/>
          <a:p>
            <a:r>
              <a:rPr lang="en-US" altLang="ja-JP" sz="1400" dirty="0">
                <a:latin typeface="メイリオ" panose="020B0604030504040204" pitchFamily="50" charset="-128"/>
                <a:ea typeface="メイリオ" panose="020B0604030504040204" pitchFamily="50" charset="-128"/>
                <a:cs typeface="メイリオ"/>
              </a:rPr>
              <a:t>※1</a:t>
            </a:r>
            <a:r>
              <a:rPr lang="ja-JP" altLang="en-US" sz="1400" dirty="0">
                <a:latin typeface="メイリオ" panose="020B0604030504040204" pitchFamily="50" charset="-128"/>
                <a:ea typeface="メイリオ" panose="020B0604030504040204" pitchFamily="50" charset="-128"/>
                <a:cs typeface="メイリオ"/>
              </a:rPr>
              <a:t>　新パッケージ</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3458039437"/>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sz="1400" dirty="0">
                        <a:latin typeface="メイリオ" panose="020B0604030504040204" pitchFamily="50" charset="-128"/>
                        <a:ea typeface="メイリオ" panose="020B0604030504040204" pitchFamily="50" charset="-128"/>
                      </a:endParaRPr>
                    </a:p>
                  </a:txBody>
                  <a:tcPr/>
                </a:tc>
                <a:tc>
                  <a:txBody>
                    <a:bodyPr/>
                    <a:lstStyle/>
                    <a:p>
                      <a:pPr algn="ctr"/>
                      <a:r>
                        <a:rPr kumimoji="1" lang="ja-JP" altLang="en-US" sz="1400" dirty="0">
                          <a:latin typeface="メイリオ" panose="020B0604030504040204" pitchFamily="50" charset="-128"/>
                          <a:ea typeface="メイリオ" panose="020B0604030504040204" pitchFamily="50" charset="-128"/>
                        </a:rPr>
                        <a:t>顧客名</a:t>
                      </a:r>
                    </a:p>
                  </a:txBody>
                  <a:tcPr/>
                </a:tc>
                <a:tc>
                  <a:txBody>
                    <a:bodyPr/>
                    <a:lstStyle/>
                    <a:p>
                      <a:r>
                        <a:rPr kumimoji="1" lang="ja-JP" altLang="en-US" sz="1400" dirty="0">
                          <a:latin typeface="メイリオ" panose="020B0604030504040204" pitchFamily="50" charset="-128"/>
                          <a:ea typeface="メイリオ" panose="020B0604030504040204" pitchFamily="50" charset="-128"/>
                        </a:rPr>
                        <a:t>保守時間</a:t>
                      </a:r>
                      <a:r>
                        <a:rPr kumimoji="1" lang="en-US" altLang="ja-JP" sz="1400" dirty="0">
                          <a:latin typeface="メイリオ" panose="020B0604030504040204" pitchFamily="50" charset="-128"/>
                          <a:ea typeface="メイリオ" panose="020B0604030504040204" pitchFamily="50" charset="-128"/>
                        </a:rPr>
                        <a:t>(</a:t>
                      </a:r>
                      <a:r>
                        <a:rPr kumimoji="1" lang="ja-JP" altLang="en-US" sz="1400" dirty="0">
                          <a:latin typeface="メイリオ" panose="020B0604030504040204" pitchFamily="50" charset="-128"/>
                          <a:ea typeface="メイリオ" panose="020B0604030504040204" pitchFamily="50" charset="-128"/>
                        </a:rPr>
                        <a:t>月</a:t>
                      </a:r>
                      <a:r>
                        <a:rPr kumimoji="1" lang="en-US" altLang="ja-JP" sz="1400" dirty="0">
                          <a:latin typeface="メイリオ" panose="020B0604030504040204" pitchFamily="50" charset="-128"/>
                          <a:ea typeface="メイリオ" panose="020B0604030504040204" pitchFamily="50" charset="-128"/>
                        </a:rPr>
                        <a:t>)</a:t>
                      </a:r>
                      <a:endParaRPr kumimoji="1" lang="ja-JP" altLang="en-US" sz="140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1</a:t>
                      </a:r>
                      <a:endParaRPr kumimoji="1" lang="ja-JP" altLang="en-US" sz="1400" dirty="0">
                        <a:latin typeface="メイリオ" panose="020B0604030504040204" pitchFamily="50" charset="-128"/>
                        <a:ea typeface="メイリオ" panose="020B0604030504040204" pitchFamily="50" charset="-128"/>
                      </a:endParaRPr>
                    </a:p>
                  </a:txBody>
                  <a:tcPr/>
                </a:tc>
                <a:tc>
                  <a:txBody>
                    <a:bodyPr/>
                    <a:lstStyle/>
                    <a:p>
                      <a:r>
                        <a:rPr kumimoji="1" lang="ja-JP" altLang="en-US" sz="1400" dirty="0">
                          <a:latin typeface="メイリオ" panose="020B0604030504040204" pitchFamily="50" charset="-128"/>
                          <a:ea typeface="メイリオ" panose="020B0604030504040204" pitchFamily="50" charset="-128"/>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dirty="0">
                          <a:solidFill>
                            <a:schemeClr val="tx1"/>
                          </a:solidFill>
                          <a:latin typeface="メイリオ" panose="020B0604030504040204" pitchFamily="50" charset="-128"/>
                          <a:ea typeface="メイリオ" panose="020B0604030504040204" pitchFamily="50" charset="-128"/>
                        </a:rPr>
                        <a:t>16</a:t>
                      </a:r>
                      <a:r>
                        <a:rPr kumimoji="1" lang="ja-JP" altLang="en-US" sz="1400" dirty="0">
                          <a:solidFill>
                            <a:schemeClr val="tx1"/>
                          </a:solidFill>
                          <a:latin typeface="メイリオ" panose="020B0604030504040204" pitchFamily="50" charset="-128"/>
                          <a:ea typeface="メイリオ" panose="020B0604030504040204" pitchFamily="50" charset="-128"/>
                        </a:rPr>
                        <a:t>時間</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2</a:t>
                      </a:r>
                      <a:endParaRPr kumimoji="1" lang="ja-JP" altLang="en-US" sz="1400" dirty="0">
                        <a:latin typeface="メイリオ" panose="020B0604030504040204" pitchFamily="50" charset="-128"/>
                        <a:ea typeface="メイリオ" panose="020B0604030504040204" pitchFamily="50" charset="-128"/>
                      </a:endParaRPr>
                    </a:p>
                  </a:txBody>
                  <a:tcPr/>
                </a:tc>
                <a:tc>
                  <a:txBody>
                    <a:bodyPr/>
                    <a:lstStyle/>
                    <a:p>
                      <a:r>
                        <a:rPr kumimoji="1" lang="ja-JP" altLang="en-US" sz="1400" dirty="0">
                          <a:latin typeface="メイリオ" panose="020B0604030504040204" pitchFamily="50" charset="-128"/>
                          <a:ea typeface="メイリオ" panose="020B0604030504040204" pitchFamily="50" charset="-128"/>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dirty="0">
                          <a:solidFill>
                            <a:schemeClr val="tx1"/>
                          </a:solidFill>
                          <a:latin typeface="メイリオ" panose="020B0604030504040204" pitchFamily="50" charset="-128"/>
                          <a:ea typeface="メイリオ" panose="020B0604030504040204" pitchFamily="50" charset="-128"/>
                        </a:rPr>
                        <a:t>5</a:t>
                      </a:r>
                      <a:r>
                        <a:rPr kumimoji="1" lang="ja-JP" altLang="en-US" sz="1400" dirty="0">
                          <a:solidFill>
                            <a:schemeClr val="tx1"/>
                          </a:solidFill>
                          <a:latin typeface="メイリオ" panose="020B0604030504040204" pitchFamily="50" charset="-128"/>
                          <a:ea typeface="メイリオ" panose="020B0604030504040204" pitchFamily="50" charset="-128"/>
                        </a:rPr>
                        <a:t>時間</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3</a:t>
                      </a:r>
                      <a:endParaRPr kumimoji="1" lang="ja-JP" altLang="en-US" sz="1400" dirty="0">
                        <a:latin typeface="メイリオ" panose="020B0604030504040204" pitchFamily="50" charset="-128"/>
                        <a:ea typeface="メイリオ" panose="020B0604030504040204" pitchFamily="50" charset="-128"/>
                      </a:endParaRPr>
                    </a:p>
                  </a:txBody>
                  <a:tcPr/>
                </a:tc>
                <a:tc>
                  <a:txBody>
                    <a:bodyPr/>
                    <a:lstStyle/>
                    <a:p>
                      <a:r>
                        <a:rPr kumimoji="1" lang="ja-JP" altLang="en-US" sz="1400" dirty="0">
                          <a:latin typeface="メイリオ" panose="020B0604030504040204" pitchFamily="50" charset="-128"/>
                          <a:ea typeface="メイリオ" panose="020B0604030504040204" pitchFamily="50" charset="-128"/>
                        </a:rPr>
                        <a:t>日東電工</a:t>
                      </a:r>
                      <a:r>
                        <a:rPr kumimoji="1" lang="en-US" altLang="ja-JP" sz="1400" dirty="0">
                          <a:latin typeface="メイリオ" panose="020B0604030504040204" pitchFamily="50" charset="-128"/>
                          <a:ea typeface="メイリオ" panose="020B0604030504040204" pitchFamily="50" charset="-128"/>
                        </a:rPr>
                        <a:t>BM</a:t>
                      </a:r>
                      <a:endParaRPr kumimoji="1" lang="ja-JP" altLang="en-US" sz="1400" dirty="0">
                        <a:latin typeface="メイリオ" panose="020B0604030504040204" pitchFamily="50" charset="-128"/>
                        <a:ea typeface="メイリオ" panose="020B0604030504040204" pitchFamily="50" charset="-128"/>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dirty="0">
                          <a:solidFill>
                            <a:schemeClr val="tx1"/>
                          </a:solidFill>
                          <a:latin typeface="メイリオ" panose="020B0604030504040204" pitchFamily="50" charset="-128"/>
                          <a:ea typeface="メイリオ" panose="020B0604030504040204" pitchFamily="50" charset="-128"/>
                        </a:rPr>
                        <a:t>57</a:t>
                      </a:r>
                      <a:r>
                        <a:rPr kumimoji="1" lang="ja-JP" altLang="en-US" sz="1400" dirty="0">
                          <a:solidFill>
                            <a:schemeClr val="tx1"/>
                          </a:solidFill>
                          <a:latin typeface="メイリオ" panose="020B0604030504040204" pitchFamily="50" charset="-128"/>
                          <a:ea typeface="メイリオ" panose="020B0604030504040204" pitchFamily="50" charset="-128"/>
                        </a:rPr>
                        <a:t>時間</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4</a:t>
                      </a:r>
                      <a:endParaRPr kumimoji="1" lang="ja-JP" altLang="en-US" sz="1400" dirty="0">
                        <a:latin typeface="メイリオ" panose="020B0604030504040204" pitchFamily="50" charset="-128"/>
                        <a:ea typeface="メイリオ" panose="020B0604030504040204" pitchFamily="50" charset="-128"/>
                      </a:endParaRPr>
                    </a:p>
                  </a:txBody>
                  <a:tcPr/>
                </a:tc>
                <a:tc>
                  <a:txBody>
                    <a:bodyPr/>
                    <a:lstStyle/>
                    <a:p>
                      <a:r>
                        <a:rPr kumimoji="1" lang="ja-JP" altLang="en-US" sz="1400" dirty="0">
                          <a:latin typeface="メイリオ" panose="020B0604030504040204" pitchFamily="50" charset="-128"/>
                          <a:ea typeface="メイリオ" panose="020B0604030504040204" pitchFamily="50" charset="-128"/>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dirty="0">
                          <a:solidFill>
                            <a:schemeClr val="tx1"/>
                          </a:solidFill>
                          <a:latin typeface="メイリオ" panose="020B0604030504040204" pitchFamily="50" charset="-128"/>
                          <a:ea typeface="メイリオ" panose="020B0604030504040204" pitchFamily="50" charset="-128"/>
                        </a:rPr>
                        <a:t>16</a:t>
                      </a:r>
                      <a:r>
                        <a:rPr kumimoji="1" lang="ja-JP" altLang="en-US" sz="1400" dirty="0">
                          <a:solidFill>
                            <a:schemeClr val="tx1"/>
                          </a:solidFill>
                          <a:latin typeface="メイリオ" panose="020B0604030504040204" pitchFamily="50" charset="-128"/>
                          <a:ea typeface="メイリオ" panose="020B0604030504040204" pitchFamily="50" charset="-128"/>
                        </a:rPr>
                        <a:t>時間</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5</a:t>
                      </a:r>
                      <a:endParaRPr kumimoji="1" lang="ja-JP" altLang="en-US" sz="1400" dirty="0">
                        <a:latin typeface="メイリオ" panose="020B0604030504040204" pitchFamily="50" charset="-128"/>
                        <a:ea typeface="メイリオ" panose="020B0604030504040204" pitchFamily="50"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メイリオ" panose="020B0604030504040204" pitchFamily="50" charset="-128"/>
                          <a:ea typeface="メイリオ" panose="020B0604030504040204" pitchFamily="50" charset="-128"/>
                        </a:rPr>
                        <a:t>キャンドゥ</a:t>
                      </a:r>
                      <a:endParaRPr kumimoji="1" lang="ja-JP" altLang="en-US" sz="1400" dirty="0">
                        <a:solidFill>
                          <a:srgbClr val="FF0000"/>
                        </a:solidFill>
                        <a:latin typeface="メイリオ" panose="020B0604030504040204" pitchFamily="50" charset="-128"/>
                        <a:ea typeface="メイリオ" panose="020B0604030504040204" pitchFamily="50" charset="-128"/>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dirty="0">
                          <a:solidFill>
                            <a:schemeClr val="tx1"/>
                          </a:solidFill>
                          <a:latin typeface="メイリオ" panose="020B0604030504040204" pitchFamily="50" charset="-128"/>
                          <a:ea typeface="メイリオ" panose="020B0604030504040204" pitchFamily="50" charset="-128"/>
                        </a:rPr>
                        <a:t>3</a:t>
                      </a:r>
                      <a:r>
                        <a:rPr kumimoji="1" lang="ja-JP" altLang="en-US" sz="1400" dirty="0">
                          <a:solidFill>
                            <a:schemeClr val="tx1"/>
                          </a:solidFill>
                          <a:latin typeface="メイリオ" panose="020B0604030504040204" pitchFamily="50" charset="-128"/>
                          <a:ea typeface="メイリオ" panose="020B0604030504040204" pitchFamily="50" charset="-128"/>
                        </a:rPr>
                        <a:t>時間</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6</a:t>
                      </a:r>
                      <a:endParaRPr kumimoji="1" lang="ja-JP" altLang="en-US" sz="1400" dirty="0">
                        <a:latin typeface="メイリオ" panose="020B0604030504040204" pitchFamily="50" charset="-128"/>
                        <a:ea typeface="メイリオ" panose="020B0604030504040204" pitchFamily="50"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メイリオ" panose="020B0604030504040204" pitchFamily="50" charset="-128"/>
                          <a:ea typeface="メイリオ" panose="020B0604030504040204" pitchFamily="50" charset="-128"/>
                        </a:rPr>
                        <a:t>ポディウム</a:t>
                      </a:r>
                      <a:endParaRPr kumimoji="1" lang="ja-JP" altLang="en-US" sz="1400" dirty="0">
                        <a:solidFill>
                          <a:srgbClr val="FF0000"/>
                        </a:solidFill>
                        <a:latin typeface="メイリオ" panose="020B0604030504040204" pitchFamily="50" charset="-128"/>
                        <a:ea typeface="メイリオ" panose="020B0604030504040204" pitchFamily="50" charset="-128"/>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dirty="0">
                          <a:solidFill>
                            <a:schemeClr val="tx1"/>
                          </a:solidFill>
                          <a:latin typeface="メイリオ" panose="020B0604030504040204" pitchFamily="50" charset="-128"/>
                          <a:ea typeface="メイリオ" panose="020B0604030504040204" pitchFamily="50" charset="-128"/>
                        </a:rPr>
                        <a:t>10</a:t>
                      </a:r>
                      <a:r>
                        <a:rPr kumimoji="1" lang="ja-JP" altLang="en-US" sz="1400" dirty="0">
                          <a:solidFill>
                            <a:schemeClr val="tx1"/>
                          </a:solidFill>
                          <a:latin typeface="メイリオ" panose="020B0604030504040204" pitchFamily="50" charset="-128"/>
                          <a:ea typeface="メイリオ" panose="020B0604030504040204" pitchFamily="50" charset="-128"/>
                        </a:rPr>
                        <a:t>時間</a:t>
                      </a:r>
                    </a:p>
                  </a:txBody>
                  <a:tcPr/>
                </a:tc>
                <a:extLst>
                  <a:ext uri="{0D108BD9-81ED-4DB2-BD59-A6C34878D82A}">
                    <a16:rowId xmlns:a16="http://schemas.microsoft.com/office/drawing/2014/main" val="1990382075"/>
                  </a:ext>
                </a:extLst>
              </a:tr>
              <a:tr h="370840">
                <a:tc>
                  <a:txBody>
                    <a:bodyPr/>
                    <a:lstStyle/>
                    <a:p>
                      <a:pPr algn="r"/>
                      <a:r>
                        <a:rPr kumimoji="1" lang="en-US" altLang="ja-JP" sz="1400" dirty="0">
                          <a:latin typeface="メイリオ" panose="020B0604030504040204" pitchFamily="50" charset="-128"/>
                          <a:ea typeface="メイリオ" panose="020B0604030504040204" pitchFamily="50" charset="-128"/>
                        </a:rPr>
                        <a:t>7</a:t>
                      </a:r>
                      <a:endParaRPr kumimoji="1" lang="ja-JP" altLang="en-US" sz="1400" dirty="0">
                        <a:latin typeface="メイリオ" panose="020B0604030504040204" pitchFamily="50" charset="-128"/>
                        <a:ea typeface="メイリオ" panose="020B0604030504040204" pitchFamily="50"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メイリオ" panose="020B0604030504040204" pitchFamily="50" charset="-128"/>
                          <a:ea typeface="メイリオ" panose="020B0604030504040204" pitchFamily="50" charset="-128"/>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dirty="0">
                          <a:latin typeface="メイリオ" panose="020B0604030504040204" pitchFamily="50" charset="-128"/>
                          <a:ea typeface="メイリオ" panose="020B0604030504040204" pitchFamily="50" charset="-128"/>
                        </a:rPr>
                        <a:t>80</a:t>
                      </a:r>
                      <a:r>
                        <a:rPr kumimoji="1" lang="ja-JP" altLang="en-US" sz="1400" dirty="0">
                          <a:latin typeface="メイリオ" panose="020B0604030504040204" pitchFamily="50" charset="-128"/>
                          <a:ea typeface="メイリオ" panose="020B0604030504040204" pitchFamily="50" charset="-128"/>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318015175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対象ユーザ</a:t>
                      </a: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対応状況</a:t>
                      </a:r>
                    </a:p>
                  </a:txBody>
                  <a:tcPr anchor="ctr"/>
                </a:tc>
                <a:extLst>
                  <a:ext uri="{0D108BD9-81ED-4DB2-BD59-A6C34878D82A}">
                    <a16:rowId xmlns:a16="http://schemas.microsoft.com/office/drawing/2014/main" val="4210059274"/>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ナイガイ</a:t>
                      </a: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842568075"/>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2</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ジャクソン・ラボラトリー・ジャパン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129140566"/>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3</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タイロテック</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125371019"/>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4</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カーコンビニ倶楽部</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調整中</a:t>
                      </a:r>
                    </a:p>
                  </a:txBody>
                  <a:tcPr anchor="ctr"/>
                </a:tc>
                <a:extLst>
                  <a:ext uri="{0D108BD9-81ED-4DB2-BD59-A6C34878D82A}">
                    <a16:rowId xmlns:a16="http://schemas.microsoft.com/office/drawing/2014/main" val="3140885341"/>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5</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フジキ工芸産業</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3048989387"/>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6</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加納コーポレーション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調整中</a:t>
                      </a:r>
                    </a:p>
                  </a:txBody>
                  <a:tcPr anchor="ctr"/>
                </a:tc>
                <a:extLst>
                  <a:ext uri="{0D108BD9-81ED-4DB2-BD59-A6C34878D82A}">
                    <a16:rowId xmlns:a16="http://schemas.microsoft.com/office/drawing/2014/main" val="3574178380"/>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7</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日本ウエイン</a:t>
                      </a: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1990382075"/>
                  </a:ext>
                </a:extLst>
              </a:tr>
              <a:tr h="345648">
                <a:tc>
                  <a:txBody>
                    <a:bodyPr/>
                    <a:lstStyle/>
                    <a:p>
                      <a:pPr algn="r"/>
                      <a:r>
                        <a:rPr kumimoji="1" lang="en-US" altLang="ja-JP" sz="1100" dirty="0">
                          <a:latin typeface="メイリオ" panose="020B0604030504040204" pitchFamily="50" charset="-128"/>
                          <a:ea typeface="メイリオ" panose="020B0604030504040204" pitchFamily="50" charset="-128"/>
                        </a:rPr>
                        <a:t>8</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日東電工</a:t>
                      </a:r>
                      <a:r>
                        <a:rPr kumimoji="1" lang="en-US" altLang="ja-JP" sz="1100" dirty="0">
                          <a:latin typeface="メイリオ" panose="020B0604030504040204" pitchFamily="50" charset="-128"/>
                          <a:ea typeface="メイリオ" panose="020B0604030504040204" pitchFamily="50" charset="-128"/>
                        </a:rPr>
                        <a:t>BM</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4187584493"/>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9</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貴和製作所</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3341462380"/>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10</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マルサン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2402957185"/>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対象ユーザ</a:t>
                      </a: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対応状況</a:t>
                      </a:r>
                    </a:p>
                  </a:txBody>
                  <a:tcPr anchor="ctr"/>
                </a:tc>
                <a:extLst>
                  <a:ext uri="{0D108BD9-81ED-4DB2-BD59-A6C34878D82A}">
                    <a16:rowId xmlns:a16="http://schemas.microsoft.com/office/drawing/2014/main" val="4210059274"/>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11</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en-US" altLang="ja-JP" sz="1100" dirty="0">
                          <a:latin typeface="メイリオ" panose="020B0604030504040204" pitchFamily="50" charset="-128"/>
                          <a:ea typeface="メイリオ" panose="020B0604030504040204" pitchFamily="50" charset="-128"/>
                        </a:rPr>
                        <a:t>EM</a:t>
                      </a:r>
                      <a:r>
                        <a:rPr kumimoji="1" lang="ja-JP" altLang="en-US" sz="1100" dirty="0">
                          <a:latin typeface="メイリオ" panose="020B0604030504040204" pitchFamily="50" charset="-128"/>
                          <a:ea typeface="メイリオ" panose="020B0604030504040204" pitchFamily="50" charset="-128"/>
                        </a:rPr>
                        <a:t>システムズ</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842568075"/>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12</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zh-TW" altLang="en-US" sz="1100" dirty="0">
                          <a:latin typeface="メイリオ" panose="020B0604030504040204" pitchFamily="50" charset="-128"/>
                          <a:ea typeface="メイリオ" panose="020B0604030504040204" pitchFamily="50" charset="-128"/>
                        </a:rPr>
                        <a:t>日本漢字能力検定協会</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1305478778"/>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13</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ヤーマン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922887887"/>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14</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ニトムズ</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916555616"/>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15</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ティーガイア</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129140566"/>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16</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アシックス商事</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125371019"/>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17</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パシフィックプロダクツ</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3140885341"/>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18</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紀伊國屋書店</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対象外</a:t>
                      </a:r>
                    </a:p>
                  </a:txBody>
                  <a:tcPr anchor="ct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600164"/>
          </a:xfrm>
          <a:prstGeom prst="rect">
            <a:avLst/>
          </a:prstGeom>
          <a:noFill/>
        </p:spPr>
        <p:txBody>
          <a:bodyPr wrap="square" rtlCol="0">
            <a:spAutoFit/>
          </a:bodyPr>
          <a:lstStyle/>
          <a:p>
            <a:r>
              <a:rPr lang="ja-JP" altLang="en-US" sz="1100" dirty="0">
                <a:latin typeface="メイリオ"/>
                <a:ea typeface="メイリオ"/>
                <a:cs typeface="メイリオ"/>
              </a:rPr>
              <a:t>完了：</a:t>
            </a:r>
            <a:r>
              <a:rPr lang="en-US" altLang="ja-JP" sz="1100" dirty="0">
                <a:latin typeface="メイリオ"/>
                <a:ea typeface="メイリオ"/>
                <a:cs typeface="メイリオ"/>
              </a:rPr>
              <a:t>15</a:t>
            </a:r>
          </a:p>
          <a:p>
            <a:r>
              <a:rPr lang="ja-JP" altLang="en-US" sz="1100" dirty="0">
                <a:latin typeface="メイリオ"/>
                <a:ea typeface="メイリオ"/>
                <a:cs typeface="メイリオ"/>
              </a:rPr>
              <a:t>調整中：</a:t>
            </a:r>
            <a:r>
              <a:rPr lang="en-US" altLang="ja-JP" sz="1100" dirty="0">
                <a:latin typeface="メイリオ"/>
                <a:ea typeface="メイリオ"/>
                <a:cs typeface="メイリオ"/>
              </a:rPr>
              <a:t>2</a:t>
            </a:r>
          </a:p>
          <a:p>
            <a:r>
              <a:rPr lang="ja-JP" altLang="en-US" sz="1100" dirty="0">
                <a:latin typeface="メイリオ"/>
                <a:ea typeface="メイリオ"/>
                <a:cs typeface="メイリオ"/>
              </a:rPr>
              <a:t>対象外：１</a:t>
            </a:r>
            <a:endParaRPr lang="en-US" altLang="ja-JP" sz="11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172444999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対象ユーザ</a:t>
                      </a: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対応状況</a:t>
                      </a:r>
                    </a:p>
                  </a:txBody>
                  <a:tcPr anchor="ctr"/>
                </a:tc>
                <a:extLst>
                  <a:ext uri="{0D108BD9-81ED-4DB2-BD59-A6C34878D82A}">
                    <a16:rowId xmlns:a16="http://schemas.microsoft.com/office/drawing/2014/main" val="4210059274"/>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ナイガイ</a:t>
                      </a: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842568075"/>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2</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ジャクソン・ラボラトリー・ジャパン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129140566"/>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3</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タイロテック</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125371019"/>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4</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カーコンビニ倶楽部</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対応中</a:t>
                      </a:r>
                    </a:p>
                  </a:txBody>
                  <a:tcPr anchor="ctr"/>
                </a:tc>
                <a:extLst>
                  <a:ext uri="{0D108BD9-81ED-4DB2-BD59-A6C34878D82A}">
                    <a16:rowId xmlns:a16="http://schemas.microsoft.com/office/drawing/2014/main" val="3140885341"/>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5</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フジキ工芸産業</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対象外</a:t>
                      </a:r>
                    </a:p>
                  </a:txBody>
                  <a:tcPr anchor="ctr"/>
                </a:tc>
                <a:extLst>
                  <a:ext uri="{0D108BD9-81ED-4DB2-BD59-A6C34878D82A}">
                    <a16:rowId xmlns:a16="http://schemas.microsoft.com/office/drawing/2014/main" val="3048989387"/>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6</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加納コーポレーション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3574178380"/>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7</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日本ウエイン</a:t>
                      </a: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1990382075"/>
                  </a:ext>
                </a:extLst>
              </a:tr>
              <a:tr h="345648">
                <a:tc>
                  <a:txBody>
                    <a:bodyPr/>
                    <a:lstStyle/>
                    <a:p>
                      <a:pPr algn="r"/>
                      <a:r>
                        <a:rPr kumimoji="1" lang="en-US" altLang="ja-JP" sz="1100" dirty="0">
                          <a:latin typeface="メイリオ" panose="020B0604030504040204" pitchFamily="50" charset="-128"/>
                          <a:ea typeface="メイリオ" panose="020B0604030504040204" pitchFamily="50" charset="-128"/>
                        </a:rPr>
                        <a:t>8</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日東電工</a:t>
                      </a:r>
                      <a:r>
                        <a:rPr kumimoji="1" lang="en-US" altLang="ja-JP" sz="1100" dirty="0">
                          <a:latin typeface="メイリオ" panose="020B0604030504040204" pitchFamily="50" charset="-128"/>
                          <a:ea typeface="メイリオ" panose="020B0604030504040204" pitchFamily="50" charset="-128"/>
                        </a:rPr>
                        <a:t>BM</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100" dirty="0">
                          <a:latin typeface="メイリオ" panose="020B0604030504040204" pitchFamily="50" charset="-128"/>
                          <a:ea typeface="メイリオ" panose="020B0604030504040204" pitchFamily="50" charset="-128"/>
                        </a:rPr>
                        <a:t>8/19</a:t>
                      </a:r>
                      <a:r>
                        <a:rPr kumimoji="1" lang="ja-JP" altLang="en-US" sz="1100" dirty="0">
                          <a:latin typeface="メイリオ" panose="020B0604030504040204" pitchFamily="50" charset="-128"/>
                          <a:ea typeface="メイリオ" panose="020B0604030504040204" pitchFamily="50" charset="-128"/>
                        </a:rPr>
                        <a:t>反映予定</a:t>
                      </a:r>
                    </a:p>
                  </a:txBody>
                  <a:tcPr anchor="ctr"/>
                </a:tc>
                <a:extLst>
                  <a:ext uri="{0D108BD9-81ED-4DB2-BD59-A6C34878D82A}">
                    <a16:rowId xmlns:a16="http://schemas.microsoft.com/office/drawing/2014/main" val="4187584493"/>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9</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貴和製作所</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3341462380"/>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10</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マルサン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1899502486"/>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対象ユーザ</a:t>
                      </a: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対応状況</a:t>
                      </a:r>
                    </a:p>
                  </a:txBody>
                  <a:tcPr anchor="ctr"/>
                </a:tc>
                <a:extLst>
                  <a:ext uri="{0D108BD9-81ED-4DB2-BD59-A6C34878D82A}">
                    <a16:rowId xmlns:a16="http://schemas.microsoft.com/office/drawing/2014/main" val="4210059274"/>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11</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en-US" altLang="ja-JP" sz="1100" dirty="0">
                          <a:latin typeface="メイリオ" panose="020B0604030504040204" pitchFamily="50" charset="-128"/>
                          <a:ea typeface="メイリオ" panose="020B0604030504040204" pitchFamily="50" charset="-128"/>
                        </a:rPr>
                        <a:t>EM</a:t>
                      </a:r>
                      <a:r>
                        <a:rPr kumimoji="1" lang="ja-JP" altLang="en-US" sz="1100" dirty="0">
                          <a:latin typeface="メイリオ" panose="020B0604030504040204" pitchFamily="50" charset="-128"/>
                          <a:ea typeface="メイリオ" panose="020B0604030504040204" pitchFamily="50" charset="-128"/>
                        </a:rPr>
                        <a:t>システムズ</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対応中</a:t>
                      </a:r>
                    </a:p>
                  </a:txBody>
                  <a:tcPr anchor="ctr"/>
                </a:tc>
                <a:extLst>
                  <a:ext uri="{0D108BD9-81ED-4DB2-BD59-A6C34878D82A}">
                    <a16:rowId xmlns:a16="http://schemas.microsoft.com/office/drawing/2014/main" val="842568075"/>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12</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zh-TW" altLang="en-US" sz="1100" dirty="0">
                          <a:latin typeface="メイリオ" panose="020B0604030504040204" pitchFamily="50" charset="-128"/>
                          <a:ea typeface="メイリオ" panose="020B0604030504040204" pitchFamily="50" charset="-128"/>
                        </a:rPr>
                        <a:t>日本漢字能力検定協会</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1305478778"/>
                  </a:ext>
                </a:extLst>
              </a:tr>
              <a:tr h="370840">
                <a:tc>
                  <a:txBody>
                    <a:bodyPr/>
                    <a:lstStyle/>
                    <a:p>
                      <a:pPr algn="r"/>
                      <a:r>
                        <a:rPr kumimoji="1" lang="en-US" altLang="ja-JP" sz="1100" dirty="0">
                          <a:latin typeface="メイリオ" panose="020B0604030504040204" pitchFamily="50" charset="-128"/>
                          <a:ea typeface="メイリオ" panose="020B0604030504040204" pitchFamily="50" charset="-128"/>
                        </a:rPr>
                        <a:t>13</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ヤーマン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100" dirty="0">
                          <a:latin typeface="メイリオ" panose="020B0604030504040204" pitchFamily="50" charset="-128"/>
                          <a:ea typeface="メイリオ" panose="020B0604030504040204" pitchFamily="50" charset="-128"/>
                        </a:rPr>
                        <a:t>7/29</a:t>
                      </a:r>
                      <a:r>
                        <a:rPr kumimoji="1" lang="ja-JP" altLang="en-US" sz="1100" dirty="0">
                          <a:latin typeface="メイリオ" panose="020B0604030504040204" pitchFamily="50" charset="-128"/>
                          <a:ea typeface="メイリオ" panose="020B0604030504040204" pitchFamily="50" charset="-128"/>
                        </a:rPr>
                        <a:t>反映予定</a:t>
                      </a:r>
                    </a:p>
                  </a:txBody>
                  <a:tcPr anchor="ctr"/>
                </a:tc>
                <a:extLst>
                  <a:ext uri="{0D108BD9-81ED-4DB2-BD59-A6C34878D82A}">
                    <a16:rowId xmlns:a16="http://schemas.microsoft.com/office/drawing/2014/main" val="922887887"/>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14</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ニトムズ</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916555616"/>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15</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ティーガイア</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2129140566"/>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16</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r>
                        <a:rPr kumimoji="1" lang="ja-JP" altLang="en-US" sz="1100" dirty="0">
                          <a:latin typeface="メイリオ" panose="020B0604030504040204" pitchFamily="50" charset="-128"/>
                          <a:ea typeface="メイリオ" panose="020B0604030504040204" pitchFamily="50" charset="-128"/>
                        </a:rPr>
                        <a:t>アシックス商事</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対象外</a:t>
                      </a:r>
                    </a:p>
                  </a:txBody>
                  <a:tcPr anchor="ctr"/>
                </a:tc>
                <a:extLst>
                  <a:ext uri="{0D108BD9-81ED-4DB2-BD59-A6C34878D82A}">
                    <a16:rowId xmlns:a16="http://schemas.microsoft.com/office/drawing/2014/main" val="2125371019"/>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17</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パシフィックプロダクツ</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完了</a:t>
                      </a:r>
                    </a:p>
                  </a:txBody>
                  <a:tcPr anchor="ctr"/>
                </a:tc>
                <a:extLst>
                  <a:ext uri="{0D108BD9-81ED-4DB2-BD59-A6C34878D82A}">
                    <a16:rowId xmlns:a16="http://schemas.microsoft.com/office/drawing/2014/main" val="3140885341"/>
                  </a:ext>
                </a:extLst>
              </a:tr>
              <a:tr h="370840">
                <a:tc>
                  <a:txBody>
                    <a:bodyPr/>
                    <a:lstStyle/>
                    <a:p>
                      <a:r>
                        <a:rPr kumimoji="1" lang="en-US" altLang="ja-JP" sz="1100" dirty="0">
                          <a:latin typeface="メイリオ" panose="020B0604030504040204" pitchFamily="50" charset="-128"/>
                          <a:ea typeface="メイリオ" panose="020B0604030504040204" pitchFamily="50" charset="-128"/>
                        </a:rPr>
                        <a:t>18</a:t>
                      </a:r>
                      <a:endParaRPr kumimoji="1" lang="ja-JP" altLang="en-US" sz="1100" dirty="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紀伊國屋書店</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100" dirty="0">
                          <a:latin typeface="メイリオ" panose="020B0604030504040204" pitchFamily="50" charset="-128"/>
                          <a:ea typeface="メイリオ" panose="020B0604030504040204" pitchFamily="50" charset="-128"/>
                        </a:rPr>
                        <a:t>対象外</a:t>
                      </a:r>
                    </a:p>
                  </a:txBody>
                  <a:tcPr anchor="ct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600164"/>
          </a:xfrm>
          <a:prstGeom prst="rect">
            <a:avLst/>
          </a:prstGeom>
          <a:noFill/>
        </p:spPr>
        <p:txBody>
          <a:bodyPr wrap="square" rtlCol="0">
            <a:spAutoFit/>
          </a:bodyPr>
          <a:lstStyle/>
          <a:p>
            <a:r>
              <a:rPr lang="ja-JP" altLang="en-US" sz="1100" dirty="0">
                <a:latin typeface="メイリオ"/>
                <a:ea typeface="メイリオ"/>
                <a:cs typeface="メイリオ"/>
              </a:rPr>
              <a:t>完了：</a:t>
            </a:r>
            <a:r>
              <a:rPr lang="en-US" altLang="ja-JP" sz="1100" dirty="0">
                <a:latin typeface="メイリオ"/>
                <a:ea typeface="メイリオ"/>
                <a:cs typeface="メイリオ"/>
              </a:rPr>
              <a:t>12</a:t>
            </a:r>
          </a:p>
          <a:p>
            <a:r>
              <a:rPr lang="ja-JP" altLang="en-US" sz="1100" dirty="0">
                <a:latin typeface="メイリオ"/>
                <a:ea typeface="メイリオ"/>
                <a:cs typeface="メイリオ"/>
              </a:rPr>
              <a:t>対応中：</a:t>
            </a:r>
            <a:r>
              <a:rPr lang="en-US" altLang="ja-JP" sz="1100" dirty="0">
                <a:latin typeface="メイリオ"/>
                <a:ea typeface="メイリオ"/>
                <a:cs typeface="メイリオ"/>
              </a:rPr>
              <a:t>3</a:t>
            </a:r>
          </a:p>
          <a:p>
            <a:r>
              <a:rPr lang="ja-JP" altLang="en-US" sz="1100" dirty="0">
                <a:latin typeface="メイリオ"/>
                <a:ea typeface="メイリオ"/>
                <a:cs typeface="メイリオ"/>
              </a:rPr>
              <a:t>対象外：</a:t>
            </a:r>
            <a:r>
              <a:rPr lang="en-US" altLang="ja-JP" sz="11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a:solidFill>
                  <a:srgbClr val="333333"/>
                </a:solidFill>
                <a:latin typeface="メイリオ"/>
                <a:ea typeface="メイリオ"/>
              </a:rPr>
              <a:t>5.</a:t>
            </a:r>
            <a:r>
              <a:rPr sz="1600">
                <a:solidFill>
                  <a:srgbClr val="333333"/>
                </a:solidFill>
                <a:latin typeface="メイリオ"/>
                <a:ea typeface="メイリオ"/>
              </a:rPr>
              <a:t>新パッケージのバージョンアップ状況について（1/3）</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560512" y="870956"/>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extLst>
              <p:ext uri="{D42A27DB-BD31-4B8C-83A1-F6EECF244321}">
                <p14:modId xmlns:p14="http://schemas.microsoft.com/office/powerpoint/2010/main" val="417785577"/>
              </p:ext>
            </p:extLst>
          </p:nvPr>
        </p:nvGraphicFramePr>
        <p:xfrm>
          <a:off x="560512" y="1170956"/>
          <a:ext cx="8600000" cy="1400000"/>
        </p:xfrm>
        <a:graphic>
          <a:graphicData uri="http://schemas.openxmlformats.org/drawingml/2006/table">
            <a:tbl>
              <a:tblPr firstRow="1" bandRow="1">
                <a:tableStyleId>{5C22544A-7EE6-4342-B048-85BDC9FD1C3A}</a:tableStyleId>
              </a:tblPr>
              <a:tblGrid>
                <a:gridCol w="2150000">
                  <a:extLst>
                    <a:ext uri="{9D8B030D-6E8A-4147-A177-3AD203B41FA5}">
                      <a16:colId xmlns:a16="http://schemas.microsoft.com/office/drawing/2014/main" val="20000"/>
                    </a:ext>
                  </a:extLst>
                </a:gridCol>
                <a:gridCol w="2150000">
                  <a:extLst>
                    <a:ext uri="{9D8B030D-6E8A-4147-A177-3AD203B41FA5}">
                      <a16:colId xmlns:a16="http://schemas.microsoft.com/office/drawing/2014/main" val="20001"/>
                    </a:ext>
                  </a:extLst>
                </a:gridCol>
                <a:gridCol w="2150000">
                  <a:extLst>
                    <a:ext uri="{9D8B030D-6E8A-4147-A177-3AD203B41FA5}">
                      <a16:colId xmlns:a16="http://schemas.microsoft.com/office/drawing/2014/main" val="20002"/>
                    </a:ext>
                  </a:extLst>
                </a:gridCol>
                <a:gridCol w="2150000">
                  <a:extLst>
                    <a:ext uri="{9D8B030D-6E8A-4147-A177-3AD203B41FA5}">
                      <a16:colId xmlns:a16="http://schemas.microsoft.com/office/drawing/2014/main" val="20003"/>
                    </a:ext>
                  </a:extLst>
                </a:gridCol>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extLst>
                  <a:ext uri="{0D108BD9-81ED-4DB2-BD59-A6C34878D82A}">
                    <a16:rowId xmlns:a16="http://schemas.microsoft.com/office/drawing/2014/main" val="10000"/>
                  </a:ext>
                </a:extLst>
              </a:tr>
              <a:tr h="350000">
                <a:tc>
                  <a:txBody>
                    <a:bodyPr/>
                    <a:lstStyle/>
                    <a:p>
                      <a:pPr algn="l"/>
                      <a:r>
                        <a:rPr sz="1200" b="0" dirty="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extLst>
                  <a:ext uri="{0D108BD9-81ED-4DB2-BD59-A6C34878D82A}">
                    <a16:rowId xmlns:a16="http://schemas.microsoft.com/office/drawing/2014/main" val="10001"/>
                  </a:ext>
                </a:extLst>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extLst>
                  <a:ext uri="{0D108BD9-81ED-4DB2-BD59-A6C34878D82A}">
                    <a16:rowId xmlns:a16="http://schemas.microsoft.com/office/drawing/2014/main" val="10002"/>
                  </a:ext>
                </a:extLst>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dirty="0">
                          <a:solidFill>
                            <a:srgbClr val="333333"/>
                          </a:solidFill>
                          <a:latin typeface="メイリオ"/>
                          <a:ea typeface="メイリオ"/>
                        </a:rPr>
                        <a:t>2028/2/16</a:t>
                      </a:r>
                    </a:p>
                  </a:txBody>
                  <a:tcPr anchor="ctr"/>
                </a:tc>
                <a:extLst>
                  <a:ext uri="{0D108BD9-81ED-4DB2-BD59-A6C34878D82A}">
                    <a16:rowId xmlns:a16="http://schemas.microsoft.com/office/drawing/2014/main" val="10003"/>
                  </a:ext>
                </a:extLst>
              </a:tr>
            </a:tbl>
          </a:graphicData>
        </a:graphic>
      </p:graphicFrame>
      <p:sp>
        <p:nvSpPr>
          <p:cNvPr id="5" name="TextBox 4"/>
          <p:cNvSpPr txBox="1"/>
          <p:nvPr/>
        </p:nvSpPr>
        <p:spPr>
          <a:xfrm>
            <a:off x="560512" y="2770956"/>
            <a:ext cx="9000000" cy="2026196"/>
          </a:xfrm>
          <a:prstGeom prst="rect">
            <a:avLst/>
          </a:prstGeom>
          <a:noFill/>
        </p:spPr>
        <p:txBody>
          <a:bodyPr wrap="square">
            <a:spAutoFit/>
          </a:bodyPr>
          <a:lstStyle/>
          <a:p>
            <a:pPr>
              <a:spcBef>
                <a:spcPts val="0"/>
              </a:spcBef>
              <a:spcAft>
                <a:spcPts val="100"/>
              </a:spcAft>
            </a:pPr>
            <a:r>
              <a:rPr sz="1400" b="1" dirty="0">
                <a:solidFill>
                  <a:srgbClr val="333333"/>
                </a:solidFill>
                <a:latin typeface="メイリオ"/>
                <a:ea typeface="メイリオ"/>
              </a:rPr>
              <a:t>■ 顧客適用状況</a:t>
            </a:r>
          </a:p>
          <a:p>
            <a:pPr>
              <a:spcBef>
                <a:spcPts val="0"/>
              </a:spcBef>
              <a:spcAft>
                <a:spcPts val="100"/>
              </a:spcAft>
            </a:pPr>
            <a:r>
              <a:rPr sz="1300" b="0" dirty="0">
                <a:solidFill>
                  <a:srgbClr val="333333"/>
                </a:solidFill>
                <a:latin typeface="メイリオ"/>
                <a:ea typeface="メイリオ"/>
              </a:rPr>
              <a:t>・リリース済み</a:t>
            </a:r>
          </a:p>
          <a:p>
            <a:pPr>
              <a:spcBef>
                <a:spcPts val="0"/>
              </a:spcBef>
              <a:spcAft>
                <a:spcPts val="100"/>
              </a:spcAft>
            </a:pPr>
            <a:r>
              <a:rPr sz="1300" b="0" dirty="0">
                <a:solidFill>
                  <a:srgbClr val="333333"/>
                </a:solidFill>
                <a:latin typeface="メイリオ"/>
                <a:ea typeface="メイリオ"/>
              </a:rPr>
              <a:t>・キャンドゥ／ポディウム：提供準備完了、</a:t>
            </a:r>
            <a:r>
              <a:rPr lang="ja-JP" altLang="en-US" sz="1300" b="0" dirty="0">
                <a:solidFill>
                  <a:srgbClr val="333333"/>
                </a:solidFill>
                <a:latin typeface="メイリオ"/>
                <a:ea typeface="メイリオ"/>
              </a:rPr>
              <a:t>提供</a:t>
            </a:r>
            <a:r>
              <a:rPr sz="1300" b="0" dirty="0">
                <a:solidFill>
                  <a:srgbClr val="333333"/>
                </a:solidFill>
                <a:latin typeface="メイリオ"/>
                <a:ea typeface="メイリオ"/>
              </a:rPr>
              <a:t>待ち</a:t>
            </a:r>
          </a:p>
          <a:p>
            <a:pPr>
              <a:spcBef>
                <a:spcPts val="0"/>
              </a:spcBef>
              <a:spcAft>
                <a:spcPts val="100"/>
              </a:spcAft>
            </a:pPr>
            <a:endParaRPr sz="1300" b="0" dirty="0">
              <a:solidFill>
                <a:srgbClr val="333333"/>
              </a:solidFill>
              <a:latin typeface="メイリオ"/>
              <a:ea typeface="メイリオ"/>
            </a:endParaRPr>
          </a:p>
          <a:p>
            <a:pPr>
              <a:spcBef>
                <a:spcPts val="0"/>
              </a:spcBef>
              <a:spcAft>
                <a:spcPts val="100"/>
              </a:spcAft>
            </a:pPr>
            <a:r>
              <a:rPr sz="1400" b="1" dirty="0">
                <a:solidFill>
                  <a:srgbClr val="333333"/>
                </a:solidFill>
                <a:latin typeface="メイリオ"/>
                <a:ea typeface="メイリオ"/>
              </a:rPr>
              <a:t>■ 今後（OS）</a:t>
            </a:r>
          </a:p>
          <a:p>
            <a:pPr>
              <a:spcBef>
                <a:spcPts val="0"/>
              </a:spcBef>
              <a:spcAft>
                <a:spcPts val="100"/>
              </a:spcAft>
            </a:pPr>
            <a:r>
              <a:rPr sz="1300" b="0" dirty="0">
                <a:solidFill>
                  <a:srgbClr val="333333"/>
                </a:solidFill>
                <a:latin typeface="メイリオ"/>
                <a:ea typeface="メイリオ"/>
              </a:rPr>
              <a:t>・Ubuntu 22.04 → 24.04 を実施中</a:t>
            </a:r>
          </a:p>
          <a:p>
            <a:pPr>
              <a:spcBef>
                <a:spcPts val="0"/>
              </a:spcBef>
              <a:spcAft>
                <a:spcPts val="100"/>
              </a:spcAft>
            </a:pPr>
            <a:r>
              <a:rPr sz="1300" b="0" dirty="0">
                <a:solidFill>
                  <a:srgbClr val="C00000"/>
                </a:solidFill>
                <a:latin typeface="メイリオ"/>
                <a:ea typeface="メイリオ"/>
              </a:rPr>
              <a:t>・8月末までにサーバー含め完了見込み</a:t>
            </a:r>
          </a:p>
          <a:p>
            <a:pPr>
              <a:spcBef>
                <a:spcPts val="0"/>
              </a:spcBef>
              <a:spcAft>
                <a:spcPts val="100"/>
              </a:spcAft>
            </a:pPr>
            <a:endParaRPr sz="1300" b="0" dirty="0">
              <a:solidFill>
                <a:srgbClr val="C00000"/>
              </a:solidFill>
              <a:latin typeface="メイリオ"/>
              <a:ea typeface="メイリオ"/>
            </a:endParaRPr>
          </a:p>
          <a:p>
            <a:pPr>
              <a:spcBef>
                <a:spcPts val="0"/>
              </a:spcBef>
              <a:spcAft>
                <a:spcPts val="100"/>
              </a:spcAft>
            </a:pPr>
            <a:r>
              <a:rPr sz="1300" b="0" dirty="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16E8C-3A5A-5673-1F6C-E2675D786C93}"/>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D921DF44-EF51-FC7C-8257-9CEEE25DB1E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a:solidFill>
                  <a:srgbClr val="333333"/>
                </a:solidFill>
                <a:latin typeface="メイリオ"/>
                <a:ea typeface="メイリオ"/>
              </a:rPr>
              <a:t>5.</a:t>
            </a:r>
            <a:r>
              <a:rPr sz="1600">
                <a:solidFill>
                  <a:srgbClr val="333333"/>
                </a:solidFill>
                <a:latin typeface="メイリオ"/>
                <a:ea typeface="メイリオ"/>
              </a:rPr>
              <a:t>新パッケージのバージョンアップ状況について（2/3）</a:t>
            </a:r>
            <a:endParaRPr lang="ja-JP" altLang="en-US" sz="2000" dirty="0">
              <a:latin typeface="メイリオ" pitchFamily="50" charset="-128"/>
              <a:ea typeface="メイリオ" pitchFamily="50" charset="-128"/>
              <a:cs typeface="メイリオ" pitchFamily="50" charset="-128"/>
            </a:endParaRPr>
          </a:p>
        </p:txBody>
      </p:sp>
      <p:sp>
        <p:nvSpPr>
          <p:cNvPr id="7" name="TextBox 2">
            <a:extLst>
              <a:ext uri="{FF2B5EF4-FFF2-40B4-BE49-F238E27FC236}">
                <a16:creationId xmlns:a16="http://schemas.microsoft.com/office/drawing/2014/main" id="{1CF6705B-6939-4690-AEC2-AB6284C25D6E}"/>
              </a:ext>
            </a:extLst>
          </p:cNvPr>
          <p:cNvSpPr txBox="1"/>
          <p:nvPr/>
        </p:nvSpPr>
        <p:spPr>
          <a:xfrm>
            <a:off x="400000" y="795746"/>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これまで（現状） → これから（バージョンアップ後にできること）</a:t>
            </a:r>
          </a:p>
        </p:txBody>
      </p:sp>
      <p:sp>
        <p:nvSpPr>
          <p:cNvPr id="11" name="TextBox 4">
            <a:extLst>
              <a:ext uri="{FF2B5EF4-FFF2-40B4-BE49-F238E27FC236}">
                <a16:creationId xmlns:a16="http://schemas.microsoft.com/office/drawing/2014/main" id="{C5728ED3-7EFE-C12A-178B-4F7F392B7C8F}"/>
              </a:ext>
            </a:extLst>
          </p:cNvPr>
          <p:cNvSpPr txBox="1"/>
          <p:nvPr/>
        </p:nvSpPr>
        <p:spPr>
          <a:xfrm>
            <a:off x="353000" y="5000000"/>
            <a:ext cx="9200000" cy="900000"/>
          </a:xfrm>
          <a:prstGeom prst="rect">
            <a:avLst/>
          </a:prstGeom>
          <a:noFill/>
        </p:spPr>
        <p:txBody>
          <a:bodyPr wrap="square">
            <a:spAutoFit/>
          </a:bodyPr>
          <a:lstStyle/>
          <a:p>
            <a:pPr>
              <a:spcBef>
                <a:spcPts val="0"/>
              </a:spcBef>
              <a:spcAft>
                <a:spcPts val="200"/>
              </a:spcAft>
            </a:pPr>
            <a:r>
              <a:rPr sz="1300" b="1">
                <a:solidFill>
                  <a:srgbClr val="C00000"/>
                </a:solidFill>
                <a:latin typeface="メイリオ"/>
                <a:ea typeface="メイリオ"/>
              </a:rPr>
              <a:t>■ みんなにお願いしたいこと</a:t>
            </a:r>
          </a:p>
          <a:p>
            <a:pPr>
              <a:spcBef>
                <a:spcPts val="0"/>
              </a:spcBef>
              <a:spcAft>
                <a:spcPts val="200"/>
              </a:spcAft>
            </a:pPr>
            <a:r>
              <a:rPr sz="1100" b="0">
                <a:solidFill>
                  <a:srgbClr val="333333"/>
                </a:solidFill>
                <a:latin typeface="メイリオ"/>
                <a:ea typeface="メイリオ"/>
              </a:rPr>
              <a:t>・他社に負けない製品にするため、普段使っているサービスで</a:t>
            </a:r>
          </a:p>
          <a:p>
            <a:pPr>
              <a:spcBef>
                <a:spcPts val="0"/>
              </a:spcBef>
              <a:spcAft>
                <a:spcPts val="200"/>
              </a:spcAft>
            </a:pPr>
            <a:r>
              <a:rPr sz="1100" b="0">
                <a:solidFill>
                  <a:srgbClr val="333333"/>
                </a:solidFill>
                <a:latin typeface="メイリオ"/>
                <a:ea typeface="メイリオ"/>
              </a:rPr>
              <a:t>　「Primoに取り入れたい」と思ったものがあれば、ぜひ教えてほしい</a:t>
            </a:r>
          </a:p>
          <a:p>
            <a:pPr>
              <a:spcBef>
                <a:spcPts val="0"/>
              </a:spcBef>
              <a:spcAft>
                <a:spcPts val="200"/>
              </a:spcAft>
            </a:pPr>
            <a:r>
              <a:rPr sz="1100" b="0">
                <a:solidFill>
                  <a:srgbClr val="333333"/>
                </a:solidFill>
                <a:latin typeface="メイリオ"/>
                <a:ea typeface="メイリオ"/>
              </a:rPr>
              <a:t>・今回のVUで“使える選択肢”は増えた。みんなの知恵を最大限活かして、</a:t>
            </a:r>
          </a:p>
          <a:p>
            <a:pPr>
              <a:spcBef>
                <a:spcPts val="0"/>
              </a:spcBef>
              <a:spcAft>
                <a:spcPts val="200"/>
              </a:spcAft>
            </a:pPr>
            <a:r>
              <a:rPr sz="1100" b="0">
                <a:solidFill>
                  <a:srgbClr val="333333"/>
                </a:solidFill>
                <a:latin typeface="メイリオ"/>
                <a:ea typeface="メイリオ"/>
              </a:rPr>
              <a:t>　より良い製品にしていきたい</a:t>
            </a:r>
          </a:p>
        </p:txBody>
      </p:sp>
      <p:graphicFrame>
        <p:nvGraphicFramePr>
          <p:cNvPr id="12" name="Table 11"/>
          <p:cNvGraphicFramePr>
            <a:graphicFrameLocks noGrp="1"/>
          </p:cNvGraphicFramePr>
          <p:nvPr/>
        </p:nvGraphicFramePr>
        <p:xfrm>
          <a:off x="400000" y="1080000"/>
          <a:ext cx="9100000" cy="3850000"/>
        </p:xfrm>
        <a:graphic>
          <a:graphicData uri="http://schemas.openxmlformats.org/drawingml/2006/table">
            <a:tbl>
              <a:tblPr firstRow="1" bandRow="1">
                <a:tableStyleId>{5C22544A-7EE6-4342-B048-85BDC9FD1C3A}</a:tableStyleId>
              </a:tblPr>
              <a:tblGrid>
                <a:gridCol w="2050000"/>
                <a:gridCol w="3450000"/>
                <a:gridCol w="3600000"/>
              </a:tblGrid>
              <a:tr h="641666">
                <a:tc>
                  <a:txBody>
                    <a:bodyPr wrap="square"/>
                    <a:lstStyle/>
                    <a:p>
                      <a:pPr algn="ctr"/>
                      <a:r>
                        <a:rPr sz="1000" b="1">
                          <a:solidFill>
                            <a:srgbClr val="FFFFFF"/>
                          </a:solidFill>
                          <a:latin typeface="メイリオ"/>
                          <a:ea typeface="メイリオ"/>
                        </a:rPr>
                        <a:t>アップデート／新機能</a:t>
                      </a:r>
                    </a:p>
                  </a:txBody>
                  <a:tcPr anchor="ctr">
                    <a:solidFill>
                      <a:srgbClr val="1F4E79"/>
                    </a:solidFill>
                  </a:tcPr>
                </a:tc>
                <a:tc>
                  <a:txBody>
                    <a:bodyPr wrap="square"/>
                    <a:lstStyle/>
                    <a:p>
                      <a:pPr algn="ctr"/>
                      <a:r>
                        <a:rPr sz="1000" b="1">
                          <a:solidFill>
                            <a:srgbClr val="FFFFFF"/>
                          </a:solidFill>
                          <a:latin typeface="メイリオ"/>
                          <a:ea typeface="メイリオ"/>
                        </a:rPr>
                        <a:t>これまで（現状）</a:t>
                      </a:r>
                    </a:p>
                  </a:txBody>
                  <a:tcPr anchor="ctr">
                    <a:solidFill>
                      <a:srgbClr val="1F4E79"/>
                    </a:solidFill>
                  </a:tcPr>
                </a:tc>
                <a:tc>
                  <a:txBody>
                    <a:bodyPr wrap="square"/>
                    <a:lstStyle/>
                    <a:p>
                      <a:pPr algn="ctr"/>
                      <a:r>
                        <a:rPr sz="1000" b="1">
                          <a:solidFill>
                            <a:srgbClr val="FFFFFF"/>
                          </a:solidFill>
                          <a:latin typeface="メイリオ"/>
                          <a:ea typeface="メイリオ"/>
                        </a:rPr>
                        <a:t>これから（バージョンアップ後）</a:t>
                      </a:r>
                    </a:p>
                  </a:txBody>
                  <a:tcPr anchor="ctr">
                    <a:solidFill>
                      <a:srgbClr val="1F4E79"/>
                    </a:solidFill>
                  </a:tcPr>
                </a:tc>
              </a:tr>
              <a:tr h="641666">
                <a:tc>
                  <a:txBody>
                    <a:bodyPr wrap="square"/>
                    <a:lstStyle/>
                    <a:p>
                      <a:pPr algn="l"/>
                      <a:r>
                        <a:rPr sz="900" b="1">
                          <a:solidFill>
                            <a:srgbClr val="333333"/>
                          </a:solidFill>
                          <a:latin typeface="メイリオ"/>
                          <a:ea typeface="メイリオ"/>
                        </a:rPr>
                        <a:t>Ruby 3.2→3.4</a:t>
                      </a:r>
                    </a:p>
                    <a:p>
                      <a:pPr algn="l"/>
                      <a:r>
                        <a:rPr sz="900" b="1">
                          <a:solidFill>
                            <a:srgbClr val="333333"/>
                          </a:solidFill>
                          <a:latin typeface="メイリオ"/>
                          <a:ea typeface="メイリオ"/>
                        </a:rPr>
                        <a:t>外部接続の改善</a:t>
                      </a:r>
                    </a:p>
                    <a:p>
                      <a:pPr algn="l"/>
                      <a:r>
                        <a:rPr sz="900" b="1">
                          <a:solidFill>
                            <a:srgbClr val="333333"/>
                          </a:solidFill>
                          <a:latin typeface="メイリオ"/>
                          <a:ea typeface="メイリオ"/>
                        </a:rPr>
                        <a:t>(Happy Eyeballs v2)</a:t>
                      </a:r>
                    </a:p>
                  </a:txBody>
                  <a:tcPr anchor="ctr"/>
                </a:tc>
                <a:tc>
                  <a:txBody>
                    <a:bodyPr wrap="square"/>
                    <a:lstStyle/>
                    <a:p>
                      <a:pPr algn="l"/>
                      <a:r>
                        <a:rPr sz="900" b="0">
                          <a:solidFill>
                            <a:srgbClr val="333333"/>
                          </a:solidFill>
                          <a:latin typeface="メイリオ"/>
                          <a:ea typeface="メイリオ"/>
                        </a:rPr>
                        <a:t>IPv6→IPv4の順に1つずつ接続を試す。</a:t>
                      </a:r>
                    </a:p>
                    <a:p>
                      <a:pPr algn="l"/>
                      <a:r>
                        <a:rPr sz="900" b="0">
                          <a:solidFill>
                            <a:srgbClr val="333333"/>
                          </a:solidFill>
                          <a:latin typeface="メイリオ"/>
                          <a:ea typeface="メイリオ"/>
                        </a:rPr>
                        <a:t>片方が遅い／不通だと待たされ、</a:t>
                      </a:r>
                    </a:p>
                    <a:p>
                      <a:pPr algn="l"/>
                      <a:r>
                        <a:rPr sz="900" b="0">
                          <a:solidFill>
                            <a:srgbClr val="333333"/>
                          </a:solidFill>
                          <a:latin typeface="メイリオ"/>
                          <a:ea typeface="メイリオ"/>
                        </a:rPr>
                        <a:t>接続に時間がかかる・失敗することも</a:t>
                      </a:r>
                    </a:p>
                  </a:txBody>
                  <a:tcPr anchor="ctr"/>
                </a:tc>
                <a:tc>
                  <a:txBody>
                    <a:bodyPr wrap="square"/>
                    <a:lstStyle/>
                    <a:p>
                      <a:pPr algn="l"/>
                      <a:r>
                        <a:rPr sz="900" b="0">
                          <a:solidFill>
                            <a:srgbClr val="333333"/>
                          </a:solidFill>
                          <a:latin typeface="メイリオ"/>
                          <a:ea typeface="メイリオ"/>
                        </a:rPr>
                        <a:t>IPv4/IPv6を同時に試し、先に繋がった</a:t>
                      </a:r>
                    </a:p>
                    <a:p>
                      <a:pPr algn="l"/>
                      <a:r>
                        <a:rPr sz="900" b="0">
                          <a:solidFill>
                            <a:srgbClr val="333333"/>
                          </a:solidFill>
                          <a:latin typeface="メイリオ"/>
                          <a:ea typeface="メイリオ"/>
                        </a:rPr>
                        <a:t>方を採用。外部API（決済・配送・基幹）</a:t>
                      </a:r>
                    </a:p>
                    <a:p>
                      <a:pPr algn="l"/>
                      <a:r>
                        <a:rPr sz="900" b="0">
                          <a:solidFill>
                            <a:srgbClr val="333333"/>
                          </a:solidFill>
                          <a:latin typeface="メイリオ"/>
                          <a:ea typeface="メイリオ"/>
                        </a:rPr>
                        <a:t>の接続が安定しやすい</a:t>
                      </a:r>
                    </a:p>
                  </a:txBody>
                  <a:tcPr anchor="ctr"/>
                </a:tc>
              </a:tr>
              <a:tr h="641666">
                <a:tc>
                  <a:txBody>
                    <a:bodyPr wrap="square"/>
                    <a:lstStyle/>
                    <a:p>
                      <a:pPr algn="l"/>
                      <a:r>
                        <a:rPr sz="900" b="1">
                          <a:solidFill>
                            <a:srgbClr val="333333"/>
                          </a:solidFill>
                          <a:latin typeface="メイリオ"/>
                          <a:ea typeface="メイリオ"/>
                        </a:rPr>
                        <a:t>Rails 7.2→8.1</a:t>
                      </a:r>
                    </a:p>
                    <a:p>
                      <a:pPr algn="l"/>
                      <a:r>
                        <a:rPr sz="900" b="1">
                          <a:solidFill>
                            <a:srgbClr val="333333"/>
                          </a:solidFill>
                          <a:latin typeface="メイリオ"/>
                          <a:ea typeface="メイリオ"/>
                        </a:rPr>
                        <a:t>同じジョブの途中再開</a:t>
                      </a:r>
                    </a:p>
                    <a:p>
                      <a:pPr algn="l"/>
                      <a:r>
                        <a:rPr sz="900" b="1">
                          <a:solidFill>
                            <a:srgbClr val="333333"/>
                          </a:solidFill>
                          <a:latin typeface="メイリオ"/>
                          <a:ea typeface="メイリオ"/>
                        </a:rPr>
                        <a:t>(Active Job Continuations)</a:t>
                      </a:r>
                    </a:p>
                  </a:txBody>
                  <a:tcPr anchor="ctr">
                    <a:solidFill>
                      <a:srgbClr val="D6E3F0"/>
                    </a:solidFill>
                  </a:tcPr>
                </a:tc>
                <a:tc>
                  <a:txBody>
                    <a:bodyPr wrap="square"/>
                    <a:lstStyle/>
                    <a:p>
                      <a:pPr algn="l"/>
                      <a:r>
                        <a:rPr sz="900" b="0">
                          <a:solidFill>
                            <a:srgbClr val="333333"/>
                          </a:solidFill>
                          <a:latin typeface="メイリオ"/>
                          <a:ea typeface="メイリオ"/>
                        </a:rPr>
                        <a:t>長時間ジョブが中断すると、続き再開は</a:t>
                      </a:r>
                    </a:p>
                    <a:p>
                      <a:pPr algn="l"/>
                      <a:r>
                        <a:rPr sz="900" b="0">
                          <a:solidFill>
                            <a:srgbClr val="333333"/>
                          </a:solidFill>
                          <a:latin typeface="メイリオ"/>
                          <a:ea typeface="メイリオ"/>
                        </a:rPr>
                        <a:t>自前実装が必要。無ければ最初からやり直し</a:t>
                      </a:r>
                    </a:p>
                  </a:txBody>
                  <a:tcPr anchor="ctr">
                    <a:solidFill>
                      <a:srgbClr val="D6E3F0"/>
                    </a:solidFill>
                  </a:tcPr>
                </a:tc>
                <a:tc>
                  <a:txBody>
                    <a:bodyPr wrap="square"/>
                    <a:lstStyle/>
                    <a:p>
                      <a:pPr algn="l"/>
                      <a:r>
                        <a:rPr sz="900" b="0">
                          <a:solidFill>
                            <a:srgbClr val="333333"/>
                          </a:solidFill>
                          <a:latin typeface="メイリオ"/>
                          <a:ea typeface="メイリオ"/>
                        </a:rPr>
                        <a:t>標準機能で、同じジョブを進捗（何件目）</a:t>
                      </a:r>
                    </a:p>
                    <a:p>
                      <a:pPr algn="l"/>
                      <a:r>
                        <a:rPr sz="900" b="0">
                          <a:solidFill>
                            <a:srgbClr val="333333"/>
                          </a:solidFill>
                          <a:latin typeface="メイリオ"/>
                          <a:ea typeface="メイリオ"/>
                        </a:rPr>
                        <a:t>から再開できる。CSV取込／出力など</a:t>
                      </a:r>
                    </a:p>
                    <a:p>
                      <a:pPr algn="l"/>
                      <a:r>
                        <a:rPr sz="900" b="0">
                          <a:solidFill>
                            <a:srgbClr val="333333"/>
                          </a:solidFill>
                          <a:latin typeface="メイリオ"/>
                          <a:ea typeface="メイリオ"/>
                        </a:rPr>
                        <a:t>夜間バッチの安定運用に有効</a:t>
                      </a:r>
                    </a:p>
                  </a:txBody>
                  <a:tcPr anchor="ctr">
                    <a:solidFill>
                      <a:srgbClr val="D6E3F0"/>
                    </a:solidFill>
                  </a:tcPr>
                </a:tc>
              </a:tr>
              <a:tr h="641666">
                <a:tc>
                  <a:txBody>
                    <a:bodyPr wrap="square"/>
                    <a:lstStyle/>
                    <a:p>
                      <a:pPr algn="l"/>
                      <a:r>
                        <a:rPr sz="900" b="1">
                          <a:solidFill>
                            <a:srgbClr val="333333"/>
                          </a:solidFill>
                          <a:latin typeface="メイリオ"/>
                          <a:ea typeface="メイリオ"/>
                        </a:rPr>
                        <a:t>Rails 7.2→8.1</a:t>
                      </a:r>
                    </a:p>
                    <a:p>
                      <a:pPr algn="l"/>
                      <a:r>
                        <a:rPr sz="900" b="1">
                          <a:solidFill>
                            <a:srgbClr val="333333"/>
                          </a:solidFill>
                          <a:latin typeface="メイリオ"/>
                          <a:ea typeface="メイリオ"/>
                        </a:rPr>
                        <a:t>構造化イベント通知</a:t>
                      </a:r>
                    </a:p>
                    <a:p>
                      <a:pPr algn="l"/>
                      <a:r>
                        <a:rPr sz="900" b="1">
                          <a:solidFill>
                            <a:srgbClr val="333333"/>
                          </a:solidFill>
                          <a:latin typeface="メイリオ"/>
                          <a:ea typeface="メイリオ"/>
                        </a:rPr>
                        <a:t>(Rails.event)</a:t>
                      </a:r>
                    </a:p>
                  </a:txBody>
                  <a:tcPr anchor="ctr"/>
                </a:tc>
                <a:tc>
                  <a:txBody>
                    <a:bodyPr wrap="square"/>
                    <a:lstStyle/>
                    <a:p>
                      <a:pPr algn="l"/>
                      <a:r>
                        <a:rPr sz="900" b="0">
                          <a:solidFill>
                            <a:srgbClr val="333333"/>
                          </a:solidFill>
                          <a:latin typeface="メイリオ"/>
                          <a:ea typeface="メイリオ"/>
                        </a:rPr>
                        <a:t>自由文ログ中心で書式がバラバラ。</a:t>
                      </a:r>
                    </a:p>
                    <a:p>
                      <a:pPr algn="l"/>
                      <a:r>
                        <a:rPr sz="900" b="0">
                          <a:solidFill>
                            <a:srgbClr val="333333"/>
                          </a:solidFill>
                          <a:latin typeface="メイリオ"/>
                          <a:ea typeface="メイリオ"/>
                        </a:rPr>
                        <a:t>後から検索・集計がしにくい</a:t>
                      </a:r>
                    </a:p>
                  </a:txBody>
                  <a:tcPr anchor="ctr"/>
                </a:tc>
                <a:tc>
                  <a:txBody>
                    <a:bodyPr wrap="square"/>
                    <a:lstStyle/>
                    <a:p>
                      <a:pPr algn="l"/>
                      <a:r>
                        <a:rPr sz="900" b="0">
                          <a:solidFill>
                            <a:srgbClr val="333333"/>
                          </a:solidFill>
                          <a:latin typeface="メイリオ"/>
                          <a:ea typeface="メイリオ"/>
                        </a:rPr>
                        <a:t>型を決めた業務イベント（受注確定・価格</a:t>
                      </a:r>
                    </a:p>
                    <a:p>
                      <a:pPr algn="l"/>
                      <a:r>
                        <a:rPr sz="900" b="0">
                          <a:solidFill>
                            <a:srgbClr val="333333"/>
                          </a:solidFill>
                          <a:latin typeface="メイリオ"/>
                          <a:ea typeface="メイリオ"/>
                        </a:rPr>
                        <a:t>変更・取込完了）を同形式で出力。横断</a:t>
                      </a:r>
                    </a:p>
                    <a:p>
                      <a:pPr algn="l"/>
                      <a:r>
                        <a:rPr sz="900" b="0">
                          <a:solidFill>
                            <a:srgbClr val="333333"/>
                          </a:solidFill>
                          <a:latin typeface="メイリオ"/>
                          <a:ea typeface="メイリオ"/>
                        </a:rPr>
                        <a:t>検索・監視連携が可能 ※詳細は次ページ</a:t>
                      </a:r>
                    </a:p>
                  </a:txBody>
                  <a:tcPr anchor="ctr"/>
                </a:tc>
              </a:tr>
              <a:tr h="641666">
                <a:tc>
                  <a:txBody>
                    <a:bodyPr wrap="square"/>
                    <a:lstStyle/>
                    <a:p>
                      <a:pPr algn="l"/>
                      <a:r>
                        <a:rPr sz="900" b="1">
                          <a:solidFill>
                            <a:srgbClr val="333333"/>
                          </a:solidFill>
                          <a:latin typeface="メイリオ"/>
                          <a:ea typeface="メイリオ"/>
                        </a:rPr>
                        <a:t>Rails 7.2→8.1</a:t>
                      </a:r>
                    </a:p>
                    <a:p>
                      <a:pPr algn="l"/>
                      <a:r>
                        <a:rPr sz="900" b="1">
                          <a:solidFill>
                            <a:srgbClr val="333333"/>
                          </a:solidFill>
                          <a:latin typeface="メイリオ"/>
                          <a:ea typeface="メイリオ"/>
                        </a:rPr>
                        <a:t>Markdown標準描画</a:t>
                      </a:r>
                    </a:p>
                  </a:txBody>
                  <a:tcPr anchor="ctr">
                    <a:solidFill>
                      <a:srgbClr val="D6E3F0"/>
                    </a:solidFill>
                  </a:tcPr>
                </a:tc>
                <a:tc>
                  <a:txBody>
                    <a:bodyPr wrap="square"/>
                    <a:lstStyle/>
                    <a:p>
                      <a:pPr algn="l"/>
                      <a:r>
                        <a:rPr sz="900" b="0">
                          <a:solidFill>
                            <a:srgbClr val="333333"/>
                          </a:solidFill>
                          <a:latin typeface="メイリオ"/>
                          <a:ea typeface="メイリオ"/>
                        </a:rPr>
                        <a:t>Markdown表示に変換処理や</a:t>
                      </a:r>
                    </a:p>
                    <a:p>
                      <a:pPr algn="l"/>
                      <a:r>
                        <a:rPr sz="900" b="0">
                          <a:solidFill>
                            <a:srgbClr val="333333"/>
                          </a:solidFill>
                          <a:latin typeface="メイリオ"/>
                          <a:ea typeface="メイリオ"/>
                        </a:rPr>
                        <a:t>追加ライブラリが必要だった</a:t>
                      </a:r>
                    </a:p>
                  </a:txBody>
                  <a:tcPr anchor="ctr">
                    <a:solidFill>
                      <a:srgbClr val="D6E3F0"/>
                    </a:solidFill>
                  </a:tcPr>
                </a:tc>
                <a:tc>
                  <a:txBody>
                    <a:bodyPr wrap="square"/>
                    <a:lstStyle/>
                    <a:p>
                      <a:pPr algn="l"/>
                      <a:r>
                        <a:rPr sz="900" b="0">
                          <a:solidFill>
                            <a:srgbClr val="333333"/>
                          </a:solidFill>
                          <a:latin typeface="メイリオ"/>
                          <a:ea typeface="メイリオ"/>
                        </a:rPr>
                        <a:t>Markdownをそのまま画面／API応答に</a:t>
                      </a:r>
                    </a:p>
                    <a:p>
                      <a:pPr algn="l"/>
                      <a:r>
                        <a:rPr sz="900" b="0">
                          <a:solidFill>
                            <a:srgbClr val="333333"/>
                          </a:solidFill>
                          <a:latin typeface="メイリオ"/>
                          <a:ea typeface="メイリオ"/>
                        </a:rPr>
                        <a:t>使える。文書・AI出力の表示基盤になる</a:t>
                      </a:r>
                    </a:p>
                  </a:txBody>
                  <a:tcPr anchor="ctr">
                    <a:solidFill>
                      <a:srgbClr val="D6E3F0"/>
                    </a:solidFill>
                  </a:tcPr>
                </a:tc>
              </a:tr>
              <a:tr h="641670">
                <a:tc>
                  <a:txBody>
                    <a:bodyPr wrap="square"/>
                    <a:lstStyle/>
                    <a:p>
                      <a:pPr algn="l"/>
                      <a:r>
                        <a:rPr sz="900" b="1">
                          <a:solidFill>
                            <a:srgbClr val="333333"/>
                          </a:solidFill>
                          <a:latin typeface="メイリオ"/>
                          <a:ea typeface="メイリオ"/>
                        </a:rPr>
                        <a:t>MariaDB 10.6→10.11</a:t>
                      </a:r>
                    </a:p>
                    <a:p>
                      <a:pPr algn="l"/>
                      <a:r>
                        <a:rPr sz="900" b="1">
                          <a:solidFill>
                            <a:srgbClr val="333333"/>
                          </a:solidFill>
                          <a:latin typeface="メイリオ"/>
                          <a:ea typeface="メイリオ"/>
                        </a:rPr>
                        <a:t>UUID型／設定の動的変更</a:t>
                      </a:r>
                    </a:p>
                  </a:txBody>
                  <a:tcPr anchor="ctr"/>
                </a:tc>
                <a:tc>
                  <a:txBody>
                    <a:bodyPr wrap="square"/>
                    <a:lstStyle/>
                    <a:p>
                      <a:pPr algn="l"/>
                      <a:r>
                        <a:rPr sz="900" b="0">
                          <a:solidFill>
                            <a:srgbClr val="333333"/>
                          </a:solidFill>
                          <a:latin typeface="メイリオ"/>
                          <a:ea typeface="メイリオ"/>
                        </a:rPr>
                        <a:t>UUIDは文字列で代用。一部のDB設定</a:t>
                      </a:r>
                    </a:p>
                    <a:p>
                      <a:pPr algn="l"/>
                      <a:r>
                        <a:rPr sz="900" b="0">
                          <a:solidFill>
                            <a:srgbClr val="333333"/>
                          </a:solidFill>
                          <a:latin typeface="メイリオ"/>
                          <a:ea typeface="メイリオ"/>
                        </a:rPr>
                        <a:t>変更には再起動が必要</a:t>
                      </a:r>
                    </a:p>
                  </a:txBody>
                  <a:tcPr anchor="ctr"/>
                </a:tc>
                <a:tc>
                  <a:txBody>
                    <a:bodyPr wrap="square"/>
                    <a:lstStyle/>
                    <a:p>
                      <a:pPr algn="l"/>
                      <a:r>
                        <a:rPr sz="900" b="0">
                          <a:solidFill>
                            <a:srgbClr val="333333"/>
                          </a:solidFill>
                          <a:latin typeface="メイリオ"/>
                          <a:ea typeface="メイリオ"/>
                        </a:rPr>
                        <a:t>UUIDをDB型で保持。一部設定を</a:t>
                      </a:r>
                    </a:p>
                    <a:p>
                      <a:pPr algn="l"/>
                      <a:r>
                        <a:rPr sz="900" b="0">
                          <a:solidFill>
                            <a:srgbClr val="333333"/>
                          </a:solidFill>
                          <a:latin typeface="メイリオ"/>
                          <a:ea typeface="メイリオ"/>
                        </a:rPr>
                        <a:t>再起動なしで変更でき、負荷時の</a:t>
                      </a:r>
                    </a:p>
                    <a:p>
                      <a:pPr algn="l"/>
                      <a:r>
                        <a:rPr sz="900" b="0">
                          <a:solidFill>
                            <a:srgbClr val="333333"/>
                          </a:solidFill>
                          <a:latin typeface="メイリオ"/>
                          <a:ea typeface="メイリオ"/>
                        </a:rPr>
                        <a:t>チューニングがしやすい</a:t>
                      </a:r>
                    </a:p>
                  </a:txBody>
                  <a:tcPr anchor="ctr"/>
                </a:tc>
              </a:tr>
            </a:tbl>
          </a:graphicData>
        </a:graphic>
      </p:graphicFrame>
    </p:spTree>
    <p:extLst>
      <p:ext uri="{BB962C8B-B14F-4D97-AF65-F5344CB8AC3E}">
        <p14:creationId xmlns:p14="http://schemas.microsoft.com/office/powerpoint/2010/main" val="161047936"/>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D921DF44-EF51-FC7C-8257-9CEEE25DB1E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a:solidFill>
                  <a:srgbClr val="333333"/>
                </a:solidFill>
                <a:latin typeface="メイリオ"/>
                <a:ea typeface="メイリオ"/>
              </a:rPr>
              <a:t>5. </a:t>
            </a:r>
            <a:r>
              <a:rPr sz="1400">
                <a:solidFill>
                  <a:srgbClr val="333333"/>
                </a:solidFill>
                <a:latin typeface="メイリオ"/>
                <a:ea typeface="メイリオ"/>
              </a:rPr>
              <a:t>構造化イベント通知（Rails.event）— 設定と見え方（3/3）</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250000" y="760000"/>
            <a:ext cx="2950000" cy="300000"/>
          </a:xfrm>
          <a:prstGeom prst="rect">
            <a:avLst/>
          </a:prstGeom>
          <a:noFill/>
        </p:spPr>
        <p:txBody>
          <a:bodyPr wrap="square">
            <a:spAutoFit/>
          </a:bodyPr>
          <a:lstStyle/>
          <a:p>
            <a:pPr algn="l"/>
            <a:r>
              <a:rPr sz="1200" b="1">
                <a:solidFill>
                  <a:srgbClr val="1F4E79"/>
                </a:solidFill>
                <a:latin typeface="メイリオ"/>
                <a:ea typeface="メイリオ"/>
              </a:rPr>
              <a:t>① こう設定する（コード）</a:t>
            </a:r>
          </a:p>
        </p:txBody>
      </p:sp>
      <p:sp>
        <p:nvSpPr>
          <p:cNvPr id="4" name="TextBox 3"/>
          <p:cNvSpPr txBox="1"/>
          <p:nvPr/>
        </p:nvSpPr>
        <p:spPr>
          <a:xfrm>
            <a:off x="3380000" y="760000"/>
            <a:ext cx="2950000" cy="300000"/>
          </a:xfrm>
          <a:prstGeom prst="rect">
            <a:avLst/>
          </a:prstGeom>
          <a:noFill/>
        </p:spPr>
        <p:txBody>
          <a:bodyPr wrap="square">
            <a:spAutoFit/>
          </a:bodyPr>
          <a:lstStyle/>
          <a:p>
            <a:pPr algn="l"/>
            <a:r>
              <a:rPr sz="1200" b="1">
                <a:solidFill>
                  <a:srgbClr val="1F4E79"/>
                </a:solidFill>
                <a:latin typeface="メイリオ"/>
                <a:ea typeface="メイリオ"/>
              </a:rPr>
              <a:t>② こんなログが出る（JSON）</a:t>
            </a:r>
          </a:p>
        </p:txBody>
      </p:sp>
      <p:sp>
        <p:nvSpPr>
          <p:cNvPr id="5" name="TextBox 4"/>
          <p:cNvSpPr txBox="1"/>
          <p:nvPr/>
        </p:nvSpPr>
        <p:spPr>
          <a:xfrm>
            <a:off x="6510000" y="760000"/>
            <a:ext cx="2950000" cy="300000"/>
          </a:xfrm>
          <a:prstGeom prst="rect">
            <a:avLst/>
          </a:prstGeom>
          <a:noFill/>
        </p:spPr>
        <p:txBody>
          <a:bodyPr wrap="square">
            <a:spAutoFit/>
          </a:bodyPr>
          <a:lstStyle/>
          <a:p>
            <a:pPr algn="l"/>
            <a:r>
              <a:rPr sz="1200" b="1">
                <a:solidFill>
                  <a:srgbClr val="1F4E79"/>
                </a:solidFill>
                <a:latin typeface="メイリオ"/>
                <a:ea typeface="メイリオ"/>
              </a:rPr>
              <a:t>③ こう探せる・使える</a:t>
            </a:r>
          </a:p>
        </p:txBody>
      </p:sp>
      <p:sp>
        <p:nvSpPr>
          <p:cNvPr id="6" name="Rounded Rectangle 5"/>
          <p:cNvSpPr/>
          <p:nvPr/>
        </p:nvSpPr>
        <p:spPr>
          <a:xfrm>
            <a:off x="250000" y="1090000"/>
            <a:ext cx="2950000" cy="3550000"/>
          </a:xfrm>
          <a:prstGeom prst="roundRect">
            <a:avLst>
              <a:gd name="adj" fmla="val 4000"/>
            </a:avLst>
          </a:prstGeom>
          <a:solidFill>
            <a:srgbClr val="1E1E1E"/>
          </a:solidFill>
          <a:ln w="6350">
            <a:solidFill>
              <a:srgbClr val="1E1E1E"/>
            </a:solidFill>
          </a:ln>
        </p:spPr>
        <p:style>
          <a:lnRef idx="1">
            <a:schemeClr val="accent1"/>
          </a:lnRef>
          <a:fillRef idx="3">
            <a:schemeClr val="accent1"/>
          </a:fillRef>
          <a:effectRef idx="2">
            <a:schemeClr val="accent1"/>
          </a:effectRef>
          <a:fontRef idx="minor">
            <a:schemeClr val="lt1"/>
          </a:fontRef>
        </p:style>
        <p:txBody>
          <a:bodyPr rtlCol="0" anchor="ctr" wrap="square" lIns="120000" rIns="80000" tIns="80000" bIns="80000"/>
          <a:lstStyle/>
          <a:p>
            <a:pPr algn="l">
              <a:spcBef>
                <a:spcPts val="0"/>
              </a:spcBef>
              <a:spcAft>
                <a:spcPts val="0"/>
              </a:spcAft>
            </a:pPr>
            <a:r>
              <a:rPr sz="1100" b="0">
                <a:solidFill>
                  <a:srgbClr val="EAEAEA"/>
                </a:solidFill>
                <a:latin typeface="Consolas"/>
                <a:ea typeface="Consolas"/>
              </a:rPr>
              <a:t>Rails.event.notify(</a:t>
            </a:r>
          </a:p>
          <a:p>
            <a:pPr algn="l">
              <a:spcBef>
                <a:spcPts val="0"/>
              </a:spcBef>
              <a:spcAft>
                <a:spcPts val="0"/>
              </a:spcAft>
            </a:pPr>
            <a:r>
              <a:rPr sz="1100" b="0">
                <a:solidFill>
                  <a:srgbClr val="CE9178"/>
                </a:solidFill>
                <a:latin typeface="Consolas"/>
                <a:ea typeface="Consolas"/>
              </a:rPr>
              <a:t>  "order.confirmed",</a:t>
            </a:r>
          </a:p>
          <a:p>
            <a:pPr algn="l">
              <a:spcBef>
                <a:spcPts val="0"/>
              </a:spcBef>
              <a:spcAft>
                <a:spcPts val="0"/>
              </a:spcAft>
            </a:pPr>
            <a:r>
              <a:rPr sz="1100" b="0">
                <a:solidFill>
                  <a:srgbClr val="9CDCFE"/>
                </a:solidFill>
                <a:latin typeface="Consolas"/>
                <a:ea typeface="Consolas"/>
              </a:rPr>
              <a:t>  order_id: </a:t>
            </a:r>
            <a:r>
              <a:rPr sz="1100" b="0">
                <a:solidFill>
                  <a:srgbClr val="EAEAEA"/>
                </a:solidFill>
                <a:latin typeface="Consolas"/>
                <a:ea typeface="Consolas"/>
              </a:rPr>
              <a:t>1234,</a:t>
            </a:r>
          </a:p>
          <a:p>
            <a:pPr algn="l">
              <a:spcBef>
                <a:spcPts val="0"/>
              </a:spcBef>
              <a:spcAft>
                <a:spcPts val="0"/>
              </a:spcAft>
            </a:pPr>
            <a:r>
              <a:rPr sz="1100" b="0">
                <a:solidFill>
                  <a:srgbClr val="9CDCFE"/>
                </a:solidFill>
                <a:latin typeface="Consolas"/>
                <a:ea typeface="Consolas"/>
              </a:rPr>
              <a:t>  user_id:  </a:t>
            </a:r>
            <a:r>
              <a:rPr sz="1100" b="0">
                <a:solidFill>
                  <a:srgbClr val="EAEAEA"/>
                </a:solidFill>
                <a:latin typeface="Consolas"/>
                <a:ea typeface="Consolas"/>
              </a:rPr>
              <a:t>56,</a:t>
            </a:r>
          </a:p>
          <a:p>
            <a:pPr algn="l">
              <a:spcBef>
                <a:spcPts val="0"/>
              </a:spcBef>
              <a:spcAft>
                <a:spcPts val="0"/>
              </a:spcAft>
            </a:pPr>
            <a:r>
              <a:rPr sz="1100" b="0">
                <a:solidFill>
                  <a:srgbClr val="9CDCFE"/>
                </a:solidFill>
                <a:latin typeface="Consolas"/>
                <a:ea typeface="Consolas"/>
              </a:rPr>
              <a:t>  amount:   </a:t>
            </a:r>
            <a:r>
              <a:rPr sz="1100" b="0">
                <a:solidFill>
                  <a:srgbClr val="EAEAEA"/>
                </a:solidFill>
                <a:latin typeface="Consolas"/>
                <a:ea typeface="Consolas"/>
              </a:rPr>
              <a:t>88000</a:t>
            </a:r>
          </a:p>
          <a:p>
            <a:pPr algn="l">
              <a:spcBef>
                <a:spcPts val="0"/>
              </a:spcBef>
              <a:spcAft>
                <a:spcPts val="0"/>
              </a:spcAft>
            </a:pPr>
            <a:r>
              <a:rPr sz="1100" b="0">
                <a:solidFill>
                  <a:srgbClr val="EAEAEA"/>
                </a:solidFill>
                <a:latin typeface="Consolas"/>
                <a:ea typeface="Consolas"/>
              </a:rPr>
              <a:t>)</a:t>
            </a:r>
          </a:p>
          <a:p>
            <a:pPr algn="l">
              <a:spcBef>
                <a:spcPts val="0"/>
              </a:spcBef>
              <a:spcAft>
                <a:spcPts val="0"/>
              </a:spcAft>
            </a:pPr>
            <a:r>
              <a:rPr sz="1100" b="0">
                <a:solidFill>
                  <a:srgbClr val="EAEAEA"/>
                </a:solidFill>
                <a:latin typeface="Consolas"/>
                <a:ea typeface="Consolas"/>
              </a:rPr>
              <a:t/>
            </a:r>
          </a:p>
          <a:p>
            <a:pPr algn="l">
              <a:spcBef>
                <a:spcPts val="0"/>
              </a:spcBef>
              <a:spcAft>
                <a:spcPts val="0"/>
              </a:spcAft>
            </a:pPr>
            <a:r>
              <a:rPr sz="1100" b="0">
                <a:solidFill>
                  <a:srgbClr val="6A9955"/>
                </a:solidFill>
                <a:latin typeface="Consolas"/>
                <a:ea typeface="Consolas"/>
              </a:rPr>
              <a:t># 出したい項目を</a:t>
            </a:r>
          </a:p>
          <a:p>
            <a:pPr algn="l">
              <a:spcBef>
                <a:spcPts val="0"/>
              </a:spcBef>
              <a:spcAft>
                <a:spcPts val="0"/>
              </a:spcAft>
            </a:pPr>
            <a:r>
              <a:rPr sz="1100" b="0">
                <a:solidFill>
                  <a:srgbClr val="6A9955"/>
                </a:solidFill>
                <a:latin typeface="Consolas"/>
                <a:ea typeface="Consolas"/>
              </a:rPr>
              <a:t># 決めて渡すだけ</a:t>
            </a:r>
          </a:p>
        </p:txBody>
      </p:sp>
      <p:sp>
        <p:nvSpPr>
          <p:cNvPr id="7" name="Rounded Rectangle 6"/>
          <p:cNvSpPr/>
          <p:nvPr/>
        </p:nvSpPr>
        <p:spPr>
          <a:xfrm>
            <a:off x="3380000" y="1090000"/>
            <a:ext cx="2950000" cy="3550000"/>
          </a:xfrm>
          <a:prstGeom prst="roundRect">
            <a:avLst>
              <a:gd name="adj" fmla="val 4000"/>
            </a:avLst>
          </a:prstGeom>
          <a:solidFill>
            <a:srgbClr val="1E1E1E"/>
          </a:solidFill>
          <a:ln w="6350">
            <a:solidFill>
              <a:srgbClr val="1E1E1E"/>
            </a:solidFill>
          </a:ln>
        </p:spPr>
        <p:style>
          <a:lnRef idx="1">
            <a:schemeClr val="accent1"/>
          </a:lnRef>
          <a:fillRef idx="3">
            <a:schemeClr val="accent1"/>
          </a:fillRef>
          <a:effectRef idx="2">
            <a:schemeClr val="accent1"/>
          </a:effectRef>
          <a:fontRef idx="minor">
            <a:schemeClr val="lt1"/>
          </a:fontRef>
        </p:style>
        <p:txBody>
          <a:bodyPr rtlCol="0" anchor="ctr" wrap="square" lIns="120000" rIns="80000" tIns="80000" bIns="80000"/>
          <a:lstStyle/>
          <a:p>
            <a:pPr algn="l">
              <a:spcBef>
                <a:spcPts val="0"/>
              </a:spcBef>
              <a:spcAft>
                <a:spcPts val="0"/>
              </a:spcAft>
            </a:pPr>
            <a:r>
              <a:rPr sz="950" b="0">
                <a:solidFill>
                  <a:srgbClr val="EAEAEA"/>
                </a:solidFill>
                <a:latin typeface="Consolas"/>
                <a:ea typeface="Consolas"/>
              </a:rPr>
              <a:t>{</a:t>
            </a:r>
          </a:p>
          <a:p>
            <a:pPr algn="l">
              <a:spcBef>
                <a:spcPts val="0"/>
              </a:spcBef>
              <a:spcAft>
                <a:spcPts val="0"/>
              </a:spcAft>
            </a:pPr>
            <a:r>
              <a:rPr sz="950" b="0">
                <a:solidFill>
                  <a:srgbClr val="9CDCFE"/>
                </a:solidFill>
                <a:latin typeface="Consolas"/>
                <a:ea typeface="Consolas"/>
              </a:rPr>
              <a:t>  "name":</a:t>
            </a:r>
            <a:r>
              <a:rPr sz="950" b="0">
                <a:solidFill>
                  <a:srgbClr val="CE9178"/>
                </a:solidFill>
                <a:latin typeface="Consolas"/>
                <a:ea typeface="Consolas"/>
              </a:rPr>
              <a:t> "order.confirmed",</a:t>
            </a:r>
          </a:p>
          <a:p>
            <a:pPr algn="l">
              <a:spcBef>
                <a:spcPts val="0"/>
              </a:spcBef>
              <a:spcAft>
                <a:spcPts val="0"/>
              </a:spcAft>
            </a:pPr>
            <a:r>
              <a:rPr sz="950" b="0">
                <a:solidFill>
                  <a:srgbClr val="9CDCFE"/>
                </a:solidFill>
                <a:latin typeface="Consolas"/>
                <a:ea typeface="Consolas"/>
              </a:rPr>
              <a:t>  "payload": {</a:t>
            </a:r>
          </a:p>
          <a:p>
            <a:pPr algn="l">
              <a:spcBef>
                <a:spcPts val="0"/>
              </a:spcBef>
              <a:spcAft>
                <a:spcPts val="0"/>
              </a:spcAft>
            </a:pPr>
            <a:r>
              <a:rPr sz="950" b="0">
                <a:solidFill>
                  <a:srgbClr val="9CDCFE"/>
                </a:solidFill>
                <a:latin typeface="Consolas"/>
                <a:ea typeface="Consolas"/>
              </a:rPr>
              <a:t>    "order_id": </a:t>
            </a:r>
            <a:r>
              <a:rPr sz="950" b="0">
                <a:solidFill>
                  <a:srgbClr val="EAEAEA"/>
                </a:solidFill>
                <a:latin typeface="Consolas"/>
                <a:ea typeface="Consolas"/>
              </a:rPr>
              <a:t>1234,</a:t>
            </a:r>
          </a:p>
          <a:p>
            <a:pPr algn="l">
              <a:spcBef>
                <a:spcPts val="0"/>
              </a:spcBef>
              <a:spcAft>
                <a:spcPts val="0"/>
              </a:spcAft>
            </a:pPr>
            <a:r>
              <a:rPr sz="950" b="0">
                <a:solidFill>
                  <a:srgbClr val="9CDCFE"/>
                </a:solidFill>
                <a:latin typeface="Consolas"/>
                <a:ea typeface="Consolas"/>
              </a:rPr>
              <a:t>    "user_id": </a:t>
            </a:r>
            <a:r>
              <a:rPr sz="950" b="0">
                <a:solidFill>
                  <a:srgbClr val="EAEAEA"/>
                </a:solidFill>
                <a:latin typeface="Consolas"/>
                <a:ea typeface="Consolas"/>
              </a:rPr>
              <a:t>56,</a:t>
            </a:r>
          </a:p>
          <a:p>
            <a:pPr algn="l">
              <a:spcBef>
                <a:spcPts val="0"/>
              </a:spcBef>
              <a:spcAft>
                <a:spcPts val="0"/>
              </a:spcAft>
            </a:pPr>
            <a:r>
              <a:rPr sz="950" b="0">
                <a:solidFill>
                  <a:srgbClr val="9CDCFE"/>
                </a:solidFill>
                <a:latin typeface="Consolas"/>
                <a:ea typeface="Consolas"/>
              </a:rPr>
              <a:t>    "amount": </a:t>
            </a:r>
            <a:r>
              <a:rPr sz="950" b="0">
                <a:solidFill>
                  <a:srgbClr val="EAEAEA"/>
                </a:solidFill>
                <a:latin typeface="Consolas"/>
                <a:ea typeface="Consolas"/>
              </a:rPr>
              <a:t>88000 },</a:t>
            </a:r>
          </a:p>
          <a:p>
            <a:pPr algn="l">
              <a:spcBef>
                <a:spcPts val="0"/>
              </a:spcBef>
              <a:spcAft>
                <a:spcPts val="0"/>
              </a:spcAft>
            </a:pPr>
            <a:r>
              <a:rPr sz="950" b="0">
                <a:solidFill>
                  <a:srgbClr val="9CDCFE"/>
                </a:solidFill>
                <a:latin typeface="Consolas"/>
                <a:ea typeface="Consolas"/>
              </a:rPr>
              <a:t>  "context": {</a:t>
            </a:r>
          </a:p>
          <a:p>
            <a:pPr algn="l">
              <a:spcBef>
                <a:spcPts val="0"/>
              </a:spcBef>
              <a:spcAft>
                <a:spcPts val="0"/>
              </a:spcAft>
            </a:pPr>
            <a:r>
              <a:rPr sz="950" b="0">
                <a:solidFill>
                  <a:srgbClr val="9CDCFE"/>
                </a:solidFill>
                <a:latin typeface="Consolas"/>
                <a:ea typeface="Consolas"/>
              </a:rPr>
              <a:t>    "request_id":</a:t>
            </a:r>
            <a:r>
              <a:rPr sz="950" b="0">
                <a:solidFill>
                  <a:srgbClr val="CE9178"/>
                </a:solidFill>
                <a:latin typeface="Consolas"/>
                <a:ea typeface="Consolas"/>
              </a:rPr>
              <a:t> "ab12"},</a:t>
            </a:r>
          </a:p>
          <a:p>
            <a:pPr algn="l">
              <a:spcBef>
                <a:spcPts val="0"/>
              </a:spcBef>
              <a:spcAft>
                <a:spcPts val="0"/>
              </a:spcAft>
            </a:pPr>
            <a:r>
              <a:rPr sz="950" b="0">
                <a:solidFill>
                  <a:srgbClr val="9CDCFE"/>
                </a:solidFill>
                <a:latin typeface="Consolas"/>
                <a:ea typeface="Consolas"/>
              </a:rPr>
              <a:t>  "timestamp":</a:t>
            </a:r>
            <a:r>
              <a:rPr sz="950" b="0">
                <a:solidFill>
                  <a:srgbClr val="CE9178"/>
                </a:solidFill>
                <a:latin typeface="Consolas"/>
                <a:ea typeface="Consolas"/>
              </a:rPr>
              <a:t> "..."</a:t>
            </a:r>
          </a:p>
          <a:p>
            <a:pPr algn="l">
              <a:spcBef>
                <a:spcPts val="0"/>
              </a:spcBef>
              <a:spcAft>
                <a:spcPts val="0"/>
              </a:spcAft>
            </a:pPr>
            <a:r>
              <a:rPr sz="950" b="0">
                <a:solidFill>
                  <a:srgbClr val="EAEAEA"/>
                </a:solidFill>
                <a:latin typeface="Consolas"/>
                <a:ea typeface="Consolas"/>
              </a:rPr>
              <a:t>}</a:t>
            </a:r>
          </a:p>
          <a:p>
            <a:pPr algn="l">
              <a:spcBef>
                <a:spcPts val="0"/>
              </a:spcBef>
              <a:spcAft>
                <a:spcPts val="0"/>
              </a:spcAft>
            </a:pPr>
            <a:r>
              <a:rPr sz="950" b="0">
                <a:solidFill>
                  <a:srgbClr val="EAEAEA"/>
                </a:solidFill>
                <a:latin typeface="Consolas"/>
                <a:ea typeface="Consolas"/>
              </a:rPr>
              <a:t/>
            </a:r>
          </a:p>
          <a:p>
            <a:pPr algn="l">
              <a:spcBef>
                <a:spcPts val="0"/>
              </a:spcBef>
              <a:spcAft>
                <a:spcPts val="0"/>
              </a:spcAft>
            </a:pPr>
            <a:r>
              <a:rPr sz="950" b="0">
                <a:solidFill>
                  <a:srgbClr val="6A9955"/>
                </a:solidFill>
                <a:latin typeface="Consolas"/>
                <a:ea typeface="Consolas"/>
              </a:rPr>
              <a:t># context / timestamp は</a:t>
            </a:r>
          </a:p>
          <a:p>
            <a:pPr algn="l">
              <a:spcBef>
                <a:spcPts val="0"/>
              </a:spcBef>
              <a:spcAft>
                <a:spcPts val="0"/>
              </a:spcAft>
            </a:pPr>
            <a:r>
              <a:rPr sz="950" b="0">
                <a:solidFill>
                  <a:srgbClr val="6A9955"/>
                </a:solidFill>
                <a:latin typeface="Consolas"/>
                <a:ea typeface="Consolas"/>
              </a:rPr>
              <a:t># 自動で付与される</a:t>
            </a:r>
          </a:p>
        </p:txBody>
      </p:sp>
      <p:sp>
        <p:nvSpPr>
          <p:cNvPr id="8" name="Rounded Rectangle 7"/>
          <p:cNvSpPr/>
          <p:nvPr/>
        </p:nvSpPr>
        <p:spPr>
          <a:xfrm>
            <a:off x="6510000" y="1090000"/>
            <a:ext cx="2950000" cy="3550000"/>
          </a:xfrm>
          <a:prstGeom prst="roundRect">
            <a:avLst>
              <a:gd name="adj" fmla="val 4000"/>
            </a:avLst>
          </a:prstGeom>
          <a:solidFill>
            <a:srgbClr val="EEF3FA"/>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120000" rIns="100000" tIns="90000"/>
          <a:lstStyle/>
          <a:p>
            <a:pPr algn="ctr">
              <a:spcAft>
                <a:spcPts val="200"/>
              </a:spcAft>
            </a:pPr>
            <a:r>
              <a:rPr sz="1100" b="1">
                <a:solidFill>
                  <a:srgbClr val="1F4E79"/>
                </a:solidFill>
                <a:latin typeface="メイリオ"/>
                <a:ea typeface="メイリオ"/>
              </a:rPr>
              <a:t>検索・集計の例</a:t>
            </a:r>
          </a:p>
          <a:p>
            <a:pPr>
              <a:spcAft>
                <a:spcPts val="200"/>
              </a:spcAft>
            </a:pPr>
            <a:r>
              <a:rPr sz="300" b="0">
                <a:solidFill>
                  <a:srgbClr val="333333"/>
                </a:solidFill>
                <a:latin typeface="メイリオ"/>
                <a:ea typeface="メイリオ"/>
              </a:rPr>
              <a:t/>
            </a:r>
          </a:p>
          <a:p>
            <a:pPr>
              <a:spcAft>
                <a:spcPts val="200"/>
              </a:spcAft>
            </a:pPr>
            <a:r>
              <a:rPr sz="1000" b="0">
                <a:solidFill>
                  <a:srgbClr val="333333"/>
                </a:solidFill>
                <a:latin typeface="メイリオ"/>
                <a:ea typeface="メイリオ"/>
              </a:rPr>
              <a:t>・name = "order.confirmed"</a:t>
            </a:r>
          </a:p>
          <a:p>
            <a:pPr>
              <a:spcAft>
                <a:spcPts val="200"/>
              </a:spcAft>
            </a:pPr>
            <a:r>
              <a:rPr sz="1000" b="0">
                <a:solidFill>
                  <a:srgbClr val="2E7D32"/>
                </a:solidFill>
                <a:latin typeface="メイリオ"/>
                <a:ea typeface="メイリオ"/>
              </a:rPr>
              <a:t>　→ 受注確定だけを一覧</a:t>
            </a:r>
          </a:p>
          <a:p>
            <a:pPr>
              <a:spcAft>
                <a:spcPts val="200"/>
              </a:spcAft>
            </a:pPr>
            <a:r>
              <a:rPr sz="1000" b="0">
                <a:solidFill>
                  <a:srgbClr val="333333"/>
                </a:solidFill>
                <a:latin typeface="メイリオ"/>
                <a:ea typeface="メイリオ"/>
              </a:rPr>
              <a:t>・user_id = 56 で追う</a:t>
            </a:r>
          </a:p>
          <a:p>
            <a:pPr>
              <a:spcAft>
                <a:spcPts val="200"/>
              </a:spcAft>
            </a:pPr>
            <a:r>
              <a:rPr sz="1000" b="0">
                <a:solidFill>
                  <a:srgbClr val="2E7D32"/>
                </a:solidFill>
                <a:latin typeface="メイリオ"/>
                <a:ea typeface="メイリオ"/>
              </a:rPr>
              <a:t>　→ その顧客の動きを時系列で</a:t>
            </a:r>
          </a:p>
          <a:p>
            <a:pPr>
              <a:spcAft>
                <a:spcPts val="200"/>
              </a:spcAft>
            </a:pPr>
            <a:r>
              <a:rPr sz="1000" b="0">
                <a:solidFill>
                  <a:srgbClr val="333333"/>
                </a:solidFill>
                <a:latin typeface="メイリオ"/>
                <a:ea typeface="メイリオ"/>
              </a:rPr>
              <a:t>・amount を合計</a:t>
            </a:r>
          </a:p>
          <a:p>
            <a:pPr>
              <a:spcAft>
                <a:spcPts val="200"/>
              </a:spcAft>
            </a:pPr>
            <a:r>
              <a:rPr sz="1000" b="0">
                <a:solidFill>
                  <a:srgbClr val="2E7D32"/>
                </a:solidFill>
                <a:latin typeface="メイリオ"/>
                <a:ea typeface="メイリオ"/>
              </a:rPr>
              <a:t>　→ 期間の受注金額を集計</a:t>
            </a:r>
          </a:p>
          <a:p>
            <a:pPr>
              <a:spcAft>
                <a:spcPts val="200"/>
              </a:spcAft>
            </a:pPr>
            <a:r>
              <a:rPr sz="400" b="0">
                <a:solidFill>
                  <a:srgbClr val="333333"/>
                </a:solidFill>
                <a:latin typeface="メイリオ"/>
                <a:ea typeface="メイリオ"/>
              </a:rPr>
              <a:t/>
            </a:r>
          </a:p>
          <a:p>
            <a:pPr>
              <a:spcAft>
                <a:spcPts val="200"/>
              </a:spcAft>
            </a:pPr>
            <a:r>
              <a:rPr sz="1000" b="0">
                <a:solidFill>
                  <a:srgbClr val="333333"/>
                </a:solidFill>
                <a:latin typeface="メイリオ"/>
                <a:ea typeface="メイリオ"/>
              </a:rPr>
              <a:t>同じ形式なので、ログ基盤や</a:t>
            </a:r>
          </a:p>
          <a:p>
            <a:pPr>
              <a:spcAft>
                <a:spcPts val="200"/>
              </a:spcAft>
            </a:pPr>
            <a:r>
              <a:rPr sz="1000" b="0">
                <a:solidFill>
                  <a:srgbClr val="333333"/>
                </a:solidFill>
                <a:latin typeface="メイリオ"/>
                <a:ea typeface="メイリオ"/>
              </a:rPr>
              <a:t>BI（CloudWatch 等）で</a:t>
            </a:r>
          </a:p>
          <a:p>
            <a:pPr>
              <a:spcAft>
                <a:spcPts val="200"/>
              </a:spcAft>
            </a:pPr>
            <a:r>
              <a:rPr sz="1000" b="0">
                <a:solidFill>
                  <a:srgbClr val="333333"/>
                </a:solidFill>
                <a:latin typeface="メイリオ"/>
                <a:ea typeface="メイリオ"/>
              </a:rPr>
              <a:t>横断検索・監視・監査に使える</a:t>
            </a:r>
          </a:p>
        </p:txBody>
      </p:sp>
      <p:sp>
        <p:nvSpPr>
          <p:cNvPr id="9" name="Right Arrow 8"/>
          <p:cNvSpPr/>
          <p:nvPr/>
        </p:nvSpPr>
        <p:spPr>
          <a:xfrm>
            <a:off x="3180000" y="2500000"/>
            <a:ext cx="180000" cy="360000"/>
          </a:xfrm>
          <a:prstGeom prst="rightArrow">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6310000" y="2500000"/>
            <a:ext cx="180000" cy="360000"/>
          </a:xfrm>
          <a:prstGeom prst="rightArrow">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0000" y="4780000"/>
            <a:ext cx="9300000" cy="700000"/>
          </a:xfrm>
          <a:prstGeom prst="rect">
            <a:avLst/>
          </a:prstGeom>
          <a:noFill/>
        </p:spPr>
        <p:txBody>
          <a:bodyPr wrap="square">
            <a:spAutoFit/>
          </a:bodyPr>
          <a:lstStyle/>
          <a:p>
            <a:r>
              <a:rPr sz="1100" b="0">
                <a:solidFill>
                  <a:srgbClr val="333333"/>
                </a:solidFill>
                <a:latin typeface="メイリオ"/>
                <a:ea typeface="メイリオ"/>
              </a:rPr>
              <a:t>ポイント：自由文ログ（例："受注確定 id=1234"）だと後で探しにくい。</a:t>
            </a:r>
          </a:p>
          <a:p>
            <a:r>
              <a:rPr sz="1100" b="1">
                <a:solidFill>
                  <a:srgbClr val="C00000"/>
                </a:solidFill>
                <a:latin typeface="メイリオ"/>
                <a:ea typeface="メイリオ"/>
              </a:rPr>
              <a:t>解析に使う項目を型として決めて出すと、あとから確実に検索・集計できるのが今回の進化。</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extLst>
                    <a:ext uri="{9D8B030D-6E8A-4147-A177-3AD203B41FA5}">
                      <a16:colId xmlns:a16="http://schemas.microsoft.com/office/drawing/2014/main" val="20000"/>
                    </a:ext>
                  </a:extLst>
                </a:gridCol>
                <a:gridCol w="5150000">
                  <a:extLst>
                    <a:ext uri="{9D8B030D-6E8A-4147-A177-3AD203B41FA5}">
                      <a16:colId xmlns:a16="http://schemas.microsoft.com/office/drawing/2014/main" val="20001"/>
                    </a:ext>
                  </a:extLst>
                </a:gridCol>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extLst>
                  <a:ext uri="{0D108BD9-81ED-4DB2-BD59-A6C34878D82A}">
                    <a16:rowId xmlns:a16="http://schemas.microsoft.com/office/drawing/2014/main" val="10000"/>
                  </a:ext>
                </a:extLst>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extLst>
                  <a:ext uri="{0D108BD9-81ED-4DB2-BD59-A6C34878D82A}">
                    <a16:rowId xmlns:a16="http://schemas.microsoft.com/office/drawing/2014/main" val="10001"/>
                  </a:ext>
                </a:extLst>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extLst>
                  <a:ext uri="{0D108BD9-81ED-4DB2-BD59-A6C34878D82A}">
                    <a16:rowId xmlns:a16="http://schemas.microsoft.com/office/drawing/2014/main" val="10002"/>
                  </a:ext>
                </a:extLst>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extLst>
                  <a:ext uri="{0D108BD9-81ED-4DB2-BD59-A6C34878D82A}">
                    <a16:rowId xmlns:a16="http://schemas.microsoft.com/office/drawing/2014/main" val="10003"/>
                  </a:ext>
                </a:extLst>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776537" y="3000000"/>
            <a:ext cx="8500000" cy="1990288"/>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C00000"/>
                </a:solidFill>
                <a:latin typeface="メイリオ"/>
                <a:ea typeface="メイリオ"/>
              </a:rPr>
              <a:t>④ 伴走支援・提案検討会へのお願い</a:t>
            </a:r>
          </a:p>
          <a:p>
            <a:pPr>
              <a:spcBef>
                <a:spcPts val="0"/>
              </a:spcBef>
              <a:spcAft>
                <a:spcPts val="200"/>
              </a:spcAft>
            </a:pPr>
            <a:r>
              <a:rPr sz="1200" b="0">
                <a:solidFill>
                  <a:srgbClr val="333333"/>
                </a:solidFill>
                <a:latin typeface="メイリオ"/>
                <a:ea typeface="メイリオ"/>
              </a:rPr>
              <a:t>・伴走支援を本格化していく。提案検討会も継続する</a:t>
            </a:r>
          </a:p>
          <a:p>
            <a:pPr>
              <a:spcBef>
                <a:spcPts val="0"/>
              </a:spcBef>
              <a:spcAft>
                <a:spcPts val="200"/>
              </a:spcAft>
            </a:pPr>
            <a:r>
              <a:rPr sz="1200" b="0">
                <a:solidFill>
                  <a:srgbClr val="333333"/>
                </a:solidFill>
                <a:latin typeface="メイリオ"/>
                <a:ea typeface="メイリオ"/>
              </a:rPr>
              <a:t>・ぜひ参加して、みんなの知見・経験を活かして力になってほしい</a:t>
            </a:r>
          </a:p>
        </p:txBody>
      </p:sp>
    </p:spTree>
    <p:extLst>
      <p:ext uri="{BB962C8B-B14F-4D97-AF65-F5344CB8AC3E}">
        <p14:creationId xmlns:p14="http://schemas.microsoft.com/office/powerpoint/2010/main" val="24701219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浦上さんから報告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r>
              <a:rPr lang="en-US" altLang="ja-JP" sz="2000" dirty="0"/>
              <a:t>1/2</a:t>
            </a:r>
            <a:r>
              <a:rPr lang="ja-JP" altLang="en-US" sz="2000" dirty="0"/>
              <a:t>）</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03000" y="836712"/>
            <a:ext cx="8500000" cy="4401205"/>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ツール方針（ASIS → TOBE）</a:t>
            </a:r>
          </a:p>
          <a:p>
            <a:pPr>
              <a:spcBef>
                <a:spcPts val="0"/>
              </a:spcBef>
              <a:spcAft>
                <a:spcPts val="200"/>
              </a:spcAft>
            </a:pPr>
            <a:r>
              <a:rPr sz="1200" b="0">
                <a:solidFill>
                  <a:srgbClr val="333333"/>
                </a:solidFill>
                <a:latin typeface="メイリオ"/>
                <a:ea typeface="メイリオ"/>
              </a:rPr>
              <a:t>【開発】ASIS：Copilot　→　TOBE：Cursor + Claude</a:t>
            </a:r>
          </a:p>
          <a:p>
            <a:pPr>
              <a:spcBef>
                <a:spcPts val="0"/>
              </a:spcBef>
              <a:spcAft>
                <a:spcPts val="200"/>
              </a:spcAft>
            </a:pPr>
            <a:r>
              <a:rPr sz="1200" b="0">
                <a:solidFill>
                  <a:srgbClr val="333333"/>
                </a:solidFill>
                <a:latin typeface="メイリオ"/>
                <a:ea typeface="メイリオ"/>
              </a:rPr>
              <a:t>【業務】ASIS：ChatGPT／Gemini　→　TOBE：Claude</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400" b="1">
                <a:solidFill>
                  <a:srgbClr val="C00000"/>
                </a:solidFill>
                <a:latin typeface="メイリオ"/>
                <a:ea typeface="メイリオ"/>
              </a:rPr>
              <a:t>② ここまでできるようになりたい（目標）</a:t>
            </a:r>
          </a:p>
          <a:p>
            <a:pPr>
              <a:spcBef>
                <a:spcPts val="0"/>
              </a:spcBef>
              <a:spcAft>
                <a:spcPts val="200"/>
              </a:spcAft>
            </a:pPr>
            <a:r>
              <a:rPr sz="1200" b="0">
                <a:solidFill>
                  <a:srgbClr val="333333"/>
                </a:solidFill>
                <a:latin typeface="メイリオ"/>
                <a:ea typeface="メイリオ"/>
              </a:rPr>
              <a:t>【要件定義】モック最速作成 → お客様がイメージしやすく</a:t>
            </a:r>
          </a:p>
          <a:p>
            <a:pPr>
              <a:spcBef>
                <a:spcPts val="0"/>
              </a:spcBef>
              <a:spcAft>
                <a:spcPts val="200"/>
              </a:spcAft>
            </a:pPr>
            <a:r>
              <a:rPr sz="1200" b="0">
                <a:solidFill>
                  <a:srgbClr val="333333"/>
                </a:solidFill>
                <a:latin typeface="メイリオ"/>
                <a:ea typeface="メイリオ"/>
              </a:rPr>
              <a:t>【設計】的確な指示で設計書への追記を自動化</a:t>
            </a:r>
          </a:p>
          <a:p>
            <a:pPr>
              <a:spcBef>
                <a:spcPts val="0"/>
              </a:spcBef>
              <a:spcAft>
                <a:spcPts val="200"/>
              </a:spcAft>
            </a:pPr>
            <a:r>
              <a:rPr sz="1200" b="0">
                <a:solidFill>
                  <a:srgbClr val="333333"/>
                </a:solidFill>
                <a:latin typeface="メイリオ"/>
                <a:ea typeface="メイリオ"/>
              </a:rPr>
              <a:t>【開発】設計書ベースでAIと詳細を詰め、ほぼノーコーディング</a:t>
            </a:r>
          </a:p>
          <a:p>
            <a:pPr>
              <a:spcBef>
                <a:spcPts val="0"/>
              </a:spcBef>
              <a:spcAft>
                <a:spcPts val="200"/>
              </a:spcAft>
            </a:pPr>
            <a:r>
              <a:rPr sz="1200" b="0">
                <a:solidFill>
                  <a:srgbClr val="333333"/>
                </a:solidFill>
                <a:latin typeface="メイリオ"/>
                <a:ea typeface="メイリオ"/>
              </a:rPr>
              <a:t>【テスト】スペックテスト自動化／人手テストの仕様書作成も自動化</a:t>
            </a:r>
          </a:p>
          <a:p>
            <a:pPr>
              <a:spcBef>
                <a:spcPts val="0"/>
              </a:spcBef>
              <a:spcAft>
                <a:spcPts val="200"/>
              </a:spcAft>
            </a:pPr>
            <a:r>
              <a:rPr sz="1200" b="0">
                <a:solidFill>
                  <a:srgbClr val="333333"/>
                </a:solidFill>
                <a:latin typeface="メイリオ"/>
                <a:ea typeface="メイリオ"/>
              </a:rPr>
              <a:t>　　　　 ブラウザ上のテスト自動化ツールも活用</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400" b="1">
                <a:solidFill>
                  <a:srgbClr val="333333"/>
                </a:solidFill>
                <a:latin typeface="メイリオ"/>
                <a:ea typeface="メイリオ"/>
              </a:rPr>
              <a:t>③ いま進めている取り組み</a:t>
            </a:r>
          </a:p>
          <a:p>
            <a:pPr>
              <a:spcBef>
                <a:spcPts val="0"/>
              </a:spcBef>
              <a:spcAft>
                <a:spcPts val="200"/>
              </a:spcAft>
            </a:pPr>
            <a:r>
              <a:rPr sz="1200" b="0">
                <a:solidFill>
                  <a:srgbClr val="333333"/>
                </a:solidFill>
                <a:latin typeface="メイリオ"/>
                <a:ea typeface="メイリオ"/>
              </a:rPr>
              <a:t>・EC-Rider AI（プロンプト／実装ガイド読込）構築中</a:t>
            </a:r>
          </a:p>
          <a:p>
            <a:pPr>
              <a:spcBef>
                <a:spcPts val="0"/>
              </a:spcBef>
              <a:spcAft>
                <a:spcPts val="200"/>
              </a:spcAft>
            </a:pPr>
            <a:r>
              <a:rPr sz="1200" b="0">
                <a:solidFill>
                  <a:srgbClr val="333333"/>
                </a:solidFill>
                <a:latin typeface="メイリオ"/>
                <a:ea typeface="メイリオ"/>
              </a:rPr>
              <a:t>・提案用モックベース整備</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200" b="0">
                <a:solidFill>
                  <a:srgbClr val="C00000"/>
                </a:solidFill>
                <a:latin typeface="メイリオ"/>
                <a:ea typeface="メイリオ"/>
              </a:rPr>
              <a:t>→ 次ページ：比較表／最終判断の線引き</a:t>
            </a:r>
          </a:p>
        </p:txBody>
      </p:sp>
    </p:spTree>
    <p:extLst>
      <p:ext uri="{BB962C8B-B14F-4D97-AF65-F5344CB8AC3E}">
        <p14:creationId xmlns:p14="http://schemas.microsoft.com/office/powerpoint/2010/main" val="32169465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4E053-B35F-FA92-EB03-8BB1B56A1353}"/>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55589BCD-DCD2-B661-9E2D-CDF5DC531B03}"/>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5" name="TextBox 2">
            <a:extLst>
              <a:ext uri="{FF2B5EF4-FFF2-40B4-BE49-F238E27FC236}">
                <a16:creationId xmlns:a16="http://schemas.microsoft.com/office/drawing/2014/main" id="{CE3ECE54-AD4C-DCAA-6777-B659EE2E165E}"/>
              </a:ext>
            </a:extLst>
          </p:cNvPr>
          <p:cNvSpPr txBox="1"/>
          <p:nvPr/>
        </p:nvSpPr>
        <p:spPr>
          <a:xfrm>
            <a:off x="560512" y="843381"/>
            <a:ext cx="9000000" cy="280000"/>
          </a:xfrm>
          <a:prstGeom prst="rect">
            <a:avLst/>
          </a:prstGeom>
          <a:noFill/>
        </p:spPr>
        <p:txBody>
          <a:bodyPr wrap="square">
            <a:spAutoFit/>
          </a:bodyPr>
          <a:lstStyle/>
          <a:p>
            <a:pPr>
              <a:spcBef>
                <a:spcPts val="0"/>
              </a:spcBef>
              <a:spcAft>
                <a:spcPts val="200"/>
              </a:spcAft>
            </a:pPr>
            <a:r>
              <a:rPr sz="1200" b="1">
                <a:solidFill>
                  <a:srgbClr val="333333"/>
                </a:solidFill>
                <a:latin typeface="メイリオ"/>
                <a:ea typeface="メイリオ"/>
              </a:rPr>
              <a:t>④ 比較（ビジネス業務観点）：ASIS → TOBE</a:t>
            </a:r>
          </a:p>
        </p:txBody>
      </p:sp>
      <p:graphicFrame>
        <p:nvGraphicFramePr>
          <p:cNvPr id="7" name="Table 3">
            <a:extLst>
              <a:ext uri="{FF2B5EF4-FFF2-40B4-BE49-F238E27FC236}">
                <a16:creationId xmlns:a16="http://schemas.microsoft.com/office/drawing/2014/main" id="{AC23D497-251A-B4AD-265E-525FD35FB889}"/>
              </a:ext>
            </a:extLst>
          </p:cNvPr>
          <p:cNvGraphicFramePr>
            <a:graphicFrameLocks noGrp="1"/>
          </p:cNvGraphicFramePr>
          <p:nvPr>
            <p:extLst>
              <p:ext uri="{D42A27DB-BD31-4B8C-83A1-F6EECF244321}">
                <p14:modId xmlns:p14="http://schemas.microsoft.com/office/powerpoint/2010/main" val="2195794075"/>
              </p:ext>
            </p:extLst>
          </p:nvPr>
        </p:nvGraphicFramePr>
        <p:xfrm>
          <a:off x="560512" y="2972461"/>
          <a:ext cx="8700000" cy="1320000"/>
        </p:xfrm>
        <a:graphic>
          <a:graphicData uri="http://schemas.openxmlformats.org/drawingml/2006/table">
            <a:tbl>
              <a:tblPr firstRow="1" bandRow="1">
                <a:tableStyleId>{5C22544A-7EE6-4342-B048-85BDC9FD1C3A}</a:tableStyleId>
              </a:tblPr>
              <a:tblGrid>
                <a:gridCol w="1400000">
                  <a:extLst>
                    <a:ext uri="{9D8B030D-6E8A-4147-A177-3AD203B41FA5}">
                      <a16:colId xmlns:a16="http://schemas.microsoft.com/office/drawing/2014/main" val="20000"/>
                    </a:ext>
                  </a:extLst>
                </a:gridCol>
                <a:gridCol w="3650000">
                  <a:extLst>
                    <a:ext uri="{9D8B030D-6E8A-4147-A177-3AD203B41FA5}">
                      <a16:colId xmlns:a16="http://schemas.microsoft.com/office/drawing/2014/main" val="20001"/>
                    </a:ext>
                  </a:extLst>
                </a:gridCol>
                <a:gridCol w="3650000">
                  <a:extLst>
                    <a:ext uri="{9D8B030D-6E8A-4147-A177-3AD203B41FA5}">
                      <a16:colId xmlns:a16="http://schemas.microsoft.com/office/drawing/2014/main" val="20002"/>
                    </a:ext>
                  </a:extLst>
                </a:gridCol>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ASIS：VS Code + Copilot</a:t>
                      </a:r>
                    </a:p>
                  </a:txBody>
                  <a:tcPr anchor="ctr">
                    <a:solidFill>
                      <a:srgbClr val="1F4E79"/>
                    </a:solidFill>
                  </a:tcPr>
                </a:tc>
                <a:tc>
                  <a:txBody>
                    <a:bodyPr/>
                    <a:lstStyle/>
                    <a:p>
                      <a:pPr algn="ctr"/>
                      <a:r>
                        <a:rPr sz="1000" b="1">
                          <a:solidFill>
                            <a:srgbClr val="FFFFFF"/>
                          </a:solidFill>
                          <a:latin typeface="メイリオ"/>
                          <a:ea typeface="メイリオ"/>
                        </a:rPr>
                        <a:t>TOBE：Cursor + Claude</a:t>
                      </a:r>
                    </a:p>
                  </a:txBody>
                  <a:tcPr anchor="ctr">
                    <a:solidFill>
                      <a:srgbClr val="1F4E79"/>
                    </a:solidFill>
                  </a:tcPr>
                </a:tc>
                <a:extLst>
                  <a:ext uri="{0D108BD9-81ED-4DB2-BD59-A6C34878D82A}">
                    <a16:rowId xmlns:a16="http://schemas.microsoft.com/office/drawing/2014/main" val="10000"/>
                  </a:ext>
                </a:extLst>
              </a:tr>
              <a:tr h="330000">
                <a:tc>
                  <a:txBody>
                    <a:bodyPr/>
                    <a:lstStyle/>
                    <a:p>
                      <a:pPr algn="l"/>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extLst>
                  <a:ext uri="{0D108BD9-81ED-4DB2-BD59-A6C34878D82A}">
                    <a16:rowId xmlns:a16="http://schemas.microsoft.com/office/drawing/2014/main" val="10001"/>
                  </a:ext>
                </a:extLst>
              </a:tr>
              <a:tr h="330000">
                <a:tc>
                  <a:txBody>
                    <a:bodyPr/>
                    <a:lstStyle/>
                    <a:p>
                      <a:pPr algn="l"/>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extLst>
                  <a:ext uri="{0D108BD9-81ED-4DB2-BD59-A6C34878D82A}">
                    <a16:rowId xmlns:a16="http://schemas.microsoft.com/office/drawing/2014/main" val="10002"/>
                  </a:ext>
                </a:extLst>
              </a:tr>
              <a:tr h="330000">
                <a:tc>
                  <a:txBody>
                    <a:bodyPr/>
                    <a:lstStyle/>
                    <a:p>
                      <a:pPr algn="l"/>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extLst>
                  <a:ext uri="{0D108BD9-81ED-4DB2-BD59-A6C34878D82A}">
                    <a16:rowId xmlns:a16="http://schemas.microsoft.com/office/drawing/2014/main" val="10003"/>
                  </a:ext>
                </a:extLst>
              </a:tr>
            </a:tbl>
          </a:graphicData>
        </a:graphic>
      </p:graphicFrame>
      <p:sp>
        <p:nvSpPr>
          <p:cNvPr id="9" name="TextBox 4">
            <a:extLst>
              <a:ext uri="{FF2B5EF4-FFF2-40B4-BE49-F238E27FC236}">
                <a16:creationId xmlns:a16="http://schemas.microsoft.com/office/drawing/2014/main" id="{1272A0DA-E735-8962-1ABC-9C796829947B}"/>
              </a:ext>
            </a:extLst>
          </p:cNvPr>
          <p:cNvSpPr txBox="1"/>
          <p:nvPr/>
        </p:nvSpPr>
        <p:spPr>
          <a:xfrm>
            <a:off x="560512" y="2712461"/>
            <a:ext cx="9000000" cy="260000"/>
          </a:xfrm>
          <a:prstGeom prst="rect">
            <a:avLst/>
          </a:prstGeom>
          <a:noFill/>
        </p:spPr>
        <p:txBody>
          <a:bodyPr wrap="square">
            <a:spAutoFit/>
          </a:bodyPr>
          <a:lstStyle/>
          <a:p>
            <a:pPr>
              <a:spcBef>
                <a:spcPts val="0"/>
              </a:spcBef>
              <a:spcAft>
                <a:spcPts val="200"/>
              </a:spcAft>
            </a:pPr>
            <a:r>
              <a:rPr sz="1200" b="1">
                <a:solidFill>
                  <a:srgbClr val="333333"/>
                </a:solidFill>
                <a:latin typeface="メイリオ"/>
                <a:ea typeface="メイリオ"/>
              </a:rPr>
              <a:t>④’ 比較（プログラム観点）：ASIS → TOBE</a:t>
            </a:r>
          </a:p>
        </p:txBody>
      </p:sp>
      <p:graphicFrame>
        <p:nvGraphicFramePr>
          <p:cNvPr id="11" name="Table 5">
            <a:extLst>
              <a:ext uri="{FF2B5EF4-FFF2-40B4-BE49-F238E27FC236}">
                <a16:creationId xmlns:a16="http://schemas.microsoft.com/office/drawing/2014/main" id="{63694319-84BD-76EC-912C-F19AC7CEB965}"/>
              </a:ext>
            </a:extLst>
          </p:cNvPr>
          <p:cNvGraphicFramePr>
            <a:graphicFrameLocks noGrp="1"/>
          </p:cNvGraphicFramePr>
          <p:nvPr>
            <p:extLst>
              <p:ext uri="{D42A27DB-BD31-4B8C-83A1-F6EECF244321}">
                <p14:modId xmlns:p14="http://schemas.microsoft.com/office/powerpoint/2010/main" val="1250567402"/>
              </p:ext>
            </p:extLst>
          </p:nvPr>
        </p:nvGraphicFramePr>
        <p:xfrm>
          <a:off x="560512" y="1123381"/>
          <a:ext cx="8700000" cy="1518720"/>
        </p:xfrm>
        <a:graphic>
          <a:graphicData uri="http://schemas.openxmlformats.org/drawingml/2006/table">
            <a:tbl>
              <a:tblPr firstRow="1" bandRow="1">
                <a:tableStyleId>{5C22544A-7EE6-4342-B048-85BDC9FD1C3A}</a:tableStyleId>
              </a:tblPr>
              <a:tblGrid>
                <a:gridCol w="2175000">
                  <a:extLst>
                    <a:ext uri="{9D8B030D-6E8A-4147-A177-3AD203B41FA5}">
                      <a16:colId xmlns:a16="http://schemas.microsoft.com/office/drawing/2014/main" val="20000"/>
                    </a:ext>
                  </a:extLst>
                </a:gridCol>
                <a:gridCol w="2175000">
                  <a:extLst>
                    <a:ext uri="{9D8B030D-6E8A-4147-A177-3AD203B41FA5}">
                      <a16:colId xmlns:a16="http://schemas.microsoft.com/office/drawing/2014/main" val="20001"/>
                    </a:ext>
                  </a:extLst>
                </a:gridCol>
                <a:gridCol w="2175000">
                  <a:extLst>
                    <a:ext uri="{9D8B030D-6E8A-4147-A177-3AD203B41FA5}">
                      <a16:colId xmlns:a16="http://schemas.microsoft.com/office/drawing/2014/main" val="20002"/>
                    </a:ext>
                  </a:extLst>
                </a:gridCol>
                <a:gridCol w="2175000">
                  <a:extLst>
                    <a:ext uri="{9D8B030D-6E8A-4147-A177-3AD203B41FA5}">
                      <a16:colId xmlns:a16="http://schemas.microsoft.com/office/drawing/2014/main" val="20003"/>
                    </a:ext>
                  </a:extLst>
                </a:gridCol>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ASIS：ChatGPT</a:t>
                      </a:r>
                    </a:p>
                  </a:txBody>
                  <a:tcPr anchor="ctr">
                    <a:solidFill>
                      <a:srgbClr val="1F4E79"/>
                    </a:solidFill>
                  </a:tcPr>
                </a:tc>
                <a:tc>
                  <a:txBody>
                    <a:bodyPr/>
                    <a:lstStyle/>
                    <a:p>
                      <a:pPr algn="ctr"/>
                      <a:r>
                        <a:rPr sz="1000" b="1">
                          <a:solidFill>
                            <a:srgbClr val="FFFFFF"/>
                          </a:solidFill>
                          <a:latin typeface="メイリオ"/>
                          <a:ea typeface="メイリオ"/>
                        </a:rPr>
                        <a:t>ASIS：Gemini</a:t>
                      </a:r>
                    </a:p>
                  </a:txBody>
                  <a:tcPr anchor="ctr">
                    <a:solidFill>
                      <a:srgbClr val="1F4E79"/>
                    </a:solidFill>
                  </a:tcPr>
                </a:tc>
                <a:tc>
                  <a:txBody>
                    <a:bodyPr/>
                    <a:lstStyle/>
                    <a:p>
                      <a:pPr algn="ctr"/>
                      <a:r>
                        <a:rPr sz="1000" b="1">
                          <a:solidFill>
                            <a:srgbClr val="FFFFFF"/>
                          </a:solidFill>
                          <a:latin typeface="メイリオ"/>
                          <a:ea typeface="メイリオ"/>
                        </a:rPr>
                        <a:t>TOBE：Claude</a:t>
                      </a:r>
                    </a:p>
                  </a:txBody>
                  <a:tcPr anchor="ctr">
                    <a:solidFill>
                      <a:srgbClr val="1F4E79"/>
                    </a:solidFill>
                  </a:tcPr>
                </a:tc>
                <a:extLst>
                  <a:ext uri="{0D108BD9-81ED-4DB2-BD59-A6C34878D82A}">
                    <a16:rowId xmlns:a16="http://schemas.microsoft.com/office/drawing/2014/main" val="10000"/>
                  </a:ext>
                </a:extLst>
              </a:tr>
              <a:tr h="330000">
                <a:tc>
                  <a:txBody>
                    <a:bodyPr/>
                    <a:lstStyle/>
                    <a:p>
                      <a:pPr algn="l"/>
                      <a:r>
                        <a:rPr sz="1000" b="0" dirty="0" err="1">
                          <a:solidFill>
                            <a:srgbClr val="333333"/>
                          </a:solidFill>
                          <a:latin typeface="メイリオ"/>
                          <a:ea typeface="メイリオ"/>
                        </a:rPr>
                        <a:t>思考の深さ</a:t>
                      </a:r>
                      <a:endParaRPr sz="1000" b="0" dirty="0">
                        <a:solidFill>
                          <a:srgbClr val="333333"/>
                        </a:solidFill>
                        <a:latin typeface="メイリオ"/>
                        <a:ea typeface="メイリオ"/>
                      </a:endParaRPr>
                    </a:p>
                  </a:txBody>
                  <a:tcPr anchor="ctr"/>
                </a:tc>
                <a:tc>
                  <a:txBody>
                    <a:bodyPr/>
                    <a:lstStyle/>
                    <a:p>
                      <a:pPr algn="l"/>
                      <a:r>
                        <a:rPr sz="1000" b="0">
                          <a:solidFill>
                            <a:srgbClr val="333333"/>
                          </a:solidFill>
                          <a:latin typeface="メイリオ"/>
                          <a:ea typeface="メイリオ"/>
                        </a:rPr>
                        <a:t>幅広いアイデア出しや</a:t>
                      </a:r>
                    </a:p>
                    <a:p>
                      <a:pPr algn="l"/>
                      <a:r>
                        <a:rPr sz="1000" b="0">
                          <a:solidFill>
                            <a:srgbClr val="333333"/>
                          </a:solidFill>
                          <a:latin typeface="メイリオ"/>
                          <a:ea typeface="メイリオ"/>
                        </a:rPr>
                        <a:t>壁打ちが得意</a:t>
                      </a:r>
                    </a:p>
                  </a:txBody>
                  <a:tcPr anchor="ctr"/>
                </a:tc>
                <a:tc>
                  <a:txBody>
                    <a:bodyPr/>
                    <a:lstStyle/>
                    <a:p>
                      <a:pPr algn="l"/>
                      <a:r>
                        <a:rPr sz="1000" b="0">
                          <a:solidFill>
                            <a:srgbClr val="333333"/>
                          </a:solidFill>
                          <a:latin typeface="メイリオ"/>
                          <a:ea typeface="メイリオ"/>
                        </a:rPr>
                        <a:t>広く拾う・素早い概観が得意</a:t>
                      </a:r>
                    </a:p>
                    <a:p>
                      <a:pPr algn="l"/>
                      <a:r>
                        <a:rPr sz="1000" b="0">
                          <a:solidFill>
                            <a:srgbClr val="333333"/>
                          </a:solidFill>
                          <a:latin typeface="メイリオ"/>
                          <a:ea typeface="メイリオ"/>
                        </a:rPr>
                        <a:t>（深さは用途次第）</a:t>
                      </a:r>
                    </a:p>
                  </a:txBody>
                  <a:tcPr anchor="ctr"/>
                </a:tc>
                <a:tc>
                  <a:txBody>
                    <a:bodyPr/>
                    <a:lstStyle/>
                    <a:p>
                      <a:pPr algn="l"/>
                      <a:r>
                        <a:rPr sz="1000" b="0">
                          <a:solidFill>
                            <a:srgbClr val="333333"/>
                          </a:solidFill>
                          <a:latin typeface="メイリオ"/>
                          <a:ea typeface="メイリオ"/>
                        </a:rPr>
                        <a:t>前提・理由まで踏み込む</a:t>
                      </a:r>
                    </a:p>
                    <a:p>
                      <a:pPr algn="l"/>
                      <a:r>
                        <a:rPr sz="1000" b="0">
                          <a:solidFill>
                            <a:srgbClr val="333333"/>
                          </a:solidFill>
                          <a:latin typeface="メイリオ"/>
                          <a:ea typeface="メイリオ"/>
                        </a:rPr>
                        <a:t>丁寧な深掘りが強い</a:t>
                      </a:r>
                    </a:p>
                  </a:txBody>
                  <a:tcPr anchor="ctr"/>
                </a:tc>
                <a:extLst>
                  <a:ext uri="{0D108BD9-81ED-4DB2-BD59-A6C34878D82A}">
                    <a16:rowId xmlns:a16="http://schemas.microsoft.com/office/drawing/2014/main" val="10001"/>
                  </a:ext>
                </a:extLst>
              </a:tr>
              <a:tr h="330000">
                <a:tc>
                  <a:txBody>
                    <a:bodyPr/>
                    <a:lstStyle/>
                    <a:p>
                      <a:pPr algn="l"/>
                      <a:r>
                        <a:rPr sz="1000" b="0">
                          <a:solidFill>
                            <a:srgbClr val="333333"/>
                          </a:solidFill>
                          <a:latin typeface="メイリオ"/>
                          <a:ea typeface="メイリオ"/>
                        </a:rPr>
                        <a:t>資料作成</a:t>
                      </a:r>
                    </a:p>
                  </a:txBody>
                  <a:tcPr anchor="ctr">
                    <a:solidFill>
                      <a:srgbClr val="D6E3F0"/>
                    </a:solidFill>
                  </a:tcPr>
                </a:tc>
                <a:tc>
                  <a:txBody>
                    <a:bodyPr/>
                    <a:lstStyle/>
                    <a:p>
                      <a:pPr algn="l"/>
                      <a:r>
                        <a:rPr sz="1000" b="0">
                          <a:solidFill>
                            <a:srgbClr val="333333"/>
                          </a:solidFill>
                          <a:latin typeface="メイリオ"/>
                          <a:ea typeface="メイリオ"/>
                        </a:rPr>
                        <a:t>たたき台作成が速く</a:t>
                      </a:r>
                    </a:p>
                    <a:p>
                      <a:pPr algn="l"/>
                      <a:r>
                        <a:rPr sz="1000" b="0">
                          <a:solidFill>
                            <a:srgbClr val="333333"/>
                          </a:solidFill>
                          <a:latin typeface="メイリオ"/>
                          <a:ea typeface="メイリオ"/>
                        </a:rPr>
                        <a:t>表現のバリエーションも豊富</a:t>
                      </a:r>
                    </a:p>
                  </a:txBody>
                  <a:tcPr anchor="ctr">
                    <a:solidFill>
                      <a:srgbClr val="D6E3F0"/>
                    </a:solidFill>
                  </a:tcPr>
                </a:tc>
                <a:tc>
                  <a:txBody>
                    <a:bodyPr/>
                    <a:lstStyle/>
                    <a:p>
                      <a:pPr algn="l"/>
                      <a:r>
                        <a:rPr sz="1000" b="0">
                          <a:solidFill>
                            <a:srgbClr val="333333"/>
                          </a:solidFill>
                          <a:latin typeface="メイリオ"/>
                          <a:ea typeface="メイリオ"/>
                        </a:rPr>
                        <a:t>草案づくりや要約に強い</a:t>
                      </a:r>
                    </a:p>
                    <a:p>
                      <a:pPr algn="l"/>
                      <a:r>
                        <a:rPr sz="1000" b="0">
                          <a:solidFill>
                            <a:srgbClr val="333333"/>
                          </a:solidFill>
                          <a:latin typeface="メイリオ"/>
                          <a:ea typeface="メイリオ"/>
                        </a:rPr>
                        <a:t>Google系資料との相性あり</a:t>
                      </a:r>
                    </a:p>
                  </a:txBody>
                  <a:tcPr anchor="ctr">
                    <a:solidFill>
                      <a:srgbClr val="D6E3F0"/>
                    </a:solidFill>
                  </a:tcPr>
                </a:tc>
                <a:tc>
                  <a:txBody>
                    <a:bodyPr/>
                    <a:lstStyle/>
                    <a:p>
                      <a:pPr algn="l"/>
                      <a:r>
                        <a:rPr sz="1000" b="0">
                          <a:solidFill>
                            <a:srgbClr val="333333"/>
                          </a:solidFill>
                          <a:latin typeface="メイリオ"/>
                          <a:ea typeface="メイリオ"/>
                        </a:rPr>
                        <a:t>構成・論点が整理されやすい</a:t>
                      </a:r>
                    </a:p>
                    <a:p>
                      <a:pPr algn="l"/>
                      <a:r>
                        <a:rPr sz="1000" b="0">
                          <a:solidFill>
                            <a:srgbClr val="333333"/>
                          </a:solidFill>
                          <a:latin typeface="メイリオ"/>
                          <a:ea typeface="メイリオ"/>
                        </a:rPr>
                        <a:t>長文でも一貫しやすい</a:t>
                      </a:r>
                    </a:p>
                  </a:txBody>
                  <a:tcPr anchor="ctr">
                    <a:solidFill>
                      <a:srgbClr val="D6E3F0"/>
                    </a:solidFill>
                  </a:tcPr>
                </a:tc>
                <a:extLst>
                  <a:ext uri="{0D108BD9-81ED-4DB2-BD59-A6C34878D82A}">
                    <a16:rowId xmlns:a16="http://schemas.microsoft.com/office/drawing/2014/main" val="10002"/>
                  </a:ext>
                </a:extLst>
              </a:tr>
              <a:tr h="330000">
                <a:tc>
                  <a:txBody>
                    <a:bodyPr/>
                    <a:lstStyle/>
                    <a:p>
                      <a:pPr algn="l"/>
                      <a:r>
                        <a:rPr sz="1000" b="0">
                          <a:solidFill>
                            <a:srgbClr val="333333"/>
                          </a:solidFill>
                          <a:latin typeface="メイリオ"/>
                          <a:ea typeface="メイリオ"/>
                        </a:rPr>
                        <a:t>業界分析</a:t>
                      </a:r>
                    </a:p>
                  </a:txBody>
                  <a:tcPr anchor="ctr"/>
                </a:tc>
                <a:tc>
                  <a:txBody>
                    <a:bodyPr/>
                    <a:lstStyle/>
                    <a:p>
                      <a:pPr algn="l"/>
                      <a:r>
                        <a:rPr sz="1000" b="0">
                          <a:solidFill>
                            <a:srgbClr val="333333"/>
                          </a:solidFill>
                          <a:latin typeface="メイリオ"/>
                          <a:ea typeface="メイリオ"/>
                        </a:rPr>
                        <a:t>多面的な切り口の洗い出し</a:t>
                      </a:r>
                    </a:p>
                    <a:p>
                      <a:pPr algn="l"/>
                      <a:r>
                        <a:rPr sz="1000" b="0">
                          <a:solidFill>
                            <a:srgbClr val="333333"/>
                          </a:solidFill>
                          <a:latin typeface="メイリオ"/>
                          <a:ea typeface="メイリオ"/>
                        </a:rPr>
                        <a:t>ブレインストーム向き</a:t>
                      </a:r>
                    </a:p>
                  </a:txBody>
                  <a:tcPr anchor="ctr"/>
                </a:tc>
                <a:tc>
                  <a:txBody>
                    <a:bodyPr/>
                    <a:lstStyle/>
                    <a:p>
                      <a:pPr algn="l"/>
                      <a:r>
                        <a:rPr sz="1000" b="0">
                          <a:solidFill>
                            <a:srgbClr val="333333"/>
                          </a:solidFill>
                          <a:latin typeface="メイリオ"/>
                          <a:ea typeface="メイリオ"/>
                        </a:rPr>
                        <a:t>最新情報の拾い上げや</a:t>
                      </a:r>
                    </a:p>
                    <a:p>
                      <a:pPr algn="l"/>
                      <a:r>
                        <a:rPr sz="1000" b="0">
                          <a:solidFill>
                            <a:srgbClr val="333333"/>
                          </a:solidFill>
                          <a:latin typeface="メイリオ"/>
                          <a:ea typeface="メイリオ"/>
                        </a:rPr>
                        <a:t>俯瞰整理の入口に向く</a:t>
                      </a:r>
                    </a:p>
                  </a:txBody>
                  <a:tcPr anchor="ctr"/>
                </a:tc>
                <a:tc>
                  <a:txBody>
                    <a:bodyPr/>
                    <a:lstStyle/>
                    <a:p>
                      <a:pPr algn="l"/>
                      <a:r>
                        <a:rPr sz="1000" b="0" dirty="0" err="1">
                          <a:solidFill>
                            <a:srgbClr val="333333"/>
                          </a:solidFill>
                          <a:latin typeface="メイリオ"/>
                          <a:ea typeface="メイリオ"/>
                        </a:rPr>
                        <a:t>仮説→根拠→示唆まで</a:t>
                      </a:r>
                      <a:endParaRPr sz="1000" b="0" dirty="0">
                        <a:solidFill>
                          <a:srgbClr val="333333"/>
                        </a:solidFill>
                        <a:latin typeface="メイリオ"/>
                        <a:ea typeface="メイリオ"/>
                      </a:endParaRPr>
                    </a:p>
                    <a:p>
                      <a:pPr algn="l"/>
                      <a:r>
                        <a:rPr sz="1000" b="0" dirty="0" err="1">
                          <a:solidFill>
                            <a:srgbClr val="333333"/>
                          </a:solidFill>
                          <a:latin typeface="メイリオ"/>
                          <a:ea typeface="メイリオ"/>
                        </a:rPr>
                        <a:t>一段深く組み立てやすい</a:t>
                      </a:r>
                      <a:endParaRPr sz="1000" b="0" dirty="0">
                        <a:solidFill>
                          <a:srgbClr val="333333"/>
                        </a:solidFill>
                        <a:latin typeface="メイリオ"/>
                        <a:ea typeface="メイリオ"/>
                      </a:endParaRPr>
                    </a:p>
                  </a:txBody>
                  <a:tcPr anchor="ctr"/>
                </a:tc>
                <a:extLst>
                  <a:ext uri="{0D108BD9-81ED-4DB2-BD59-A6C34878D82A}">
                    <a16:rowId xmlns:a16="http://schemas.microsoft.com/office/drawing/2014/main" val="10003"/>
                  </a:ext>
                </a:extLst>
              </a:tr>
            </a:tbl>
          </a:graphicData>
        </a:graphic>
      </p:graphicFrame>
      <p:sp>
        <p:nvSpPr>
          <p:cNvPr id="13" name="TextBox 6">
            <a:extLst>
              <a:ext uri="{FF2B5EF4-FFF2-40B4-BE49-F238E27FC236}">
                <a16:creationId xmlns:a16="http://schemas.microsoft.com/office/drawing/2014/main" id="{72F9CF1D-BF36-806F-4CC1-0FA05A4D5E6F}"/>
              </a:ext>
            </a:extLst>
          </p:cNvPr>
          <p:cNvSpPr txBox="1"/>
          <p:nvPr/>
        </p:nvSpPr>
        <p:spPr>
          <a:xfrm>
            <a:off x="560512" y="4384749"/>
            <a:ext cx="9000000" cy="1564531"/>
          </a:xfrm>
          <a:prstGeom prst="rect">
            <a:avLst/>
          </a:prstGeom>
          <a:noFill/>
        </p:spPr>
        <p:txBody>
          <a:bodyPr wrap="square">
            <a:spAutoFit/>
          </a:bodyPr>
          <a:lstStyle/>
          <a:p>
            <a:pPr>
              <a:spcBef>
                <a:spcPts val="0"/>
              </a:spcBef>
              <a:spcAft>
                <a:spcPts val="200"/>
              </a:spcAft>
            </a:pPr>
            <a:r>
              <a:rPr sz="1300" b="1">
                <a:solidFill>
                  <a:srgbClr val="C00000"/>
                </a:solidFill>
                <a:latin typeface="メイリオ"/>
                <a:ea typeface="メイリオ"/>
              </a:rPr>
              <a:t>⑤ 最終的にどこまで人が判断するか（大切）</a:t>
            </a:r>
          </a:p>
          <a:p>
            <a:pPr>
              <a:spcBef>
                <a:spcPts val="0"/>
              </a:spcBef>
              <a:spcAft>
                <a:spcPts val="200"/>
              </a:spcAft>
            </a:pPr>
            <a:r>
              <a:rPr sz="1100" b="0">
                <a:solidFill>
                  <a:srgbClr val="333333"/>
                </a:solidFill>
                <a:latin typeface="メイリオ"/>
                <a:ea typeface="メイリオ"/>
              </a:rPr>
              <a:t>・楽できるところは楽にしていく。ただし「AIがやってくれたはず」は言い訳にならない</a:t>
            </a:r>
          </a:p>
          <a:p>
            <a:pPr>
              <a:spcBef>
                <a:spcPts val="0"/>
              </a:spcBef>
              <a:spcAft>
                <a:spcPts val="200"/>
              </a:spcAft>
            </a:pPr>
            <a:r>
              <a:rPr sz="1100" b="0">
                <a:solidFill>
                  <a:srgbClr val="333333"/>
                </a:solidFill>
                <a:latin typeface="メイリオ"/>
                <a:ea typeface="メイリオ"/>
              </a:rPr>
              <a:t>・コミット前・リリース前に、人が見る範囲をチームで決めよう</a:t>
            </a:r>
          </a:p>
          <a:p>
            <a:pPr>
              <a:spcBef>
                <a:spcPts val="0"/>
              </a:spcBef>
              <a:spcAft>
                <a:spcPts val="200"/>
              </a:spcAft>
            </a:pPr>
            <a:r>
              <a:rPr sz="4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⑥ リスク・注意事項</a:t>
            </a:r>
          </a:p>
          <a:p>
            <a:pPr>
              <a:spcBef>
                <a:spcPts val="0"/>
              </a:spcBef>
              <a:spcAft>
                <a:spcPts val="200"/>
              </a:spcAft>
            </a:pPr>
            <a:r>
              <a:rPr sz="1000" b="0">
                <a:solidFill>
                  <a:srgbClr val="333333"/>
                </a:solidFill>
                <a:latin typeface="メイリオ"/>
                <a:ea typeface="メイリオ"/>
              </a:rPr>
              <a:t>・機密情報はできるだけ載せない／誤情報・根拠確認不足に注意</a:t>
            </a:r>
          </a:p>
          <a:p>
            <a:pPr>
              <a:spcBef>
                <a:spcPts val="0"/>
              </a:spcBef>
              <a:spcAft>
                <a:spcPts val="200"/>
              </a:spcAft>
            </a:pPr>
            <a:r>
              <a:rPr sz="1000" b="0">
                <a:solidFill>
                  <a:srgbClr val="333333"/>
                </a:solidFill>
                <a:latin typeface="メイリオ"/>
                <a:ea typeface="メイリオ"/>
              </a:rPr>
              <a:t>・チャット残存・属人化にも注意</a:t>
            </a:r>
          </a:p>
          <a:p>
            <a:pPr>
              <a:spcBef>
                <a:spcPts val="0"/>
              </a:spcBef>
              <a:spcAft>
                <a:spcPts val="200"/>
              </a:spcAft>
            </a:pPr>
            <a:r>
              <a:rPr sz="4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⑦ 加速のために</a:t>
            </a:r>
          </a:p>
          <a:p>
            <a:pPr>
              <a:spcBef>
                <a:spcPts val="0"/>
              </a:spcBef>
              <a:spcAft>
                <a:spcPts val="200"/>
              </a:spcAft>
            </a:pPr>
            <a:r>
              <a:rPr sz="1000" b="0">
                <a:solidFill>
                  <a:srgbClr val="333333"/>
                </a:solidFill>
                <a:latin typeface="メイリオ"/>
                <a:ea typeface="メイリオ"/>
              </a:rPr>
              <a:t>・EC-Rider AI（ガイド／プロンプト）の標準化</a:t>
            </a:r>
          </a:p>
          <a:p>
            <a:pPr>
              <a:spcBef>
                <a:spcPts val="0"/>
              </a:spcBef>
              <a:spcAft>
                <a:spcPts val="200"/>
              </a:spcAft>
            </a:pPr>
            <a:r>
              <a:rPr sz="1000" b="0">
                <a:solidFill>
                  <a:srgbClr val="333333"/>
                </a:solidFill>
                <a:latin typeface="メイリオ"/>
                <a:ea typeface="メイリオ"/>
              </a:rPr>
              <a:t>・AI範囲と人の確認観点の明確化／成功プロンプト・失敗事例の部内共有</a:t>
            </a:r>
          </a:p>
        </p:txBody>
      </p:sp>
    </p:spTree>
    <p:extLst>
      <p:ext uri="{BB962C8B-B14F-4D97-AF65-F5344CB8AC3E}">
        <p14:creationId xmlns:p14="http://schemas.microsoft.com/office/powerpoint/2010/main" val="9352107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20</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35659</TotalTime>
  <Words>2261</Words>
  <Application>Microsoft Office PowerPoint</Application>
  <PresentationFormat>A4 210 x 297 mm</PresentationFormat>
  <Paragraphs>519</Paragraphs>
  <Slides>21</Slides>
  <Notes>20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21</vt:i4>
      </vt:variant>
    </vt:vector>
  </HeadingPairs>
  <TitlesOfParts>
    <vt:vector size="29" baseType="lpstr">
      <vt:lpstr>メイリオ</vt:lpstr>
      <vt:lpstr>メイリオ</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5.新パッケージのバージョンアップ状況について（1/2）</vt:lpstr>
      <vt:lpstr>5.新パッケージのバージョンアップ状況について（2/2）</vt:lpstr>
      <vt:lpstr>6.ECRider Primoの受注状況について</vt:lpstr>
      <vt:lpstr>7.営業案件について</vt:lpstr>
      <vt:lpstr>8. AIエージェント「Kiro」セミナー受講報告と社内活用について</vt:lpstr>
      <vt:lpstr>9. AI活用・業務効率化についての共有（1/2）</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567</cp:revision>
  <cp:lastPrinted>2019-06-14T08:12:49Z</cp:lastPrinted>
  <dcterms:created xsi:type="dcterms:W3CDTF">2016-05-26T06:32:05Z</dcterms:created>
  <dcterms:modified xsi:type="dcterms:W3CDTF">2026-07-16T05:12:33Z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