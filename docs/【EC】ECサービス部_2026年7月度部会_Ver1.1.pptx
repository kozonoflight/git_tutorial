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00000" y="700000"/>
            <a:ext cx="8800000" cy="32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700000" y="1020000"/>
          <a:ext cx="8500000" cy="1250000"/>
        </p:xfrm>
        <a:graphic>
          <a:graphicData uri="http://schemas.openxmlformats.org/drawingml/2006/table">
            <a:tbl>
              <a:tblPr firstRow="1" bandRow="1">
                <a:tableStyleId>{5C22544A-7EE6-4342-B048-85BDC9FD1C3A}</a:tableStyleId>
              </a:tblPr>
              <a:tblGrid>
                <a:gridCol w="2125000"/>
                <a:gridCol w="2125000"/>
                <a:gridCol w="2125000"/>
                <a:gridCol w="2125000"/>
              </a:tblGrid>
              <a:tr h="3125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12500">
                <a:tc>
                  <a:txBody>
                    <a:bodyPr/>
                    <a:lstStyle/>
                    <a:p>
                      <a:pPr algn="l"/>
                      <a:r>
                        <a:rPr sz="1100" b="0">
                          <a:solidFill>
                            <a:srgbClr val="333333"/>
                          </a:solidFill>
                          <a:latin typeface="メイリオ"/>
                          <a:ea typeface="メイリオ"/>
                        </a:rPr>
                        <a:t>Ruby</a:t>
                      </a:r>
                    </a:p>
                  </a:txBody>
                  <a:tcPr anchor="ctr"/>
                </a:tc>
                <a:tc>
                  <a:txBody>
                    <a:bodyPr/>
                    <a:lstStyle/>
                    <a:p>
                      <a:pPr algn="ctr"/>
                      <a:r>
                        <a:rPr sz="1100" b="0">
                          <a:solidFill>
                            <a:srgbClr val="333333"/>
                          </a:solidFill>
                          <a:latin typeface="メイリオ"/>
                          <a:ea typeface="メイリオ"/>
                        </a:rPr>
                        <a:t>3.2.2</a:t>
                      </a:r>
                    </a:p>
                  </a:txBody>
                  <a:tcPr anchor="ctr"/>
                </a:tc>
                <a:tc>
                  <a:txBody>
                    <a:bodyPr/>
                    <a:lstStyle/>
                    <a:p>
                      <a:pPr algn="ctr"/>
                      <a:r>
                        <a:rPr sz="1100" b="1">
                          <a:solidFill>
                            <a:srgbClr val="333333"/>
                          </a:solidFill>
                          <a:latin typeface="メイリオ"/>
                          <a:ea typeface="メイリオ"/>
                        </a:rPr>
                        <a:t>3.4.9</a:t>
                      </a:r>
                    </a:p>
                  </a:txBody>
                  <a:tcPr anchor="ctr"/>
                </a:tc>
                <a:tc>
                  <a:txBody>
                    <a:bodyPr/>
                    <a:lstStyle/>
                    <a:p>
                      <a:pPr algn="ctr"/>
                      <a:r>
                        <a:rPr sz="1100" b="0">
                          <a:solidFill>
                            <a:srgbClr val="333333"/>
                          </a:solidFill>
                          <a:latin typeface="メイリオ"/>
                          <a:ea typeface="メイリオ"/>
                        </a:rPr>
                        <a:t>2028/3/31</a:t>
                      </a:r>
                    </a:p>
                  </a:txBody>
                  <a:tcPr anchor="ctr"/>
                </a:tc>
              </a:tr>
              <a:tr h="312500">
                <a:tc>
                  <a:txBody>
                    <a:bodyPr/>
                    <a:lstStyle/>
                    <a:p>
                      <a:pPr algn="l"/>
                      <a:r>
                        <a:rPr sz="1100" b="0">
                          <a:solidFill>
                            <a:srgbClr val="333333"/>
                          </a:solidFill>
                          <a:latin typeface="メイリオ"/>
                          <a:ea typeface="メイリオ"/>
                        </a:rPr>
                        <a:t>Rails</a:t>
                      </a:r>
                    </a:p>
                  </a:txBody>
                  <a:tcPr anchor="ctr">
                    <a:solidFill>
                      <a:srgbClr val="D6E3F0"/>
                    </a:solidFill>
                  </a:tcPr>
                </a:tc>
                <a:tc>
                  <a:txBody>
                    <a:bodyPr/>
                    <a:lstStyle/>
                    <a:p>
                      <a:pPr algn="ctr"/>
                      <a:r>
                        <a:rPr sz="1100" b="0">
                          <a:solidFill>
                            <a:srgbClr val="333333"/>
                          </a:solidFill>
                          <a:latin typeface="メイリオ"/>
                          <a:ea typeface="メイリオ"/>
                        </a:rPr>
                        <a:t>7.2.2</a:t>
                      </a:r>
                    </a:p>
                  </a:txBody>
                  <a:tcPr anchor="ctr">
                    <a:solidFill>
                      <a:srgbClr val="D6E3F0"/>
                    </a:solidFill>
                  </a:tcPr>
                </a:tc>
                <a:tc>
                  <a:txBody>
                    <a:bodyPr/>
                    <a:lstStyle/>
                    <a:p>
                      <a:pPr algn="ctr"/>
                      <a:r>
                        <a:rPr sz="1100" b="1">
                          <a:solidFill>
                            <a:srgbClr val="333333"/>
                          </a:solidFill>
                          <a:latin typeface="メイリオ"/>
                          <a:ea typeface="メイリオ"/>
                        </a:rPr>
                        <a:t>8.1</a:t>
                      </a:r>
                    </a:p>
                  </a:txBody>
                  <a:tcPr anchor="ctr">
                    <a:solidFill>
                      <a:srgbClr val="D6E3F0"/>
                    </a:solidFill>
                  </a:tcPr>
                </a:tc>
                <a:tc>
                  <a:txBody>
                    <a:bodyPr/>
                    <a:lstStyle/>
                    <a:p>
                      <a:pPr algn="ctr"/>
                      <a:r>
                        <a:rPr sz="1100" b="0">
                          <a:solidFill>
                            <a:srgbClr val="333333"/>
                          </a:solidFill>
                          <a:latin typeface="メイリオ"/>
                          <a:ea typeface="メイリオ"/>
                        </a:rPr>
                        <a:t>2027/10/10</a:t>
                      </a:r>
                    </a:p>
                  </a:txBody>
                  <a:tcPr anchor="ctr">
                    <a:solidFill>
                      <a:srgbClr val="D6E3F0"/>
                    </a:solidFill>
                  </a:tcPr>
                </a:tc>
              </a:tr>
              <a:tr h="312500">
                <a:tc>
                  <a:txBody>
                    <a:bodyPr/>
                    <a:lstStyle/>
                    <a:p>
                      <a:pPr algn="l"/>
                      <a:r>
                        <a:rPr sz="1100" b="0">
                          <a:solidFill>
                            <a:srgbClr val="333333"/>
                          </a:solidFill>
                          <a:latin typeface="メイリオ"/>
                          <a:ea typeface="メイリオ"/>
                        </a:rPr>
                        <a:t>MariaDB</a:t>
                      </a:r>
                    </a:p>
                  </a:txBody>
                  <a:tcPr anchor="ctr"/>
                </a:tc>
                <a:tc>
                  <a:txBody>
                    <a:bodyPr/>
                    <a:lstStyle/>
                    <a:p>
                      <a:pPr algn="ctr"/>
                      <a:r>
                        <a:rPr sz="1100" b="0">
                          <a:solidFill>
                            <a:srgbClr val="333333"/>
                          </a:solidFill>
                          <a:latin typeface="メイリオ"/>
                          <a:ea typeface="メイリオ"/>
                        </a:rPr>
                        <a:t>10.6.22</a:t>
                      </a:r>
                    </a:p>
                  </a:txBody>
                  <a:tcPr anchor="ctr"/>
                </a:tc>
                <a:tc>
                  <a:txBody>
                    <a:bodyPr/>
                    <a:lstStyle/>
                    <a:p>
                      <a:pPr algn="ctr"/>
                      <a:r>
                        <a:rPr sz="1100" b="1">
                          <a:solidFill>
                            <a:srgbClr val="333333"/>
                          </a:solidFill>
                          <a:latin typeface="メイリオ"/>
                          <a:ea typeface="メイリオ"/>
                        </a:rPr>
                        <a:t>10.11 LTS</a:t>
                      </a:r>
                    </a:p>
                  </a:txBody>
                  <a:tcPr anchor="ctr"/>
                </a:tc>
                <a:tc>
                  <a:txBody>
                    <a:bodyPr/>
                    <a:lstStyle/>
                    <a:p>
                      <a:pPr algn="ctr"/>
                      <a:r>
                        <a:rPr sz="11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700000" y="2350000"/>
            <a:ext cx="8800000" cy="4200000"/>
          </a:xfrm>
          <a:prstGeom prst="rect">
            <a:avLst/>
          </a:prstGeom>
          <a:noFill/>
        </p:spPr>
        <p:txBody>
          <a:bodyPr wrap="square">
            <a:spAutoFit/>
          </a:bodyPr>
          <a:lstStyle/>
          <a:p>
            <a:pPr>
              <a:spcBef>
                <a:spcPts val="0"/>
              </a:spcBef>
              <a:spcAft>
                <a:spcPts val="100"/>
              </a:spcAft>
            </a:pPr>
            <a:r>
              <a:rPr sz="1300" b="1">
                <a:solidFill>
                  <a:srgbClr val="C00000"/>
                </a:solidFill>
                <a:latin typeface="メイリオ"/>
                <a:ea typeface="メイリオ"/>
              </a:rPr>
              <a:t>■ 期限対応だけではないアップデートの狙い</a:t>
            </a:r>
          </a:p>
          <a:p>
            <a:pPr>
              <a:spcBef>
                <a:spcPts val="0"/>
              </a:spcBef>
              <a:spcAft>
                <a:spcPts val="100"/>
              </a:spcAft>
            </a:pPr>
            <a:r>
              <a:rPr sz="1100" b="0">
                <a:solidFill>
                  <a:srgbClr val="333333"/>
                </a:solidFill>
                <a:latin typeface="メイリオ"/>
                <a:ea typeface="メイリオ"/>
              </a:rPr>
              <a:t>【性能】Ruby YJIT強化・JSON処理高速化 → レスポンス改善の土台</a:t>
            </a:r>
          </a:p>
          <a:p>
            <a:pPr>
              <a:spcBef>
                <a:spcPts val="0"/>
              </a:spcBef>
              <a:spcAft>
                <a:spcPts val="100"/>
              </a:spcAft>
            </a:pPr>
            <a:r>
              <a:rPr sz="1100" b="0">
                <a:solidFill>
                  <a:srgbClr val="333333"/>
                </a:solidFill>
                <a:latin typeface="メイリオ"/>
                <a:ea typeface="メイリオ"/>
              </a:rPr>
              <a:t>【運用】Rails 8.1：長時間ジョブ継続・構造化イベント → バッチ／監視を強化しやすい</a:t>
            </a:r>
          </a:p>
          <a:p>
            <a:pPr>
              <a:spcBef>
                <a:spcPts val="0"/>
              </a:spcBef>
              <a:spcAft>
                <a:spcPts val="100"/>
              </a:spcAft>
            </a:pPr>
            <a:r>
              <a:rPr sz="1100" b="0">
                <a:solidFill>
                  <a:srgbClr val="333333"/>
                </a:solidFill>
                <a:latin typeface="メイリオ"/>
                <a:ea typeface="メイリオ"/>
              </a:rPr>
              <a:t>【DB】MariaDB 10.11：オプティマイザ改善・動的InnoDB設定 → 大量データ／負荷時の安定性</a:t>
            </a:r>
          </a:p>
          <a:p>
            <a:pPr>
              <a:spcBef>
                <a:spcPts val="0"/>
              </a:spcBef>
              <a:spcAft>
                <a:spcPts val="100"/>
              </a:spcAft>
            </a:pPr>
            <a:r>
              <a:rPr sz="1100" b="0">
                <a:solidFill>
                  <a:srgbClr val="333333"/>
                </a:solidFill>
                <a:latin typeface="メイリオ"/>
                <a:ea typeface="メイリオ"/>
              </a:rPr>
              <a:t>【開発】最新FWに乗ることで、今後の機能追加・改修スピードを上げる</a:t>
            </a:r>
          </a:p>
          <a:p>
            <a:pPr>
              <a:spcBef>
                <a:spcPts val="0"/>
              </a:spcBef>
              <a:spcAft>
                <a:spcPts val="100"/>
              </a:spcAft>
            </a:pPr>
            <a:r>
              <a:rPr sz="1100" b="0">
                <a:solidFill>
                  <a:srgbClr val="333333"/>
                </a:solidFill>
                <a:latin typeface="メイリオ"/>
                <a:ea typeface="メイリオ"/>
              </a:rPr>
              <a:t>【セキュア】セキュリティパッチ継続適用・古い依存の淘汰</a:t>
            </a:r>
          </a:p>
          <a:p>
            <a:pPr>
              <a:spcBef>
                <a:spcPts val="0"/>
              </a:spcBef>
              <a:spcAft>
                <a:spcPts val="100"/>
              </a:spcAft>
            </a:pPr>
            <a:r>
              <a:rPr sz="600" b="0">
                <a:solidFill>
                  <a:srgbClr val="333333"/>
                </a:solidFill>
                <a:latin typeface="メイリオ"/>
                <a:ea typeface="メイリオ"/>
              </a:rPr>
              <a:t/>
            </a:r>
          </a:p>
          <a:p>
            <a:pPr>
              <a:spcBef>
                <a:spcPts val="0"/>
              </a:spcBef>
              <a:spcAft>
                <a:spcPts val="100"/>
              </a:spcAft>
            </a:pPr>
            <a:r>
              <a:rPr sz="1300" b="1">
                <a:solidFill>
                  <a:srgbClr val="333333"/>
                </a:solidFill>
                <a:latin typeface="メイリオ"/>
                <a:ea typeface="メイリオ"/>
              </a:rPr>
              <a:t>■ 顧客適用／今後</a:t>
            </a:r>
          </a:p>
          <a:p>
            <a:pPr>
              <a:spcBef>
                <a:spcPts val="0"/>
              </a:spcBef>
              <a:spcAft>
                <a:spcPts val="100"/>
              </a:spcAft>
            </a:pPr>
            <a:r>
              <a:rPr sz="1100" b="0">
                <a:solidFill>
                  <a:srgbClr val="333333"/>
                </a:solidFill>
                <a:latin typeface="メイリオ"/>
                <a:ea typeface="メイリオ"/>
              </a:rPr>
              <a:t>・キャンドゥ／ポディウム：提供準備完了、顧客都合待ち</a:t>
            </a:r>
          </a:p>
          <a:p>
            <a:pPr>
              <a:spcBef>
                <a:spcPts val="0"/>
              </a:spcBef>
              <a:spcAft>
                <a:spcPts val="100"/>
              </a:spcAft>
            </a:pPr>
            <a:r>
              <a:rPr sz="1100" b="0">
                <a:solidFill>
                  <a:srgbClr val="333333"/>
                </a:solidFill>
                <a:latin typeface="メイリオ"/>
                <a:ea typeface="メイリオ"/>
              </a:rPr>
              <a:t>・次：Ubuntu 22.04 → 24.04（8月末までにサーバー含め完了見込み）</a:t>
            </a:r>
          </a:p>
          <a:p>
            <a:pPr>
              <a:spcBef>
                <a:spcPts val="0"/>
              </a:spcBef>
              <a:spcAft>
                <a:spcPts val="100"/>
              </a:spcAft>
            </a:pPr>
            <a:r>
              <a:rPr sz="400" b="0">
                <a:solidFill>
                  <a:srgbClr val="333333"/>
                </a:solidFill>
                <a:latin typeface="メイリオ"/>
                <a:ea typeface="メイリオ"/>
              </a:rPr>
              <a:t/>
            </a:r>
          </a:p>
          <a:p>
            <a:pPr>
              <a:spcBef>
                <a:spcPts val="0"/>
              </a:spcBef>
              <a:spcAft>
                <a:spcPts val="100"/>
              </a:spcAft>
            </a:pPr>
            <a:r>
              <a:rPr sz="1000" b="0">
                <a:solidFill>
                  <a:srgbClr val="C00000"/>
                </a:solidFill>
                <a:latin typeface="メイリオ"/>
                <a:ea typeface="メイリオ"/>
              </a:rPr>
              <a:t>※ 今回は基盤更新が主。画面の新機能追加というより「速く・安定・これから伸ばせる」土台づくり</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