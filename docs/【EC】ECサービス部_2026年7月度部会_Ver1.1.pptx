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00000" y="680000"/>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00000" y="960000"/>
          <a:ext cx="9300000" cy="3600000"/>
        </p:xfrm>
        <a:graphic>
          <a:graphicData uri="http://schemas.openxmlformats.org/drawingml/2006/table">
            <a:tbl>
              <a:tblPr firstRow="1" bandRow="1">
                <a:tableStyleId>{5C22544A-7EE6-4342-B048-85BDC9FD1C3A}</a:tableStyleId>
              </a:tblPr>
              <a:tblGrid>
                <a:gridCol w="1300000"/>
                <a:gridCol w="2300000"/>
                <a:gridCol w="2900000"/>
                <a:gridCol w="2800000"/>
              </a:tblGrid>
              <a:tr h="600000">
                <a:tc>
                  <a:txBody>
                    <a:bodyPr/>
                    <a:lstStyle/>
                    <a:p>
                      <a:pPr algn="ctr"/>
                      <a:r>
                        <a:rPr sz="1000" b="1">
                          <a:solidFill>
                            <a:srgbClr val="FFFFFF"/>
                          </a:solidFill>
                          <a:latin typeface="メイリオ"/>
                          <a:ea typeface="メイリオ"/>
                        </a:rPr>
                        <a:t>アップデート</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a:t>
                      </a:r>
                    </a:p>
                  </a:txBody>
                  <a:tcPr anchor="ctr">
                    <a:solidFill>
                      <a:srgbClr val="1F4E79"/>
                    </a:solidFill>
                  </a:tcPr>
                </a:tc>
                <a:tc>
                  <a:txBody>
                    <a:bodyPr/>
                    <a:lstStyle/>
                    <a:p>
                      <a:pPr algn="ctr"/>
                      <a:r>
                        <a:rPr sz="1000" b="1">
                          <a:solidFill>
                            <a:srgbClr val="FFFFFF"/>
                          </a:solidFill>
                          <a:latin typeface="メイリオ"/>
                          <a:ea typeface="メイリオ"/>
                        </a:rPr>
                        <a:t>今後の活用イメージ</a:t>
                      </a:r>
                    </a:p>
                  </a:txBody>
                  <a:tcPr anchor="ctr">
                    <a:solidFill>
                      <a:srgbClr val="1F4E79"/>
                    </a:solidFill>
                  </a:tcPr>
                </a:tc>
              </a:tr>
              <a:tr h="600000">
                <a:tc>
                  <a:txBody>
                    <a:bodyPr/>
                    <a:lstStyle/>
                    <a:p>
                      <a:pPr algn="l"/>
                      <a:r>
                        <a:rPr sz="900" b="1">
                          <a:solidFill>
                            <a:srgbClr val="333333"/>
                          </a:solidFill>
                          <a:latin typeface="メイリオ"/>
                          <a:ea typeface="メイリオ"/>
                        </a:rPr>
                        <a:t>Ruby
3.2→3.4</a:t>
                      </a:r>
                    </a:p>
                  </a:txBody>
                  <a:tcPr anchor="ctr"/>
                </a:tc>
                <a:tc>
                  <a:txBody>
                    <a:bodyPr/>
                    <a:lstStyle/>
                    <a:p>
                      <a:pPr algn="l"/>
                      <a:r>
                        <a:rPr sz="900" b="0">
                          <a:solidFill>
                            <a:srgbClr val="333333"/>
                          </a:solidFill>
                          <a:latin typeface="メイリオ"/>
                          <a:ea typeface="メイリオ"/>
                        </a:rPr>
                        <a:t>外部接続の改善
(Happy Eyeballs v2)</a:t>
                      </a:r>
                    </a:p>
                  </a:txBody>
                  <a:tcPr anchor="ctr"/>
                </a:tc>
                <a:tc>
                  <a:txBody>
                    <a:bodyPr/>
                    <a:lstStyle/>
                    <a:p>
                      <a:pPr algn="l"/>
                      <a:r>
                        <a:rPr sz="9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900" b="0">
                          <a:solidFill>
                            <a:srgbClr val="333333"/>
                          </a:solidFill>
                          <a:latin typeface="メイリオ"/>
                          <a:ea typeface="メイリオ"/>
                        </a:rPr>
                        <a:t>基幹・決済・配送など外部API連携の
接続まわりを安定させやすい</a:t>
                      </a:r>
                    </a:p>
                  </a:txBody>
                  <a:tcPr anchor="ctr"/>
                </a:tc>
              </a:tr>
              <a:tr h="60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同じジョブの途中再開
(Active Job Continuations)</a:t>
                      </a:r>
                    </a:p>
                  </a:txBody>
                  <a:tcPr anchor="ctr">
                    <a:solidFill>
                      <a:srgbClr val="D6E3F0"/>
                    </a:solidFill>
                  </a:tcPr>
                </a:tc>
                <a:tc>
                  <a:txBody>
                    <a:bodyPr/>
                    <a:lstStyle/>
                    <a:p>
                      <a:pPr algn="l"/>
                      <a:r>
                        <a:rPr sz="900" b="0">
                          <a:solidFill>
                            <a:srgbClr val="333333"/>
                          </a:solidFill>
                          <a:latin typeface="メイリオ"/>
                          <a:ea typeface="メイリオ"/>
                        </a:rPr>
                        <a:t>長時間ジョブが途中停止しても、
同じ実行を続きから再開しやすい
※再実行（新規ジョブ）とは別物</a:t>
                      </a:r>
                    </a:p>
                  </a:txBody>
                  <a:tcPr anchor="ctr">
                    <a:solidFill>
                      <a:srgbClr val="D6E3F0"/>
                    </a:solidFill>
                  </a:tcPr>
                </a:tc>
                <a:tc>
                  <a:txBody>
                    <a:bodyPr/>
                    <a:lstStyle/>
                    <a:p>
                      <a:pPr algn="l"/>
                      <a:r>
                        <a:rPr sz="900" b="0">
                          <a:solidFill>
                            <a:srgbClr val="333333"/>
                          </a:solidFill>
                          <a:latin typeface="メイリオ"/>
                          <a:ea typeface="メイリオ"/>
                        </a:rPr>
                        <a:t>CSV取込／出力など
長時間ジョブの安定運用に使える</a:t>
                      </a:r>
                    </a:p>
                  </a:txBody>
                  <a:tcPr anchor="ctr">
                    <a:solidFill>
                      <a:srgbClr val="D6E3F0"/>
                    </a:solidFill>
                  </a:tcPr>
                </a:tc>
              </a:tr>
              <a:tr h="600000">
                <a:tc>
                  <a:txBody>
                    <a:bodyPr/>
                    <a:lstStyle/>
                    <a:p>
                      <a:pPr algn="l"/>
                      <a:r>
                        <a:rPr sz="900" b="1">
                          <a:solidFill>
                            <a:srgbClr val="333333"/>
                          </a:solidFill>
                          <a:latin typeface="メイリオ"/>
                          <a:ea typeface="メイリオ"/>
                        </a:rPr>
                        <a:t>Rails
7.2→8.1</a:t>
                      </a:r>
                    </a:p>
                  </a:txBody>
                  <a:tcPr anchor="ctr"/>
                </a:tc>
                <a:tc>
                  <a:txBody>
                    <a:bodyPr/>
                    <a:lstStyle/>
                    <a:p>
                      <a:pPr algn="l"/>
                      <a:r>
                        <a:rPr sz="900" b="0">
                          <a:solidFill>
                            <a:srgbClr val="333333"/>
                          </a:solidFill>
                          <a:latin typeface="メイリオ"/>
                          <a:ea typeface="メイリオ"/>
                        </a:rPr>
                        <a:t>構造化イベント通知
(Rails.event)</a:t>
                      </a:r>
                    </a:p>
                  </a:txBody>
                  <a:tcPr anchor="ctr"/>
                </a:tc>
                <a:tc>
                  <a:txBody>
                    <a:bodyPr/>
                    <a:lstStyle/>
                    <a:p>
                      <a:pPr algn="l"/>
                      <a:r>
                        <a:rPr sz="900" b="0">
                          <a:solidFill>
                            <a:srgbClr val="333333"/>
                          </a:solidFill>
                          <a:latin typeface="メイリオ"/>
                          <a:ea typeface="メイリオ"/>
                        </a:rPr>
                        <a:t>人が読むログ文だけでなく、
出来事をJSON等で構造化して出せる
（詳細は下表）</a:t>
                      </a:r>
                    </a:p>
                  </a:txBody>
                  <a:tcPr anchor="ctr"/>
                </a:tc>
                <a:tc>
                  <a:txBody>
                    <a:bodyPr/>
                    <a:lstStyle/>
                    <a:p>
                      <a:pPr algn="l"/>
                      <a:r>
                        <a:rPr sz="900" b="0">
                          <a:solidFill>
                            <a:srgbClr val="333333"/>
                          </a:solidFill>
                          <a:latin typeface="メイリオ"/>
                          <a:ea typeface="メイリオ"/>
                        </a:rPr>
                        <a:t>監視・監査・障害調査を
標準の仕組みで進めやすい</a:t>
                      </a:r>
                    </a:p>
                  </a:txBody>
                  <a:tcPr anchor="ctr"/>
                </a:tc>
              </a:tr>
              <a:tr h="60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Markdown標準描画</a:t>
                      </a:r>
                    </a:p>
                  </a:txBody>
                  <a:tcPr anchor="ctr">
                    <a:solidFill>
                      <a:srgbClr val="D6E3F0"/>
                    </a:solidFill>
                  </a:tcPr>
                </a:tc>
                <a:tc>
                  <a:txBody>
                    <a:bodyPr/>
                    <a:lstStyle/>
                    <a:p>
                      <a:pPr algn="l"/>
                      <a:r>
                        <a:rPr sz="900" b="0">
                          <a:solidFill>
                            <a:srgbClr val="333333"/>
                          </a:solidFill>
                          <a:latin typeface="メイリオ"/>
                          <a:ea typeface="メイリオ"/>
                        </a:rPr>
                        <a:t>Markdownをそのまま
画面やAPI応答に使える</a:t>
                      </a:r>
                    </a:p>
                  </a:txBody>
                  <a:tcPr anchor="ctr">
                    <a:solidFill>
                      <a:srgbClr val="D6E3F0"/>
                    </a:solidFill>
                  </a:tcPr>
                </a:tc>
                <a:tc>
                  <a:txBody>
                    <a:bodyPr/>
                    <a:lstStyle/>
                    <a:p>
                      <a:pPr algn="l"/>
                      <a:r>
                        <a:rPr sz="900" b="0">
                          <a:solidFill>
                            <a:srgbClr val="333333"/>
                          </a:solidFill>
                          <a:latin typeface="メイリオ"/>
                          <a:ea typeface="メイリオ"/>
                        </a:rPr>
                        <a:t>ヘルプ・提案資料・AI出力の表示基盤
（伴走支援の説明にも応用可）</a:t>
                      </a:r>
                    </a:p>
                  </a:txBody>
                  <a:tcPr anchor="ctr">
                    <a:solidFill>
                      <a:srgbClr val="D6E3F0"/>
                    </a:solidFill>
                  </a:tcPr>
                </a:tc>
              </a:tr>
              <a:tr h="600000">
                <a:tc>
                  <a:txBody>
                    <a:bodyPr/>
                    <a:lstStyle/>
                    <a:p>
                      <a:pPr algn="l"/>
                      <a:r>
                        <a:rPr sz="900" b="1">
                          <a:solidFill>
                            <a:srgbClr val="333333"/>
                          </a:solidFill>
                          <a:latin typeface="メイリオ"/>
                          <a:ea typeface="メイリオ"/>
                        </a:rPr>
                        <a:t>MariaDB
10.6→10.11</a:t>
                      </a:r>
                    </a:p>
                  </a:txBody>
                  <a:tcPr anchor="ctr"/>
                </a:tc>
                <a:tc>
                  <a:txBody>
                    <a:bodyPr/>
                    <a:lstStyle/>
                    <a:p>
                      <a:pPr algn="l"/>
                      <a:r>
                        <a:rPr sz="900" b="0">
                          <a:solidFill>
                            <a:srgbClr val="333333"/>
                          </a:solidFill>
                          <a:latin typeface="メイリオ"/>
                          <a:ea typeface="メイリオ"/>
                        </a:rPr>
                        <a:t>UUID型
／設定の動的変更</a:t>
                      </a:r>
                    </a:p>
                  </a:txBody>
                  <a:tcPr anchor="ctr"/>
                </a:tc>
                <a:tc>
                  <a:txBody>
                    <a:bodyPr/>
                    <a:lstStyle/>
                    <a:p>
                      <a:pPr algn="l"/>
                      <a:r>
                        <a:rPr sz="900" b="0">
                          <a:solidFill>
                            <a:srgbClr val="333333"/>
                          </a:solidFill>
                          <a:latin typeface="メイリオ"/>
                          <a:ea typeface="メイリオ"/>
                        </a:rPr>
                        <a:t>UUIDをDB型で持てる
一部設定を再起動なしで変更できる</a:t>
                      </a:r>
                    </a:p>
                  </a:txBody>
                  <a:tcPr anchor="ctr"/>
                </a:tc>
                <a:tc>
                  <a:txBody>
                    <a:bodyPr/>
                    <a:lstStyle/>
                    <a:p>
                      <a:pPr algn="l"/>
                      <a:r>
                        <a:rPr sz="9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00000" y="4650000"/>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 構造化イベント（Rails.event）：以前 → 今回</a:t>
            </a:r>
          </a:p>
        </p:txBody>
      </p:sp>
      <p:graphicFrame>
        <p:nvGraphicFramePr>
          <p:cNvPr id="6" name="Table 5"/>
          <p:cNvGraphicFramePr>
            <a:graphicFrameLocks noGrp="1"/>
          </p:cNvGraphicFramePr>
          <p:nvPr/>
        </p:nvGraphicFramePr>
        <p:xfrm>
          <a:off x="300000" y="4950000"/>
          <a:ext cx="9300000" cy="1500000"/>
        </p:xfrm>
        <a:graphic>
          <a:graphicData uri="http://schemas.openxmlformats.org/drawingml/2006/table">
            <a:tbl>
              <a:tblPr firstRow="1" bandRow="1">
                <a:tableStyleId>{5C22544A-7EE6-4342-B048-85BDC9FD1C3A}</a:tableStyleId>
              </a:tblPr>
              <a:tblGrid>
                <a:gridCol w="1800000"/>
                <a:gridCol w="3500000"/>
                <a:gridCol w="4000000"/>
              </a:tblGrid>
              <a:tr h="375000">
                <a:tc>
                  <a:txBody>
                    <a:bodyPr/>
                    <a:lstStyle/>
                    <a:p>
                      <a:pPr algn="ctr"/>
                      <a:r>
                        <a:rPr sz="1000" b="1">
                          <a:solidFill>
                            <a:srgbClr val="FFFFFF"/>
                          </a:solidFill>
                          <a:latin typeface="メイリオ"/>
                          <a:ea typeface="メイリオ"/>
                        </a:rPr>
                        <a:t>仕組み</a:t>
                      </a:r>
                    </a:p>
                  </a:txBody>
                  <a:tcPr anchor="ctr">
                    <a:solidFill>
                      <a:srgbClr val="1F4E79"/>
                    </a:solidFill>
                  </a:tcPr>
                </a:tc>
                <a:tc>
                  <a:txBody>
                    <a:bodyPr/>
                    <a:lstStyle/>
                    <a:p>
                      <a:pPr algn="ctr"/>
                      <a:r>
                        <a:rPr sz="1000" b="1">
                          <a:solidFill>
                            <a:srgbClr val="FFFFFF"/>
                          </a:solidFill>
                          <a:latin typeface="メイリオ"/>
                          <a:ea typeface="メイリオ"/>
                        </a:rPr>
                        <a:t>以前</a:t>
                      </a:r>
                    </a:p>
                  </a:txBody>
                  <a:tcPr anchor="ctr">
                    <a:solidFill>
                      <a:srgbClr val="1F4E79"/>
                    </a:solidFill>
                  </a:tcPr>
                </a:tc>
                <a:tc>
                  <a:txBody>
                    <a:bodyPr/>
                    <a:lstStyle/>
                    <a:p>
                      <a:pPr algn="ctr"/>
                      <a:r>
                        <a:rPr sz="1000" b="1">
                          <a:solidFill>
                            <a:srgbClr val="FFFFFF"/>
                          </a:solidFill>
                          <a:latin typeface="メイリオ"/>
                          <a:ea typeface="メイリオ"/>
                        </a:rPr>
                        <a:t>今回（Rails 8.1）</a:t>
                      </a:r>
                    </a:p>
                  </a:txBody>
                  <a:tcPr anchor="ctr">
                    <a:solidFill>
                      <a:srgbClr val="1F4E79"/>
                    </a:solidFill>
                  </a:tcPr>
                </a:tc>
              </a:tr>
              <a:tr h="375000">
                <a:tc>
                  <a:txBody>
                    <a:bodyPr/>
                    <a:lstStyle/>
                    <a:p>
                      <a:pPr algn="l"/>
                      <a:r>
                        <a:rPr sz="900" b="1">
                          <a:solidFill>
                            <a:srgbClr val="333333"/>
                          </a:solidFill>
                          <a:latin typeface="メイリオ"/>
                          <a:ea typeface="メイリオ"/>
                        </a:rPr>
                        <a:t>Rails.logger</a:t>
                      </a:r>
                    </a:p>
                  </a:txBody>
                  <a:tcPr anchor="ctr"/>
                </a:tc>
                <a:tc>
                  <a:txBody>
                    <a:bodyPr/>
                    <a:lstStyle/>
                    <a:p>
                      <a:pPr algn="l"/>
                      <a:r>
                        <a:rPr sz="900" b="0">
                          <a:solidFill>
                            <a:srgbClr val="333333"/>
                          </a:solidFill>
                          <a:latin typeface="メイリオ"/>
                          <a:ea typeface="メイリオ"/>
                        </a:rPr>
                        <a:t>人が読むテキストログが中心
後から集計・検索しにくい</a:t>
                      </a:r>
                    </a:p>
                  </a:txBody>
                  <a:tcPr anchor="ctr"/>
                </a:tc>
                <a:tc>
                  <a:txBody>
                    <a:bodyPr/>
                    <a:lstStyle/>
                    <a:p>
                      <a:pPr algn="l"/>
                      <a:r>
                        <a:rPr sz="900" b="0">
                          <a:solidFill>
                            <a:srgbClr val="333333"/>
                          </a:solidFill>
                          <a:latin typeface="メイリオ"/>
                          <a:ea typeface="メイリオ"/>
                        </a:rPr>
                        <a:t>必要に応じて併用
（人間向けログとしては継続）</a:t>
                      </a:r>
                    </a:p>
                  </a:txBody>
                  <a:tcPr anchor="ctr"/>
                </a:tc>
              </a:tr>
              <a:tr h="375000">
                <a:tc>
                  <a:txBody>
                    <a:bodyPr/>
                    <a:lstStyle/>
                    <a:p>
                      <a:pPr algn="l"/>
                      <a:r>
                        <a:rPr sz="900" b="1">
                          <a:solidFill>
                            <a:srgbClr val="333333"/>
                          </a:solidFill>
                          <a:latin typeface="メイリオ"/>
                          <a:ea typeface="メイリオ"/>
                        </a:rPr>
                        <a:t>ActiveSupport::
Notifications</a:t>
                      </a:r>
                    </a:p>
                  </a:txBody>
                  <a:tcPr anchor="ctr">
                    <a:solidFill>
                      <a:srgbClr val="D6E3F0"/>
                    </a:solidFill>
                  </a:tcPr>
                </a:tc>
                <a:tc>
                  <a:txBody>
                    <a:bodyPr/>
                    <a:lstStyle/>
                    <a:p>
                      <a:pPr algn="l"/>
                      <a:r>
                        <a:rPr sz="900" b="0">
                          <a:solidFill>
                            <a:srgbClr val="333333"/>
                          </a:solidFill>
                          <a:latin typeface="メイリオ"/>
                          <a:ea typeface="メイリオ"/>
                        </a:rPr>
                        <a:t>内部計測・subscribe向け
統一的な文脈付与は弱い</a:t>
                      </a:r>
                    </a:p>
                  </a:txBody>
                  <a:tcPr anchor="ctr">
                    <a:solidFill>
                      <a:srgbClr val="D6E3F0"/>
                    </a:solidFill>
                  </a:tcPr>
                </a:tc>
                <a:tc>
                  <a:txBody>
                    <a:bodyPr/>
                    <a:lstStyle/>
                    <a:p>
                      <a:pPr algn="l"/>
                      <a:r>
                        <a:rPr sz="900" b="0">
                          <a:solidFill>
                            <a:srgbClr val="333333"/>
                          </a:solidFill>
                          <a:latin typeface="メイリオ"/>
                          <a:ea typeface="メイリオ"/>
                        </a:rPr>
                        <a:t>計測用途としては継続しつつ、
業務イベントは Rails.event へ寄せられる</a:t>
                      </a:r>
                    </a:p>
                  </a:txBody>
                  <a:tcPr anchor="ctr">
                    <a:solidFill>
                      <a:srgbClr val="D6E3F0"/>
                    </a:solidFill>
                  </a:tcPr>
                </a:tc>
              </a:tr>
              <a:tr h="375000">
                <a:tc>
                  <a:txBody>
                    <a:bodyPr/>
                    <a:lstStyle/>
                    <a:p>
                      <a:pPr algn="l"/>
                      <a:r>
                        <a:rPr sz="900" b="1">
                          <a:solidFill>
                            <a:srgbClr val="333333"/>
                          </a:solidFill>
                          <a:latin typeface="メイリオ"/>
                          <a:ea typeface="メイリオ"/>
                        </a:rPr>
                        <a:t>Rails.event
（新機能）</a:t>
                      </a:r>
                    </a:p>
                  </a:txBody>
                  <a:tcPr anchor="ctr"/>
                </a:tc>
                <a:tc>
                  <a:txBody>
                    <a:bodyPr/>
                    <a:lstStyle/>
                    <a:p>
                      <a:pPr algn="l"/>
                      <a:r>
                        <a:rPr sz="900" b="0">
                          <a:solidFill>
                            <a:srgbClr val="333333"/>
                          </a:solidFill>
                          <a:latin typeface="メイリオ"/>
                          <a:ea typeface="メイリオ"/>
                        </a:rPr>
                        <a:t>—（なし）</a:t>
                      </a:r>
                    </a:p>
                  </a:txBody>
                  <a:tcPr anchor="ctr"/>
                </a:tc>
                <a:tc>
                  <a:txBody>
                    <a:bodyPr/>
                    <a:lstStyle/>
                    <a:p>
                      <a:pPr algn="l"/>
                      <a:r>
                        <a:rPr sz="900" b="0">
                          <a:solidFill>
                            <a:srgbClr val="333333"/>
                          </a:solidFill>
                          <a:latin typeface="メイリオ"/>
                          <a:ea typeface="メイリオ"/>
                        </a:rPr>
                        <a:t>出来事を構造化データで統一出力
文脈（誰・どの要求）やタグを付与可能
監視基盤（CloudWatch等）へつなぎやすい</a:t>
                      </a:r>
                    </a:p>
                  </a:txBody>
                  <a:tcPr anchor="ctr"/>
                </a:tc>
              </a:tr>
            </a:tbl>
          </a:graphicData>
        </a:graphic>
      </p:graphicFrame>
      <p:sp>
        <p:nvSpPr>
          <p:cNvPr id="7" name="TextBox 6"/>
          <p:cNvSpPr txBox="1"/>
          <p:nvPr/>
        </p:nvSpPr>
        <p:spPr>
          <a:xfrm>
            <a:off x="400000" y="6550000"/>
            <a:ext cx="9200000" cy="250000"/>
          </a:xfrm>
          <a:prstGeom prst="rect">
            <a:avLst/>
          </a:prstGeom>
          <a:noFill/>
        </p:spPr>
        <p:txBody>
          <a:bodyPr wrap="square">
            <a:spAutoFit/>
          </a:bodyPr>
          <a:lstStyle/>
          <a:p>
            <a:r>
              <a:rPr sz="800" b="0">
                <a:solidFill>
                  <a:srgbClr val="666666"/>
                </a:solidFill>
                <a:latin typeface="メイリオ"/>
                <a:ea typeface="メイリオ"/>
              </a:rPr>
              <a:t>参考：Zenet Tech Blog「Rails 8.1.0で追加されたStructured Event Reporterについて整理してみた」</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40000"/>
            <a:ext cx="8500000" cy="56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t>
            </a:r>
          </a:p>
          <a:p>
            <a:pPr>
              <a:spcBef>
                <a:spcPts val="0"/>
              </a:spcBef>
              <a:spcAft>
                <a:spcPts val="100"/>
              </a:spcAft>
            </a:pPr>
            <a:r>
              <a:rPr sz="1300" b="0">
                <a:solidFill>
                  <a:srgbClr val="333333"/>
                </a:solidFill>
                <a:latin typeface="メイリオ"/>
                <a:ea typeface="メイリオ"/>
              </a:rPr>
              <a:t>・これまで：VS Code + GitHub Copilot</a:t>
            </a:r>
          </a:p>
          <a:p>
            <a:pPr>
              <a:spcBef>
                <a:spcPts val="0"/>
              </a:spcBef>
              <a:spcAft>
                <a:spcPts val="100"/>
              </a:spcAft>
            </a:pPr>
            <a:r>
              <a:rPr sz="1300" b="0">
                <a:solidFill>
                  <a:srgbClr val="333333"/>
                </a:solidFill>
                <a:latin typeface="メイリオ"/>
                <a:ea typeface="メイリオ"/>
              </a:rPr>
              <a:t>・これから：Cursor + Claude　／　Claude Desktop + Claude Code</a:t>
            </a:r>
          </a:p>
          <a:p>
            <a:pPr>
              <a:spcBef>
                <a:spcPts val="0"/>
              </a:spcBef>
              <a:spcAft>
                <a:spcPts val="100"/>
              </a:spcAft>
            </a:pPr>
            <a:r>
              <a:rPr sz="1300" b="0">
                <a:solidFill>
                  <a:srgbClr val="333333"/>
                </a:solidFill>
                <a:latin typeface="メイリオ"/>
                <a:ea typeface="メイリオ"/>
              </a:rPr>
              <a:t>・目的：現状の開発の効率化・品質向上</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② 1か月使ってみた所感</a:t>
            </a:r>
          </a:p>
          <a:p>
            <a:pPr>
              <a:spcBef>
                <a:spcPts val="0"/>
              </a:spcBef>
              <a:spcAft>
                <a:spcPts val="100"/>
              </a:spcAft>
            </a:pPr>
            <a:r>
              <a:rPr sz="1300" b="0">
                <a:solidFill>
                  <a:srgbClr val="333333"/>
                </a:solidFill>
                <a:latin typeface="メイリオ"/>
                <a:ea typeface="メイリオ"/>
              </a:rPr>
              <a:t>・回答精度にかなり優秀さを感じる</a:t>
            </a:r>
          </a:p>
          <a:p>
            <a:pPr>
              <a:spcBef>
                <a:spcPts val="0"/>
              </a:spcBef>
              <a:spcAft>
                <a:spcPts val="100"/>
              </a:spcAft>
            </a:pPr>
            <a:r>
              <a:rPr sz="1300" b="0">
                <a:solidFill>
                  <a:srgbClr val="333333"/>
                </a:solidFill>
                <a:latin typeface="メイリオ"/>
                <a:ea typeface="メイリオ"/>
              </a:rPr>
              <a:t>・「補完」から「要件〜実装〜レビュー伴走」へシフトできる</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300" b="0">
                <a:solidFill>
                  <a:srgbClr val="333333"/>
                </a:solidFill>
                <a:latin typeface="メイリオ"/>
                <a:ea typeface="メイリオ"/>
              </a:rPr>
              <a:t>・EC-Rider用プロンプト／実装ガイドを読込 → EC-Rider AI を構築中</a:t>
            </a:r>
          </a:p>
          <a:p>
            <a:pPr>
              <a:spcBef>
                <a:spcPts val="0"/>
              </a:spcBef>
              <a:spcAft>
                <a:spcPts val="100"/>
              </a:spcAft>
            </a:pPr>
            <a:r>
              <a:rPr sz="13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比較・リスク・加速施策は次ページ</a:t>
            </a:r>
          </a:p>
        </p:txBody>
      </p:sp>
    </p:spTree>
    <p:extLst>
      <p:ext uri="{BB962C8B-B14F-4D97-AF65-F5344CB8AC3E}">
        <p14:creationId xmlns:p14="http://schemas.microsoft.com/office/powerpoint/2010/main" val="321694651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00000" y="700000"/>
            <a:ext cx="9000000" cy="28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比較：VS Code Copilot vs Cursor + Claude</a:t>
            </a:r>
          </a:p>
        </p:txBody>
      </p:sp>
      <p:graphicFrame>
        <p:nvGraphicFramePr>
          <p:cNvPr id="4" name="Table 3"/>
          <p:cNvGraphicFramePr>
            <a:graphicFrameLocks noGrp="1"/>
          </p:cNvGraphicFramePr>
          <p:nvPr/>
        </p:nvGraphicFramePr>
        <p:xfrm>
          <a:off x="600000" y="980000"/>
          <a:ext cx="8700000" cy="1320000"/>
        </p:xfrm>
        <a:graphic>
          <a:graphicData uri="http://schemas.openxmlformats.org/drawingml/2006/table">
            <a:tbl>
              <a:tblPr firstRow="1" bandRow="1">
                <a:tableStyleId>{5C22544A-7EE6-4342-B048-85BDC9FD1C3A}</a:tableStyleId>
              </a:tblPr>
              <a:tblGrid>
                <a:gridCol w="1400000"/>
                <a:gridCol w="3650000"/>
                <a:gridCol w="3650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t>
                      </a:r>
                    </a:p>
                  </a:txBody>
                  <a:tcPr anchor="ctr">
                    <a:solidFill>
                      <a:srgbClr val="1F4E79"/>
                    </a:solidFill>
                  </a:tcPr>
                </a:tc>
                <a:tc>
                  <a:txBody>
                    <a:bodyPr/>
                    <a:lstStyle/>
                    <a:p>
                      <a:pPr algn="ctr"/>
                      <a:r>
                        <a:rPr sz="1000" b="1">
                          <a:solidFill>
                            <a:srgbClr val="FFFFFF"/>
                          </a:solidFill>
                          <a:latin typeface="メイリオ"/>
                          <a:ea typeface="メイリオ"/>
                        </a:rPr>
                        <a:t>Cursor + Claude</a:t>
                      </a:r>
                    </a:p>
                  </a:txBody>
                  <a:tcPr anchor="ctr">
                    <a:solidFill>
                      <a:srgbClr val="1F4E79"/>
                    </a:solidFill>
                  </a:tcPr>
                </a:tc>
              </a:tr>
              <a:tr h="330000">
                <a:tc>
                  <a:txBody>
                    <a:bodyPr/>
                    <a:lstStyle/>
                    <a:p>
                      <a:pPr algn="ctr"/>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tr>
              <a:tr h="330000">
                <a:tc>
                  <a:txBody>
                    <a:bodyPr/>
                    <a:lstStyle/>
                    <a:p>
                      <a:pPr algn="ctr"/>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tr>
              <a:tr h="330000">
                <a:tc>
                  <a:txBody>
                    <a:bodyPr/>
                    <a:lstStyle/>
                    <a:p>
                      <a:pPr algn="ctr"/>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tr>
            </a:tbl>
          </a:graphicData>
        </a:graphic>
      </p:graphicFrame>
      <p:sp>
        <p:nvSpPr>
          <p:cNvPr id="5" name="TextBox 4"/>
          <p:cNvSpPr txBox="1"/>
          <p:nvPr/>
        </p:nvSpPr>
        <p:spPr>
          <a:xfrm>
            <a:off x="600000" y="2360000"/>
            <a:ext cx="9000000" cy="26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Claude vs ChatGPT vs Gemini（開発用途）</a:t>
            </a:r>
          </a:p>
        </p:txBody>
      </p:sp>
      <p:graphicFrame>
        <p:nvGraphicFramePr>
          <p:cNvPr id="6" name="Table 5"/>
          <p:cNvGraphicFramePr>
            <a:graphicFrameLocks noGrp="1"/>
          </p:cNvGraphicFramePr>
          <p:nvPr/>
        </p:nvGraphicFramePr>
        <p:xfrm>
          <a:off x="600000" y="2620000"/>
          <a:ext cx="8700000" cy="1320000"/>
        </p:xfrm>
        <a:graphic>
          <a:graphicData uri="http://schemas.openxmlformats.org/drawingml/2006/table">
            <a:tbl>
              <a:tblPr firstRow="1" bandRow="1">
                <a:tableStyleId>{5C22544A-7EE6-4342-B048-85BDC9FD1C3A}</a:tableStyleId>
              </a:tblPr>
              <a:tblGrid>
                <a:gridCol w="2175000"/>
                <a:gridCol w="2175000"/>
                <a:gridCol w="2175000"/>
                <a:gridCol w="2175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330000">
                <a:tc>
                  <a:txBody>
                    <a:bodyPr/>
                    <a:lstStyle/>
                    <a:p>
                      <a:pPr algn="ctr"/>
                      <a:r>
                        <a:rPr sz="1000" b="0">
                          <a:solidFill>
                            <a:srgbClr val="333333"/>
                          </a:solidFill>
                          <a:latin typeface="メイリオ"/>
                          <a:ea typeface="メイリオ"/>
                        </a:rPr>
                        <a:t>強み</a:t>
                      </a:r>
                    </a:p>
                  </a:txBody>
                  <a:tcPr anchor="ctr"/>
                </a:tc>
                <a:tc>
                  <a:txBody>
                    <a:bodyPr/>
                    <a:lstStyle/>
                    <a:p>
                      <a:pPr algn="l"/>
                      <a:r>
                        <a:rPr sz="1000" b="0">
                          <a:solidFill>
                            <a:srgbClr val="333333"/>
                          </a:solidFill>
                          <a:latin typeface="メイリオ"/>
                          <a:ea typeface="メイリオ"/>
                        </a:rPr>
                        <a:t>実装の一貫性・指示遵守</a:t>
                      </a:r>
                    </a:p>
                  </a:txBody>
                  <a:tcPr anchor="ctr"/>
                </a:tc>
                <a:tc>
                  <a:txBody>
                    <a:bodyPr/>
                    <a:lstStyle/>
                    <a:p>
                      <a:pPr algn="l"/>
                      <a:r>
                        <a:rPr sz="1000" b="0">
                          <a:solidFill>
                            <a:srgbClr val="333333"/>
                          </a:solidFill>
                          <a:latin typeface="メイリオ"/>
                          <a:ea typeface="メイリオ"/>
                        </a:rPr>
                        <a:t>汎用壁打ち・文書作成</a:t>
                      </a:r>
                    </a:p>
                  </a:txBody>
                  <a:tcPr anchor="ctr"/>
                </a:tc>
                <a:tc>
                  <a:txBody>
                    <a:bodyPr/>
                    <a:lstStyle/>
                    <a:p>
                      <a:pPr algn="l"/>
                      <a:r>
                        <a:rPr sz="1000" b="0">
                          <a:solidFill>
                            <a:srgbClr val="333333"/>
                          </a:solidFill>
                          <a:latin typeface="メイリオ"/>
                          <a:ea typeface="メイリオ"/>
                        </a:rPr>
                        <a:t>調査・別視点・マルチモーダル</a:t>
                      </a:r>
                    </a:p>
                  </a:txBody>
                  <a:tcPr anchor="ctr"/>
                </a:tc>
              </a:tr>
              <a:tr h="330000">
                <a:tc>
                  <a:txBody>
                    <a:bodyPr/>
                    <a:lstStyle/>
                    <a:p>
                      <a:pPr algn="ctr"/>
                      <a:r>
                        <a:rPr sz="1000" b="0">
                          <a:solidFill>
                            <a:srgbClr val="333333"/>
                          </a:solidFill>
                          <a:latin typeface="メイリオ"/>
                          <a:ea typeface="メイリオ"/>
                        </a:rPr>
                        <a:t>向く用途</a:t>
                      </a:r>
                    </a:p>
                  </a:txBody>
                  <a:tcPr anchor="ctr">
                    <a:solidFill>
                      <a:srgbClr val="D6E3F0"/>
                    </a:solidFill>
                  </a:tcPr>
                </a:tc>
                <a:tc>
                  <a:txBody>
                    <a:bodyPr/>
                    <a:lstStyle/>
                    <a:p>
                      <a:pPr algn="l"/>
                      <a:r>
                        <a:rPr sz="1000" b="0">
                          <a:solidFill>
                            <a:srgbClr val="333333"/>
                          </a:solidFill>
                          <a:latin typeface="メイリオ"/>
                          <a:ea typeface="メイリオ"/>
                        </a:rPr>
                        <a:t>実装の主戦</a:t>
                      </a:r>
                    </a:p>
                  </a:txBody>
                  <a:tcPr anchor="ctr">
                    <a:solidFill>
                      <a:srgbClr val="D6E3F0"/>
                    </a:solidFill>
                  </a:tcPr>
                </a:tc>
                <a:tc>
                  <a:txBody>
                    <a:bodyPr/>
                    <a:lstStyle/>
                    <a:p>
                      <a:pPr algn="l"/>
                      <a:r>
                        <a:rPr sz="1000" b="0">
                          <a:solidFill>
                            <a:srgbClr val="333333"/>
                          </a:solidFill>
                          <a:latin typeface="メイリオ"/>
                          <a:ea typeface="メイリオ"/>
                        </a:rPr>
                        <a:t>企画・文章・広く聞く</a:t>
                      </a:r>
                    </a:p>
                  </a:txBody>
                  <a:tcPr anchor="ctr">
                    <a:solidFill>
                      <a:srgbClr val="D6E3F0"/>
                    </a:solidFill>
                  </a:tcPr>
                </a:tc>
                <a:tc>
                  <a:txBody>
                    <a:bodyPr/>
                    <a:lstStyle/>
                    <a:p>
                      <a:pPr algn="l"/>
                      <a:r>
                        <a:rPr sz="1000" b="0">
                          <a:solidFill>
                            <a:srgbClr val="333333"/>
                          </a:solidFill>
                          <a:latin typeface="メイリオ"/>
                          <a:ea typeface="メイリオ"/>
                        </a:rPr>
                        <a:t>検算・調査の補助</a:t>
                      </a:r>
                    </a:p>
                  </a:txBody>
                  <a:tcPr anchor="ctr">
                    <a:solidFill>
                      <a:srgbClr val="D6E3F0"/>
                    </a:solidFill>
                  </a:tcPr>
                </a:tc>
              </a:tr>
              <a:tr h="330000">
                <a:tc>
                  <a:txBody>
                    <a:bodyPr/>
                    <a:lstStyle/>
                    <a:p>
                      <a:pPr algn="ctr"/>
                      <a:r>
                        <a:rPr sz="1000" b="1">
                          <a:solidFill>
                            <a:srgbClr val="333333"/>
                          </a:solidFill>
                          <a:latin typeface="メイリオ"/>
                          <a:ea typeface="メイリオ"/>
                        </a:rPr>
                        <a:t>結論</a:t>
                      </a:r>
                    </a:p>
                  </a:txBody>
                  <a:tcPr anchor="ctr"/>
                </a:tc>
                <a:tc>
                  <a:txBody>
                    <a:bodyPr/>
                    <a:lstStyle/>
                    <a:p>
                      <a:pPr algn="l"/>
                      <a:r>
                        <a:rPr sz="1000" b="1">
                          <a:solidFill>
                            <a:srgbClr val="333333"/>
                          </a:solidFill>
                          <a:latin typeface="メイリオ"/>
                          <a:ea typeface="メイリオ"/>
                        </a:rPr>
                        <a:t>開発主戦候補</a:t>
                      </a:r>
                    </a:p>
                  </a:txBody>
                  <a:tcPr anchor="ctr"/>
                </a:tc>
                <a:tc>
                  <a:txBody>
                    <a:bodyPr/>
                    <a:lstStyle/>
                    <a:p>
                      <a:pPr algn="l"/>
                      <a:r>
                        <a:rPr sz="1000" b="1">
                          <a:solidFill>
                            <a:srgbClr val="333333"/>
                          </a:solidFill>
                          <a:latin typeface="メイリオ"/>
                          <a:ea typeface="メイリオ"/>
                        </a:rPr>
                        <a:t>役割分担で併用</a:t>
                      </a:r>
                    </a:p>
                  </a:txBody>
                  <a:tcPr anchor="ctr"/>
                </a:tc>
                <a:tc>
                  <a:txBody>
                    <a:bodyPr/>
                    <a:lstStyle/>
                    <a:p>
                      <a:pPr algn="l"/>
                      <a:r>
                        <a:rPr sz="1000" b="1">
                          <a:solidFill>
                            <a:srgbClr val="333333"/>
                          </a:solidFill>
                          <a:latin typeface="メイリオ"/>
                          <a:ea typeface="メイリオ"/>
                        </a:rPr>
                        <a:t>役割分担で併用</a:t>
                      </a:r>
                    </a:p>
                  </a:txBody>
                  <a:tcPr anchor="ctr"/>
                </a:tc>
              </a:tr>
            </a:tbl>
          </a:graphicData>
        </a:graphic>
      </p:graphicFrame>
      <p:sp>
        <p:nvSpPr>
          <p:cNvPr id="7" name="TextBox 6"/>
          <p:cNvSpPr txBox="1"/>
          <p:nvPr/>
        </p:nvSpPr>
        <p:spPr>
          <a:xfrm>
            <a:off x="600000" y="4020000"/>
            <a:ext cx="9000000" cy="25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・その他：誤実装（ハルシネーション）、テスト不足マージ、チャット残存、属人化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