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60" r:id="rId4"/>
  </p:sldMasterIdLst>
  <p:notesMasterIdLst>
    <p:notesMasterId r:id="rId26"/>
  </p:notesMasterIdLst>
  <p:sldIdLst>
    <p:sldId id="256" r:id="rId5"/>
    <p:sldId id="260" r:id="rId6"/>
    <p:sldId id="1008" r:id="rId7"/>
    <p:sldId id="1022" r:id="rId8"/>
    <p:sldId id="1020" r:id="rId9"/>
    <p:sldId id="1023" r:id="rId10"/>
    <p:sldId id="265" r:id="rId11"/>
    <p:sldId id="1013" r:id="rId12"/>
    <p:sldId id="1015" r:id="rId13"/>
    <p:sldId id="263" r:id="rId14"/>
    <p:sldId id="261" r:id="rId15"/>
    <p:sldId id="1024" r:id="rId16"/>
    <p:sldId id="1026" r:id="rId17"/>
    <p:sldId id="1030" r:id="rId18"/>
    <p:sldId id="264" r:id="rId19"/>
    <p:sldId id="1016" r:id="rId20"/>
    <p:sldId id="1025" r:id="rId21"/>
    <p:sldId id="1027" r:id="rId22"/>
    <p:sldId id="1031" r:id="rId23"/>
    <p:sldId id="1017" r:id="rId24"/>
    <p:sldId id="297" r:id="rId25"/>
  </p:sldIdLst>
  <p:sldSz cx="9906000" cy="6858000" type="A4"/>
  <p:notesSz cx="6735763" cy="9866313"/>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5">
          <p15:clr>
            <a:srgbClr val="A4A3A4"/>
          </p15:clr>
        </p15:guide>
        <p15:guide id="2" pos="31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0"/>
    <a:srgbClr val="DBEEEA"/>
    <a:srgbClr val="F8FFF0"/>
    <a:srgbClr val="FDEFE3"/>
    <a:srgbClr val="F5FFF0"/>
    <a:srgbClr val="F4FFF4"/>
    <a:srgbClr val="FFFFE7"/>
    <a:srgbClr val="FFFFCC"/>
    <a:srgbClr val="4581E1"/>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505E3EF-67EA-436B-97B2-0124C06EBD24}" styleName="中間スタイル 4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0A1B5D5-9B99-4C35-A422-299274C87663}" styleName="中間スタイル 1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中間スタイル 1 - アクセント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10" autoAdjust="0"/>
    <p:restoredTop sz="94601" autoAdjust="0"/>
  </p:normalViewPr>
  <p:slideViewPr>
    <p:cSldViewPr snapToObjects="1">
      <p:cViewPr varScale="1">
        <p:scale>
          <a:sx n="94" d="100"/>
          <a:sy n="94" d="100"/>
        </p:scale>
        <p:origin x="1224" y="29"/>
      </p:cViewPr>
      <p:guideLst>
        <p:guide orient="horz" pos="2165"/>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Objects="1">
      <p:cViewPr varScale="1">
        <p:scale>
          <a:sx n="58" d="100"/>
          <a:sy n="58" d="100"/>
        </p:scale>
        <p:origin x="3264" y="5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3316"/>
          </a:xfrm>
          <a:prstGeom prst="rect">
            <a:avLst/>
          </a:prstGeom>
        </p:spPr>
        <p:txBody>
          <a:bodyPr vert="horz" lIns="91433" tIns="45716" rIns="91433" bIns="45716"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5373" y="0"/>
            <a:ext cx="2918831" cy="493316"/>
          </a:xfrm>
          <a:prstGeom prst="rect">
            <a:avLst/>
          </a:prstGeom>
        </p:spPr>
        <p:txBody>
          <a:bodyPr vert="horz" lIns="91433" tIns="45716" rIns="91433" bIns="45716" rtlCol="0"/>
          <a:lstStyle>
            <a:lvl1pPr algn="r">
              <a:defRPr sz="1200"/>
            </a:lvl1pPr>
          </a:lstStyle>
          <a:p>
            <a:fld id="{146D2F6B-CC15-9347-BDA9-2E2E9ED97C42}" type="datetimeFigureOut">
              <a:rPr kumimoji="1" lang="ja-JP" altLang="en-US" smtClean="0"/>
              <a:pPr/>
              <a:t>2026/7/16</a:t>
            </a:fld>
            <a:endParaRPr kumimoji="1" lang="ja-JP" altLang="en-US"/>
          </a:p>
        </p:txBody>
      </p:sp>
      <p:sp>
        <p:nvSpPr>
          <p:cNvPr id="4" name="スライド イメージ プレースホルダー 3"/>
          <p:cNvSpPr>
            <a:spLocks noGrp="1" noRot="1" noChangeAspect="1"/>
          </p:cNvSpPr>
          <p:nvPr>
            <p:ph type="sldImg" idx="2"/>
          </p:nvPr>
        </p:nvSpPr>
        <p:spPr>
          <a:xfrm>
            <a:off x="695325" y="739775"/>
            <a:ext cx="5345113" cy="3700463"/>
          </a:xfrm>
          <a:prstGeom prst="rect">
            <a:avLst/>
          </a:prstGeom>
          <a:noFill/>
          <a:ln w="12700">
            <a:solidFill>
              <a:prstClr val="black"/>
            </a:solidFill>
          </a:ln>
        </p:spPr>
        <p:txBody>
          <a:bodyPr vert="horz" lIns="91433" tIns="45716" rIns="91433" bIns="45716" rtlCol="0" anchor="ctr"/>
          <a:lstStyle/>
          <a:p>
            <a:endParaRPr lang="ja-JP" altLang="en-US"/>
          </a:p>
        </p:txBody>
      </p:sp>
      <p:sp>
        <p:nvSpPr>
          <p:cNvPr id="5" name="ノート プレースホルダー 4"/>
          <p:cNvSpPr>
            <a:spLocks noGrp="1"/>
          </p:cNvSpPr>
          <p:nvPr>
            <p:ph type="body" sz="quarter" idx="3"/>
          </p:nvPr>
        </p:nvSpPr>
        <p:spPr>
          <a:xfrm>
            <a:off x="673577" y="4686499"/>
            <a:ext cx="5388610" cy="4439841"/>
          </a:xfrm>
          <a:prstGeom prst="rect">
            <a:avLst/>
          </a:prstGeom>
        </p:spPr>
        <p:txBody>
          <a:bodyPr vert="horz" lIns="91433" tIns="45716" rIns="91433" bIns="45716"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371285"/>
            <a:ext cx="2918831" cy="493316"/>
          </a:xfrm>
          <a:prstGeom prst="rect">
            <a:avLst/>
          </a:prstGeom>
        </p:spPr>
        <p:txBody>
          <a:bodyPr vert="horz" lIns="91433" tIns="45716" rIns="91433" bIns="45716"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5373" y="9371285"/>
            <a:ext cx="2918831" cy="493316"/>
          </a:xfrm>
          <a:prstGeom prst="rect">
            <a:avLst/>
          </a:prstGeom>
        </p:spPr>
        <p:txBody>
          <a:bodyPr vert="horz" lIns="91433" tIns="45716" rIns="91433" bIns="45716" rtlCol="0" anchor="b"/>
          <a:lstStyle>
            <a:lvl1pPr algn="r">
              <a:defRPr sz="1200"/>
            </a:lvl1pPr>
          </a:lstStyle>
          <a:p>
            <a:fld id="{E8D779D0-C3B9-C840-95B6-5C6C2A4F8781}" type="slidenum">
              <a:rPr kumimoji="1" lang="ja-JP" altLang="en-US" smtClean="0"/>
              <a:pPr/>
              <a:t>‹#›</a:t>
            </a:fld>
            <a:endParaRPr kumimoji="1" lang="ja-JP" altLang="en-US"/>
          </a:p>
        </p:txBody>
      </p:sp>
    </p:spTree>
    <p:extLst>
      <p:ext uri="{BB962C8B-B14F-4D97-AF65-F5344CB8AC3E}">
        <p14:creationId xmlns:p14="http://schemas.microsoft.com/office/powerpoint/2010/main" val="3001261318"/>
      </p:ext>
    </p:extLst>
  </p:cSld>
  <p:clrMap bg1="lt1" tx1="dk1" bg2="lt2" tx2="dk2" accent1="accent1" accent2="accent2" accent3="accent3" accent4="accent4" accent5="accent5" accent6="accent6" hlink="hlink" folHlink="folHlink"/>
  <p:notesStyle>
    <a:lvl1pPr marL="0" algn="l" defTabSz="457200" rtl="0" eaLnBrk="1" latinLnBrk="0" hangingPunct="1">
      <a:defRPr kumimoji="1" sz="1200" kern="1200">
        <a:solidFill>
          <a:schemeClr val="tx1"/>
        </a:solidFill>
        <a:latin typeface="+mn-lt"/>
        <a:ea typeface="+mn-ea"/>
        <a:cs typeface="+mn-cs"/>
      </a:defRPr>
    </a:lvl1pPr>
    <a:lvl2pPr marL="457200" algn="l" defTabSz="457200" rtl="0" eaLnBrk="1" latinLnBrk="0" hangingPunct="1">
      <a:defRPr kumimoji="1" sz="1200" kern="1200">
        <a:solidFill>
          <a:schemeClr val="tx1"/>
        </a:solidFill>
        <a:latin typeface="+mn-lt"/>
        <a:ea typeface="+mn-ea"/>
        <a:cs typeface="+mn-cs"/>
      </a:defRPr>
    </a:lvl2pPr>
    <a:lvl3pPr marL="914400" algn="l" defTabSz="457200" rtl="0" eaLnBrk="1" latinLnBrk="0" hangingPunct="1">
      <a:defRPr kumimoji="1" sz="1200" kern="1200">
        <a:solidFill>
          <a:schemeClr val="tx1"/>
        </a:solidFill>
        <a:latin typeface="+mn-lt"/>
        <a:ea typeface="+mn-ea"/>
        <a:cs typeface="+mn-cs"/>
      </a:defRPr>
    </a:lvl3pPr>
    <a:lvl4pPr marL="1371600" algn="l" defTabSz="457200" rtl="0" eaLnBrk="1" latinLnBrk="0" hangingPunct="1">
      <a:defRPr kumimoji="1" sz="1200" kern="1200">
        <a:solidFill>
          <a:schemeClr val="tx1"/>
        </a:solidFill>
        <a:latin typeface="+mn-lt"/>
        <a:ea typeface="+mn-ea"/>
        <a:cs typeface="+mn-cs"/>
      </a:defRPr>
    </a:lvl4pPr>
    <a:lvl5pPr marL="1828800" algn="l" defTabSz="457200" rtl="0" eaLnBrk="1" latinLnBrk="0" hangingPunct="1">
      <a:defRPr kumimoji="1" sz="1200" kern="1200">
        <a:solidFill>
          <a:schemeClr val="tx1"/>
        </a:solidFill>
        <a:latin typeface="+mn-lt"/>
        <a:ea typeface="+mn-ea"/>
        <a:cs typeface="+mn-cs"/>
      </a:defRPr>
    </a:lvl5pPr>
    <a:lvl6pPr marL="2286000" algn="l" defTabSz="457200" rtl="0" eaLnBrk="1" latinLnBrk="0" hangingPunct="1">
      <a:defRPr kumimoji="1" sz="1200" kern="1200">
        <a:solidFill>
          <a:schemeClr val="tx1"/>
        </a:solidFill>
        <a:latin typeface="+mn-lt"/>
        <a:ea typeface="+mn-ea"/>
        <a:cs typeface="+mn-cs"/>
      </a:defRPr>
    </a:lvl6pPr>
    <a:lvl7pPr marL="2743200" algn="l" defTabSz="457200" rtl="0" eaLnBrk="1" latinLnBrk="0" hangingPunct="1">
      <a:defRPr kumimoji="1" sz="1200" kern="1200">
        <a:solidFill>
          <a:schemeClr val="tx1"/>
        </a:solidFill>
        <a:latin typeface="+mn-lt"/>
        <a:ea typeface="+mn-ea"/>
        <a:cs typeface="+mn-cs"/>
      </a:defRPr>
    </a:lvl7pPr>
    <a:lvl8pPr marL="3200400" algn="l" defTabSz="457200" rtl="0" eaLnBrk="1" latinLnBrk="0" hangingPunct="1">
      <a:defRPr kumimoji="1" sz="1200" kern="1200">
        <a:solidFill>
          <a:schemeClr val="tx1"/>
        </a:solidFill>
        <a:latin typeface="+mn-lt"/>
        <a:ea typeface="+mn-ea"/>
        <a:cs typeface="+mn-cs"/>
      </a:defRPr>
    </a:lvl8pPr>
    <a:lvl9pPr marL="3657600" algn="l" defTabSz="4572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8D779D0-C3B9-C840-95B6-5C6C2A4F8781}" type="slidenum">
              <a:rPr kumimoji="1" lang="ja-JP" altLang="en-US" smtClean="0"/>
              <a:pPr/>
              <a:t>0</a:t>
            </a:fld>
            <a:endParaRPr kumimoji="1" lang="ja-JP" altLang="en-US"/>
          </a:p>
        </p:txBody>
      </p:sp>
    </p:spTree>
    <p:extLst>
      <p:ext uri="{BB962C8B-B14F-4D97-AF65-F5344CB8AC3E}">
        <p14:creationId xmlns:p14="http://schemas.microsoft.com/office/powerpoint/2010/main" val="3445551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uFillTx/>
            </a:endParaRPr>
          </a:p>
        </p:txBody>
      </p:sp>
      <p:sp>
        <p:nvSpPr>
          <p:cNvPr id="4" name="スライド番号プレースホルダー 3"/>
          <p:cNvSpPr>
            <a:spLocks noGrp="1"/>
          </p:cNvSpPr>
          <p:nvPr>
            <p:ph type="sldNum" sz="quarter" idx="10"/>
          </p:nvPr>
        </p:nvSpPr>
        <p:spPr/>
        <p:txBody>
          <a:bodyPr/>
          <a:lstStyle/>
          <a:p>
            <a:fld id="{13BBDFF2-C854-42AB-A0A1-39EE2E1232B0}" type="slidenum">
              <a:rPr kumimoji="1" lang="ja-JP" altLang="en-US" smtClean="0">
                <a:uFillTx/>
              </a:rPr>
              <a:pPr/>
              <a:t>1</a:t>
            </a:fld>
            <a:endParaRPr kumimoji="1" lang="ja-JP" altLang="en-US">
              <a:uFillTx/>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CA286-52C8-E777-5DCB-DAA32B2340D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0F0AA0-3A3B-B078-17D9-D1B8AEBC693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207C3C3-E3AE-761F-0E2B-746C4A10DB0E}"/>
              </a:ext>
            </a:extLst>
          </p:cNvPr>
          <p:cNvSpPr>
            <a:spLocks noGrp="1"/>
          </p:cNvSpPr>
          <p:nvPr>
            <p:ph type="body" idx="1"/>
          </p:nvPr>
        </p:nvSpPr>
        <p:spPr/>
        <p:txBody>
          <a:bodyPr/>
          <a:lstStyle/>
          <a:p>
            <a:endParaRPr kumimoji="1" lang="ja-JP" altLang="en-US">
              <a:uFillTx/>
            </a:endParaRPr>
          </a:p>
        </p:txBody>
      </p:sp>
      <p:sp>
        <p:nvSpPr>
          <p:cNvPr id="4" name="スライド番号プレースホルダー 3">
            <a:extLst>
              <a:ext uri="{FF2B5EF4-FFF2-40B4-BE49-F238E27FC236}">
                <a16:creationId xmlns:a16="http://schemas.microsoft.com/office/drawing/2014/main" id="{AA04F0E6-DD89-4F7A-3792-DD834CB1D72B}"/>
              </a:ext>
            </a:extLst>
          </p:cNvPr>
          <p:cNvSpPr>
            <a:spLocks noGrp="1"/>
          </p:cNvSpPr>
          <p:nvPr>
            <p:ph type="sldNum" sz="quarter" idx="10"/>
          </p:nvPr>
        </p:nvSpPr>
        <p:spPr/>
        <p:txBody>
          <a:bodyPr/>
          <a:lstStyle/>
          <a:p>
            <a:fld id="{13BBDFF2-C854-42AB-A0A1-39EE2E1232B0}" type="slidenum">
              <a:rPr kumimoji="1" lang="ja-JP" altLang="en-US" smtClean="0">
                <a:uFillTx/>
              </a:rPr>
              <a:pPr/>
              <a:t>2</a:t>
            </a:fld>
            <a:endParaRPr kumimoji="1" lang="ja-JP" altLang="en-US">
              <a:uFillTx/>
            </a:endParaRPr>
          </a:p>
        </p:txBody>
      </p:sp>
    </p:spTree>
    <p:extLst>
      <p:ext uri="{BB962C8B-B14F-4D97-AF65-F5344CB8AC3E}">
        <p14:creationId xmlns:p14="http://schemas.microsoft.com/office/powerpoint/2010/main" val="23479157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a:extLst>
            <a:ext uri="{FF2B5EF4-FFF2-40B4-BE49-F238E27FC236}">
              <a16:creationId xmlns:a16="http://schemas.microsoft.com/office/drawing/2014/main" id="{738279D0-012B-9582-8D34-988C4AC8D339}"/>
            </a:ext>
          </a:extLst>
        </p:cNvPr>
        <p:cNvGrpSpPr/>
        <p:nvPr/>
      </p:nvGrpSpPr>
      <p:grpSpPr>
        <a:xfrm>
          <a:off x="0" y="0"/>
          <a:ext cx="0" cy="0"/>
          <a:chOff x="0" y="0"/>
          <a:chExt cx="0" cy="0"/>
        </a:xfrm>
      </p:grpSpPr>
      <p:sp>
        <p:nvSpPr>
          <p:cNvPr id="146" name="Google Shape;146;p7:notes">
            <a:extLst>
              <a:ext uri="{FF2B5EF4-FFF2-40B4-BE49-F238E27FC236}">
                <a16:creationId xmlns:a16="http://schemas.microsoft.com/office/drawing/2014/main" id="{276DA6D5-E27F-F3C1-4ED0-E51E68D3723B}"/>
              </a:ext>
            </a:extLst>
          </p:cNvPr>
          <p:cNvSpPr txBox="1">
            <a:spLocks noGrp="1"/>
          </p:cNvSpPr>
          <p:nvPr>
            <p:ph type="body" idx="1"/>
          </p:nvPr>
        </p:nvSpPr>
        <p:spPr>
          <a:xfrm>
            <a:off x="710407" y="4861442"/>
            <a:ext cx="5683250" cy="4605576"/>
          </a:xfrm>
          <a:prstGeom prst="rect">
            <a:avLst/>
          </a:prstGeom>
        </p:spPr>
        <p:txBody>
          <a:bodyPr spcFirstLastPara="1" wrap="square" lIns="95475" tIns="47725" rIns="95475" bIns="47725" anchor="t" anchorCtr="0">
            <a:noAutofit/>
          </a:bodyPr>
          <a:lstStyle/>
          <a:p>
            <a:pPr marL="0" lvl="0" indent="0" algn="l" rtl="0">
              <a:spcBef>
                <a:spcPts val="0"/>
              </a:spcBef>
              <a:spcAft>
                <a:spcPts val="0"/>
              </a:spcAft>
              <a:buNone/>
            </a:pPr>
            <a:endParaRPr/>
          </a:p>
        </p:txBody>
      </p:sp>
      <p:sp>
        <p:nvSpPr>
          <p:cNvPr id="147" name="Google Shape;147;p7:notes">
            <a:extLst>
              <a:ext uri="{FF2B5EF4-FFF2-40B4-BE49-F238E27FC236}">
                <a16:creationId xmlns:a16="http://schemas.microsoft.com/office/drawing/2014/main" id="{2C4F783E-2E16-C3AB-5559-B338F285B73B}"/>
              </a:ext>
            </a:extLst>
          </p:cNvPr>
          <p:cNvSpPr>
            <a:spLocks noGrp="1" noRot="1" noChangeAspect="1"/>
          </p:cNvSpPr>
          <p:nvPr>
            <p:ph type="sldImg" idx="2"/>
          </p:nvPr>
        </p:nvSpPr>
        <p:spPr>
          <a:xfrm>
            <a:off x="779463" y="766763"/>
            <a:ext cx="5545137"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8046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a:extLst>
            <a:ext uri="{FF2B5EF4-FFF2-40B4-BE49-F238E27FC236}">
              <a16:creationId xmlns:a16="http://schemas.microsoft.com/office/drawing/2014/main" id="{67FFEEA6-C672-1606-EBB2-00B4A7F46D19}"/>
            </a:ext>
          </a:extLst>
        </p:cNvPr>
        <p:cNvGrpSpPr/>
        <p:nvPr/>
      </p:nvGrpSpPr>
      <p:grpSpPr>
        <a:xfrm>
          <a:off x="0" y="0"/>
          <a:ext cx="0" cy="0"/>
          <a:chOff x="0" y="0"/>
          <a:chExt cx="0" cy="0"/>
        </a:xfrm>
      </p:grpSpPr>
      <p:sp>
        <p:nvSpPr>
          <p:cNvPr id="146" name="Google Shape;146;p7:notes">
            <a:extLst>
              <a:ext uri="{FF2B5EF4-FFF2-40B4-BE49-F238E27FC236}">
                <a16:creationId xmlns:a16="http://schemas.microsoft.com/office/drawing/2014/main" id="{FEAD16F5-BAD9-1235-955C-AE8FC0D4B7DC}"/>
              </a:ext>
            </a:extLst>
          </p:cNvPr>
          <p:cNvSpPr txBox="1">
            <a:spLocks noGrp="1"/>
          </p:cNvSpPr>
          <p:nvPr>
            <p:ph type="body" idx="1"/>
          </p:nvPr>
        </p:nvSpPr>
        <p:spPr>
          <a:xfrm>
            <a:off x="710407" y="4861442"/>
            <a:ext cx="5683250" cy="4605576"/>
          </a:xfrm>
          <a:prstGeom prst="rect">
            <a:avLst/>
          </a:prstGeom>
        </p:spPr>
        <p:txBody>
          <a:bodyPr spcFirstLastPara="1" wrap="square" lIns="95475" tIns="47725" rIns="95475" bIns="47725" anchor="t" anchorCtr="0">
            <a:noAutofit/>
          </a:bodyPr>
          <a:lstStyle/>
          <a:p>
            <a:pPr marL="0" lvl="0" indent="0" algn="l" rtl="0">
              <a:spcBef>
                <a:spcPts val="0"/>
              </a:spcBef>
              <a:spcAft>
                <a:spcPts val="0"/>
              </a:spcAft>
              <a:buNone/>
            </a:pPr>
            <a:endParaRPr/>
          </a:p>
        </p:txBody>
      </p:sp>
      <p:sp>
        <p:nvSpPr>
          <p:cNvPr id="147" name="Google Shape;147;p7:notes">
            <a:extLst>
              <a:ext uri="{FF2B5EF4-FFF2-40B4-BE49-F238E27FC236}">
                <a16:creationId xmlns:a16="http://schemas.microsoft.com/office/drawing/2014/main" id="{7E51D101-30BC-2843-EE9D-79B3EB35A5E5}"/>
              </a:ext>
            </a:extLst>
          </p:cNvPr>
          <p:cNvSpPr>
            <a:spLocks noGrp="1" noRot="1" noChangeAspect="1"/>
          </p:cNvSpPr>
          <p:nvPr>
            <p:ph type="sldImg" idx="2"/>
          </p:nvPr>
        </p:nvSpPr>
        <p:spPr>
          <a:xfrm>
            <a:off x="779463" y="766763"/>
            <a:ext cx="5545137"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4201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a:extLst>
            <a:ext uri="{FF2B5EF4-FFF2-40B4-BE49-F238E27FC236}">
              <a16:creationId xmlns:a16="http://schemas.microsoft.com/office/drawing/2014/main" id="{0D77A9EF-3681-A016-1D0D-47BDDE8B6338}"/>
            </a:ext>
          </a:extLst>
        </p:cNvPr>
        <p:cNvGrpSpPr/>
        <p:nvPr/>
      </p:nvGrpSpPr>
      <p:grpSpPr>
        <a:xfrm>
          <a:off x="0" y="0"/>
          <a:ext cx="0" cy="0"/>
          <a:chOff x="0" y="0"/>
          <a:chExt cx="0" cy="0"/>
        </a:xfrm>
      </p:grpSpPr>
      <p:sp>
        <p:nvSpPr>
          <p:cNvPr id="146" name="Google Shape;146;p7:notes">
            <a:extLst>
              <a:ext uri="{FF2B5EF4-FFF2-40B4-BE49-F238E27FC236}">
                <a16:creationId xmlns:a16="http://schemas.microsoft.com/office/drawing/2014/main" id="{D11E9B0D-E516-B763-E11C-C6A704D674BF}"/>
              </a:ext>
            </a:extLst>
          </p:cNvPr>
          <p:cNvSpPr txBox="1">
            <a:spLocks noGrp="1"/>
          </p:cNvSpPr>
          <p:nvPr>
            <p:ph type="body" idx="1"/>
          </p:nvPr>
        </p:nvSpPr>
        <p:spPr>
          <a:xfrm>
            <a:off x="710407" y="4861442"/>
            <a:ext cx="5683250" cy="4605576"/>
          </a:xfrm>
          <a:prstGeom prst="rect">
            <a:avLst/>
          </a:prstGeom>
        </p:spPr>
        <p:txBody>
          <a:bodyPr spcFirstLastPara="1" wrap="square" lIns="95475" tIns="47725" rIns="95475" bIns="47725" anchor="t" anchorCtr="0">
            <a:noAutofit/>
          </a:bodyPr>
          <a:lstStyle/>
          <a:p>
            <a:pPr marL="0" lvl="0" indent="0" algn="l" rtl="0">
              <a:spcBef>
                <a:spcPts val="0"/>
              </a:spcBef>
              <a:spcAft>
                <a:spcPts val="0"/>
              </a:spcAft>
              <a:buNone/>
            </a:pPr>
            <a:endParaRPr/>
          </a:p>
        </p:txBody>
      </p:sp>
      <p:sp>
        <p:nvSpPr>
          <p:cNvPr id="147" name="Google Shape;147;p7:notes">
            <a:extLst>
              <a:ext uri="{FF2B5EF4-FFF2-40B4-BE49-F238E27FC236}">
                <a16:creationId xmlns:a16="http://schemas.microsoft.com/office/drawing/2014/main" id="{C1253DF8-2B72-B6D5-5B5F-5D3CB03D70D3}"/>
              </a:ext>
            </a:extLst>
          </p:cNvPr>
          <p:cNvSpPr>
            <a:spLocks noGrp="1" noRot="1" noChangeAspect="1"/>
          </p:cNvSpPr>
          <p:nvPr>
            <p:ph type="sldImg" idx="2"/>
          </p:nvPr>
        </p:nvSpPr>
        <p:spPr>
          <a:xfrm>
            <a:off x="779463" y="766763"/>
            <a:ext cx="5545137"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17429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7:notes"/>
          <p:cNvSpPr txBox="1">
            <a:spLocks noGrp="1"/>
          </p:cNvSpPr>
          <p:nvPr>
            <p:ph type="body" idx="1"/>
          </p:nvPr>
        </p:nvSpPr>
        <p:spPr>
          <a:xfrm>
            <a:off x="710407" y="4861442"/>
            <a:ext cx="5683250" cy="4605576"/>
          </a:xfrm>
          <a:prstGeom prst="rect">
            <a:avLst/>
          </a:prstGeom>
        </p:spPr>
        <p:txBody>
          <a:bodyPr spcFirstLastPara="1" wrap="square" lIns="95475" tIns="47725" rIns="95475" bIns="47725" anchor="t" anchorCtr="0">
            <a:noAutofit/>
          </a:bodyPr>
          <a:lstStyle/>
          <a:p>
            <a:pPr marL="0" lvl="0" indent="0" algn="l" rtl="0">
              <a:spcBef>
                <a:spcPts val="0"/>
              </a:spcBef>
              <a:spcAft>
                <a:spcPts val="0"/>
              </a:spcAft>
              <a:buNone/>
            </a:pPr>
            <a:endParaRPr/>
          </a:p>
        </p:txBody>
      </p:sp>
      <p:sp>
        <p:nvSpPr>
          <p:cNvPr id="147" name="Google Shape;147;p7:notes"/>
          <p:cNvSpPr>
            <a:spLocks noGrp="1" noRot="1" noChangeAspect="1"/>
          </p:cNvSpPr>
          <p:nvPr>
            <p:ph type="sldImg" idx="2"/>
          </p:nvPr>
        </p:nvSpPr>
        <p:spPr>
          <a:xfrm>
            <a:off x="779463" y="766763"/>
            <a:ext cx="5545137" cy="3838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2501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5D25B-91BC-46DE-31EB-66D234AD93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B92F5BD-A67C-75AF-EDBC-4613CEF7383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0E8B399-8C91-74B0-6C0F-45FFF4EC1A1A}"/>
              </a:ext>
            </a:extLst>
          </p:cNvPr>
          <p:cNvSpPr>
            <a:spLocks noGrp="1"/>
          </p:cNvSpPr>
          <p:nvPr>
            <p:ph type="body" idx="1"/>
          </p:nvPr>
        </p:nvSpPr>
        <p:spPr/>
        <p:txBody>
          <a:bodyPr/>
          <a:lstStyle/>
          <a:p>
            <a:endParaRPr kumimoji="1" lang="ja-JP" altLang="en-US">
              <a:uFillTx/>
            </a:endParaRPr>
          </a:p>
        </p:txBody>
      </p:sp>
      <p:sp>
        <p:nvSpPr>
          <p:cNvPr id="4" name="スライド番号プレースホルダー 3">
            <a:extLst>
              <a:ext uri="{FF2B5EF4-FFF2-40B4-BE49-F238E27FC236}">
                <a16:creationId xmlns:a16="http://schemas.microsoft.com/office/drawing/2014/main" id="{1EDE2676-6199-6460-C7F7-AEB3946CFAA1}"/>
              </a:ext>
            </a:extLst>
          </p:cNvPr>
          <p:cNvSpPr>
            <a:spLocks noGrp="1"/>
          </p:cNvSpPr>
          <p:nvPr>
            <p:ph type="sldNum" sz="quarter" idx="10"/>
          </p:nvPr>
        </p:nvSpPr>
        <p:spPr/>
        <p:txBody>
          <a:bodyPr/>
          <a:lstStyle/>
          <a:p>
            <a:fld id="{13BBDFF2-C854-42AB-A0A1-39EE2E1232B0}" type="slidenum">
              <a:rPr kumimoji="1" lang="ja-JP" altLang="en-US" smtClean="0">
                <a:uFillTx/>
              </a:rPr>
              <a:pPr/>
              <a:t>7</a:t>
            </a:fld>
            <a:endParaRPr kumimoji="1" lang="ja-JP" altLang="en-US">
              <a:uFillTx/>
            </a:endParaRPr>
          </a:p>
        </p:txBody>
      </p:sp>
    </p:spTree>
    <p:extLst>
      <p:ext uri="{BB962C8B-B14F-4D97-AF65-F5344CB8AC3E}">
        <p14:creationId xmlns:p14="http://schemas.microsoft.com/office/powerpoint/2010/main" val="26539387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E3170-7861-7506-8363-C28B2515126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ADF3A54-9DDC-505A-20E8-507F8D1CDB6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EB02C9A-6518-4AF6-0FD6-6546E2BF07F0}"/>
              </a:ext>
            </a:extLst>
          </p:cNvPr>
          <p:cNvSpPr>
            <a:spLocks noGrp="1"/>
          </p:cNvSpPr>
          <p:nvPr>
            <p:ph type="body" idx="1"/>
          </p:nvPr>
        </p:nvSpPr>
        <p:spPr/>
        <p:txBody>
          <a:bodyPr/>
          <a:lstStyle/>
          <a:p>
            <a:endParaRPr kumimoji="1" lang="ja-JP" altLang="en-US">
              <a:uFillTx/>
            </a:endParaRPr>
          </a:p>
        </p:txBody>
      </p:sp>
      <p:sp>
        <p:nvSpPr>
          <p:cNvPr id="4" name="スライド番号プレースホルダー 3">
            <a:extLst>
              <a:ext uri="{FF2B5EF4-FFF2-40B4-BE49-F238E27FC236}">
                <a16:creationId xmlns:a16="http://schemas.microsoft.com/office/drawing/2014/main" id="{5A13890F-7D62-F067-2F06-A94305039B6B}"/>
              </a:ext>
            </a:extLst>
          </p:cNvPr>
          <p:cNvSpPr>
            <a:spLocks noGrp="1"/>
          </p:cNvSpPr>
          <p:nvPr>
            <p:ph type="sldNum" sz="quarter" idx="10"/>
          </p:nvPr>
        </p:nvSpPr>
        <p:spPr/>
        <p:txBody>
          <a:bodyPr/>
          <a:lstStyle/>
          <a:p>
            <a:fld id="{13BBDFF2-C854-42AB-A0A1-39EE2E1232B0}" type="slidenum">
              <a:rPr kumimoji="1" lang="ja-JP" altLang="en-US" smtClean="0">
                <a:uFillTx/>
              </a:rPr>
              <a:pPr/>
              <a:t>8</a:t>
            </a:fld>
            <a:endParaRPr kumimoji="1" lang="ja-JP" altLang="en-US">
              <a:uFillTx/>
            </a:endParaRPr>
          </a:p>
        </p:txBody>
      </p:sp>
    </p:spTree>
    <p:extLst>
      <p:ext uri="{BB962C8B-B14F-4D97-AF65-F5344CB8AC3E}">
        <p14:creationId xmlns:p14="http://schemas.microsoft.com/office/powerpoint/2010/main" val="2995595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6D232-8DC1-6D9A-8830-3DDE854260D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01860C-F6E6-09DE-F1B2-F0304351AF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FDF84B5-601E-55D0-0EE1-1CA643F252FE}"/>
              </a:ext>
            </a:extLst>
          </p:cNvPr>
          <p:cNvSpPr>
            <a:spLocks noGrp="1"/>
          </p:cNvSpPr>
          <p:nvPr>
            <p:ph type="body" idx="1"/>
          </p:nvPr>
        </p:nvSpPr>
        <p:spPr/>
        <p:txBody>
          <a:bodyPr/>
          <a:lstStyle/>
          <a:p>
            <a:endParaRPr kumimoji="1" lang="ja-JP" altLang="en-US">
              <a:uFillTx/>
            </a:endParaRPr>
          </a:p>
        </p:txBody>
      </p:sp>
      <p:sp>
        <p:nvSpPr>
          <p:cNvPr id="4" name="スライド番号プレースホルダー 3">
            <a:extLst>
              <a:ext uri="{FF2B5EF4-FFF2-40B4-BE49-F238E27FC236}">
                <a16:creationId xmlns:a16="http://schemas.microsoft.com/office/drawing/2014/main" id="{FB4C17B6-2221-9421-068B-C82E291F68E9}"/>
              </a:ext>
            </a:extLst>
          </p:cNvPr>
          <p:cNvSpPr>
            <a:spLocks noGrp="1"/>
          </p:cNvSpPr>
          <p:nvPr>
            <p:ph type="sldNum" sz="quarter" idx="10"/>
          </p:nvPr>
        </p:nvSpPr>
        <p:spPr/>
        <p:txBody>
          <a:bodyPr/>
          <a:lstStyle/>
          <a:p>
            <a:fld id="{13BBDFF2-C854-42AB-A0A1-39EE2E1232B0}" type="slidenum">
              <a:rPr kumimoji="1" lang="ja-JP" altLang="en-US" smtClean="0">
                <a:uFillTx/>
              </a:rPr>
              <a:pPr/>
              <a:t>9</a:t>
            </a:fld>
            <a:endParaRPr kumimoji="1" lang="ja-JP" altLang="en-US">
              <a:uFillTx/>
            </a:endParaRPr>
          </a:p>
        </p:txBody>
      </p:sp>
    </p:spTree>
    <p:extLst>
      <p:ext uri="{BB962C8B-B14F-4D97-AF65-F5344CB8AC3E}">
        <p14:creationId xmlns:p14="http://schemas.microsoft.com/office/powerpoint/2010/main" val="1660762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72ADB-1DEC-D24E-DEA7-A7690749661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80AA2A6-59AE-1429-B146-8A1DB5AEDD3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B67F24C-E651-624F-7765-0AD022E4BC51}"/>
              </a:ext>
            </a:extLst>
          </p:cNvPr>
          <p:cNvSpPr>
            <a:spLocks noGrp="1"/>
          </p:cNvSpPr>
          <p:nvPr>
            <p:ph type="body" idx="1"/>
          </p:nvPr>
        </p:nvSpPr>
        <p:spPr/>
        <p:txBody>
          <a:bodyPr/>
          <a:lstStyle/>
          <a:p>
            <a:endParaRPr kumimoji="1" lang="ja-JP" altLang="en-US">
              <a:uFillTx/>
            </a:endParaRPr>
          </a:p>
        </p:txBody>
      </p:sp>
      <p:sp>
        <p:nvSpPr>
          <p:cNvPr id="4" name="スライド番号プレースホルダー 3">
            <a:extLst>
              <a:ext uri="{FF2B5EF4-FFF2-40B4-BE49-F238E27FC236}">
                <a16:creationId xmlns:a16="http://schemas.microsoft.com/office/drawing/2014/main" id="{C2DCD5F2-BF60-FF7A-8579-89A0D086BF25}"/>
              </a:ext>
            </a:extLst>
          </p:cNvPr>
          <p:cNvSpPr>
            <a:spLocks noGrp="1"/>
          </p:cNvSpPr>
          <p:nvPr>
            <p:ph type="sldNum" sz="quarter" idx="10"/>
          </p:nvPr>
        </p:nvSpPr>
        <p:spPr/>
        <p:txBody>
          <a:bodyPr/>
          <a:lstStyle/>
          <a:p>
            <a:fld id="{13BBDFF2-C854-42AB-A0A1-39EE2E1232B0}" type="slidenum">
              <a:rPr kumimoji="1" lang="ja-JP" altLang="en-US" smtClean="0">
                <a:uFillTx/>
              </a:rPr>
              <a:pPr/>
              <a:t>10</a:t>
            </a:fld>
            <a:endParaRPr kumimoji="1" lang="ja-JP" altLang="en-US">
              <a:uFillTx/>
            </a:endParaRPr>
          </a:p>
        </p:txBody>
      </p:sp>
    </p:spTree>
    <p:extLst>
      <p:ext uri="{BB962C8B-B14F-4D97-AF65-F5344CB8AC3E}">
        <p14:creationId xmlns:p14="http://schemas.microsoft.com/office/powerpoint/2010/main" val="29876809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47A08-23A5-B415-C0E9-5DA3AF44D74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483962C-B555-890E-10A2-FBF8938CFBD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64551F6-57C6-E557-A35C-4F277E331177}"/>
              </a:ext>
            </a:extLst>
          </p:cNvPr>
          <p:cNvSpPr>
            <a:spLocks noGrp="1"/>
          </p:cNvSpPr>
          <p:nvPr>
            <p:ph type="body" idx="1"/>
          </p:nvPr>
        </p:nvSpPr>
        <p:spPr/>
        <p:txBody>
          <a:bodyPr/>
          <a:lstStyle/>
          <a:p>
            <a:endParaRPr kumimoji="1" lang="ja-JP" altLang="en-US">
              <a:uFillTx/>
            </a:endParaRPr>
          </a:p>
        </p:txBody>
      </p:sp>
      <p:sp>
        <p:nvSpPr>
          <p:cNvPr id="4" name="スライド番号プレースホルダー 3">
            <a:extLst>
              <a:ext uri="{FF2B5EF4-FFF2-40B4-BE49-F238E27FC236}">
                <a16:creationId xmlns:a16="http://schemas.microsoft.com/office/drawing/2014/main" id="{BDB9D311-6707-F0E3-F0B4-E1A20AFCC8F0}"/>
              </a:ext>
            </a:extLst>
          </p:cNvPr>
          <p:cNvSpPr>
            <a:spLocks noGrp="1"/>
          </p:cNvSpPr>
          <p:nvPr>
            <p:ph type="sldNum" sz="quarter" idx="10"/>
          </p:nvPr>
        </p:nvSpPr>
        <p:spPr/>
        <p:txBody>
          <a:bodyPr/>
          <a:lstStyle/>
          <a:p>
            <a:fld id="{13BBDFF2-C854-42AB-A0A1-39EE2E1232B0}" type="slidenum">
              <a:rPr kumimoji="1" lang="ja-JP" altLang="en-US" smtClean="0">
                <a:uFillTx/>
              </a:rPr>
              <a:pPr/>
              <a:t>11</a:t>
            </a:fld>
            <a:endParaRPr kumimoji="1" lang="ja-JP" altLang="en-US">
              <a:uFillTx/>
            </a:endParaRPr>
          </a:p>
        </p:txBody>
      </p:sp>
    </p:spTree>
    <p:extLst>
      <p:ext uri="{BB962C8B-B14F-4D97-AF65-F5344CB8AC3E}">
        <p14:creationId xmlns:p14="http://schemas.microsoft.com/office/powerpoint/2010/main" val="28421854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105F5-783E-E3C4-46BA-A7E9A5F1D8D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56A96ED-74C4-03E3-23FF-19C919D17D7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E101C61-D652-1DC2-ABB8-579997151B56}"/>
              </a:ext>
            </a:extLst>
          </p:cNvPr>
          <p:cNvSpPr>
            <a:spLocks noGrp="1"/>
          </p:cNvSpPr>
          <p:nvPr>
            <p:ph type="body" idx="1"/>
          </p:nvPr>
        </p:nvSpPr>
        <p:spPr/>
        <p:txBody>
          <a:bodyPr/>
          <a:lstStyle/>
          <a:p>
            <a:endParaRPr kumimoji="1" lang="ja-JP" altLang="en-US">
              <a:uFillTx/>
            </a:endParaRPr>
          </a:p>
        </p:txBody>
      </p:sp>
      <p:sp>
        <p:nvSpPr>
          <p:cNvPr id="4" name="スライド番号プレースホルダー 3">
            <a:extLst>
              <a:ext uri="{FF2B5EF4-FFF2-40B4-BE49-F238E27FC236}">
                <a16:creationId xmlns:a16="http://schemas.microsoft.com/office/drawing/2014/main" id="{E9A1B268-11E0-D7DB-7737-F1A9209D6EEE}"/>
              </a:ext>
            </a:extLst>
          </p:cNvPr>
          <p:cNvSpPr>
            <a:spLocks noGrp="1"/>
          </p:cNvSpPr>
          <p:nvPr>
            <p:ph type="sldNum" sz="quarter" idx="10"/>
          </p:nvPr>
        </p:nvSpPr>
        <p:spPr/>
        <p:txBody>
          <a:bodyPr/>
          <a:lstStyle/>
          <a:p>
            <a:fld id="{13BBDFF2-C854-42AB-A0A1-39EE2E1232B0}" type="slidenum">
              <a:rPr kumimoji="1" lang="ja-JP" altLang="en-US" smtClean="0">
                <a:uFillTx/>
              </a:rPr>
              <a:pPr/>
              <a:t>12</a:t>
            </a:fld>
            <a:endParaRPr kumimoji="1" lang="ja-JP" altLang="en-US">
              <a:uFillTx/>
            </a:endParaRPr>
          </a:p>
        </p:txBody>
      </p:sp>
    </p:spTree>
    <p:extLst>
      <p:ext uri="{BB962C8B-B14F-4D97-AF65-F5344CB8AC3E}">
        <p14:creationId xmlns:p14="http://schemas.microsoft.com/office/powerpoint/2010/main" val="10347971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87169-E318-986A-F482-854EF613821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F0A557D-9DEA-0C90-D032-748D215D02E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1BB921F-B79B-EDD9-A4B7-45EF31D69362}"/>
              </a:ext>
            </a:extLst>
          </p:cNvPr>
          <p:cNvSpPr>
            <a:spLocks noGrp="1"/>
          </p:cNvSpPr>
          <p:nvPr>
            <p:ph type="body" idx="1"/>
          </p:nvPr>
        </p:nvSpPr>
        <p:spPr/>
        <p:txBody>
          <a:bodyPr/>
          <a:lstStyle/>
          <a:p>
            <a:endParaRPr kumimoji="1" lang="ja-JP" altLang="en-US">
              <a:uFillTx/>
            </a:endParaRPr>
          </a:p>
        </p:txBody>
      </p:sp>
      <p:sp>
        <p:nvSpPr>
          <p:cNvPr id="4" name="スライド番号プレースホルダー 3">
            <a:extLst>
              <a:ext uri="{FF2B5EF4-FFF2-40B4-BE49-F238E27FC236}">
                <a16:creationId xmlns:a16="http://schemas.microsoft.com/office/drawing/2014/main" id="{C12F37C2-ED26-C4F8-A1C7-D24B9AAC4D26}"/>
              </a:ext>
            </a:extLst>
          </p:cNvPr>
          <p:cNvSpPr>
            <a:spLocks noGrp="1"/>
          </p:cNvSpPr>
          <p:nvPr>
            <p:ph type="sldNum" sz="quarter" idx="10"/>
          </p:nvPr>
        </p:nvSpPr>
        <p:spPr/>
        <p:txBody>
          <a:bodyPr/>
          <a:lstStyle/>
          <a:p>
            <a:fld id="{13BBDFF2-C854-42AB-A0A1-39EE2E1232B0}" type="slidenum">
              <a:rPr kumimoji="1" lang="ja-JP" altLang="en-US" smtClean="0">
                <a:uFillTx/>
              </a:rPr>
              <a:pPr/>
              <a:t>13</a:t>
            </a:fld>
            <a:endParaRPr kumimoji="1" lang="ja-JP" altLang="en-US">
              <a:uFillTx/>
            </a:endParaRPr>
          </a:p>
        </p:txBody>
      </p:sp>
    </p:spTree>
    <p:extLst>
      <p:ext uri="{BB962C8B-B14F-4D97-AF65-F5344CB8AC3E}">
        <p14:creationId xmlns:p14="http://schemas.microsoft.com/office/powerpoint/2010/main" val="13448869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FF49A-15AD-6923-9DC6-3E7F49298B5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E74A3C7-9E2B-B453-5E81-F84F34BFBEF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EF23F1-967E-9789-8A72-B309F31A2C2B}"/>
              </a:ext>
            </a:extLst>
          </p:cNvPr>
          <p:cNvSpPr>
            <a:spLocks noGrp="1"/>
          </p:cNvSpPr>
          <p:nvPr>
            <p:ph type="body" idx="1"/>
          </p:nvPr>
        </p:nvSpPr>
        <p:spPr/>
        <p:txBody>
          <a:bodyPr/>
          <a:lstStyle/>
          <a:p>
            <a:endParaRPr kumimoji="1" lang="ja-JP" altLang="en-US">
              <a:uFillTx/>
            </a:endParaRPr>
          </a:p>
        </p:txBody>
      </p:sp>
      <p:sp>
        <p:nvSpPr>
          <p:cNvPr id="4" name="スライド番号プレースホルダー 3">
            <a:extLst>
              <a:ext uri="{FF2B5EF4-FFF2-40B4-BE49-F238E27FC236}">
                <a16:creationId xmlns:a16="http://schemas.microsoft.com/office/drawing/2014/main" id="{77941E0E-B427-A7DD-AD41-548CF985D86D}"/>
              </a:ext>
            </a:extLst>
          </p:cNvPr>
          <p:cNvSpPr>
            <a:spLocks noGrp="1"/>
          </p:cNvSpPr>
          <p:nvPr>
            <p:ph type="sldNum" sz="quarter" idx="10"/>
          </p:nvPr>
        </p:nvSpPr>
        <p:spPr/>
        <p:txBody>
          <a:bodyPr/>
          <a:lstStyle/>
          <a:p>
            <a:fld id="{13BBDFF2-C854-42AB-A0A1-39EE2E1232B0}" type="slidenum">
              <a:rPr kumimoji="1" lang="ja-JP" altLang="en-US" smtClean="0">
                <a:uFillTx/>
              </a:rPr>
              <a:pPr/>
              <a:t>14</a:t>
            </a:fld>
            <a:endParaRPr kumimoji="1" lang="ja-JP" altLang="en-US">
              <a:uFillTx/>
            </a:endParaRPr>
          </a:p>
        </p:txBody>
      </p:sp>
    </p:spTree>
    <p:extLst>
      <p:ext uri="{BB962C8B-B14F-4D97-AF65-F5344CB8AC3E}">
        <p14:creationId xmlns:p14="http://schemas.microsoft.com/office/powerpoint/2010/main" val="24011290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3A200-DDA4-CF34-A0B6-5A399166B59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FBDAB7-28A1-BBB6-E182-B8A90C6D503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6D71981-A3F0-7EE2-E01C-59F8D21E0F8E}"/>
              </a:ext>
            </a:extLst>
          </p:cNvPr>
          <p:cNvSpPr>
            <a:spLocks noGrp="1"/>
          </p:cNvSpPr>
          <p:nvPr>
            <p:ph type="body" idx="1"/>
          </p:nvPr>
        </p:nvSpPr>
        <p:spPr/>
        <p:txBody>
          <a:bodyPr/>
          <a:lstStyle/>
          <a:p>
            <a:endParaRPr kumimoji="1" lang="ja-JP" altLang="en-US">
              <a:uFillTx/>
            </a:endParaRPr>
          </a:p>
        </p:txBody>
      </p:sp>
      <p:sp>
        <p:nvSpPr>
          <p:cNvPr id="4" name="スライド番号プレースホルダー 3">
            <a:extLst>
              <a:ext uri="{FF2B5EF4-FFF2-40B4-BE49-F238E27FC236}">
                <a16:creationId xmlns:a16="http://schemas.microsoft.com/office/drawing/2014/main" id="{A1909835-BC66-AB92-69FB-0BC6965850B0}"/>
              </a:ext>
            </a:extLst>
          </p:cNvPr>
          <p:cNvSpPr>
            <a:spLocks noGrp="1"/>
          </p:cNvSpPr>
          <p:nvPr>
            <p:ph type="sldNum" sz="quarter" idx="10"/>
          </p:nvPr>
        </p:nvSpPr>
        <p:spPr/>
        <p:txBody>
          <a:bodyPr/>
          <a:lstStyle/>
          <a:p>
            <a:fld id="{13BBDFF2-C854-42AB-A0A1-39EE2E1232B0}" type="slidenum">
              <a:rPr kumimoji="1" lang="ja-JP" altLang="en-US" smtClean="0">
                <a:uFillTx/>
              </a:rPr>
              <a:pPr/>
              <a:t>15</a:t>
            </a:fld>
            <a:endParaRPr kumimoji="1" lang="ja-JP" altLang="en-US">
              <a:uFillTx/>
            </a:endParaRPr>
          </a:p>
        </p:txBody>
      </p:sp>
    </p:spTree>
    <p:extLst>
      <p:ext uri="{BB962C8B-B14F-4D97-AF65-F5344CB8AC3E}">
        <p14:creationId xmlns:p14="http://schemas.microsoft.com/office/powerpoint/2010/main" val="4889428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93399-C6A1-1B43-8DB6-33671B27F04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BA7CB35-B770-2C2B-46C4-7699BD3A518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605465B-D8FB-F827-FB78-C8C669B8B2D9}"/>
              </a:ext>
            </a:extLst>
          </p:cNvPr>
          <p:cNvSpPr>
            <a:spLocks noGrp="1"/>
          </p:cNvSpPr>
          <p:nvPr>
            <p:ph type="body" idx="1"/>
          </p:nvPr>
        </p:nvSpPr>
        <p:spPr/>
        <p:txBody>
          <a:bodyPr/>
          <a:lstStyle/>
          <a:p>
            <a:endParaRPr kumimoji="1" lang="ja-JP" altLang="en-US">
              <a:uFillTx/>
            </a:endParaRPr>
          </a:p>
        </p:txBody>
      </p:sp>
      <p:sp>
        <p:nvSpPr>
          <p:cNvPr id="4" name="スライド番号プレースホルダー 3">
            <a:extLst>
              <a:ext uri="{FF2B5EF4-FFF2-40B4-BE49-F238E27FC236}">
                <a16:creationId xmlns:a16="http://schemas.microsoft.com/office/drawing/2014/main" id="{703C0643-49CF-DF4C-3697-62A6F303B5E7}"/>
              </a:ext>
            </a:extLst>
          </p:cNvPr>
          <p:cNvSpPr>
            <a:spLocks noGrp="1"/>
          </p:cNvSpPr>
          <p:nvPr>
            <p:ph type="sldNum" sz="quarter" idx="10"/>
          </p:nvPr>
        </p:nvSpPr>
        <p:spPr/>
        <p:txBody>
          <a:bodyPr/>
          <a:lstStyle/>
          <a:p>
            <a:fld id="{13BBDFF2-C854-42AB-A0A1-39EE2E1232B0}" type="slidenum">
              <a:rPr kumimoji="1" lang="ja-JP" altLang="en-US" smtClean="0">
                <a:uFillTx/>
              </a:rPr>
              <a:pPr/>
              <a:t>16</a:t>
            </a:fld>
            <a:endParaRPr kumimoji="1" lang="ja-JP" altLang="en-US">
              <a:uFillTx/>
            </a:endParaRPr>
          </a:p>
        </p:txBody>
      </p:sp>
    </p:spTree>
    <p:extLst>
      <p:ext uri="{BB962C8B-B14F-4D97-AF65-F5344CB8AC3E}">
        <p14:creationId xmlns:p14="http://schemas.microsoft.com/office/powerpoint/2010/main" val="41461498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4708E-BEDB-D858-4772-B82474A572F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F1197EC-44D7-956F-1487-18B4CF86A3C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4CEE14D-1806-6971-63BF-89259E214813}"/>
              </a:ext>
            </a:extLst>
          </p:cNvPr>
          <p:cNvSpPr>
            <a:spLocks noGrp="1"/>
          </p:cNvSpPr>
          <p:nvPr>
            <p:ph type="body" idx="1"/>
          </p:nvPr>
        </p:nvSpPr>
        <p:spPr/>
        <p:txBody>
          <a:bodyPr/>
          <a:lstStyle/>
          <a:p>
            <a:endParaRPr kumimoji="1" lang="ja-JP" altLang="en-US">
              <a:uFillTx/>
            </a:endParaRPr>
          </a:p>
        </p:txBody>
      </p:sp>
      <p:sp>
        <p:nvSpPr>
          <p:cNvPr id="4" name="スライド番号プレースホルダー 3">
            <a:extLst>
              <a:ext uri="{FF2B5EF4-FFF2-40B4-BE49-F238E27FC236}">
                <a16:creationId xmlns:a16="http://schemas.microsoft.com/office/drawing/2014/main" id="{23988472-9D7B-C4E1-7B74-18B7E8A83F2D}"/>
              </a:ext>
            </a:extLst>
          </p:cNvPr>
          <p:cNvSpPr>
            <a:spLocks noGrp="1"/>
          </p:cNvSpPr>
          <p:nvPr>
            <p:ph type="sldNum" sz="quarter" idx="10"/>
          </p:nvPr>
        </p:nvSpPr>
        <p:spPr/>
        <p:txBody>
          <a:bodyPr/>
          <a:lstStyle/>
          <a:p>
            <a:fld id="{13BBDFF2-C854-42AB-A0A1-39EE2E1232B0}" type="slidenum">
              <a:rPr kumimoji="1" lang="ja-JP" altLang="en-US" smtClean="0">
                <a:uFillTx/>
              </a:rPr>
              <a:pPr/>
              <a:t>17</a:t>
            </a:fld>
            <a:endParaRPr kumimoji="1" lang="ja-JP" altLang="en-US">
              <a:uFillTx/>
            </a:endParaRPr>
          </a:p>
        </p:txBody>
      </p:sp>
    </p:spTree>
    <p:extLst>
      <p:ext uri="{BB962C8B-B14F-4D97-AF65-F5344CB8AC3E}">
        <p14:creationId xmlns:p14="http://schemas.microsoft.com/office/powerpoint/2010/main" val="19484601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BBD3B-B5C6-9CF8-6250-95E5F9D1AC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9EA8D1-A9B1-8A04-FD76-481DED06DEE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80B2F48-5766-BC0A-AE9A-390CE9B561FE}"/>
              </a:ext>
            </a:extLst>
          </p:cNvPr>
          <p:cNvSpPr>
            <a:spLocks noGrp="1"/>
          </p:cNvSpPr>
          <p:nvPr>
            <p:ph type="body" idx="1"/>
          </p:nvPr>
        </p:nvSpPr>
        <p:spPr/>
        <p:txBody>
          <a:bodyPr/>
          <a:lstStyle/>
          <a:p>
            <a:endParaRPr kumimoji="1" lang="ja-JP" altLang="en-US">
              <a:uFillTx/>
            </a:endParaRPr>
          </a:p>
        </p:txBody>
      </p:sp>
      <p:sp>
        <p:nvSpPr>
          <p:cNvPr id="4" name="スライド番号プレースホルダー 3">
            <a:extLst>
              <a:ext uri="{FF2B5EF4-FFF2-40B4-BE49-F238E27FC236}">
                <a16:creationId xmlns:a16="http://schemas.microsoft.com/office/drawing/2014/main" id="{56E6C641-35E3-F80E-4C4C-20552D2B3A24}"/>
              </a:ext>
            </a:extLst>
          </p:cNvPr>
          <p:cNvSpPr>
            <a:spLocks noGrp="1"/>
          </p:cNvSpPr>
          <p:nvPr>
            <p:ph type="sldNum" sz="quarter" idx="10"/>
          </p:nvPr>
        </p:nvSpPr>
        <p:spPr/>
        <p:txBody>
          <a:bodyPr/>
          <a:lstStyle/>
          <a:p>
            <a:fld id="{13BBDFF2-C854-42AB-A0A1-39EE2E1232B0}" type="slidenum">
              <a:rPr kumimoji="1" lang="ja-JP" altLang="en-US" smtClean="0">
                <a:uFillTx/>
              </a:rPr>
              <a:pPr/>
              <a:t>18</a:t>
            </a:fld>
            <a:endParaRPr kumimoji="1" lang="ja-JP" altLang="en-US">
              <a:uFillTx/>
            </a:endParaRPr>
          </a:p>
        </p:txBody>
      </p:sp>
    </p:spTree>
    <p:extLst>
      <p:ext uri="{BB962C8B-B14F-4D97-AF65-F5344CB8AC3E}">
        <p14:creationId xmlns:p14="http://schemas.microsoft.com/office/powerpoint/2010/main" val="18468704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4C6B9-D024-0604-0AE8-9AB127B6C42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A950A60-5718-34D3-4176-95F97704A89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4E634CE-9BF8-7810-D9D6-4F48601F7E8B}"/>
              </a:ext>
            </a:extLst>
          </p:cNvPr>
          <p:cNvSpPr>
            <a:spLocks noGrp="1"/>
          </p:cNvSpPr>
          <p:nvPr>
            <p:ph type="body" idx="1"/>
          </p:nvPr>
        </p:nvSpPr>
        <p:spPr/>
        <p:txBody>
          <a:bodyPr/>
          <a:lstStyle/>
          <a:p>
            <a:endParaRPr kumimoji="1" lang="ja-JP" altLang="en-US">
              <a:uFillTx/>
            </a:endParaRPr>
          </a:p>
        </p:txBody>
      </p:sp>
      <p:sp>
        <p:nvSpPr>
          <p:cNvPr id="4" name="スライド番号プレースホルダー 3">
            <a:extLst>
              <a:ext uri="{FF2B5EF4-FFF2-40B4-BE49-F238E27FC236}">
                <a16:creationId xmlns:a16="http://schemas.microsoft.com/office/drawing/2014/main" id="{59B2302E-5E2B-C1E2-5D3D-29B1BC454DB9}"/>
              </a:ext>
            </a:extLst>
          </p:cNvPr>
          <p:cNvSpPr>
            <a:spLocks noGrp="1"/>
          </p:cNvSpPr>
          <p:nvPr>
            <p:ph type="sldNum" sz="quarter" idx="10"/>
          </p:nvPr>
        </p:nvSpPr>
        <p:spPr/>
        <p:txBody>
          <a:bodyPr/>
          <a:lstStyle/>
          <a:p>
            <a:fld id="{13BBDFF2-C854-42AB-A0A1-39EE2E1232B0}" type="slidenum">
              <a:rPr kumimoji="1" lang="ja-JP" altLang="en-US" smtClean="0">
                <a:uFillTx/>
              </a:rPr>
              <a:pPr/>
              <a:t>19</a:t>
            </a:fld>
            <a:endParaRPr kumimoji="1" lang="ja-JP" altLang="en-US">
              <a:uFillTx/>
            </a:endParaRPr>
          </a:p>
        </p:txBody>
      </p:sp>
    </p:spTree>
    <p:extLst>
      <p:ext uri="{BB962C8B-B14F-4D97-AF65-F5344CB8AC3E}">
        <p14:creationId xmlns:p14="http://schemas.microsoft.com/office/powerpoint/2010/main" val="15640275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表紙">
    <p:spTree>
      <p:nvGrpSpPr>
        <p:cNvPr id="1" name=""/>
        <p:cNvGrpSpPr/>
        <p:nvPr/>
      </p:nvGrpSpPr>
      <p:grpSpPr>
        <a:xfrm>
          <a:off x="0" y="0"/>
          <a:ext cx="0" cy="0"/>
          <a:chOff x="0" y="0"/>
          <a:chExt cx="0" cy="0"/>
        </a:xfrm>
      </p:grpSpPr>
      <p:pic>
        <p:nvPicPr>
          <p:cNvPr id="6" name="図 9" descr="flinalBg.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25161"/>
            <a:ext cx="9906000"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 name="Rectangle 7"/>
          <p:cNvSpPr>
            <a:spLocks noChangeArrowheads="1"/>
          </p:cNvSpPr>
          <p:nvPr/>
        </p:nvSpPr>
        <p:spPr bwMode="auto">
          <a:xfrm>
            <a:off x="2710392" y="6438900"/>
            <a:ext cx="4316882" cy="230832"/>
          </a:xfrm>
          <a:prstGeom prst="rect">
            <a:avLst/>
          </a:prstGeom>
          <a:noFill/>
          <a:ln w="9525">
            <a:noFill/>
            <a:miter lim="800000"/>
            <a:headEnd/>
            <a:tailEnd/>
          </a:ln>
        </p:spPr>
        <p:txBody>
          <a:bodyPr wrap="none">
            <a:spAutoFit/>
          </a:bodyPr>
          <a:lstStyle/>
          <a:p>
            <a:pPr eaLnBrk="1" hangingPunct="1"/>
            <a:r>
              <a:rPr lang="en-US" altLang="ja-JP" sz="900" dirty="0">
                <a:solidFill>
                  <a:srgbClr val="FFFFFF"/>
                </a:solidFill>
                <a:latin typeface="メイリオ" charset="0"/>
                <a:ea typeface="メイリオ" charset="0"/>
                <a:cs typeface="メイリオ" charset="0"/>
              </a:rPr>
              <a:t>Copyright ©  2013 FLIGHT SYSTEM CONSULTING Inc. All rights reserved</a:t>
            </a:r>
          </a:p>
        </p:txBody>
      </p:sp>
      <p:sp>
        <p:nvSpPr>
          <p:cNvPr id="8" name="Rectangle 7"/>
          <p:cNvSpPr>
            <a:spLocks noChangeArrowheads="1"/>
          </p:cNvSpPr>
          <p:nvPr/>
        </p:nvSpPr>
        <p:spPr bwMode="auto">
          <a:xfrm>
            <a:off x="2886568" y="6470257"/>
            <a:ext cx="4132863" cy="246221"/>
          </a:xfrm>
          <a:prstGeom prst="rect">
            <a:avLst/>
          </a:prstGeom>
          <a:noFill/>
          <a:ln w="9525">
            <a:noFill/>
            <a:miter lim="800000"/>
            <a:headEnd/>
            <a:tailEnd/>
          </a:ln>
        </p:spPr>
        <p:txBody>
          <a:bodyPr wrap="none">
            <a:spAutoFit/>
          </a:bodyPr>
          <a:lstStyle/>
          <a:p>
            <a:pPr eaLnBrk="1" hangingPunct="1"/>
            <a:r>
              <a:rPr lang="en-US" altLang="ja-JP" sz="1000" dirty="0">
                <a:solidFill>
                  <a:srgbClr val="7F7F7F"/>
                </a:solidFill>
                <a:latin typeface="メイリオ" charset="0"/>
                <a:ea typeface="メイリオ" charset="0"/>
                <a:cs typeface="メイリオ" charset="0"/>
              </a:rPr>
              <a:t>Copyright ©  2025 FLIGHT SOLUTIONS Inc. All rights reserved</a:t>
            </a:r>
          </a:p>
        </p:txBody>
      </p:sp>
      <p:cxnSp>
        <p:nvCxnSpPr>
          <p:cNvPr id="9" name="直線コネクタ 18"/>
          <p:cNvCxnSpPr>
            <a:cxnSpLocks noChangeShapeType="1"/>
          </p:cNvCxnSpPr>
          <p:nvPr/>
        </p:nvCxnSpPr>
        <p:spPr bwMode="auto">
          <a:xfrm>
            <a:off x="344488" y="6354763"/>
            <a:ext cx="9144000" cy="0"/>
          </a:xfrm>
          <a:prstGeom prst="line">
            <a:avLst/>
          </a:prstGeom>
          <a:noFill/>
          <a:ln w="15875">
            <a:solidFill>
              <a:srgbClr val="1A957F"/>
            </a:solidFill>
            <a:round/>
            <a:headEnd/>
            <a:tailEnd/>
          </a:ln>
          <a:extLst>
            <a:ext uri="{909E8E84-426E-40dd-AFC4-6F175D3DCCD1}">
              <a14:hiddenFill xmlns="" xmlns:a14="http://schemas.microsoft.com/office/drawing/2010/main">
                <a:noFill/>
              </a14:hiddenFill>
            </a:ext>
          </a:extLst>
        </p:spPr>
      </p:cxnSp>
      <p:pic>
        <p:nvPicPr>
          <p:cNvPr id="11" name="図 18" descr="Logo.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7651" y="6407152"/>
            <a:ext cx="494607" cy="3948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125" name="Rectangle 5"/>
          <p:cNvSpPr>
            <a:spLocks noGrp="1" noChangeArrowheads="1"/>
          </p:cNvSpPr>
          <p:nvPr>
            <p:ph type="ctrTitle" sz="quarter"/>
          </p:nvPr>
        </p:nvSpPr>
        <p:spPr>
          <a:xfrm>
            <a:off x="418746" y="2659360"/>
            <a:ext cx="9068508" cy="1295400"/>
          </a:xfrm>
        </p:spPr>
        <p:txBody>
          <a:bodyPr/>
          <a:lstStyle>
            <a:lvl1pPr algn="r">
              <a:defRPr b="0">
                <a:solidFill>
                  <a:schemeClr val="tx1">
                    <a:lumMod val="75000"/>
                    <a:lumOff val="25000"/>
                  </a:schemeClr>
                </a:solidFill>
              </a:defRPr>
            </a:lvl1pPr>
          </a:lstStyle>
          <a:p>
            <a:r>
              <a:rPr lang="ja-JP" altLang="en-US" dirty="0"/>
              <a:t>マスター タイトルの書式設定</a:t>
            </a:r>
          </a:p>
        </p:txBody>
      </p:sp>
      <p:sp>
        <p:nvSpPr>
          <p:cNvPr id="5126" name="Rectangle 6"/>
          <p:cNvSpPr>
            <a:spLocks noGrp="1" noChangeArrowheads="1"/>
          </p:cNvSpPr>
          <p:nvPr>
            <p:ph type="subTitle" sz="quarter" idx="1"/>
          </p:nvPr>
        </p:nvSpPr>
        <p:spPr>
          <a:xfrm>
            <a:off x="1218909" y="3954760"/>
            <a:ext cx="8268345" cy="914400"/>
          </a:xfrm>
        </p:spPr>
        <p:txBody>
          <a:bodyPr/>
          <a:lstStyle>
            <a:lvl1pPr marL="0" indent="0" algn="r">
              <a:buFontTx/>
              <a:buNone/>
              <a:defRPr sz="2400">
                <a:solidFill>
                  <a:schemeClr val="tx1">
                    <a:lumMod val="50000"/>
                    <a:lumOff val="50000"/>
                  </a:schemeClr>
                </a:solidFill>
              </a:defRPr>
            </a:lvl1pPr>
          </a:lstStyle>
          <a:p>
            <a:r>
              <a:rPr lang="ja-JP" altLang="en-US" dirty="0"/>
              <a:t>マスター サブタイトルの書式設定</a:t>
            </a:r>
          </a:p>
        </p:txBody>
      </p:sp>
      <p:sp>
        <p:nvSpPr>
          <p:cNvPr id="2" name="テキスト ボックス 1">
            <a:extLst>
              <a:ext uri="{FF2B5EF4-FFF2-40B4-BE49-F238E27FC236}">
                <a16:creationId xmlns:a16="http://schemas.microsoft.com/office/drawing/2014/main" id="{48FB81B5-55EC-4A28-8ACE-6BDCC0A077C1}"/>
              </a:ext>
            </a:extLst>
          </p:cNvPr>
          <p:cNvSpPr txBox="1"/>
          <p:nvPr userDrawn="1"/>
        </p:nvSpPr>
        <p:spPr>
          <a:xfrm>
            <a:off x="4946121" y="5672138"/>
            <a:ext cx="4540250" cy="323850"/>
          </a:xfrm>
          <a:prstGeom prst="rect">
            <a:avLst/>
          </a:prstGeom>
          <a:noFill/>
        </p:spPr>
        <p:txBody>
          <a:bodyPr>
            <a:spAutoFit/>
          </a:bodyPr>
          <a:lstStyle>
            <a:lvl1pPr>
              <a:defRPr kumimoji="1" sz="1400">
                <a:solidFill>
                  <a:schemeClr val="tx1"/>
                </a:solidFill>
                <a:latin typeface="Arial" panose="020B0604020202020204" pitchFamily="34" charset="0"/>
                <a:ea typeface="HGP創英角ｺﾞｼｯｸUB" panose="020B0900000000000000" pitchFamily="50" charset="-128"/>
              </a:defRPr>
            </a:lvl1pPr>
            <a:lvl2pPr marL="37931725" indent="-37474525">
              <a:defRPr kumimoji="1" sz="1400">
                <a:solidFill>
                  <a:schemeClr val="tx1"/>
                </a:solidFill>
                <a:latin typeface="Arial" panose="020B0604020202020204" pitchFamily="34" charset="0"/>
                <a:ea typeface="HGP創英角ｺﾞｼｯｸUB" panose="020B0900000000000000" pitchFamily="50" charset="-128"/>
              </a:defRPr>
            </a:lvl2pPr>
            <a:lvl3pPr>
              <a:defRPr kumimoji="1" sz="1400">
                <a:solidFill>
                  <a:schemeClr val="tx1"/>
                </a:solidFill>
                <a:latin typeface="Arial" panose="020B0604020202020204" pitchFamily="34" charset="0"/>
                <a:ea typeface="HGP創英角ｺﾞｼｯｸUB" panose="020B0900000000000000" pitchFamily="50" charset="-128"/>
              </a:defRPr>
            </a:lvl3pPr>
            <a:lvl4pPr>
              <a:defRPr kumimoji="1" sz="1400">
                <a:solidFill>
                  <a:schemeClr val="tx1"/>
                </a:solidFill>
                <a:latin typeface="Arial" panose="020B0604020202020204" pitchFamily="34" charset="0"/>
                <a:ea typeface="HGP創英角ｺﾞｼｯｸUB" panose="020B0900000000000000" pitchFamily="50" charset="-128"/>
              </a:defRPr>
            </a:lvl4pPr>
            <a:lvl5pPr>
              <a:defRPr kumimoji="1" sz="1400">
                <a:solidFill>
                  <a:schemeClr val="tx1"/>
                </a:solidFill>
                <a:latin typeface="Arial" panose="020B0604020202020204" pitchFamily="34" charset="0"/>
                <a:ea typeface="HGP創英角ｺﾞｼｯｸUB" panose="020B0900000000000000" pitchFamily="50" charset="-128"/>
              </a:defRPr>
            </a:lvl5pPr>
            <a:lvl6pPr marL="457200" fontAlgn="base">
              <a:spcBef>
                <a:spcPct val="50000"/>
              </a:spcBef>
              <a:spcAft>
                <a:spcPct val="0"/>
              </a:spcAft>
              <a:defRPr kumimoji="1" sz="1400">
                <a:solidFill>
                  <a:schemeClr val="tx1"/>
                </a:solidFill>
                <a:latin typeface="Arial" panose="020B0604020202020204" pitchFamily="34" charset="0"/>
                <a:ea typeface="HGP創英角ｺﾞｼｯｸUB" panose="020B0900000000000000" pitchFamily="50" charset="-128"/>
              </a:defRPr>
            </a:lvl6pPr>
            <a:lvl7pPr marL="914400" fontAlgn="base">
              <a:spcBef>
                <a:spcPct val="50000"/>
              </a:spcBef>
              <a:spcAft>
                <a:spcPct val="0"/>
              </a:spcAft>
              <a:defRPr kumimoji="1" sz="1400">
                <a:solidFill>
                  <a:schemeClr val="tx1"/>
                </a:solidFill>
                <a:latin typeface="Arial" panose="020B0604020202020204" pitchFamily="34" charset="0"/>
                <a:ea typeface="HGP創英角ｺﾞｼｯｸUB" panose="020B0900000000000000" pitchFamily="50" charset="-128"/>
              </a:defRPr>
            </a:lvl7pPr>
            <a:lvl8pPr marL="1371600" fontAlgn="base">
              <a:spcBef>
                <a:spcPct val="50000"/>
              </a:spcBef>
              <a:spcAft>
                <a:spcPct val="0"/>
              </a:spcAft>
              <a:defRPr kumimoji="1" sz="1400">
                <a:solidFill>
                  <a:schemeClr val="tx1"/>
                </a:solidFill>
                <a:latin typeface="Arial" panose="020B0604020202020204" pitchFamily="34" charset="0"/>
                <a:ea typeface="HGP創英角ｺﾞｼｯｸUB" panose="020B0900000000000000" pitchFamily="50" charset="-128"/>
              </a:defRPr>
            </a:lvl8pPr>
            <a:lvl9pPr marL="1828800" fontAlgn="base">
              <a:spcBef>
                <a:spcPct val="50000"/>
              </a:spcBef>
              <a:spcAft>
                <a:spcPct val="0"/>
              </a:spcAft>
              <a:defRPr kumimoji="1" sz="1400">
                <a:solidFill>
                  <a:schemeClr val="tx1"/>
                </a:solidFill>
                <a:latin typeface="Arial" panose="020B0604020202020204" pitchFamily="34" charset="0"/>
                <a:ea typeface="HGP創英角ｺﾞｼｯｸUB" panose="020B0900000000000000" pitchFamily="50" charset="-128"/>
              </a:defRPr>
            </a:lvl9pPr>
          </a:lstStyle>
          <a:p>
            <a:pPr algn="r" eaLnBrk="1" hangingPunct="1">
              <a:spcBef>
                <a:spcPct val="50000"/>
              </a:spcBef>
              <a:defRPr/>
            </a:pPr>
            <a:r>
              <a:rPr lang="ja-JP" altLang="en-US" sz="1500" dirty="0">
                <a:solidFill>
                  <a:srgbClr val="595959"/>
                </a:solidFill>
                <a:latin typeface="メイリオ" panose="020B0604030504040204" pitchFamily="50" charset="-128"/>
                <a:ea typeface="メイリオ" panose="020B0604030504040204" pitchFamily="50" charset="-128"/>
                <a:cs typeface="+mn-cs"/>
              </a:rPr>
              <a:t>株式会社フライトソリューションズ</a:t>
            </a:r>
          </a:p>
        </p:txBody>
      </p:sp>
      <p:sp>
        <p:nvSpPr>
          <p:cNvPr id="3" name="テキスト ボックス 2">
            <a:extLst>
              <a:ext uri="{FF2B5EF4-FFF2-40B4-BE49-F238E27FC236}">
                <a16:creationId xmlns:a16="http://schemas.microsoft.com/office/drawing/2014/main" id="{BF9C57D4-9CED-9FA3-98AB-E2BDC28C66FC}"/>
              </a:ext>
            </a:extLst>
          </p:cNvPr>
          <p:cNvSpPr txBox="1"/>
          <p:nvPr userDrawn="1"/>
        </p:nvSpPr>
        <p:spPr>
          <a:xfrm>
            <a:off x="4540250" y="5988050"/>
            <a:ext cx="4953000" cy="304800"/>
          </a:xfrm>
          <a:prstGeom prst="rect">
            <a:avLst/>
          </a:prstGeom>
          <a:noFill/>
        </p:spPr>
        <p:txBody>
          <a:bodyPr>
            <a:spAutoFit/>
          </a:bodyPr>
          <a:lstStyle>
            <a:lvl1pPr>
              <a:defRPr kumimoji="1" sz="1400">
                <a:solidFill>
                  <a:schemeClr val="tx1"/>
                </a:solidFill>
                <a:latin typeface="Arial" charset="0"/>
                <a:ea typeface="HGP創英角ｺﾞｼｯｸUB" charset="0"/>
                <a:cs typeface="HGP創英角ｺﾞｼｯｸUB" charset="0"/>
              </a:defRPr>
            </a:lvl1pPr>
            <a:lvl2pPr marL="37931725" indent="-37474525">
              <a:defRPr kumimoji="1" sz="1400">
                <a:solidFill>
                  <a:schemeClr val="tx1"/>
                </a:solidFill>
                <a:latin typeface="Arial" charset="0"/>
                <a:ea typeface="HGP創英角ｺﾞｼｯｸUB" charset="0"/>
                <a:cs typeface="HGP創英角ｺﾞｼｯｸUB" charset="0"/>
              </a:defRPr>
            </a:lvl2pPr>
            <a:lvl3pPr marL="1143000" indent="-228600">
              <a:defRPr kumimoji="1" sz="1400">
                <a:solidFill>
                  <a:schemeClr val="tx1"/>
                </a:solidFill>
                <a:latin typeface="Arial" charset="0"/>
                <a:ea typeface="HGP創英角ｺﾞｼｯｸUB" charset="0"/>
                <a:cs typeface="HGP創英角ｺﾞｼｯｸUB" charset="0"/>
              </a:defRPr>
            </a:lvl3pPr>
            <a:lvl4pPr marL="1600200" indent="-228600">
              <a:defRPr kumimoji="1" sz="1400">
                <a:solidFill>
                  <a:schemeClr val="tx1"/>
                </a:solidFill>
                <a:latin typeface="Arial" charset="0"/>
                <a:ea typeface="HGP創英角ｺﾞｼｯｸUB" charset="0"/>
                <a:cs typeface="HGP創英角ｺﾞｼｯｸUB" charset="0"/>
              </a:defRPr>
            </a:lvl4pPr>
            <a:lvl5pPr marL="2057400" indent="-228600">
              <a:defRPr kumimoji="1" sz="1400">
                <a:solidFill>
                  <a:schemeClr val="tx1"/>
                </a:solidFill>
                <a:latin typeface="Arial" charset="0"/>
                <a:ea typeface="HGP創英角ｺﾞｼｯｸUB" charset="0"/>
                <a:cs typeface="HGP創英角ｺﾞｼｯｸUB" charset="0"/>
              </a:defRPr>
            </a:lvl5pPr>
            <a:lvl6pPr marL="2514600" indent="-228600" eaLnBrk="0" fontAlgn="base" hangingPunct="0">
              <a:spcBef>
                <a:spcPct val="0"/>
              </a:spcBef>
              <a:spcAft>
                <a:spcPct val="0"/>
              </a:spcAft>
              <a:defRPr kumimoji="1" sz="1400">
                <a:solidFill>
                  <a:schemeClr val="tx1"/>
                </a:solidFill>
                <a:latin typeface="Arial" charset="0"/>
                <a:ea typeface="HGP創英角ｺﾞｼｯｸUB" charset="0"/>
                <a:cs typeface="HGP創英角ｺﾞｼｯｸUB" charset="0"/>
              </a:defRPr>
            </a:lvl6pPr>
            <a:lvl7pPr marL="2971800" indent="-228600" eaLnBrk="0" fontAlgn="base" hangingPunct="0">
              <a:spcBef>
                <a:spcPct val="0"/>
              </a:spcBef>
              <a:spcAft>
                <a:spcPct val="0"/>
              </a:spcAft>
              <a:defRPr kumimoji="1" sz="1400">
                <a:solidFill>
                  <a:schemeClr val="tx1"/>
                </a:solidFill>
                <a:latin typeface="Arial" charset="0"/>
                <a:ea typeface="HGP創英角ｺﾞｼｯｸUB" charset="0"/>
                <a:cs typeface="HGP創英角ｺﾞｼｯｸUB" charset="0"/>
              </a:defRPr>
            </a:lvl7pPr>
            <a:lvl8pPr marL="3429000" indent="-228600" eaLnBrk="0" fontAlgn="base" hangingPunct="0">
              <a:spcBef>
                <a:spcPct val="0"/>
              </a:spcBef>
              <a:spcAft>
                <a:spcPct val="0"/>
              </a:spcAft>
              <a:defRPr kumimoji="1" sz="1400">
                <a:solidFill>
                  <a:schemeClr val="tx1"/>
                </a:solidFill>
                <a:latin typeface="Arial" charset="0"/>
                <a:ea typeface="HGP創英角ｺﾞｼｯｸUB" charset="0"/>
                <a:cs typeface="HGP創英角ｺﾞｼｯｸUB" charset="0"/>
              </a:defRPr>
            </a:lvl8pPr>
            <a:lvl9pPr marL="3886200" indent="-228600" eaLnBrk="0" fontAlgn="base" hangingPunct="0">
              <a:spcBef>
                <a:spcPct val="0"/>
              </a:spcBef>
              <a:spcAft>
                <a:spcPct val="0"/>
              </a:spcAft>
              <a:defRPr kumimoji="1" sz="1400">
                <a:solidFill>
                  <a:schemeClr val="tx1"/>
                </a:solidFill>
                <a:latin typeface="Arial" charset="0"/>
                <a:ea typeface="HGP創英角ｺﾞｼｯｸUB" charset="0"/>
                <a:cs typeface="HGP創英角ｺﾞｼｯｸUB" charset="0"/>
              </a:defRPr>
            </a:lvl9pPr>
          </a:lstStyle>
          <a:p>
            <a:pPr algn="r" eaLnBrk="1" hangingPunct="1">
              <a:spcBef>
                <a:spcPct val="50000"/>
              </a:spcBef>
            </a:pPr>
            <a:r>
              <a:rPr lang="en-US" altLang="ja-JP" dirty="0">
                <a:solidFill>
                  <a:srgbClr val="595959"/>
                </a:solidFill>
                <a:latin typeface="メイリオ" charset="0"/>
                <a:ea typeface="メイリオ" charset="0"/>
                <a:cs typeface="メイリオ" charset="0"/>
              </a:rPr>
              <a:t>FLIGHT SOLUTIONS</a:t>
            </a:r>
            <a:r>
              <a:rPr lang="ja-JP" altLang="en-US" dirty="0">
                <a:solidFill>
                  <a:srgbClr val="595959"/>
                </a:solidFill>
                <a:latin typeface="メイリオ" charset="0"/>
                <a:ea typeface="メイリオ" charset="0"/>
                <a:cs typeface="メイリオ" charset="0"/>
              </a:rPr>
              <a:t> </a:t>
            </a:r>
            <a:r>
              <a:rPr lang="en-US" altLang="ja-JP" dirty="0">
                <a:solidFill>
                  <a:srgbClr val="595959"/>
                </a:solidFill>
                <a:latin typeface="メイリオ" charset="0"/>
                <a:ea typeface="メイリオ" charset="0"/>
                <a:cs typeface="メイリオ" charset="0"/>
              </a:rPr>
              <a:t>Inc.</a:t>
            </a:r>
            <a:endParaRPr lang="ja-JP" altLang="en-US" dirty="0">
              <a:solidFill>
                <a:srgbClr val="595959"/>
              </a:solidFill>
              <a:latin typeface="メイリオ" charset="0"/>
              <a:ea typeface="メイリオ" charset="0"/>
              <a:cs typeface="メイリオ" charset="0"/>
            </a:endParaRPr>
          </a:p>
        </p:txBody>
      </p:sp>
    </p:spTree>
    <p:extLst>
      <p:ext uri="{BB962C8B-B14F-4D97-AF65-F5344CB8AC3E}">
        <p14:creationId xmlns:p14="http://schemas.microsoft.com/office/powerpoint/2010/main" val="3456409017"/>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一般利用ページ">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endParaRPr lang="ja-JP" altLang="en-US" dirty="0"/>
          </a:p>
        </p:txBody>
      </p:sp>
      <p:sp>
        <p:nvSpPr>
          <p:cNvPr id="3" name="コンテンツ プレースホルダ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
        <p:nvSpPr>
          <p:cNvPr id="4" name="スライド番号プレースホルダ 12"/>
          <p:cNvSpPr>
            <a:spLocks noGrp="1"/>
          </p:cNvSpPr>
          <p:nvPr>
            <p:ph type="sldNum" sz="quarter" idx="10"/>
          </p:nvPr>
        </p:nvSpPr>
        <p:spPr/>
        <p:txBody>
          <a:bodyPr/>
          <a:lstStyle>
            <a:lvl1pPr>
              <a:defRPr/>
            </a:lvl1pPr>
          </a:lstStyle>
          <a:p>
            <a:fld id="{AC0C640D-7A54-CA47-9B56-6FBADECDE454}" type="slidenum">
              <a:rPr kumimoji="1" lang="ja-JP" altLang="en-US" smtClean="0"/>
              <a:pPr/>
              <a:t>‹#›</a:t>
            </a:fld>
            <a:endParaRPr kumimoji="1" lang="ja-JP" altLang="en-US"/>
          </a:p>
        </p:txBody>
      </p:sp>
    </p:spTree>
    <p:extLst>
      <p:ext uri="{BB962C8B-B14F-4D97-AF65-F5344CB8AC3E}">
        <p14:creationId xmlns:p14="http://schemas.microsoft.com/office/powerpoint/2010/main" val="1693946178"/>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サブタイトル">
    <p:spTree>
      <p:nvGrpSpPr>
        <p:cNvPr id="1" name=""/>
        <p:cNvGrpSpPr/>
        <p:nvPr/>
      </p:nvGrpSpPr>
      <p:grpSpPr>
        <a:xfrm>
          <a:off x="0" y="0"/>
          <a:ext cx="0" cy="0"/>
          <a:chOff x="0" y="0"/>
          <a:chExt cx="0" cy="0"/>
        </a:xfrm>
      </p:grpSpPr>
      <p:sp>
        <p:nvSpPr>
          <p:cNvPr id="4" name="正方形/長方形 8"/>
          <p:cNvSpPr>
            <a:spLocks noChangeArrowheads="1"/>
          </p:cNvSpPr>
          <p:nvPr/>
        </p:nvSpPr>
        <p:spPr bwMode="auto">
          <a:xfrm>
            <a:off x="223573" y="728663"/>
            <a:ext cx="9556883" cy="585787"/>
          </a:xfrm>
          <a:prstGeom prst="rect">
            <a:avLst/>
          </a:pr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lvl1pPr>
              <a:spcBef>
                <a:spcPct val="50000"/>
              </a:spcBef>
              <a:defRPr kumimoji="1" sz="1400">
                <a:solidFill>
                  <a:schemeClr val="tx1"/>
                </a:solidFill>
                <a:latin typeface="Arial" panose="020B0604020202020204" pitchFamily="34" charset="0"/>
                <a:ea typeface="HGP創英角ｺﾞｼｯｸUB" panose="020B0900000000000000" pitchFamily="50" charset="-128"/>
              </a:defRPr>
            </a:lvl1pPr>
            <a:lvl2pPr marL="742950" indent="-285750">
              <a:spcBef>
                <a:spcPct val="50000"/>
              </a:spcBef>
              <a:defRPr kumimoji="1" sz="1400">
                <a:solidFill>
                  <a:schemeClr val="tx1"/>
                </a:solidFill>
                <a:latin typeface="Arial" panose="020B0604020202020204" pitchFamily="34" charset="0"/>
                <a:ea typeface="HGP創英角ｺﾞｼｯｸUB" panose="020B0900000000000000" pitchFamily="50" charset="-128"/>
              </a:defRPr>
            </a:lvl2pPr>
            <a:lvl3pPr marL="1143000" indent="-228600">
              <a:spcBef>
                <a:spcPct val="50000"/>
              </a:spcBef>
              <a:defRPr kumimoji="1" sz="1400">
                <a:solidFill>
                  <a:schemeClr val="tx1"/>
                </a:solidFill>
                <a:latin typeface="Arial" panose="020B0604020202020204" pitchFamily="34" charset="0"/>
                <a:ea typeface="HGP創英角ｺﾞｼｯｸUB" panose="020B0900000000000000" pitchFamily="50" charset="-128"/>
              </a:defRPr>
            </a:lvl3pPr>
            <a:lvl4pPr marL="1600200" indent="-228600">
              <a:spcBef>
                <a:spcPct val="50000"/>
              </a:spcBef>
              <a:defRPr kumimoji="1" sz="1400">
                <a:solidFill>
                  <a:schemeClr val="tx1"/>
                </a:solidFill>
                <a:latin typeface="Arial" panose="020B0604020202020204" pitchFamily="34" charset="0"/>
                <a:ea typeface="HGP創英角ｺﾞｼｯｸUB" panose="020B0900000000000000" pitchFamily="50" charset="-128"/>
              </a:defRPr>
            </a:lvl4pPr>
            <a:lvl5pPr marL="2057400" indent="-228600">
              <a:spcBef>
                <a:spcPct val="50000"/>
              </a:spcBef>
              <a:defRPr kumimoji="1" sz="1400">
                <a:solidFill>
                  <a:schemeClr val="tx1"/>
                </a:solidFill>
                <a:latin typeface="Arial" panose="020B0604020202020204" pitchFamily="34" charset="0"/>
                <a:ea typeface="HGP創英角ｺﾞｼｯｸUB" panose="020B0900000000000000" pitchFamily="50" charset="-128"/>
              </a:defRPr>
            </a:lvl5pPr>
            <a:lvl6pPr marL="2514600" indent="-228600" eaLnBrk="0" fontAlgn="base" hangingPunct="0">
              <a:spcBef>
                <a:spcPct val="50000"/>
              </a:spcBef>
              <a:spcAft>
                <a:spcPct val="0"/>
              </a:spcAft>
              <a:defRPr kumimoji="1" sz="1400">
                <a:solidFill>
                  <a:schemeClr val="tx1"/>
                </a:solidFill>
                <a:latin typeface="Arial" panose="020B0604020202020204" pitchFamily="34" charset="0"/>
                <a:ea typeface="HGP創英角ｺﾞｼｯｸUB" panose="020B0900000000000000" pitchFamily="50" charset="-128"/>
              </a:defRPr>
            </a:lvl6pPr>
            <a:lvl7pPr marL="2971800" indent="-228600" eaLnBrk="0" fontAlgn="base" hangingPunct="0">
              <a:spcBef>
                <a:spcPct val="50000"/>
              </a:spcBef>
              <a:spcAft>
                <a:spcPct val="0"/>
              </a:spcAft>
              <a:defRPr kumimoji="1" sz="1400">
                <a:solidFill>
                  <a:schemeClr val="tx1"/>
                </a:solidFill>
                <a:latin typeface="Arial" panose="020B0604020202020204" pitchFamily="34" charset="0"/>
                <a:ea typeface="HGP創英角ｺﾞｼｯｸUB" panose="020B0900000000000000" pitchFamily="50" charset="-128"/>
              </a:defRPr>
            </a:lvl7pPr>
            <a:lvl8pPr marL="3429000" indent="-228600" eaLnBrk="0" fontAlgn="base" hangingPunct="0">
              <a:spcBef>
                <a:spcPct val="50000"/>
              </a:spcBef>
              <a:spcAft>
                <a:spcPct val="0"/>
              </a:spcAft>
              <a:defRPr kumimoji="1" sz="1400">
                <a:solidFill>
                  <a:schemeClr val="tx1"/>
                </a:solidFill>
                <a:latin typeface="Arial" panose="020B0604020202020204" pitchFamily="34" charset="0"/>
                <a:ea typeface="HGP創英角ｺﾞｼｯｸUB" panose="020B0900000000000000" pitchFamily="50" charset="-128"/>
              </a:defRPr>
            </a:lvl8pPr>
            <a:lvl9pPr marL="3886200" indent="-228600" eaLnBrk="0" fontAlgn="base" hangingPunct="0">
              <a:spcBef>
                <a:spcPct val="50000"/>
              </a:spcBef>
              <a:spcAft>
                <a:spcPct val="0"/>
              </a:spcAft>
              <a:defRPr kumimoji="1" sz="1400">
                <a:solidFill>
                  <a:schemeClr val="tx1"/>
                </a:solidFill>
                <a:latin typeface="Arial" panose="020B0604020202020204" pitchFamily="34" charset="0"/>
                <a:ea typeface="HGP創英角ｺﾞｼｯｸUB" panose="020B0900000000000000" pitchFamily="50" charset="-128"/>
              </a:defRPr>
            </a:lvl9pPr>
          </a:lstStyle>
          <a:p>
            <a:pPr algn="ctr" eaLnBrk="1" hangingPunct="1">
              <a:defRPr/>
            </a:pPr>
            <a:endParaRPr lang="ja-JP" altLang="en-US" sz="1600">
              <a:solidFill>
                <a:srgbClr val="2D2D87"/>
              </a:solidFill>
              <a:cs typeface="+mn-cs"/>
            </a:endParaRPr>
          </a:p>
        </p:txBody>
      </p:sp>
      <p:sp>
        <p:nvSpPr>
          <p:cNvPr id="3" name="テキスト プレースホルダ 2"/>
          <p:cNvSpPr>
            <a:spLocks noGrp="1"/>
          </p:cNvSpPr>
          <p:nvPr>
            <p:ph type="body" idx="1"/>
          </p:nvPr>
        </p:nvSpPr>
        <p:spPr>
          <a:xfrm>
            <a:off x="782506" y="2258871"/>
            <a:ext cx="8420100" cy="1500187"/>
          </a:xfrm>
        </p:spPr>
        <p:txBody>
          <a:bodyPr anchor="b"/>
          <a:lstStyle>
            <a:lvl1pPr marL="0" indent="0" algn="ctr">
              <a:buNone/>
              <a:defRPr sz="4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13" name="テキスト プレースホルダ 2"/>
          <p:cNvSpPr>
            <a:spLocks noGrp="1"/>
          </p:cNvSpPr>
          <p:nvPr>
            <p:ph type="body" idx="11"/>
          </p:nvPr>
        </p:nvSpPr>
        <p:spPr>
          <a:xfrm>
            <a:off x="782506" y="3789041"/>
            <a:ext cx="8420100" cy="1500187"/>
          </a:xfrm>
        </p:spPr>
        <p:txBody>
          <a:bodyPr/>
          <a:lstStyle>
            <a:lvl1pPr marL="0" indent="0" algn="ctr">
              <a:buNone/>
              <a:defRPr sz="2400">
                <a:solidFill>
                  <a:schemeClr val="tx1">
                    <a:lumMod val="50000"/>
                    <a:lumOff val="50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5" name="スライド番号プレースホルダ 12"/>
          <p:cNvSpPr>
            <a:spLocks noGrp="1"/>
          </p:cNvSpPr>
          <p:nvPr>
            <p:ph type="sldNum" sz="quarter" idx="12"/>
          </p:nvPr>
        </p:nvSpPr>
        <p:spPr/>
        <p:txBody>
          <a:bodyPr/>
          <a:lstStyle>
            <a:lvl1pPr>
              <a:defRPr/>
            </a:lvl1pPr>
          </a:lstStyle>
          <a:p>
            <a:fld id="{AC0C640D-7A54-CA47-9B56-6FBADECDE454}" type="slidenum">
              <a:rPr kumimoji="1" lang="ja-JP" altLang="en-US" smtClean="0"/>
              <a:pPr/>
              <a:t>‹#›</a:t>
            </a:fld>
            <a:endParaRPr kumimoji="1" lang="ja-JP" altLang="en-US"/>
          </a:p>
        </p:txBody>
      </p:sp>
    </p:spTree>
    <p:extLst>
      <p:ext uri="{BB962C8B-B14F-4D97-AF65-F5344CB8AC3E}">
        <p14:creationId xmlns:p14="http://schemas.microsoft.com/office/powerpoint/2010/main" val="2289531166"/>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endParaRPr lang="ja-JP" altLang="en-US" dirty="0"/>
          </a:p>
        </p:txBody>
      </p:sp>
      <p:sp>
        <p:nvSpPr>
          <p:cNvPr id="3" name="コンテンツ プレースホルダ 2"/>
          <p:cNvSpPr>
            <a:spLocks noGrp="1"/>
          </p:cNvSpPr>
          <p:nvPr>
            <p:ph sz="half" idx="1"/>
          </p:nvPr>
        </p:nvSpPr>
        <p:spPr>
          <a:xfrm>
            <a:off x="418746" y="1295400"/>
            <a:ext cx="4470622"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
        <p:nvSpPr>
          <p:cNvPr id="4" name="コンテンツ プレースホルダ 3"/>
          <p:cNvSpPr>
            <a:spLocks noGrp="1"/>
          </p:cNvSpPr>
          <p:nvPr>
            <p:ph sz="half" idx="2"/>
          </p:nvPr>
        </p:nvSpPr>
        <p:spPr>
          <a:xfrm>
            <a:off x="5054468" y="1295400"/>
            <a:ext cx="4579052"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
        <p:nvSpPr>
          <p:cNvPr id="5" name="スライド番号プレースホルダ 12"/>
          <p:cNvSpPr>
            <a:spLocks noGrp="1"/>
          </p:cNvSpPr>
          <p:nvPr>
            <p:ph type="sldNum" sz="quarter" idx="10"/>
          </p:nvPr>
        </p:nvSpPr>
        <p:spPr/>
        <p:txBody>
          <a:bodyPr/>
          <a:lstStyle>
            <a:lvl1pPr>
              <a:defRPr/>
            </a:lvl1pPr>
          </a:lstStyle>
          <a:p>
            <a:fld id="{AC0C640D-7A54-CA47-9B56-6FBADECDE454}" type="slidenum">
              <a:rPr kumimoji="1" lang="ja-JP" altLang="en-US" smtClean="0"/>
              <a:pPr/>
              <a:t>‹#›</a:t>
            </a:fld>
            <a:endParaRPr kumimoji="1" lang="ja-JP" altLang="en-US"/>
          </a:p>
        </p:txBody>
      </p:sp>
    </p:spTree>
    <p:extLst>
      <p:ext uri="{BB962C8B-B14F-4D97-AF65-F5344CB8AC3E}">
        <p14:creationId xmlns:p14="http://schemas.microsoft.com/office/powerpoint/2010/main" val="57467105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cxnSp>
        <p:nvCxnSpPr>
          <p:cNvPr id="7" name="直線コネクタ 8"/>
          <p:cNvCxnSpPr>
            <a:cxnSpLocks noChangeShapeType="1"/>
          </p:cNvCxnSpPr>
          <p:nvPr/>
        </p:nvCxnSpPr>
        <p:spPr bwMode="auto">
          <a:xfrm>
            <a:off x="271727" y="1808163"/>
            <a:ext cx="4583245" cy="0"/>
          </a:xfrm>
          <a:prstGeom prst="line">
            <a:avLst/>
          </a:prstGeom>
          <a:noFill/>
          <a:ln w="9525">
            <a:solidFill>
              <a:srgbClr val="1A987F"/>
            </a:solidFill>
            <a:round/>
            <a:headEnd/>
            <a:tailEnd/>
          </a:ln>
          <a:extLst>
            <a:ext uri="{909E8E84-426E-40dd-AFC4-6F175D3DCCD1}">
              <a14:hiddenFill xmlns="" xmlns:a14="http://schemas.microsoft.com/office/drawing/2010/main">
                <a:noFill/>
              </a14:hiddenFill>
            </a:ext>
          </a:extLst>
        </p:spPr>
      </p:cxnSp>
      <p:cxnSp>
        <p:nvCxnSpPr>
          <p:cNvPr id="8" name="直線コネクタ 9"/>
          <p:cNvCxnSpPr>
            <a:cxnSpLocks noChangeShapeType="1"/>
          </p:cNvCxnSpPr>
          <p:nvPr/>
        </p:nvCxnSpPr>
        <p:spPr bwMode="auto">
          <a:xfrm>
            <a:off x="5051029" y="1808163"/>
            <a:ext cx="4583244" cy="0"/>
          </a:xfrm>
          <a:prstGeom prst="line">
            <a:avLst/>
          </a:prstGeom>
          <a:noFill/>
          <a:ln w="9525">
            <a:solidFill>
              <a:srgbClr val="1A987F"/>
            </a:solidFill>
            <a:round/>
            <a:headEnd/>
            <a:tailEnd/>
          </a:ln>
          <a:extLst>
            <a:ext uri="{909E8E84-426E-40dd-AFC4-6F175D3DCCD1}">
              <a14:hiddenFill xmlns="" xmlns:a14="http://schemas.microsoft.com/office/drawing/2010/main">
                <a:noFill/>
              </a14:hiddenFill>
            </a:ext>
          </a:extLst>
        </p:spPr>
      </p:cxnSp>
      <p:sp>
        <p:nvSpPr>
          <p:cNvPr id="2" name="タイトル 1"/>
          <p:cNvSpPr>
            <a:spLocks noGrp="1"/>
          </p:cNvSpPr>
          <p:nvPr>
            <p:ph type="title"/>
          </p:nvPr>
        </p:nvSpPr>
        <p:spPr>
          <a:xfrm>
            <a:off x="418745" y="233645"/>
            <a:ext cx="9214775" cy="634082"/>
          </a:xfrm>
        </p:spPr>
        <p:txBody>
          <a:bodyPr/>
          <a:lstStyle>
            <a:lvl1pPr>
              <a:defRPr/>
            </a:lvl1pPr>
          </a:lstStyle>
          <a:p>
            <a:r>
              <a:rPr lang="ja-JP" altLang="en-US"/>
              <a:t>マスター タイトルの書式設定</a:t>
            </a:r>
            <a:endParaRPr lang="ja-JP" altLang="en-US" dirty="0"/>
          </a:p>
        </p:txBody>
      </p:sp>
      <p:sp>
        <p:nvSpPr>
          <p:cNvPr id="3" name="テキスト プレースホルダ 2"/>
          <p:cNvSpPr>
            <a:spLocks noGrp="1"/>
          </p:cNvSpPr>
          <p:nvPr>
            <p:ph type="body" idx="1"/>
          </p:nvPr>
        </p:nvSpPr>
        <p:spPr>
          <a:xfrm>
            <a:off x="272480" y="1124053"/>
            <a:ext cx="4599690" cy="639762"/>
          </a:xfrm>
        </p:spPr>
        <p:txBody>
          <a:bodyPr anchor="ctr">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321236" y="1872894"/>
            <a:ext cx="4550935" cy="434641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
        <p:nvSpPr>
          <p:cNvPr id="5" name="テキスト プレースホルダ 4"/>
          <p:cNvSpPr>
            <a:spLocks noGrp="1"/>
          </p:cNvSpPr>
          <p:nvPr>
            <p:ph type="body" sz="quarter" idx="3"/>
          </p:nvPr>
        </p:nvSpPr>
        <p:spPr>
          <a:xfrm>
            <a:off x="5032111" y="1124053"/>
            <a:ext cx="4601410" cy="639762"/>
          </a:xfrm>
        </p:spPr>
        <p:txBody>
          <a:bodyPr anchor="ctr">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5032111" y="1872894"/>
            <a:ext cx="4601410" cy="434641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
        <p:nvSpPr>
          <p:cNvPr id="9" name="スライド番号プレースホルダ 12"/>
          <p:cNvSpPr>
            <a:spLocks noGrp="1"/>
          </p:cNvSpPr>
          <p:nvPr>
            <p:ph type="sldNum" sz="quarter" idx="10"/>
          </p:nvPr>
        </p:nvSpPr>
        <p:spPr/>
        <p:txBody>
          <a:bodyPr/>
          <a:lstStyle>
            <a:lvl1pPr>
              <a:defRPr/>
            </a:lvl1pPr>
          </a:lstStyle>
          <a:p>
            <a:fld id="{AC0C640D-7A54-CA47-9B56-6FBADECDE454}" type="slidenum">
              <a:rPr kumimoji="1" lang="ja-JP" altLang="en-US" smtClean="0"/>
              <a:pPr/>
              <a:t>‹#›</a:t>
            </a:fld>
            <a:endParaRPr kumimoji="1" lang="ja-JP" altLang="en-US"/>
          </a:p>
        </p:txBody>
      </p:sp>
    </p:spTree>
    <p:extLst>
      <p:ext uri="{BB962C8B-B14F-4D97-AF65-F5344CB8AC3E}">
        <p14:creationId xmlns:p14="http://schemas.microsoft.com/office/powerpoint/2010/main" val="3435347228"/>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スライド番号プレースホルダ 12"/>
          <p:cNvSpPr>
            <a:spLocks noGrp="1"/>
          </p:cNvSpPr>
          <p:nvPr>
            <p:ph type="sldNum" sz="quarter" idx="10"/>
          </p:nvPr>
        </p:nvSpPr>
        <p:spPr/>
        <p:txBody>
          <a:bodyPr/>
          <a:lstStyle>
            <a:lvl1pPr>
              <a:defRPr/>
            </a:lvl1pPr>
          </a:lstStyle>
          <a:p>
            <a:fld id="{AC0C640D-7A54-CA47-9B56-6FBADECDE454}" type="slidenum">
              <a:rPr kumimoji="1" lang="ja-JP" altLang="en-US" smtClean="0"/>
              <a:pPr/>
              <a:t>‹#›</a:t>
            </a:fld>
            <a:endParaRPr kumimoji="1" lang="ja-JP" altLang="en-US"/>
          </a:p>
        </p:txBody>
      </p:sp>
    </p:spTree>
    <p:extLst>
      <p:ext uri="{BB962C8B-B14F-4D97-AF65-F5344CB8AC3E}">
        <p14:creationId xmlns:p14="http://schemas.microsoft.com/office/powerpoint/2010/main" val="132393129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正方形/長方形 8"/>
          <p:cNvSpPr>
            <a:spLocks noChangeArrowheads="1"/>
          </p:cNvSpPr>
          <p:nvPr/>
        </p:nvSpPr>
        <p:spPr bwMode="auto">
          <a:xfrm>
            <a:off x="175419" y="773113"/>
            <a:ext cx="9507008" cy="406400"/>
          </a:xfrm>
          <a:prstGeom prst="rect">
            <a:avLst/>
          </a:pr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lvl1pPr>
              <a:spcBef>
                <a:spcPct val="50000"/>
              </a:spcBef>
              <a:defRPr kumimoji="1" sz="1400">
                <a:solidFill>
                  <a:schemeClr val="tx1"/>
                </a:solidFill>
                <a:latin typeface="Arial" panose="020B0604020202020204" pitchFamily="34" charset="0"/>
                <a:ea typeface="HGP創英角ｺﾞｼｯｸUB" panose="020B0900000000000000" pitchFamily="50" charset="-128"/>
              </a:defRPr>
            </a:lvl1pPr>
            <a:lvl2pPr marL="742950" indent="-285750">
              <a:spcBef>
                <a:spcPct val="50000"/>
              </a:spcBef>
              <a:defRPr kumimoji="1" sz="1400">
                <a:solidFill>
                  <a:schemeClr val="tx1"/>
                </a:solidFill>
                <a:latin typeface="Arial" panose="020B0604020202020204" pitchFamily="34" charset="0"/>
                <a:ea typeface="HGP創英角ｺﾞｼｯｸUB" panose="020B0900000000000000" pitchFamily="50" charset="-128"/>
              </a:defRPr>
            </a:lvl2pPr>
            <a:lvl3pPr marL="1143000" indent="-228600">
              <a:spcBef>
                <a:spcPct val="50000"/>
              </a:spcBef>
              <a:defRPr kumimoji="1" sz="1400">
                <a:solidFill>
                  <a:schemeClr val="tx1"/>
                </a:solidFill>
                <a:latin typeface="Arial" panose="020B0604020202020204" pitchFamily="34" charset="0"/>
                <a:ea typeface="HGP創英角ｺﾞｼｯｸUB" panose="020B0900000000000000" pitchFamily="50" charset="-128"/>
              </a:defRPr>
            </a:lvl3pPr>
            <a:lvl4pPr marL="1600200" indent="-228600">
              <a:spcBef>
                <a:spcPct val="50000"/>
              </a:spcBef>
              <a:defRPr kumimoji="1" sz="1400">
                <a:solidFill>
                  <a:schemeClr val="tx1"/>
                </a:solidFill>
                <a:latin typeface="Arial" panose="020B0604020202020204" pitchFamily="34" charset="0"/>
                <a:ea typeface="HGP創英角ｺﾞｼｯｸUB" panose="020B0900000000000000" pitchFamily="50" charset="-128"/>
              </a:defRPr>
            </a:lvl4pPr>
            <a:lvl5pPr marL="2057400" indent="-228600">
              <a:spcBef>
                <a:spcPct val="50000"/>
              </a:spcBef>
              <a:defRPr kumimoji="1" sz="1400">
                <a:solidFill>
                  <a:schemeClr val="tx1"/>
                </a:solidFill>
                <a:latin typeface="Arial" panose="020B0604020202020204" pitchFamily="34" charset="0"/>
                <a:ea typeface="HGP創英角ｺﾞｼｯｸUB" panose="020B0900000000000000" pitchFamily="50" charset="-128"/>
              </a:defRPr>
            </a:lvl5pPr>
            <a:lvl6pPr marL="2514600" indent="-228600" eaLnBrk="0" fontAlgn="base" hangingPunct="0">
              <a:spcBef>
                <a:spcPct val="50000"/>
              </a:spcBef>
              <a:spcAft>
                <a:spcPct val="0"/>
              </a:spcAft>
              <a:defRPr kumimoji="1" sz="1400">
                <a:solidFill>
                  <a:schemeClr val="tx1"/>
                </a:solidFill>
                <a:latin typeface="Arial" panose="020B0604020202020204" pitchFamily="34" charset="0"/>
                <a:ea typeface="HGP創英角ｺﾞｼｯｸUB" panose="020B0900000000000000" pitchFamily="50" charset="-128"/>
              </a:defRPr>
            </a:lvl6pPr>
            <a:lvl7pPr marL="2971800" indent="-228600" eaLnBrk="0" fontAlgn="base" hangingPunct="0">
              <a:spcBef>
                <a:spcPct val="50000"/>
              </a:spcBef>
              <a:spcAft>
                <a:spcPct val="0"/>
              </a:spcAft>
              <a:defRPr kumimoji="1" sz="1400">
                <a:solidFill>
                  <a:schemeClr val="tx1"/>
                </a:solidFill>
                <a:latin typeface="Arial" panose="020B0604020202020204" pitchFamily="34" charset="0"/>
                <a:ea typeface="HGP創英角ｺﾞｼｯｸUB" panose="020B0900000000000000" pitchFamily="50" charset="-128"/>
              </a:defRPr>
            </a:lvl7pPr>
            <a:lvl8pPr marL="3429000" indent="-228600" eaLnBrk="0" fontAlgn="base" hangingPunct="0">
              <a:spcBef>
                <a:spcPct val="50000"/>
              </a:spcBef>
              <a:spcAft>
                <a:spcPct val="0"/>
              </a:spcAft>
              <a:defRPr kumimoji="1" sz="1400">
                <a:solidFill>
                  <a:schemeClr val="tx1"/>
                </a:solidFill>
                <a:latin typeface="Arial" panose="020B0604020202020204" pitchFamily="34" charset="0"/>
                <a:ea typeface="HGP創英角ｺﾞｼｯｸUB" panose="020B0900000000000000" pitchFamily="50" charset="-128"/>
              </a:defRPr>
            </a:lvl8pPr>
            <a:lvl9pPr marL="3886200" indent="-228600" eaLnBrk="0" fontAlgn="base" hangingPunct="0">
              <a:spcBef>
                <a:spcPct val="50000"/>
              </a:spcBef>
              <a:spcAft>
                <a:spcPct val="0"/>
              </a:spcAft>
              <a:defRPr kumimoji="1" sz="1400">
                <a:solidFill>
                  <a:schemeClr val="tx1"/>
                </a:solidFill>
                <a:latin typeface="Arial" panose="020B0604020202020204" pitchFamily="34" charset="0"/>
                <a:ea typeface="HGP創英角ｺﾞｼｯｸUB" panose="020B0900000000000000" pitchFamily="50" charset="-128"/>
              </a:defRPr>
            </a:lvl9pPr>
          </a:lstStyle>
          <a:p>
            <a:pPr algn="ctr" eaLnBrk="1" hangingPunct="1">
              <a:defRPr/>
            </a:pPr>
            <a:endParaRPr lang="ja-JP" altLang="en-US" sz="1600">
              <a:solidFill>
                <a:srgbClr val="2D2D87"/>
              </a:solidFill>
              <a:cs typeface="+mn-cs"/>
            </a:endParaRPr>
          </a:p>
        </p:txBody>
      </p:sp>
      <p:sp>
        <p:nvSpPr>
          <p:cNvPr id="3" name="スライド番号プレースホルダ 12"/>
          <p:cNvSpPr>
            <a:spLocks noGrp="1"/>
          </p:cNvSpPr>
          <p:nvPr>
            <p:ph type="sldNum" sz="quarter" idx="10"/>
          </p:nvPr>
        </p:nvSpPr>
        <p:spPr/>
        <p:txBody>
          <a:bodyPr/>
          <a:lstStyle>
            <a:lvl1pPr>
              <a:defRPr/>
            </a:lvl1pPr>
          </a:lstStyle>
          <a:p>
            <a:fld id="{AC0C640D-7A54-CA47-9B56-6FBADECDE454}" type="slidenum">
              <a:rPr kumimoji="1" lang="ja-JP" altLang="en-US" smtClean="0"/>
              <a:pPr/>
              <a:t>‹#›</a:t>
            </a:fld>
            <a:endParaRPr kumimoji="1" lang="ja-JP" altLang="en-US"/>
          </a:p>
        </p:txBody>
      </p:sp>
    </p:spTree>
    <p:extLst>
      <p:ext uri="{BB962C8B-B14F-4D97-AF65-F5344CB8AC3E}">
        <p14:creationId xmlns:p14="http://schemas.microsoft.com/office/powerpoint/2010/main" val="2571743155"/>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5" name="正方形/長方形 8"/>
          <p:cNvSpPr>
            <a:spLocks noChangeArrowheads="1"/>
          </p:cNvSpPr>
          <p:nvPr/>
        </p:nvSpPr>
        <p:spPr bwMode="auto">
          <a:xfrm>
            <a:off x="0" y="819150"/>
            <a:ext cx="9906000" cy="404813"/>
          </a:xfrm>
          <a:prstGeom prst="rect">
            <a:avLst/>
          </a:pr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anchor="ctr"/>
          <a:lstStyle>
            <a:lvl1pPr>
              <a:spcBef>
                <a:spcPct val="50000"/>
              </a:spcBef>
              <a:defRPr kumimoji="1" sz="1400">
                <a:solidFill>
                  <a:schemeClr val="tx1"/>
                </a:solidFill>
                <a:latin typeface="Arial" panose="020B0604020202020204" pitchFamily="34" charset="0"/>
                <a:ea typeface="HGP創英角ｺﾞｼｯｸUB" panose="020B0900000000000000" pitchFamily="50" charset="-128"/>
              </a:defRPr>
            </a:lvl1pPr>
            <a:lvl2pPr marL="742950" indent="-285750">
              <a:spcBef>
                <a:spcPct val="50000"/>
              </a:spcBef>
              <a:defRPr kumimoji="1" sz="1400">
                <a:solidFill>
                  <a:schemeClr val="tx1"/>
                </a:solidFill>
                <a:latin typeface="Arial" panose="020B0604020202020204" pitchFamily="34" charset="0"/>
                <a:ea typeface="HGP創英角ｺﾞｼｯｸUB" panose="020B0900000000000000" pitchFamily="50" charset="-128"/>
              </a:defRPr>
            </a:lvl2pPr>
            <a:lvl3pPr marL="1143000" indent="-228600">
              <a:spcBef>
                <a:spcPct val="50000"/>
              </a:spcBef>
              <a:defRPr kumimoji="1" sz="1400">
                <a:solidFill>
                  <a:schemeClr val="tx1"/>
                </a:solidFill>
                <a:latin typeface="Arial" panose="020B0604020202020204" pitchFamily="34" charset="0"/>
                <a:ea typeface="HGP創英角ｺﾞｼｯｸUB" panose="020B0900000000000000" pitchFamily="50" charset="-128"/>
              </a:defRPr>
            </a:lvl3pPr>
            <a:lvl4pPr marL="1600200" indent="-228600">
              <a:spcBef>
                <a:spcPct val="50000"/>
              </a:spcBef>
              <a:defRPr kumimoji="1" sz="1400">
                <a:solidFill>
                  <a:schemeClr val="tx1"/>
                </a:solidFill>
                <a:latin typeface="Arial" panose="020B0604020202020204" pitchFamily="34" charset="0"/>
                <a:ea typeface="HGP創英角ｺﾞｼｯｸUB" panose="020B0900000000000000" pitchFamily="50" charset="-128"/>
              </a:defRPr>
            </a:lvl4pPr>
            <a:lvl5pPr marL="2057400" indent="-228600">
              <a:spcBef>
                <a:spcPct val="50000"/>
              </a:spcBef>
              <a:defRPr kumimoji="1" sz="1400">
                <a:solidFill>
                  <a:schemeClr val="tx1"/>
                </a:solidFill>
                <a:latin typeface="Arial" panose="020B0604020202020204" pitchFamily="34" charset="0"/>
                <a:ea typeface="HGP創英角ｺﾞｼｯｸUB" panose="020B0900000000000000" pitchFamily="50" charset="-128"/>
              </a:defRPr>
            </a:lvl5pPr>
            <a:lvl6pPr marL="2514600" indent="-228600" eaLnBrk="0" fontAlgn="base" hangingPunct="0">
              <a:spcBef>
                <a:spcPct val="50000"/>
              </a:spcBef>
              <a:spcAft>
                <a:spcPct val="0"/>
              </a:spcAft>
              <a:defRPr kumimoji="1" sz="1400">
                <a:solidFill>
                  <a:schemeClr val="tx1"/>
                </a:solidFill>
                <a:latin typeface="Arial" panose="020B0604020202020204" pitchFamily="34" charset="0"/>
                <a:ea typeface="HGP創英角ｺﾞｼｯｸUB" panose="020B0900000000000000" pitchFamily="50" charset="-128"/>
              </a:defRPr>
            </a:lvl6pPr>
            <a:lvl7pPr marL="2971800" indent="-228600" eaLnBrk="0" fontAlgn="base" hangingPunct="0">
              <a:spcBef>
                <a:spcPct val="50000"/>
              </a:spcBef>
              <a:spcAft>
                <a:spcPct val="0"/>
              </a:spcAft>
              <a:defRPr kumimoji="1" sz="1400">
                <a:solidFill>
                  <a:schemeClr val="tx1"/>
                </a:solidFill>
                <a:latin typeface="Arial" panose="020B0604020202020204" pitchFamily="34" charset="0"/>
                <a:ea typeface="HGP創英角ｺﾞｼｯｸUB" panose="020B0900000000000000" pitchFamily="50" charset="-128"/>
              </a:defRPr>
            </a:lvl7pPr>
            <a:lvl8pPr marL="3429000" indent="-228600" eaLnBrk="0" fontAlgn="base" hangingPunct="0">
              <a:spcBef>
                <a:spcPct val="50000"/>
              </a:spcBef>
              <a:spcAft>
                <a:spcPct val="0"/>
              </a:spcAft>
              <a:defRPr kumimoji="1" sz="1400">
                <a:solidFill>
                  <a:schemeClr val="tx1"/>
                </a:solidFill>
                <a:latin typeface="Arial" panose="020B0604020202020204" pitchFamily="34" charset="0"/>
                <a:ea typeface="HGP創英角ｺﾞｼｯｸUB" panose="020B0900000000000000" pitchFamily="50" charset="-128"/>
              </a:defRPr>
            </a:lvl8pPr>
            <a:lvl9pPr marL="3886200" indent="-228600" eaLnBrk="0" fontAlgn="base" hangingPunct="0">
              <a:spcBef>
                <a:spcPct val="50000"/>
              </a:spcBef>
              <a:spcAft>
                <a:spcPct val="0"/>
              </a:spcAft>
              <a:defRPr kumimoji="1" sz="1400">
                <a:solidFill>
                  <a:schemeClr val="tx1"/>
                </a:solidFill>
                <a:latin typeface="Arial" panose="020B0604020202020204" pitchFamily="34" charset="0"/>
                <a:ea typeface="HGP創英角ｺﾞｼｯｸUB" panose="020B0900000000000000" pitchFamily="50" charset="-128"/>
              </a:defRPr>
            </a:lvl9pPr>
          </a:lstStyle>
          <a:p>
            <a:pPr algn="ctr" eaLnBrk="1" hangingPunct="1">
              <a:defRPr/>
            </a:pPr>
            <a:endParaRPr lang="ja-JP" altLang="en-US" sz="1600">
              <a:solidFill>
                <a:srgbClr val="2D2D87"/>
              </a:solidFill>
              <a:ea typeface="メイリオ"/>
              <a:cs typeface="+mn-cs"/>
            </a:endParaRPr>
          </a:p>
        </p:txBody>
      </p:sp>
      <p:sp>
        <p:nvSpPr>
          <p:cNvPr id="2" name="タイトル 1"/>
          <p:cNvSpPr>
            <a:spLocks noGrp="1"/>
          </p:cNvSpPr>
          <p:nvPr>
            <p:ph type="title"/>
          </p:nvPr>
        </p:nvSpPr>
        <p:spPr>
          <a:xfrm>
            <a:off x="495300" y="273050"/>
            <a:ext cx="3259006" cy="1162050"/>
          </a:xfrm>
        </p:spPr>
        <p:txBody>
          <a:bodyPr/>
          <a:lstStyle>
            <a:lvl1pPr algn="l">
              <a:defRPr sz="2000" b="1">
                <a:ea typeface="メイリオ"/>
              </a:defRPr>
            </a:lvl1pPr>
          </a:lstStyle>
          <a:p>
            <a:r>
              <a:rPr lang="ja-JP" altLang="en-US"/>
              <a:t>マスター タイトルの書式設定</a:t>
            </a:r>
          </a:p>
        </p:txBody>
      </p:sp>
      <p:sp>
        <p:nvSpPr>
          <p:cNvPr id="3" name="コンテンツ プレースホルダ 2"/>
          <p:cNvSpPr>
            <a:spLocks noGrp="1"/>
          </p:cNvSpPr>
          <p:nvPr>
            <p:ph idx="1"/>
          </p:nvPr>
        </p:nvSpPr>
        <p:spPr>
          <a:xfrm>
            <a:off x="3872971" y="273051"/>
            <a:ext cx="5537729" cy="5853113"/>
          </a:xfrm>
        </p:spPr>
        <p:txBody>
          <a:bodyPr/>
          <a:lstStyle>
            <a:lvl1pPr>
              <a:defRPr sz="3200">
                <a:ea typeface="メイリオ"/>
              </a:defRPr>
            </a:lvl1pPr>
            <a:lvl2pPr>
              <a:defRPr sz="2800">
                <a:ea typeface="メイリオ"/>
              </a:defRPr>
            </a:lvl2pPr>
            <a:lvl3pPr>
              <a:defRPr sz="2400">
                <a:ea typeface="メイリオ"/>
              </a:defRPr>
            </a:lvl3pPr>
            <a:lvl4pPr>
              <a:defRPr sz="2000">
                <a:ea typeface="メイリオ"/>
              </a:defRPr>
            </a:lvl4pPr>
            <a:lvl5pPr>
              <a:defRPr sz="2000">
                <a:ea typeface="メイリオ"/>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95300" y="1435101"/>
            <a:ext cx="3259006" cy="4691063"/>
          </a:xfrm>
        </p:spPr>
        <p:txBody>
          <a:bodyPr/>
          <a:lstStyle>
            <a:lvl1pPr marL="0" indent="0">
              <a:buNone/>
              <a:defRPr sz="1400">
                <a:ea typeface="メイリオ"/>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6" name="スライド番号プレースホルダ 12"/>
          <p:cNvSpPr>
            <a:spLocks noGrp="1"/>
          </p:cNvSpPr>
          <p:nvPr>
            <p:ph type="sldNum" sz="quarter" idx="10"/>
          </p:nvPr>
        </p:nvSpPr>
        <p:spPr/>
        <p:txBody>
          <a:bodyPr/>
          <a:lstStyle>
            <a:lvl1pPr>
              <a:defRPr/>
            </a:lvl1pPr>
          </a:lstStyle>
          <a:p>
            <a:fld id="{AC0C640D-7A54-CA47-9B56-6FBADECDE454}" type="slidenum">
              <a:rPr kumimoji="1" lang="ja-JP" altLang="en-US" smtClean="0"/>
              <a:pPr/>
              <a:t>‹#›</a:t>
            </a:fld>
            <a:endParaRPr kumimoji="1" lang="ja-JP" altLang="en-US"/>
          </a:p>
        </p:txBody>
      </p:sp>
    </p:spTree>
    <p:extLst>
      <p:ext uri="{BB962C8B-B14F-4D97-AF65-F5344CB8AC3E}">
        <p14:creationId xmlns:p14="http://schemas.microsoft.com/office/powerpoint/2010/main" val="1309916788"/>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5" name="正方形/長方形 4"/>
          <p:cNvSpPr/>
          <p:nvPr/>
        </p:nvSpPr>
        <p:spPr bwMode="auto">
          <a:xfrm>
            <a:off x="223573" y="908050"/>
            <a:ext cx="9507008" cy="271463"/>
          </a:xfrm>
          <a:prstGeom prst="rect">
            <a:avLst/>
          </a:prstGeom>
          <a:solidFill>
            <a:srgbClr val="FFFFFF"/>
          </a:solidFill>
          <a:ln w="9525">
            <a:noFill/>
            <a:round/>
            <a:headEnd/>
            <a:tailEnd/>
          </a:ln>
        </p:spPr>
        <p:txBody>
          <a:bodyPr anchor="ctr">
            <a:normAutofit fontScale="85000" lnSpcReduction="20000"/>
          </a:bodyPr>
          <a:lstStyle/>
          <a:p>
            <a:pPr algn="ctr" eaLnBrk="1" hangingPunct="1">
              <a:spcBef>
                <a:spcPct val="50000"/>
              </a:spcBef>
              <a:defRPr/>
            </a:pPr>
            <a:endParaRPr lang="ja-JP" altLang="en-US" sz="1600" dirty="0">
              <a:solidFill>
                <a:srgbClr val="2D2D87"/>
              </a:solidFill>
            </a:endParaRPr>
          </a:p>
        </p:txBody>
      </p:sp>
      <p:sp>
        <p:nvSpPr>
          <p:cNvPr id="2" name="タイトル 1"/>
          <p:cNvSpPr>
            <a:spLocks noGrp="1"/>
          </p:cNvSpPr>
          <p:nvPr>
            <p:ph type="title"/>
          </p:nvPr>
        </p:nvSpPr>
        <p:spPr>
          <a:xfrm>
            <a:off x="1941645" y="4800600"/>
            <a:ext cx="5943600" cy="566738"/>
          </a:xfrm>
        </p:spPr>
        <p:txBody>
          <a:bodyPr/>
          <a:lstStyle>
            <a:lvl1pPr algn="l">
              <a:defRPr sz="2000" b="0"/>
            </a:lvl1pPr>
          </a:lstStyle>
          <a:p>
            <a:r>
              <a:rPr lang="ja-JP" altLang="en-US"/>
              <a:t>マスター タイトルの書式設定</a:t>
            </a:r>
          </a:p>
        </p:txBody>
      </p:sp>
      <p:sp>
        <p:nvSpPr>
          <p:cNvPr id="3" name="図プレースホルダ 2"/>
          <p:cNvSpPr>
            <a:spLocks noGrp="1"/>
          </p:cNvSpPr>
          <p:nvPr>
            <p:ph type="pic" idx="1"/>
          </p:nvPr>
        </p:nvSpPr>
        <p:spPr>
          <a:xfrm>
            <a:off x="1941645" y="548681"/>
            <a:ext cx="5943600" cy="4178895"/>
          </a:xfrm>
        </p:spPr>
        <p:txBody>
          <a:bodyPr>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プレースホルダーまでドラッグするかアイコンをクリックして図を追加</a:t>
            </a:r>
          </a:p>
        </p:txBody>
      </p:sp>
      <p:sp>
        <p:nvSpPr>
          <p:cNvPr id="4" name="テキスト プレースホルダ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6" name="スライド番号プレースホルダ 12"/>
          <p:cNvSpPr>
            <a:spLocks noGrp="1"/>
          </p:cNvSpPr>
          <p:nvPr>
            <p:ph type="sldNum" sz="quarter" idx="10"/>
          </p:nvPr>
        </p:nvSpPr>
        <p:spPr/>
        <p:txBody>
          <a:bodyPr/>
          <a:lstStyle>
            <a:lvl1pPr>
              <a:defRPr/>
            </a:lvl1pPr>
          </a:lstStyle>
          <a:p>
            <a:fld id="{AC0C640D-7A54-CA47-9B56-6FBADECDE454}" type="slidenum">
              <a:rPr kumimoji="1" lang="ja-JP" altLang="en-US" smtClean="0"/>
              <a:pPr/>
              <a:t>‹#›</a:t>
            </a:fld>
            <a:endParaRPr kumimoji="1" lang="ja-JP" altLang="en-US"/>
          </a:p>
        </p:txBody>
      </p:sp>
    </p:spTree>
    <p:extLst>
      <p:ext uri="{BB962C8B-B14F-4D97-AF65-F5344CB8AC3E}">
        <p14:creationId xmlns:p14="http://schemas.microsoft.com/office/powerpoint/2010/main" val="86066594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スライド番号プレースホルダ 12"/>
          <p:cNvSpPr>
            <a:spLocks noGrp="1"/>
          </p:cNvSpPr>
          <p:nvPr>
            <p:ph type="sldNum" sz="quarter" idx="10"/>
          </p:nvPr>
        </p:nvSpPr>
        <p:spPr/>
        <p:txBody>
          <a:bodyPr/>
          <a:lstStyle>
            <a:lvl1pPr>
              <a:defRPr/>
            </a:lvl1pPr>
          </a:lstStyle>
          <a:p>
            <a:fld id="{AC0C640D-7A54-CA47-9B56-6FBADECDE454}" type="slidenum">
              <a:rPr kumimoji="1" lang="ja-JP" altLang="en-US" smtClean="0"/>
              <a:pPr/>
              <a:t>‹#›</a:t>
            </a:fld>
            <a:endParaRPr kumimoji="1" lang="ja-JP" altLang="en-US"/>
          </a:p>
        </p:txBody>
      </p:sp>
    </p:spTree>
    <p:extLst>
      <p:ext uri="{BB962C8B-B14F-4D97-AF65-F5344CB8AC3E}">
        <p14:creationId xmlns:p14="http://schemas.microsoft.com/office/powerpoint/2010/main" val="183267756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4" name="正方形/長方形 3"/>
          <p:cNvSpPr/>
          <p:nvPr/>
        </p:nvSpPr>
        <p:spPr bwMode="auto">
          <a:xfrm>
            <a:off x="125546" y="863601"/>
            <a:ext cx="9556882" cy="269875"/>
          </a:xfrm>
          <a:prstGeom prst="rect">
            <a:avLst/>
          </a:prstGeom>
          <a:solidFill>
            <a:srgbClr val="FFFFFF"/>
          </a:solidFill>
          <a:ln w="9525">
            <a:noFill/>
            <a:round/>
            <a:headEnd/>
            <a:tailEnd/>
          </a:ln>
        </p:spPr>
        <p:txBody>
          <a:bodyPr anchor="ctr">
            <a:normAutofit fontScale="85000" lnSpcReduction="20000"/>
          </a:bodyPr>
          <a:lstStyle/>
          <a:p>
            <a:pPr algn="ctr" eaLnBrk="1" hangingPunct="1">
              <a:spcBef>
                <a:spcPct val="50000"/>
              </a:spcBef>
              <a:defRPr/>
            </a:pPr>
            <a:endParaRPr lang="ja-JP" altLang="en-US" sz="1600" dirty="0">
              <a:solidFill>
                <a:srgbClr val="2D2D87"/>
              </a:solidFill>
            </a:endParaRPr>
          </a:p>
        </p:txBody>
      </p:sp>
      <p:sp>
        <p:nvSpPr>
          <p:cNvPr id="2" name="縦書きタイトル 1"/>
          <p:cNvSpPr>
            <a:spLocks noGrp="1"/>
          </p:cNvSpPr>
          <p:nvPr>
            <p:ph type="title" orient="vert"/>
          </p:nvPr>
        </p:nvSpPr>
        <p:spPr>
          <a:xfrm>
            <a:off x="7076943" y="381000"/>
            <a:ext cx="2105025" cy="5715000"/>
          </a:xfrm>
        </p:spPr>
        <p:txBody>
          <a:bodyPr vert="eaVert"/>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761868" y="381000"/>
            <a:ext cx="6149975" cy="5715000"/>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スライド番号プレースホルダ 12"/>
          <p:cNvSpPr>
            <a:spLocks noGrp="1"/>
          </p:cNvSpPr>
          <p:nvPr>
            <p:ph type="sldNum" sz="quarter" idx="10"/>
          </p:nvPr>
        </p:nvSpPr>
        <p:spPr/>
        <p:txBody>
          <a:bodyPr/>
          <a:lstStyle>
            <a:lvl1pPr>
              <a:defRPr/>
            </a:lvl1pPr>
          </a:lstStyle>
          <a:p>
            <a:fld id="{AC0C640D-7A54-CA47-9B56-6FBADECDE454}" type="slidenum">
              <a:rPr kumimoji="1" lang="ja-JP" altLang="en-US" smtClean="0"/>
              <a:pPr/>
              <a:t>‹#›</a:t>
            </a:fld>
            <a:endParaRPr kumimoji="1" lang="ja-JP" altLang="en-US"/>
          </a:p>
        </p:txBody>
      </p:sp>
    </p:spTree>
    <p:extLst>
      <p:ext uri="{BB962C8B-B14F-4D97-AF65-F5344CB8AC3E}">
        <p14:creationId xmlns:p14="http://schemas.microsoft.com/office/powerpoint/2010/main" val="3422560659"/>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コンテンツ（タイトルなし）">
    <p:spTree>
      <p:nvGrpSpPr>
        <p:cNvPr id="1" name=""/>
        <p:cNvGrpSpPr/>
        <p:nvPr/>
      </p:nvGrpSpPr>
      <p:grpSpPr>
        <a:xfrm>
          <a:off x="0" y="0"/>
          <a:ext cx="0" cy="0"/>
          <a:chOff x="0" y="0"/>
          <a:chExt cx="0" cy="0"/>
        </a:xfrm>
      </p:grpSpPr>
      <p:sp>
        <p:nvSpPr>
          <p:cNvPr id="3" name="正方形/長方形 2"/>
          <p:cNvSpPr/>
          <p:nvPr/>
        </p:nvSpPr>
        <p:spPr bwMode="auto">
          <a:xfrm>
            <a:off x="125546" y="863600"/>
            <a:ext cx="9654910" cy="315913"/>
          </a:xfrm>
          <a:prstGeom prst="rect">
            <a:avLst/>
          </a:prstGeom>
          <a:solidFill>
            <a:srgbClr val="FFFFFF"/>
          </a:solidFill>
          <a:ln w="9525">
            <a:noFill/>
            <a:round/>
            <a:headEnd/>
            <a:tailEnd/>
          </a:ln>
        </p:spPr>
        <p:txBody>
          <a:bodyPr anchor="ctr">
            <a:normAutofit fontScale="92500" lnSpcReduction="10000"/>
          </a:bodyPr>
          <a:lstStyle/>
          <a:p>
            <a:pPr algn="ctr" eaLnBrk="1" hangingPunct="1">
              <a:spcBef>
                <a:spcPct val="50000"/>
              </a:spcBef>
              <a:defRPr/>
            </a:pPr>
            <a:endParaRPr lang="ja-JP" altLang="en-US" sz="1600" dirty="0">
              <a:solidFill>
                <a:srgbClr val="2D2D87"/>
              </a:solidFill>
            </a:endParaRPr>
          </a:p>
        </p:txBody>
      </p:sp>
      <p:sp>
        <p:nvSpPr>
          <p:cNvPr id="2" name="コンテンツ プレースホルダ 1"/>
          <p:cNvSpPr>
            <a:spLocks noGrp="1"/>
          </p:cNvSpPr>
          <p:nvPr>
            <p:ph/>
          </p:nvPr>
        </p:nvSpPr>
        <p:spPr>
          <a:xfrm>
            <a:off x="761868" y="381000"/>
            <a:ext cx="8420100" cy="57150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スライド番号プレースホルダ 12"/>
          <p:cNvSpPr>
            <a:spLocks noGrp="1"/>
          </p:cNvSpPr>
          <p:nvPr>
            <p:ph type="sldNum" sz="quarter" idx="10"/>
          </p:nvPr>
        </p:nvSpPr>
        <p:spPr/>
        <p:txBody>
          <a:bodyPr/>
          <a:lstStyle>
            <a:lvl1pPr>
              <a:defRPr/>
            </a:lvl1pPr>
          </a:lstStyle>
          <a:p>
            <a:fld id="{AC0C640D-7A54-CA47-9B56-6FBADECDE454}" type="slidenum">
              <a:rPr kumimoji="1" lang="ja-JP" altLang="en-US" smtClean="0"/>
              <a:pPr/>
              <a:t>‹#›</a:t>
            </a:fld>
            <a:endParaRPr kumimoji="1" lang="ja-JP" altLang="en-US"/>
          </a:p>
        </p:txBody>
      </p:sp>
    </p:spTree>
    <p:extLst>
      <p:ext uri="{BB962C8B-B14F-4D97-AF65-F5344CB8AC3E}">
        <p14:creationId xmlns:p14="http://schemas.microsoft.com/office/powerpoint/2010/main" val="1635281883"/>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a:xfrm>
            <a:off x="835852" y="142852"/>
            <a:ext cx="8915400" cy="582594"/>
          </a:xfrm>
          <a:prstGeom prst="rect">
            <a:avLst/>
          </a:prstGeom>
        </p:spPr>
        <p:txBody>
          <a:bodyPr/>
          <a:lstStyle>
            <a:lvl1pPr algn="l">
              <a:defRPr>
                <a:uFillTx/>
              </a:defRPr>
            </a:lvl1pPr>
          </a:lstStyle>
          <a:p>
            <a:r>
              <a:rPr lang="ja-JP" altLang="en-US" dirty="0">
                <a:uFillTx/>
              </a:rPr>
              <a:t>マスタ タイトルの書式設定</a:t>
            </a:r>
          </a:p>
        </p:txBody>
      </p:sp>
      <p:sp>
        <p:nvSpPr>
          <p:cNvPr id="5" name="直線コネクタ 13"/>
          <p:cNvSpPr>
            <a:spLocks noChangeShapeType="1"/>
          </p:cNvSpPr>
          <p:nvPr userDrawn="1"/>
        </p:nvSpPr>
        <p:spPr bwMode="auto">
          <a:xfrm>
            <a:off x="153029" y="674642"/>
            <a:ext cx="9517327" cy="0"/>
          </a:xfrm>
          <a:prstGeom prst="line">
            <a:avLst/>
          </a:prstGeom>
          <a:noFill/>
          <a:ln w="12700" cap="sq">
            <a:solidFill>
              <a:schemeClr val="tx1"/>
            </a:solidFill>
            <a:bevel/>
          </a:ln>
        </p:spPr>
        <p:txBody>
          <a:bodyPr/>
          <a:lstStyle/>
          <a:p>
            <a:endParaRPr lang="ja-JP" altLang="en-US" sz="1800">
              <a:uFillTx/>
            </a:endParaRPr>
          </a:p>
        </p:txBody>
      </p:sp>
      <p:sp>
        <p:nvSpPr>
          <p:cNvPr id="6" name="スライド番号プレースホルダ 21"/>
          <p:cNvSpPr txBox="1">
            <a:spLocks/>
          </p:cNvSpPr>
          <p:nvPr userDrawn="1"/>
        </p:nvSpPr>
        <p:spPr bwMode="auto">
          <a:xfrm>
            <a:off x="7551606" y="6492876"/>
            <a:ext cx="2311400" cy="365125"/>
          </a:xfrm>
          <a:prstGeom prst="rect">
            <a:avLst/>
          </a:prstGeom>
          <a:noFill/>
          <a:ln w="9525">
            <a:noFill/>
            <a:miter lim="800000"/>
          </a:ln>
        </p:spPr>
        <p:txBody>
          <a:bodyPr/>
          <a:lstStyle/>
          <a:p>
            <a:pPr algn="r"/>
            <a:fld id="{142D207C-8CDE-4337-AE95-AB99F8E46A13}" type="slidenum">
              <a:rPr lang="ja-JP" altLang="en-US" sz="1800">
                <a:uFillTx/>
              </a:rPr>
              <a:pPr algn="r"/>
              <a:t>‹#›</a:t>
            </a:fld>
            <a:endParaRPr lang="ja-JP" altLang="en-US" sz="1800" dirty="0">
              <a:uFillTx/>
            </a:endParaRPr>
          </a:p>
        </p:txBody>
      </p:sp>
      <p:pic>
        <p:nvPicPr>
          <p:cNvPr id="4" name="Google Shape;40;p75" descr="アイコン&#10;&#10;自動的に生成された説明">
            <a:extLst>
              <a:ext uri="{FF2B5EF4-FFF2-40B4-BE49-F238E27FC236}">
                <a16:creationId xmlns:a16="http://schemas.microsoft.com/office/drawing/2014/main" id="{73C25A9B-1EAC-1474-8953-D5935B3F2108}"/>
              </a:ext>
            </a:extLst>
          </p:cNvPr>
          <p:cNvPicPr preferRelativeResize="0"/>
          <p:nvPr userDrawn="1"/>
        </p:nvPicPr>
        <p:blipFill rotWithShape="1">
          <a:blip r:embed="rId2">
            <a:alphaModFix/>
          </a:blip>
          <a:srcRect/>
          <a:stretch/>
        </p:blipFill>
        <p:spPr>
          <a:xfrm>
            <a:off x="194472" y="188641"/>
            <a:ext cx="682824" cy="405825"/>
          </a:xfrm>
          <a:prstGeom prst="rect">
            <a:avLst/>
          </a:prstGeom>
          <a:noFill/>
          <a:ln>
            <a:noFill/>
          </a:ln>
        </p:spPr>
      </p:pic>
    </p:spTree>
    <p:extLst>
      <p:ext uri="{BB962C8B-B14F-4D97-AF65-F5344CB8AC3E}">
        <p14:creationId xmlns:p14="http://schemas.microsoft.com/office/powerpoint/2010/main" val="11524049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図 9" descr="Logo.jpg"/>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247651" y="6407152"/>
            <a:ext cx="494607" cy="3948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27" name="Rectangle 8"/>
          <p:cNvSpPr>
            <a:spLocks noGrp="1" noChangeArrowheads="1"/>
          </p:cNvSpPr>
          <p:nvPr>
            <p:ph type="title"/>
          </p:nvPr>
        </p:nvSpPr>
        <p:spPr bwMode="auto">
          <a:xfrm>
            <a:off x="345513" y="179510"/>
            <a:ext cx="9216000" cy="75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p>
            <a:pPr lvl="0"/>
            <a:r>
              <a:rPr lang="ja-JP" altLang="en-US" dirty="0"/>
              <a:t>マスタ タイトルの書式設定</a:t>
            </a:r>
          </a:p>
        </p:txBody>
      </p:sp>
      <p:sp>
        <p:nvSpPr>
          <p:cNvPr id="1028" name="Rectangle 12"/>
          <p:cNvSpPr>
            <a:spLocks noGrp="1" noChangeArrowheads="1"/>
          </p:cNvSpPr>
          <p:nvPr>
            <p:ph type="body" idx="1"/>
          </p:nvPr>
        </p:nvSpPr>
        <p:spPr bwMode="auto">
          <a:xfrm>
            <a:off x="335987" y="1036569"/>
            <a:ext cx="9200754" cy="5292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13" name="スライド番号プレースホルダ 12"/>
          <p:cNvSpPr>
            <a:spLocks noGrp="1"/>
          </p:cNvSpPr>
          <p:nvPr>
            <p:ph type="sldNum" sz="quarter" idx="4"/>
          </p:nvPr>
        </p:nvSpPr>
        <p:spPr>
          <a:xfrm>
            <a:off x="7833320" y="6417792"/>
            <a:ext cx="1709692"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spcBef>
                <a:spcPct val="50000"/>
              </a:spcBef>
              <a:defRPr sz="1200">
                <a:solidFill>
                  <a:srgbClr val="595959"/>
                </a:solidFill>
                <a:latin typeface="メイリオ" charset="0"/>
                <a:ea typeface="メイリオ" charset="0"/>
                <a:cs typeface="メイリオ" charset="0"/>
              </a:defRPr>
            </a:lvl1pPr>
          </a:lstStyle>
          <a:p>
            <a:fld id="{AC0C640D-7A54-CA47-9B56-6FBADECDE454}" type="slidenum">
              <a:rPr kumimoji="1" lang="ja-JP" altLang="en-US" smtClean="0"/>
              <a:pPr/>
              <a:t>‹#›</a:t>
            </a:fld>
            <a:endParaRPr kumimoji="1" lang="ja-JP" altLang="en-US"/>
          </a:p>
        </p:txBody>
      </p:sp>
      <p:sp>
        <p:nvSpPr>
          <p:cNvPr id="2" name="Rectangle 7"/>
          <p:cNvSpPr>
            <a:spLocks noChangeArrowheads="1"/>
          </p:cNvSpPr>
          <p:nvPr/>
        </p:nvSpPr>
        <p:spPr bwMode="auto">
          <a:xfrm>
            <a:off x="2710392" y="6438900"/>
            <a:ext cx="4211722" cy="230832"/>
          </a:xfrm>
          <a:prstGeom prst="rect">
            <a:avLst/>
          </a:prstGeom>
          <a:noFill/>
          <a:ln w="9525">
            <a:noFill/>
            <a:miter lim="800000"/>
            <a:headEnd/>
            <a:tailEnd/>
          </a:ln>
        </p:spPr>
        <p:txBody>
          <a:bodyPr wrap="none">
            <a:spAutoFit/>
          </a:bodyPr>
          <a:lstStyle/>
          <a:p>
            <a:pPr eaLnBrk="1" hangingPunct="1"/>
            <a:r>
              <a:rPr lang="en-US" altLang="ja-JP" sz="900">
                <a:solidFill>
                  <a:srgbClr val="FFFFFF"/>
                </a:solidFill>
                <a:latin typeface="メイリオ" charset="0"/>
                <a:ea typeface="メイリオ" charset="0"/>
                <a:cs typeface="メイリオ" charset="0"/>
              </a:rPr>
              <a:t>Copyright ©  2015LIGHT SYSTEM CONSULTING Inc. All rights reserved</a:t>
            </a:r>
          </a:p>
        </p:txBody>
      </p:sp>
      <p:cxnSp>
        <p:nvCxnSpPr>
          <p:cNvPr id="1033" name="直線コネクタ 18"/>
          <p:cNvCxnSpPr>
            <a:cxnSpLocks noChangeShapeType="1"/>
          </p:cNvCxnSpPr>
          <p:nvPr/>
        </p:nvCxnSpPr>
        <p:spPr bwMode="auto">
          <a:xfrm>
            <a:off x="345512" y="6354763"/>
            <a:ext cx="9216000" cy="0"/>
          </a:xfrm>
          <a:prstGeom prst="line">
            <a:avLst/>
          </a:prstGeom>
          <a:noFill/>
          <a:ln w="15875">
            <a:solidFill>
              <a:srgbClr val="1A957F"/>
            </a:solidFill>
            <a:round/>
            <a:headEnd/>
            <a:tailEnd/>
          </a:ln>
          <a:extLst>
            <a:ext uri="{909E8E84-426E-40dd-AFC4-6F175D3DCCD1}">
              <a14:hiddenFill xmlns="" xmlns:a14="http://schemas.microsoft.com/office/drawing/2010/main">
                <a:noFill/>
              </a14:hiddenFill>
            </a:ext>
          </a:extLst>
        </p:spPr>
      </p:cxnSp>
      <p:sp>
        <p:nvSpPr>
          <p:cNvPr id="4" name="Rectangle 7">
            <a:extLst>
              <a:ext uri="{FF2B5EF4-FFF2-40B4-BE49-F238E27FC236}">
                <a16:creationId xmlns:a16="http://schemas.microsoft.com/office/drawing/2014/main" id="{402E14BB-E27A-6006-EC23-A5ED6F490D5B}"/>
              </a:ext>
            </a:extLst>
          </p:cNvPr>
          <p:cNvSpPr>
            <a:spLocks noChangeArrowheads="1"/>
          </p:cNvSpPr>
          <p:nvPr userDrawn="1"/>
        </p:nvSpPr>
        <p:spPr bwMode="auto">
          <a:xfrm>
            <a:off x="2886568" y="6470257"/>
            <a:ext cx="4180953" cy="246221"/>
          </a:xfrm>
          <a:prstGeom prst="rect">
            <a:avLst/>
          </a:prstGeom>
          <a:noFill/>
          <a:ln w="9525">
            <a:noFill/>
            <a:miter lim="800000"/>
            <a:headEnd/>
            <a:tailEnd/>
          </a:ln>
        </p:spPr>
        <p:txBody>
          <a:bodyPr wrap="none">
            <a:spAutoFit/>
          </a:bodyPr>
          <a:lstStyle/>
          <a:p>
            <a:pPr eaLnBrk="1" hangingPunct="1"/>
            <a:r>
              <a:rPr lang="en-US" altLang="ja-JP" sz="1000" dirty="0">
                <a:solidFill>
                  <a:srgbClr val="7F7F7F"/>
                </a:solidFill>
                <a:latin typeface="メイリオ" charset="0"/>
                <a:ea typeface="メイリオ" charset="0"/>
                <a:cs typeface="メイリオ" charset="0"/>
              </a:rPr>
              <a:t>Copyright ©  2025 FLIGHT SOLUTIONS Inc. All rights reserved</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p:fade/>
  </p:transition>
  <p:hf hdr="0" ftr="0" dt="0"/>
  <p:txStyles>
    <p:titleStyle>
      <a:lvl1pPr algn="l" rtl="0" eaLnBrk="1" fontAlgn="base" hangingPunct="1">
        <a:spcBef>
          <a:spcPct val="0"/>
        </a:spcBef>
        <a:spcAft>
          <a:spcPct val="0"/>
        </a:spcAft>
        <a:defRPr kumimoji="1" sz="3600">
          <a:solidFill>
            <a:srgbClr val="595959"/>
          </a:solidFill>
          <a:latin typeface="メイリオ"/>
          <a:ea typeface="メイリオ"/>
          <a:cs typeface="メイリオ"/>
        </a:defRPr>
      </a:lvl1pPr>
      <a:lvl2pPr algn="l" rtl="0" eaLnBrk="1" fontAlgn="base" hangingPunct="1">
        <a:spcBef>
          <a:spcPct val="0"/>
        </a:spcBef>
        <a:spcAft>
          <a:spcPct val="0"/>
        </a:spcAft>
        <a:defRPr kumimoji="1" sz="3600">
          <a:solidFill>
            <a:srgbClr val="595959"/>
          </a:solidFill>
          <a:latin typeface="メイリオ" charset="0"/>
          <a:ea typeface="メイリオ" charset="0"/>
          <a:cs typeface="メイリオ" charset="0"/>
        </a:defRPr>
      </a:lvl2pPr>
      <a:lvl3pPr algn="l" rtl="0" eaLnBrk="1" fontAlgn="base" hangingPunct="1">
        <a:spcBef>
          <a:spcPct val="0"/>
        </a:spcBef>
        <a:spcAft>
          <a:spcPct val="0"/>
        </a:spcAft>
        <a:defRPr kumimoji="1" sz="3600">
          <a:solidFill>
            <a:srgbClr val="595959"/>
          </a:solidFill>
          <a:latin typeface="メイリオ" charset="0"/>
          <a:ea typeface="メイリオ" charset="0"/>
          <a:cs typeface="メイリオ" charset="0"/>
        </a:defRPr>
      </a:lvl3pPr>
      <a:lvl4pPr algn="l" rtl="0" eaLnBrk="1" fontAlgn="base" hangingPunct="1">
        <a:spcBef>
          <a:spcPct val="0"/>
        </a:spcBef>
        <a:spcAft>
          <a:spcPct val="0"/>
        </a:spcAft>
        <a:defRPr kumimoji="1" sz="3600">
          <a:solidFill>
            <a:srgbClr val="595959"/>
          </a:solidFill>
          <a:latin typeface="メイリオ" charset="0"/>
          <a:ea typeface="メイリオ" charset="0"/>
          <a:cs typeface="メイリオ" charset="0"/>
        </a:defRPr>
      </a:lvl4pPr>
      <a:lvl5pPr algn="l" rtl="0" eaLnBrk="1" fontAlgn="base" hangingPunct="1">
        <a:spcBef>
          <a:spcPct val="0"/>
        </a:spcBef>
        <a:spcAft>
          <a:spcPct val="0"/>
        </a:spcAft>
        <a:defRPr kumimoji="1" sz="3600">
          <a:solidFill>
            <a:srgbClr val="595959"/>
          </a:solidFill>
          <a:latin typeface="メイリオ" charset="0"/>
          <a:ea typeface="メイリオ" charset="0"/>
          <a:cs typeface="メイリオ" charset="0"/>
        </a:defRPr>
      </a:lvl5pPr>
      <a:lvl6pPr marL="457200" algn="l" rtl="0" eaLnBrk="1" fontAlgn="base" hangingPunct="1">
        <a:spcBef>
          <a:spcPct val="0"/>
        </a:spcBef>
        <a:spcAft>
          <a:spcPct val="0"/>
        </a:spcAft>
        <a:defRPr kumimoji="1" sz="3600">
          <a:solidFill>
            <a:schemeClr val="bg1"/>
          </a:solidFill>
          <a:latin typeface="Arial Black" pitchFamily="34" charset="0"/>
          <a:ea typeface="HG創英角ｺﾞｼｯｸUB" pitchFamily="49" charset="-128"/>
        </a:defRPr>
      </a:lvl6pPr>
      <a:lvl7pPr marL="914400" algn="l" rtl="0" eaLnBrk="1" fontAlgn="base" hangingPunct="1">
        <a:spcBef>
          <a:spcPct val="0"/>
        </a:spcBef>
        <a:spcAft>
          <a:spcPct val="0"/>
        </a:spcAft>
        <a:defRPr kumimoji="1" sz="3600">
          <a:solidFill>
            <a:schemeClr val="bg1"/>
          </a:solidFill>
          <a:latin typeface="Arial Black" pitchFamily="34" charset="0"/>
          <a:ea typeface="HG創英角ｺﾞｼｯｸUB" pitchFamily="49" charset="-128"/>
        </a:defRPr>
      </a:lvl7pPr>
      <a:lvl8pPr marL="1371600" algn="l" rtl="0" eaLnBrk="1" fontAlgn="base" hangingPunct="1">
        <a:spcBef>
          <a:spcPct val="0"/>
        </a:spcBef>
        <a:spcAft>
          <a:spcPct val="0"/>
        </a:spcAft>
        <a:defRPr kumimoji="1" sz="3600">
          <a:solidFill>
            <a:schemeClr val="bg1"/>
          </a:solidFill>
          <a:latin typeface="Arial Black" pitchFamily="34" charset="0"/>
          <a:ea typeface="HG創英角ｺﾞｼｯｸUB" pitchFamily="49" charset="-128"/>
        </a:defRPr>
      </a:lvl8pPr>
      <a:lvl9pPr marL="1828800" algn="l" rtl="0" eaLnBrk="1" fontAlgn="base" hangingPunct="1">
        <a:spcBef>
          <a:spcPct val="0"/>
        </a:spcBef>
        <a:spcAft>
          <a:spcPct val="0"/>
        </a:spcAft>
        <a:defRPr kumimoji="1" sz="3600">
          <a:solidFill>
            <a:schemeClr val="bg1"/>
          </a:solidFill>
          <a:latin typeface="Arial Black" pitchFamily="34" charset="0"/>
          <a:ea typeface="HG創英角ｺﾞｼｯｸUB" pitchFamily="49" charset="-128"/>
        </a:defRPr>
      </a:lvl9pPr>
    </p:titleStyle>
    <p:bodyStyle>
      <a:lvl1pPr marL="342900" indent="-342900" algn="l" rtl="0" eaLnBrk="1" fontAlgn="base" hangingPunct="1">
        <a:spcBef>
          <a:spcPct val="20000"/>
        </a:spcBef>
        <a:spcAft>
          <a:spcPct val="0"/>
        </a:spcAft>
        <a:buFont typeface="Wingdings" charset="0"/>
        <a:buChar char="l"/>
        <a:defRPr kumimoji="1" sz="2800">
          <a:solidFill>
            <a:srgbClr val="595959"/>
          </a:solidFill>
          <a:latin typeface="メイリオ"/>
          <a:ea typeface="メイリオ"/>
          <a:cs typeface="メイリオ"/>
        </a:defRPr>
      </a:lvl1pPr>
      <a:lvl2pPr marL="742950" indent="-285750" algn="l" rtl="0" eaLnBrk="1" fontAlgn="base" hangingPunct="1">
        <a:spcBef>
          <a:spcPct val="20000"/>
        </a:spcBef>
        <a:spcAft>
          <a:spcPct val="0"/>
        </a:spcAft>
        <a:buFont typeface="Wingdings" charset="0"/>
        <a:buChar char="l"/>
        <a:defRPr kumimoji="1" sz="2400">
          <a:solidFill>
            <a:srgbClr val="595959"/>
          </a:solidFill>
          <a:latin typeface="メイリオ"/>
          <a:ea typeface="メイリオ"/>
          <a:cs typeface="メイリオ"/>
        </a:defRPr>
      </a:lvl2pPr>
      <a:lvl3pPr marL="1143000" indent="-228600" algn="l" rtl="0" eaLnBrk="1" fontAlgn="base" hangingPunct="1">
        <a:spcBef>
          <a:spcPct val="20000"/>
        </a:spcBef>
        <a:spcAft>
          <a:spcPct val="0"/>
        </a:spcAft>
        <a:buFont typeface="Wingdings" charset="0"/>
        <a:buChar char="l"/>
        <a:defRPr kumimoji="1" sz="2000">
          <a:solidFill>
            <a:srgbClr val="595959"/>
          </a:solidFill>
          <a:latin typeface="メイリオ"/>
          <a:ea typeface="メイリオ"/>
          <a:cs typeface="メイリオ"/>
        </a:defRPr>
      </a:lvl3pPr>
      <a:lvl4pPr marL="1600200" indent="-228600" algn="l" rtl="0" eaLnBrk="1" fontAlgn="base" hangingPunct="1">
        <a:spcBef>
          <a:spcPct val="20000"/>
        </a:spcBef>
        <a:spcAft>
          <a:spcPct val="0"/>
        </a:spcAft>
        <a:buFont typeface="Wingdings" charset="0"/>
        <a:buChar char="l"/>
        <a:defRPr kumimoji="1">
          <a:solidFill>
            <a:srgbClr val="595959"/>
          </a:solidFill>
          <a:latin typeface="メイリオ"/>
          <a:ea typeface="メイリオ"/>
          <a:cs typeface="メイリオ"/>
        </a:defRPr>
      </a:lvl4pPr>
      <a:lvl5pPr marL="2057400" indent="-228600" algn="l" rtl="0" eaLnBrk="1" fontAlgn="base" hangingPunct="1">
        <a:spcBef>
          <a:spcPct val="20000"/>
        </a:spcBef>
        <a:spcAft>
          <a:spcPct val="0"/>
        </a:spcAft>
        <a:buFont typeface="Wingdings" charset="0"/>
        <a:buChar char="l"/>
        <a:defRPr kumimoji="1" sz="1600">
          <a:solidFill>
            <a:srgbClr val="595959"/>
          </a:solidFill>
          <a:latin typeface="メイリオ"/>
          <a:ea typeface="メイリオ"/>
          <a:cs typeface="メイリオ"/>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17" userDrawn="1">
          <p15:clr>
            <a:srgbClr val="F26B43"/>
          </p15:clr>
        </p15:guide>
        <p15:guide id="3" pos="6023" userDrawn="1">
          <p15:clr>
            <a:srgbClr val="F26B43"/>
          </p15:clr>
        </p15:guide>
        <p15:guide id="4" pos="312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sz="quarter"/>
          </p:nvPr>
        </p:nvSpPr>
        <p:spPr>
          <a:xfrm>
            <a:off x="418746" y="2420888"/>
            <a:ext cx="9068508" cy="1295400"/>
          </a:xfrm>
        </p:spPr>
        <p:txBody>
          <a:bodyPr/>
          <a:lstStyle/>
          <a:p>
            <a:pPr marL="625475" indent="-625475" algn="ctr">
              <a:lnSpc>
                <a:spcPct val="130000"/>
              </a:lnSpc>
            </a:pPr>
            <a:r>
              <a:rPr lang="en-US" altLang="ja-JP" dirty="0">
                <a:ln>
                  <a:solidFill>
                    <a:schemeClr val="tx1"/>
                  </a:solidFill>
                </a:ln>
                <a:solidFill>
                  <a:schemeClr val="tx1">
                    <a:lumMod val="65000"/>
                    <a:lumOff val="35000"/>
                  </a:schemeClr>
                </a:solidFill>
                <a:latin typeface="游ゴシック" panose="020B0400000000000000" pitchFamily="50" charset="-128"/>
                <a:ea typeface="游ゴシック" panose="020B0400000000000000" pitchFamily="50" charset="-128"/>
                <a:cs typeface="メイリオ" pitchFamily="50" charset="-128"/>
              </a:rPr>
              <a:t>2026</a:t>
            </a:r>
            <a:r>
              <a:rPr lang="ja-JP" altLang="en-US" dirty="0">
                <a:ln>
                  <a:solidFill>
                    <a:schemeClr val="tx1"/>
                  </a:solidFill>
                </a:ln>
                <a:solidFill>
                  <a:schemeClr val="tx1">
                    <a:lumMod val="65000"/>
                    <a:lumOff val="35000"/>
                  </a:schemeClr>
                </a:solidFill>
                <a:latin typeface="游ゴシック" panose="020B0400000000000000" pitchFamily="50" charset="-128"/>
                <a:ea typeface="游ゴシック" panose="020B0400000000000000" pitchFamily="50" charset="-128"/>
                <a:cs typeface="メイリオ" pitchFamily="50" charset="-128"/>
              </a:rPr>
              <a:t>年</a:t>
            </a:r>
            <a:r>
              <a:rPr lang="en-US" altLang="ja-JP" dirty="0">
                <a:ln>
                  <a:solidFill>
                    <a:schemeClr val="tx1"/>
                  </a:solidFill>
                </a:ln>
                <a:solidFill>
                  <a:schemeClr val="tx1">
                    <a:lumMod val="65000"/>
                    <a:lumOff val="35000"/>
                  </a:schemeClr>
                </a:solidFill>
                <a:latin typeface="游ゴシック" panose="020B0400000000000000" pitchFamily="50" charset="-128"/>
                <a:ea typeface="游ゴシック" panose="020B0400000000000000" pitchFamily="50" charset="-128"/>
                <a:cs typeface="メイリオ" pitchFamily="50" charset="-128"/>
              </a:rPr>
              <a:t>7</a:t>
            </a:r>
            <a:r>
              <a:rPr lang="ja-JP" altLang="en-US" dirty="0">
                <a:ln>
                  <a:solidFill>
                    <a:schemeClr val="tx1"/>
                  </a:solidFill>
                </a:ln>
                <a:solidFill>
                  <a:schemeClr val="tx1">
                    <a:lumMod val="65000"/>
                    <a:lumOff val="35000"/>
                  </a:schemeClr>
                </a:solidFill>
                <a:latin typeface="游ゴシック" panose="020B0400000000000000" pitchFamily="50" charset="-128"/>
                <a:ea typeface="游ゴシック" panose="020B0400000000000000" pitchFamily="50" charset="-128"/>
                <a:cs typeface="メイリオ" pitchFamily="50" charset="-128"/>
              </a:rPr>
              <a:t>月度</a:t>
            </a:r>
            <a:br>
              <a:rPr lang="en-US" altLang="ja-JP" dirty="0">
                <a:ln>
                  <a:solidFill>
                    <a:schemeClr val="tx1"/>
                  </a:solidFill>
                </a:ln>
                <a:solidFill>
                  <a:schemeClr val="tx1">
                    <a:lumMod val="65000"/>
                    <a:lumOff val="35000"/>
                  </a:schemeClr>
                </a:solidFill>
                <a:latin typeface="游ゴシック" panose="020B0400000000000000" pitchFamily="50" charset="-128"/>
                <a:ea typeface="游ゴシック" panose="020B0400000000000000" pitchFamily="50" charset="-128"/>
                <a:cs typeface="メイリオ" pitchFamily="50" charset="-128"/>
              </a:rPr>
            </a:br>
            <a:r>
              <a:rPr lang="en-US" altLang="ja-JP" dirty="0">
                <a:ln>
                  <a:solidFill>
                    <a:schemeClr val="tx1"/>
                  </a:solidFill>
                </a:ln>
                <a:solidFill>
                  <a:schemeClr val="tx1">
                    <a:lumMod val="65000"/>
                    <a:lumOff val="35000"/>
                  </a:schemeClr>
                </a:solidFill>
                <a:latin typeface="游ゴシック" panose="020B0400000000000000" pitchFamily="50" charset="-128"/>
                <a:ea typeface="游ゴシック" panose="020B0400000000000000" pitchFamily="50" charset="-128"/>
                <a:cs typeface="メイリオ" pitchFamily="50" charset="-128"/>
              </a:rPr>
              <a:t>EC</a:t>
            </a:r>
            <a:r>
              <a:rPr lang="ja-JP" altLang="en-US" dirty="0">
                <a:ln>
                  <a:solidFill>
                    <a:schemeClr val="tx1"/>
                  </a:solidFill>
                </a:ln>
                <a:solidFill>
                  <a:schemeClr val="tx1">
                    <a:lumMod val="65000"/>
                    <a:lumOff val="35000"/>
                  </a:schemeClr>
                </a:solidFill>
                <a:latin typeface="游ゴシック" panose="020B0400000000000000" pitchFamily="50" charset="-128"/>
                <a:ea typeface="游ゴシック" panose="020B0400000000000000" pitchFamily="50" charset="-128"/>
                <a:cs typeface="メイリオ" pitchFamily="50" charset="-128"/>
              </a:rPr>
              <a:t>サービス部部会</a:t>
            </a:r>
            <a:endParaRPr kumimoji="1" lang="ja-JP" altLang="en-US" dirty="0">
              <a:solidFill>
                <a:schemeClr val="tx1">
                  <a:lumMod val="65000"/>
                  <a:lumOff val="35000"/>
                </a:schemeClr>
              </a:solidFill>
              <a:latin typeface="游ゴシック" panose="020B0400000000000000" pitchFamily="50" charset="-128"/>
              <a:ea typeface="游ゴシック" panose="020B0400000000000000" pitchFamily="50" charset="-128"/>
            </a:endParaRPr>
          </a:p>
        </p:txBody>
      </p:sp>
      <p:sp>
        <p:nvSpPr>
          <p:cNvPr id="4" name="サブタイトル 3"/>
          <p:cNvSpPr>
            <a:spLocks noGrp="1"/>
          </p:cNvSpPr>
          <p:nvPr>
            <p:ph type="subTitle" sz="quarter" idx="1"/>
          </p:nvPr>
        </p:nvSpPr>
        <p:spPr>
          <a:xfrm>
            <a:off x="1218909" y="4221088"/>
            <a:ext cx="8268345" cy="914400"/>
          </a:xfrm>
        </p:spPr>
        <p:txBody>
          <a:bodyPr/>
          <a:lstStyle/>
          <a:p>
            <a:pPr algn="ctr"/>
            <a:endParaRPr lang="en-US" altLang="ja-JP" dirty="0">
              <a:latin typeface="メイリオ" pitchFamily="50" charset="-128"/>
              <a:ea typeface="メイリオ" pitchFamily="50" charset="-128"/>
              <a:cs typeface="メイリオ" pitchFamily="50" charset="-128"/>
            </a:endParaRPr>
          </a:p>
          <a:p>
            <a:r>
              <a:rPr lang="en-US" altLang="ja-JP" dirty="0">
                <a:latin typeface="メイリオ" pitchFamily="50" charset="-128"/>
                <a:ea typeface="メイリオ" pitchFamily="50" charset="-128"/>
                <a:cs typeface="メイリオ" pitchFamily="50" charset="-128"/>
              </a:rPr>
              <a:t>2026</a:t>
            </a:r>
            <a:r>
              <a:rPr lang="ja-JP" altLang="en-US" dirty="0">
                <a:latin typeface="メイリオ" pitchFamily="50" charset="-128"/>
                <a:ea typeface="メイリオ" pitchFamily="50" charset="-128"/>
                <a:cs typeface="メイリオ" pitchFamily="50" charset="-128"/>
              </a:rPr>
              <a:t>年</a:t>
            </a:r>
            <a:r>
              <a:rPr lang="en-US" altLang="ja-JP" dirty="0">
                <a:latin typeface="メイリオ" pitchFamily="50" charset="-128"/>
                <a:ea typeface="メイリオ" pitchFamily="50" charset="-128"/>
                <a:cs typeface="メイリオ" pitchFamily="50" charset="-128"/>
              </a:rPr>
              <a:t>7</a:t>
            </a:r>
            <a:r>
              <a:rPr lang="ja-JP" altLang="en-US" dirty="0">
                <a:latin typeface="メイリオ" pitchFamily="50" charset="-128"/>
                <a:ea typeface="メイリオ" pitchFamily="50" charset="-128"/>
                <a:cs typeface="メイリオ" pitchFamily="50" charset="-128"/>
              </a:rPr>
              <a:t>月</a:t>
            </a:r>
            <a:r>
              <a:rPr lang="en-US" altLang="ja-JP" dirty="0">
                <a:latin typeface="メイリオ" pitchFamily="50" charset="-128"/>
                <a:ea typeface="メイリオ" pitchFamily="50" charset="-128"/>
                <a:cs typeface="メイリオ" pitchFamily="50" charset="-128"/>
              </a:rPr>
              <a:t>30</a:t>
            </a:r>
            <a:r>
              <a:rPr lang="ja-JP" altLang="en-US" dirty="0">
                <a:latin typeface="メイリオ" pitchFamily="50" charset="-128"/>
                <a:ea typeface="メイリオ" pitchFamily="50" charset="-128"/>
                <a:cs typeface="メイリオ" pitchFamily="50" charset="-128"/>
              </a:rPr>
              <a:t>日</a:t>
            </a:r>
            <a:endParaRPr lang="en-US" altLang="ja-JP" dirty="0">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404553520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p:cNvSpPr txBox="1">
            <a:spLocks/>
          </p:cNvSpPr>
          <p:nvPr/>
        </p:nvSpPr>
        <p:spPr>
          <a:xfrm>
            <a:off x="1136576" y="188641"/>
            <a:ext cx="6408712" cy="469359"/>
          </a:xfrm>
          <a:prstGeom prst="rect">
            <a:avLst/>
          </a:prstGeom>
          <a:noFill/>
        </p:spPr>
        <p:txBody>
          <a:bodyPr wrap="square" rtlCol="0">
            <a:spAutoFit/>
          </a:bodyPr>
          <a:lstStyle/>
          <a:p>
            <a:pPr algn="l">
              <a:lnSpc>
                <a:spcPct val="130000"/>
              </a:lnSpc>
            </a:pPr>
            <a:r>
              <a:rPr lang="en-US" altLang="ja-JP" sz="2000" dirty="0">
                <a:latin typeface="メイリオ" pitchFamily="50" charset="-128"/>
                <a:ea typeface="メイリオ" pitchFamily="50" charset="-128"/>
                <a:cs typeface="メイリオ" pitchFamily="50" charset="-128"/>
              </a:rPr>
              <a:t>2026/7/30</a:t>
            </a:r>
            <a:r>
              <a:rPr lang="ja-JP" altLang="en-US" sz="2000" dirty="0">
                <a:latin typeface="メイリオ" pitchFamily="50" charset="-128"/>
                <a:ea typeface="メイリオ" pitchFamily="50" charset="-128"/>
                <a:cs typeface="メイリオ" pitchFamily="50" charset="-128"/>
              </a:rPr>
              <a:t>　</a:t>
            </a:r>
            <a:r>
              <a:rPr lang="en-US" altLang="ja-JP" sz="2000" dirty="0">
                <a:latin typeface="メイリオ" pitchFamily="50" charset="-128"/>
                <a:ea typeface="メイリオ" pitchFamily="50" charset="-128"/>
                <a:cs typeface="メイリオ" pitchFamily="50" charset="-128"/>
              </a:rPr>
              <a:t>EC</a:t>
            </a:r>
            <a:r>
              <a:rPr lang="ja-JP" altLang="en-US" sz="2000" dirty="0">
                <a:latin typeface="メイリオ" pitchFamily="50" charset="-128"/>
                <a:ea typeface="メイリオ" pitchFamily="50" charset="-128"/>
                <a:cs typeface="メイリオ" pitchFamily="50" charset="-128"/>
              </a:rPr>
              <a:t>サービス部部会　アジェンダ</a:t>
            </a:r>
          </a:p>
        </p:txBody>
      </p:sp>
      <p:sp>
        <p:nvSpPr>
          <p:cNvPr id="38" name="テキスト ボックス 37"/>
          <p:cNvSpPr txBox="1">
            <a:spLocks/>
          </p:cNvSpPr>
          <p:nvPr/>
        </p:nvSpPr>
        <p:spPr>
          <a:xfrm>
            <a:off x="1064569" y="856357"/>
            <a:ext cx="8064895" cy="5109091"/>
          </a:xfrm>
          <a:prstGeom prst="rect">
            <a:avLst/>
          </a:prstGeom>
          <a:noFill/>
        </p:spPr>
        <p:txBody>
          <a:bodyPr wrap="square" rtlCol="0">
            <a:spAutoFit/>
          </a:bodyPr>
          <a:lstStyle/>
          <a:p>
            <a:r>
              <a:rPr lang="en-US" altLang="ja-JP" sz="1600" dirty="0">
                <a:latin typeface="メイリオ"/>
                <a:ea typeface="メイリオ"/>
                <a:cs typeface="メイリオ"/>
              </a:rPr>
              <a:t>2026</a:t>
            </a:r>
            <a:r>
              <a:rPr lang="ja-JP" altLang="en-US" sz="1600" dirty="0">
                <a:latin typeface="メイリオ"/>
                <a:ea typeface="メイリオ"/>
                <a:cs typeface="メイリオ"/>
              </a:rPr>
              <a:t>年</a:t>
            </a:r>
            <a:r>
              <a:rPr lang="en-US" altLang="ja-JP" sz="1600" dirty="0">
                <a:latin typeface="メイリオ"/>
                <a:ea typeface="メイリオ"/>
                <a:cs typeface="メイリオ"/>
              </a:rPr>
              <a:t>7</a:t>
            </a:r>
            <a:r>
              <a:rPr lang="ja-JP" altLang="en-US" sz="1600" dirty="0">
                <a:latin typeface="メイリオ"/>
                <a:ea typeface="メイリオ"/>
                <a:cs typeface="メイリオ"/>
              </a:rPr>
              <a:t>月</a:t>
            </a:r>
            <a:r>
              <a:rPr lang="en-US" altLang="ja-JP" sz="1600" dirty="0">
                <a:latin typeface="メイリオ"/>
                <a:ea typeface="メイリオ"/>
                <a:cs typeface="メイリオ"/>
              </a:rPr>
              <a:t>30</a:t>
            </a:r>
            <a:r>
              <a:rPr lang="ja-JP" altLang="en-US" sz="1600" dirty="0">
                <a:latin typeface="メイリオ"/>
                <a:ea typeface="メイリオ"/>
                <a:cs typeface="メイリオ"/>
              </a:rPr>
              <a:t>日 </a:t>
            </a:r>
            <a:r>
              <a:rPr lang="en-US" altLang="ja-JP" sz="1600" dirty="0">
                <a:latin typeface="メイリオ"/>
                <a:ea typeface="メイリオ"/>
                <a:cs typeface="メイリオ"/>
              </a:rPr>
              <a:t>17</a:t>
            </a:r>
            <a:r>
              <a:rPr lang="ja-JP" altLang="en-US" sz="1600" dirty="0">
                <a:latin typeface="メイリオ"/>
                <a:ea typeface="メイリオ"/>
                <a:cs typeface="メイリオ"/>
              </a:rPr>
              <a:t>：</a:t>
            </a:r>
            <a:r>
              <a:rPr lang="en-US" altLang="ja-JP" sz="1600" dirty="0">
                <a:latin typeface="メイリオ"/>
                <a:ea typeface="メイリオ"/>
                <a:cs typeface="メイリオ"/>
              </a:rPr>
              <a:t>00</a:t>
            </a:r>
            <a:r>
              <a:rPr lang="ja-JP" altLang="en-US" sz="1600" dirty="0">
                <a:latin typeface="メイリオ"/>
                <a:ea typeface="メイリオ"/>
                <a:cs typeface="メイリオ"/>
              </a:rPr>
              <a:t>～</a:t>
            </a:r>
            <a:r>
              <a:rPr lang="en-US" altLang="ja-JP" sz="1600" dirty="0">
                <a:latin typeface="メイリオ"/>
                <a:ea typeface="メイリオ"/>
                <a:cs typeface="メイリオ"/>
              </a:rPr>
              <a:t>18</a:t>
            </a:r>
            <a:r>
              <a:rPr lang="ja-JP" altLang="en-US" sz="1600" dirty="0">
                <a:latin typeface="メイリオ"/>
                <a:ea typeface="メイリオ"/>
                <a:cs typeface="メイリオ"/>
              </a:rPr>
              <a:t>：</a:t>
            </a:r>
            <a:r>
              <a:rPr lang="en-US" altLang="ja-JP" sz="1600" dirty="0">
                <a:latin typeface="メイリオ"/>
                <a:ea typeface="メイリオ"/>
                <a:cs typeface="メイリオ"/>
              </a:rPr>
              <a:t>00 </a:t>
            </a:r>
            <a:r>
              <a:rPr lang="ja-JP" altLang="en-US" sz="1600" dirty="0">
                <a:latin typeface="メイリオ"/>
                <a:ea typeface="メイリオ"/>
                <a:cs typeface="メイリオ"/>
              </a:rPr>
              <a:t>　</a:t>
            </a:r>
            <a:r>
              <a:rPr lang="en-US" altLang="ja-JP" sz="1600" dirty="0">
                <a:latin typeface="メイリオ" pitchFamily="50" charset="-128"/>
                <a:ea typeface="メイリオ" pitchFamily="50" charset="-128"/>
                <a:cs typeface="メイリオ" pitchFamily="50" charset="-128"/>
              </a:rPr>
              <a:t> EC</a:t>
            </a:r>
            <a:r>
              <a:rPr lang="ja-JP" altLang="en-US" sz="1600" dirty="0">
                <a:latin typeface="メイリオ" pitchFamily="50" charset="-128"/>
                <a:ea typeface="メイリオ" pitchFamily="50" charset="-128"/>
                <a:cs typeface="メイリオ" pitchFamily="50" charset="-128"/>
              </a:rPr>
              <a:t>サービス部部会</a:t>
            </a:r>
            <a:endParaRPr lang="en-US" altLang="ja-JP" sz="1600" dirty="0">
              <a:latin typeface="メイリオ"/>
              <a:ea typeface="メイリオ"/>
              <a:cs typeface="メイリオ"/>
            </a:endParaRPr>
          </a:p>
          <a:p>
            <a:endParaRPr lang="en-US" altLang="ja-JP" sz="1600" dirty="0">
              <a:latin typeface="メイリオ"/>
              <a:ea typeface="メイリオ"/>
              <a:cs typeface="メイリオ"/>
            </a:endParaRPr>
          </a:p>
          <a:p>
            <a:r>
              <a:rPr lang="ja-JP" altLang="en-US" sz="1400" dirty="0">
                <a:latin typeface="メイリオ"/>
                <a:ea typeface="メイリオ"/>
                <a:cs typeface="メイリオ"/>
              </a:rPr>
              <a:t>　議題①：ＥＣサービス部の現状と今後の展開について</a:t>
            </a:r>
            <a:endParaRPr lang="en-US" altLang="zh-TW" sz="1400" dirty="0">
              <a:latin typeface="メイリオ"/>
              <a:ea typeface="メイリオ"/>
              <a:cs typeface="メイリオ"/>
            </a:endParaRPr>
          </a:p>
          <a:p>
            <a:endParaRPr lang="en-US" altLang="ja-JP" sz="1400" dirty="0">
              <a:solidFill>
                <a:srgbClr val="FF0000"/>
              </a:solidFill>
              <a:latin typeface="メイリオ"/>
              <a:ea typeface="メイリオ"/>
              <a:cs typeface="メイリオ"/>
            </a:endParaRPr>
          </a:p>
          <a:p>
            <a:r>
              <a:rPr lang="ja-JP" altLang="en-US" sz="1400" dirty="0">
                <a:latin typeface="メイリオ"/>
                <a:ea typeface="メイリオ"/>
                <a:cs typeface="メイリオ"/>
              </a:rPr>
              <a:t>　議題②：既存顧客について</a:t>
            </a:r>
            <a:endParaRPr lang="en-US" altLang="ja-JP" sz="1400" dirty="0">
              <a:latin typeface="メイリオ"/>
              <a:ea typeface="メイリオ"/>
              <a:cs typeface="メイリオ"/>
            </a:endParaRPr>
          </a:p>
          <a:p>
            <a:endParaRPr lang="en-US" altLang="ja-JP" sz="1400" dirty="0">
              <a:latin typeface="メイリオ"/>
              <a:ea typeface="メイリオ"/>
              <a:cs typeface="メイリオ"/>
            </a:endParaRPr>
          </a:p>
          <a:p>
            <a:r>
              <a:rPr lang="ja-JP" altLang="en-US" sz="1400" dirty="0">
                <a:latin typeface="メイリオ"/>
                <a:ea typeface="メイリオ"/>
                <a:cs typeface="メイリオ"/>
              </a:rPr>
              <a:t>　議題③：旧パッケージの開発案件について</a:t>
            </a:r>
            <a:endParaRPr lang="en-US" altLang="ja-JP" sz="1400" dirty="0">
              <a:latin typeface="メイリオ"/>
              <a:ea typeface="メイリオ"/>
              <a:cs typeface="メイリオ"/>
            </a:endParaRPr>
          </a:p>
          <a:p>
            <a:endParaRPr lang="ja-JP" altLang="en-US" sz="1400" dirty="0">
              <a:latin typeface="メイリオ"/>
              <a:ea typeface="メイリオ"/>
              <a:cs typeface="メイリオ"/>
            </a:endParaRPr>
          </a:p>
          <a:p>
            <a:r>
              <a:rPr lang="ja-JP" altLang="en-US" sz="1400" dirty="0">
                <a:latin typeface="メイリオ"/>
                <a:ea typeface="メイリオ"/>
                <a:cs typeface="メイリオ"/>
              </a:rPr>
              <a:t>　議題④：セキュリティ強化対応状況について</a:t>
            </a:r>
            <a:endParaRPr lang="en-US" altLang="ja-JP" sz="1400" dirty="0">
              <a:latin typeface="メイリオ"/>
              <a:ea typeface="メイリオ"/>
              <a:cs typeface="メイリオ"/>
            </a:endParaRPr>
          </a:p>
          <a:p>
            <a:endParaRPr lang="en-US" altLang="ja-JP" sz="1400" dirty="0">
              <a:latin typeface="メイリオ"/>
              <a:ea typeface="メイリオ"/>
              <a:cs typeface="メイリオ"/>
            </a:endParaRPr>
          </a:p>
          <a:p>
            <a:r>
              <a:rPr lang="ja-JP" altLang="en-US" sz="1400" dirty="0">
                <a:latin typeface="メイリオ"/>
                <a:ea typeface="メイリオ"/>
                <a:cs typeface="メイリオ"/>
              </a:rPr>
              <a:t>　議題⑤：新パッケージのバージョンアップ状況について</a:t>
            </a:r>
            <a:endParaRPr lang="en-US" altLang="ja-JP" sz="1400" dirty="0">
              <a:latin typeface="メイリオ"/>
              <a:ea typeface="メイリオ"/>
              <a:cs typeface="メイリオ"/>
            </a:endParaRPr>
          </a:p>
          <a:p>
            <a:endParaRPr lang="en-US" altLang="ja-JP" sz="1400" dirty="0">
              <a:latin typeface="メイリオ"/>
              <a:ea typeface="メイリオ"/>
              <a:cs typeface="メイリオ"/>
            </a:endParaRPr>
          </a:p>
          <a:p>
            <a:r>
              <a:rPr lang="ja-JP" altLang="en-US" sz="1400" dirty="0">
                <a:latin typeface="メイリオ"/>
                <a:ea typeface="メイリオ"/>
                <a:cs typeface="メイリオ"/>
              </a:rPr>
              <a:t>　議題⑥：</a:t>
            </a:r>
            <a:r>
              <a:rPr lang="en-US" altLang="ja-JP" sz="1400" dirty="0"/>
              <a:t> </a:t>
            </a:r>
            <a:r>
              <a:rPr lang="en-US" altLang="ja-JP" sz="1400" dirty="0" err="1">
                <a:latin typeface="メイリオ" panose="020B0604030504040204" pitchFamily="50" charset="-128"/>
                <a:ea typeface="メイリオ" panose="020B0604030504040204" pitchFamily="50" charset="-128"/>
              </a:rPr>
              <a:t>ECRider</a:t>
            </a:r>
            <a:r>
              <a:rPr lang="ja-JP" altLang="en-US" sz="1400" dirty="0">
                <a:latin typeface="メイリオ" panose="020B0604030504040204" pitchFamily="50" charset="-128"/>
                <a:ea typeface="メイリオ" panose="020B0604030504040204" pitchFamily="50" charset="-128"/>
              </a:rPr>
              <a:t> </a:t>
            </a:r>
            <a:r>
              <a:rPr lang="en-US" altLang="ja-JP" sz="1400" dirty="0">
                <a:latin typeface="メイリオ" panose="020B0604030504040204" pitchFamily="50" charset="-128"/>
                <a:ea typeface="メイリオ" panose="020B0604030504040204" pitchFamily="50" charset="-128"/>
              </a:rPr>
              <a:t>Primo</a:t>
            </a:r>
            <a:r>
              <a:rPr lang="ja-JP" altLang="en-US" sz="1400" dirty="0">
                <a:latin typeface="メイリオ" panose="020B0604030504040204" pitchFamily="50" charset="-128"/>
                <a:ea typeface="メイリオ" panose="020B0604030504040204" pitchFamily="50" charset="-128"/>
              </a:rPr>
              <a:t>の受注状況</a:t>
            </a:r>
            <a:r>
              <a:rPr lang="ja-JP" altLang="en-US" sz="1400" dirty="0">
                <a:latin typeface="メイリオ" panose="020B0604030504040204" pitchFamily="50" charset="-128"/>
                <a:ea typeface="メイリオ" panose="020B0604030504040204" pitchFamily="50" charset="-128"/>
                <a:cs typeface="メイリオ"/>
              </a:rPr>
              <a:t>について</a:t>
            </a:r>
            <a:endParaRPr lang="en-US" altLang="ja-JP" sz="1400" dirty="0">
              <a:latin typeface="メイリオ" panose="020B0604030504040204" pitchFamily="50" charset="-128"/>
              <a:ea typeface="メイリオ" panose="020B0604030504040204" pitchFamily="50" charset="-128"/>
              <a:cs typeface="メイリオ"/>
            </a:endParaRPr>
          </a:p>
          <a:p>
            <a:endParaRPr lang="en-US" altLang="ja-JP" sz="1400" dirty="0">
              <a:latin typeface="メイリオ"/>
              <a:ea typeface="メイリオ"/>
              <a:cs typeface="メイリオ"/>
            </a:endParaRPr>
          </a:p>
          <a:p>
            <a:r>
              <a:rPr lang="ja-JP" altLang="en-US" sz="1400" dirty="0">
                <a:latin typeface="メイリオ"/>
                <a:ea typeface="メイリオ"/>
                <a:cs typeface="メイリオ"/>
              </a:rPr>
              <a:t>　議題⑦：営業案件について</a:t>
            </a:r>
            <a:endParaRPr lang="en-US" altLang="ja-JP" sz="1400" dirty="0">
              <a:latin typeface="メイリオ"/>
              <a:ea typeface="メイリオ"/>
              <a:cs typeface="メイリオ"/>
            </a:endParaRPr>
          </a:p>
          <a:p>
            <a:endParaRPr lang="en-US" altLang="ja-JP" sz="1400" dirty="0">
              <a:latin typeface="メイリオ"/>
              <a:ea typeface="メイリオ"/>
              <a:cs typeface="メイリオ"/>
            </a:endParaRPr>
          </a:p>
          <a:p>
            <a:r>
              <a:rPr lang="ja-JP" altLang="en-US" sz="1400" dirty="0">
                <a:latin typeface="メイリオ"/>
                <a:ea typeface="メイリオ"/>
                <a:cs typeface="メイリオ"/>
              </a:rPr>
              <a:t>　議題⑧：</a:t>
            </a:r>
            <a:r>
              <a:rPr lang="en-US" altLang="ja-JP" sz="1400" dirty="0">
                <a:latin typeface="メイリオ"/>
                <a:ea typeface="メイリオ"/>
                <a:cs typeface="メイリオ"/>
              </a:rPr>
              <a:t>AI</a:t>
            </a:r>
            <a:r>
              <a:rPr lang="ja-JP" altLang="en-US" sz="1400" dirty="0">
                <a:latin typeface="メイリオ"/>
                <a:ea typeface="メイリオ"/>
                <a:cs typeface="メイリオ"/>
              </a:rPr>
              <a:t>エージェント「</a:t>
            </a:r>
            <a:r>
              <a:rPr lang="en-US" altLang="ja-JP" sz="1400" dirty="0">
                <a:latin typeface="メイリオ"/>
                <a:ea typeface="メイリオ"/>
                <a:cs typeface="メイリオ"/>
              </a:rPr>
              <a:t>Kiro</a:t>
            </a:r>
            <a:r>
              <a:rPr lang="ja-JP" altLang="en-US" sz="1400" dirty="0">
                <a:latin typeface="メイリオ"/>
                <a:ea typeface="メイリオ"/>
                <a:cs typeface="メイリオ"/>
              </a:rPr>
              <a:t>」セミナー受講報告と社内活用について</a:t>
            </a:r>
            <a:endParaRPr lang="en-US" altLang="ja-JP" sz="1400" dirty="0">
              <a:latin typeface="メイリオ"/>
              <a:ea typeface="メイリオ"/>
              <a:cs typeface="メイリオ"/>
            </a:endParaRPr>
          </a:p>
          <a:p>
            <a:endParaRPr lang="en-US" altLang="ja-JP" sz="1400" dirty="0">
              <a:latin typeface="メイリオ"/>
              <a:ea typeface="メイリオ"/>
              <a:cs typeface="メイリオ"/>
            </a:endParaRPr>
          </a:p>
          <a:p>
            <a:r>
              <a:rPr lang="ja-JP" altLang="en-US" sz="1400" dirty="0">
                <a:latin typeface="メイリオ"/>
                <a:ea typeface="メイリオ"/>
                <a:cs typeface="メイリオ"/>
              </a:rPr>
              <a:t>　議題⑨：</a:t>
            </a:r>
            <a:r>
              <a:rPr lang="en-US" altLang="ja-JP" sz="1400" dirty="0">
                <a:latin typeface="メイリオ"/>
                <a:ea typeface="メイリオ"/>
                <a:cs typeface="メイリオ"/>
              </a:rPr>
              <a:t>AI</a:t>
            </a:r>
            <a:r>
              <a:rPr lang="ja-JP" altLang="en-US" sz="1400" dirty="0">
                <a:latin typeface="メイリオ"/>
                <a:ea typeface="メイリオ"/>
                <a:cs typeface="メイリオ"/>
              </a:rPr>
              <a:t>活用・業務効率化についての共有</a:t>
            </a:r>
            <a:endParaRPr lang="en-US" altLang="ja-JP" sz="1400" dirty="0">
              <a:latin typeface="メイリオ"/>
              <a:ea typeface="メイリオ"/>
              <a:cs typeface="メイリオ"/>
            </a:endParaRPr>
          </a:p>
          <a:p>
            <a:endParaRPr lang="en-US" altLang="ja-JP" sz="1400" dirty="0">
              <a:latin typeface="メイリオ"/>
              <a:ea typeface="メイリオ"/>
              <a:cs typeface="メイリオ"/>
            </a:endParaRPr>
          </a:p>
          <a:p>
            <a:r>
              <a:rPr lang="ja-JP" altLang="en-US" sz="1400" dirty="0">
                <a:latin typeface="メイリオ"/>
                <a:ea typeface="メイリオ"/>
                <a:cs typeface="メイリオ"/>
              </a:rPr>
              <a:t>　議題⑩：</a:t>
            </a:r>
            <a:r>
              <a:rPr lang="ja-JP" altLang="en-US" sz="1400" dirty="0">
                <a:uFillTx/>
                <a:latin typeface="メイリオ"/>
                <a:ea typeface="メイリオ"/>
                <a:cs typeface="メイリオ"/>
              </a:rPr>
              <a:t>ＥＣサービス部部会の今後の予定</a:t>
            </a:r>
            <a:endParaRPr lang="en-US" altLang="ja-JP" sz="1400" dirty="0">
              <a:latin typeface="メイリオ"/>
              <a:ea typeface="メイリオ"/>
              <a:cs typeface="メイリオ"/>
            </a:endParaRPr>
          </a:p>
          <a:p>
            <a:endParaRPr lang="en-US" altLang="ja-JP" sz="1400" dirty="0">
              <a:latin typeface="メイリオ"/>
              <a:ea typeface="メイリオ"/>
              <a:cs typeface="メイリオ"/>
            </a:endParaRPr>
          </a:p>
          <a:p>
            <a:r>
              <a:rPr lang="ja-JP" altLang="en-US" sz="1400" dirty="0">
                <a:latin typeface="メイリオ"/>
                <a:ea typeface="メイリオ"/>
                <a:cs typeface="メイリオ"/>
              </a:rPr>
              <a:t>　議題⑪：連絡事項</a:t>
            </a:r>
            <a:endParaRPr lang="en-US" altLang="ja-JP" sz="1400" dirty="0">
              <a:latin typeface="メイリオ"/>
              <a:ea typeface="メイリオ"/>
              <a:cs typeface="メイリオ"/>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DDDD1-C23E-21EF-81B7-230A864C0801}"/>
            </a:ext>
          </a:extLst>
        </p:cNvPr>
        <p:cNvGrpSpPr/>
        <p:nvPr/>
      </p:nvGrpSpPr>
      <p:grpSpPr>
        <a:xfrm>
          <a:off x="0" y="0"/>
          <a:ext cx="0" cy="0"/>
          <a:chOff x="0" y="0"/>
          <a:chExt cx="0" cy="0"/>
        </a:xfrm>
      </p:grpSpPr>
      <p:graphicFrame>
        <p:nvGraphicFramePr>
          <p:cNvPr id="2" name="Group 92">
            <a:extLst>
              <a:ext uri="{FF2B5EF4-FFF2-40B4-BE49-F238E27FC236}">
                <a16:creationId xmlns:a16="http://schemas.microsoft.com/office/drawing/2014/main" id="{99C46E69-60A6-A130-AEA9-C3DF49674527}"/>
              </a:ext>
            </a:extLst>
          </p:cNvPr>
          <p:cNvGraphicFramePr>
            <a:graphicFrameLocks noGrp="1"/>
          </p:cNvGraphicFramePr>
          <p:nvPr/>
        </p:nvGraphicFramePr>
        <p:xfrm>
          <a:off x="488504" y="1167408"/>
          <a:ext cx="9073009" cy="1336406"/>
        </p:xfrm>
        <a:graphic>
          <a:graphicData uri="http://schemas.openxmlformats.org/drawingml/2006/table">
            <a:tbl>
              <a:tblPr/>
              <a:tblGrid>
                <a:gridCol w="1712536">
                  <a:extLst>
                    <a:ext uri="{9D8B030D-6E8A-4147-A177-3AD203B41FA5}">
                      <a16:colId xmlns:a16="http://schemas.microsoft.com/office/drawing/2014/main" val="20000"/>
                    </a:ext>
                  </a:extLst>
                </a:gridCol>
                <a:gridCol w="2453491">
                  <a:extLst>
                    <a:ext uri="{9D8B030D-6E8A-4147-A177-3AD203B41FA5}">
                      <a16:colId xmlns:a16="http://schemas.microsoft.com/office/drawing/2014/main" val="1499496574"/>
                    </a:ext>
                  </a:extLst>
                </a:gridCol>
                <a:gridCol w="2453491">
                  <a:extLst>
                    <a:ext uri="{9D8B030D-6E8A-4147-A177-3AD203B41FA5}">
                      <a16:colId xmlns:a16="http://schemas.microsoft.com/office/drawing/2014/main" val="20002"/>
                    </a:ext>
                  </a:extLst>
                </a:gridCol>
                <a:gridCol w="2453491">
                  <a:extLst>
                    <a:ext uri="{9D8B030D-6E8A-4147-A177-3AD203B41FA5}">
                      <a16:colId xmlns:a16="http://schemas.microsoft.com/office/drawing/2014/main" val="1094329168"/>
                    </a:ext>
                  </a:extLst>
                </a:gridCol>
              </a:tblGrid>
              <a:tr h="387620">
                <a:tc>
                  <a:txBody>
                    <a:bodyPr/>
                    <a:lstStyle>
                      <a:lvl1pPr>
                        <a:spcBef>
                          <a:spcPct val="20000"/>
                        </a:spcBef>
                        <a:buFont typeface="Wingdings" panose="05000000000000000000" pitchFamily="2" charset="2"/>
                        <a:defRPr kumimoji="1" sz="2400">
                          <a:solidFill>
                            <a:srgbClr val="595959"/>
                          </a:solidFill>
                          <a:latin typeface="メイリオ" panose="020B0604030504040204" pitchFamily="50" charset="-128"/>
                          <a:ea typeface="メイリオ" panose="020B0604030504040204" pitchFamily="50" charset="-128"/>
                        </a:defRPr>
                      </a:lvl1pPr>
                      <a:lvl2pPr marL="742950" indent="-285750">
                        <a:spcBef>
                          <a:spcPct val="20000"/>
                        </a:spcBef>
                        <a:buFont typeface="Wingdings" panose="05000000000000000000" pitchFamily="2" charset="2"/>
                        <a:defRPr kumimoji="1" sz="2000">
                          <a:solidFill>
                            <a:srgbClr val="595959"/>
                          </a:solidFill>
                          <a:latin typeface="メイリオ" panose="020B0604030504040204" pitchFamily="50" charset="-128"/>
                          <a:ea typeface="メイリオ" panose="020B0604030504040204" pitchFamily="50" charset="-128"/>
                        </a:defRPr>
                      </a:lvl2pPr>
                      <a:lvl3pPr marL="1143000" indent="-228600">
                        <a:spcBef>
                          <a:spcPct val="20000"/>
                        </a:spcBef>
                        <a:buFont typeface="Wingdings" panose="05000000000000000000" pitchFamily="2" charset="2"/>
                        <a:defRPr kumimoji="1">
                          <a:solidFill>
                            <a:srgbClr val="595959"/>
                          </a:solidFill>
                          <a:latin typeface="メイリオ" panose="020B0604030504040204" pitchFamily="50" charset="-128"/>
                          <a:ea typeface="メイリオ" panose="020B0604030504040204" pitchFamily="50" charset="-128"/>
                        </a:defRPr>
                      </a:lvl3pPr>
                      <a:lvl4pPr marL="1600200" indent="-228600">
                        <a:spcBef>
                          <a:spcPct val="20000"/>
                        </a:spcBef>
                        <a:buFont typeface="Wingdings" panose="05000000000000000000" pitchFamily="2" charset="2"/>
                        <a:defRPr kumimoji="1" sz="1600">
                          <a:solidFill>
                            <a:srgbClr val="595959"/>
                          </a:solidFill>
                          <a:latin typeface="メイリオ" panose="020B0604030504040204" pitchFamily="50" charset="-128"/>
                          <a:ea typeface="メイリオ" panose="020B0604030504040204" pitchFamily="50" charset="-128"/>
                        </a:defRPr>
                      </a:lvl4pPr>
                      <a:lvl5pPr marL="2057400" indent="-228600">
                        <a:spcBef>
                          <a:spcPct val="20000"/>
                        </a:spcBef>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5pPr>
                      <a:lvl6pPr marL="25146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6pPr>
                      <a:lvl7pPr marL="29718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7pPr>
                      <a:lvl8pPr marL="34290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8pPr>
                      <a:lvl9pPr marL="38862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9pPr>
                    </a:lstStyle>
                    <a:p>
                      <a:pPr marL="0" marR="0" lvl="0" indent="0" algn="ctr" defTabSz="914400" rtl="0" eaLnBrk="1" fontAlgn="ctr" latinLnBrk="0" hangingPunct="1">
                        <a:lnSpc>
                          <a:spcPct val="100000"/>
                        </a:lnSpc>
                        <a:spcBef>
                          <a:spcPct val="0"/>
                        </a:spcBef>
                        <a:spcAft>
                          <a:spcPct val="0"/>
                        </a:spcAft>
                        <a:buClrTx/>
                        <a:buSzTx/>
                        <a:buFontTx/>
                        <a:buNone/>
                        <a:tabLst/>
                      </a:pPr>
                      <a:endParaRPr kumimoji="0" lang="ja-JP" altLang="en-US" sz="16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endParaRPr>
                    </a:p>
                  </a:txBody>
                  <a:tcPr marL="71998" marR="35998" marT="71890" marB="7189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ja-JP" altLang="en-US" sz="16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rPr>
                        <a:t>計画</a:t>
                      </a:r>
                    </a:p>
                  </a:txBody>
                  <a:tcPr marL="71998" marR="35998" marT="71890" marB="7189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CCFFCC"/>
                    </a:solidFill>
                  </a:tcPr>
                </a:tc>
                <a:tc>
                  <a:txBody>
                    <a:bodyPr/>
                    <a:lstStyle>
                      <a:lvl1pPr>
                        <a:spcBef>
                          <a:spcPct val="20000"/>
                        </a:spcBef>
                        <a:buFont typeface="Wingdings" panose="05000000000000000000" pitchFamily="2" charset="2"/>
                        <a:defRPr kumimoji="1" sz="2400">
                          <a:solidFill>
                            <a:srgbClr val="595959"/>
                          </a:solidFill>
                          <a:latin typeface="メイリオ" panose="020B0604030504040204" pitchFamily="50" charset="-128"/>
                          <a:ea typeface="メイリオ" panose="020B0604030504040204" pitchFamily="50" charset="-128"/>
                        </a:defRPr>
                      </a:lvl1pPr>
                      <a:lvl2pPr marL="742950" indent="-285750">
                        <a:spcBef>
                          <a:spcPct val="20000"/>
                        </a:spcBef>
                        <a:buFont typeface="Wingdings" panose="05000000000000000000" pitchFamily="2" charset="2"/>
                        <a:defRPr kumimoji="1" sz="2000">
                          <a:solidFill>
                            <a:srgbClr val="595959"/>
                          </a:solidFill>
                          <a:latin typeface="メイリオ" panose="020B0604030504040204" pitchFamily="50" charset="-128"/>
                          <a:ea typeface="メイリオ" panose="020B0604030504040204" pitchFamily="50" charset="-128"/>
                        </a:defRPr>
                      </a:lvl2pPr>
                      <a:lvl3pPr marL="1143000" indent="-228600">
                        <a:spcBef>
                          <a:spcPct val="20000"/>
                        </a:spcBef>
                        <a:buFont typeface="Wingdings" panose="05000000000000000000" pitchFamily="2" charset="2"/>
                        <a:defRPr kumimoji="1">
                          <a:solidFill>
                            <a:srgbClr val="595959"/>
                          </a:solidFill>
                          <a:latin typeface="メイリオ" panose="020B0604030504040204" pitchFamily="50" charset="-128"/>
                          <a:ea typeface="メイリオ" panose="020B0604030504040204" pitchFamily="50" charset="-128"/>
                        </a:defRPr>
                      </a:lvl3pPr>
                      <a:lvl4pPr marL="1600200" indent="-228600">
                        <a:spcBef>
                          <a:spcPct val="20000"/>
                        </a:spcBef>
                        <a:buFont typeface="Wingdings" panose="05000000000000000000" pitchFamily="2" charset="2"/>
                        <a:defRPr kumimoji="1" sz="1600">
                          <a:solidFill>
                            <a:srgbClr val="595959"/>
                          </a:solidFill>
                          <a:latin typeface="メイリオ" panose="020B0604030504040204" pitchFamily="50" charset="-128"/>
                          <a:ea typeface="メイリオ" panose="020B0604030504040204" pitchFamily="50" charset="-128"/>
                        </a:defRPr>
                      </a:lvl4pPr>
                      <a:lvl5pPr marL="2057400" indent="-228600">
                        <a:spcBef>
                          <a:spcPct val="20000"/>
                        </a:spcBef>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5pPr>
                      <a:lvl6pPr marL="25146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6pPr>
                      <a:lvl7pPr marL="29718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7pPr>
                      <a:lvl8pPr marL="34290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8pPr>
                      <a:lvl9pPr marL="38862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ja-JP" sz="16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rPr>
                        <a:t>7</a:t>
                      </a:r>
                      <a:r>
                        <a:rPr kumimoji="0" lang="ja-JP" altLang="en-US" sz="16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rPr>
                        <a:t>月末時点実績</a:t>
                      </a:r>
                    </a:p>
                  </a:txBody>
                  <a:tcPr marL="71998" marR="35998" marT="71890" marB="7189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ja-JP" altLang="en-US" sz="16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rPr>
                        <a:t>達成率</a:t>
                      </a:r>
                    </a:p>
                  </a:txBody>
                  <a:tcPr marL="71998" marR="35998" marT="71890" marB="7189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0"/>
                  </a:ext>
                </a:extLst>
              </a:tr>
              <a:tr h="474393">
                <a:tc>
                  <a:txBody>
                    <a:bodyPr/>
                    <a:lstStyle>
                      <a:lvl1pPr>
                        <a:spcBef>
                          <a:spcPct val="20000"/>
                        </a:spcBef>
                        <a:buFont typeface="Wingdings" panose="05000000000000000000" pitchFamily="2" charset="2"/>
                        <a:defRPr kumimoji="1" sz="2400">
                          <a:solidFill>
                            <a:srgbClr val="595959"/>
                          </a:solidFill>
                          <a:latin typeface="メイリオ" panose="020B0604030504040204" pitchFamily="50" charset="-128"/>
                          <a:ea typeface="メイリオ" panose="020B0604030504040204" pitchFamily="50" charset="-128"/>
                        </a:defRPr>
                      </a:lvl1pPr>
                      <a:lvl2pPr marL="742950" indent="-285750">
                        <a:spcBef>
                          <a:spcPct val="20000"/>
                        </a:spcBef>
                        <a:buFont typeface="Wingdings" panose="05000000000000000000" pitchFamily="2" charset="2"/>
                        <a:defRPr kumimoji="1" sz="2000">
                          <a:solidFill>
                            <a:srgbClr val="595959"/>
                          </a:solidFill>
                          <a:latin typeface="メイリオ" panose="020B0604030504040204" pitchFamily="50" charset="-128"/>
                          <a:ea typeface="メイリオ" panose="020B0604030504040204" pitchFamily="50" charset="-128"/>
                        </a:defRPr>
                      </a:lvl2pPr>
                      <a:lvl3pPr marL="1143000" indent="-228600">
                        <a:spcBef>
                          <a:spcPct val="20000"/>
                        </a:spcBef>
                        <a:buFont typeface="Wingdings" panose="05000000000000000000" pitchFamily="2" charset="2"/>
                        <a:defRPr kumimoji="1">
                          <a:solidFill>
                            <a:srgbClr val="595959"/>
                          </a:solidFill>
                          <a:latin typeface="メイリオ" panose="020B0604030504040204" pitchFamily="50" charset="-128"/>
                          <a:ea typeface="メイリオ" panose="020B0604030504040204" pitchFamily="50" charset="-128"/>
                        </a:defRPr>
                      </a:lvl3pPr>
                      <a:lvl4pPr marL="1600200" indent="-228600">
                        <a:spcBef>
                          <a:spcPct val="20000"/>
                        </a:spcBef>
                        <a:buFont typeface="Wingdings" panose="05000000000000000000" pitchFamily="2" charset="2"/>
                        <a:defRPr kumimoji="1" sz="1600">
                          <a:solidFill>
                            <a:srgbClr val="595959"/>
                          </a:solidFill>
                          <a:latin typeface="メイリオ" panose="020B0604030504040204" pitchFamily="50" charset="-128"/>
                          <a:ea typeface="メイリオ" panose="020B0604030504040204" pitchFamily="50" charset="-128"/>
                        </a:defRPr>
                      </a:lvl4pPr>
                      <a:lvl5pPr marL="2057400" indent="-228600">
                        <a:spcBef>
                          <a:spcPct val="20000"/>
                        </a:spcBef>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5pPr>
                      <a:lvl6pPr marL="25146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6pPr>
                      <a:lvl7pPr marL="29718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7pPr>
                      <a:lvl8pPr marL="34290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8pPr>
                      <a:lvl9pPr marL="38862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ja-JP" altLang="en-US" sz="16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rPr>
                        <a:t>売上</a:t>
                      </a:r>
                      <a:endParaRPr kumimoji="0" lang="en-US" altLang="ja-JP" sz="16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endParaRPr>
                    </a:p>
                  </a:txBody>
                  <a:tcPr marL="71998" marR="35998" marT="35947" marB="35947"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CCFFCC"/>
                    </a:solidFill>
                  </a:tcPr>
                </a:tc>
                <a:tc>
                  <a:txBody>
                    <a:bodyPr/>
                    <a:lstStyle/>
                    <a:p>
                      <a:pPr algn="r" fontAlgn="ctr"/>
                      <a:r>
                        <a:rPr lang="en-US" altLang="ja-JP" sz="1600" b="0" i="0" u="none" strike="noStrike" dirty="0">
                          <a:solidFill>
                            <a:srgbClr val="000000"/>
                          </a:solidFill>
                          <a:effectLst/>
                          <a:latin typeface="メイリオ" panose="020B0604030504040204" pitchFamily="50" charset="-128"/>
                          <a:ea typeface="メイリオ" panose="020B0604030504040204" pitchFamily="50" charset="-128"/>
                        </a:rPr>
                        <a:t>131,000,000</a:t>
                      </a:r>
                    </a:p>
                  </a:txBody>
                  <a:tcPr marL="6350" marR="6350" marT="635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algn="r" fontAlgn="ctr"/>
                      <a:r>
                        <a:rPr lang="en-US" altLang="ja-JP" sz="1600" b="0" i="0" u="none" strike="noStrike" dirty="0">
                          <a:solidFill>
                            <a:srgbClr val="000000"/>
                          </a:solidFill>
                          <a:effectLst/>
                          <a:latin typeface="メイリオ" panose="020B0604030504040204" pitchFamily="50" charset="-128"/>
                          <a:ea typeface="メイリオ" panose="020B0604030504040204" pitchFamily="50" charset="-128"/>
                        </a:rPr>
                        <a:t>30,582,755</a:t>
                      </a:r>
                    </a:p>
                  </a:txBody>
                  <a:tcPr marL="6350" marR="6350" marT="635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algn="r" fontAlgn="ctr"/>
                      <a:r>
                        <a:rPr lang="en-US" altLang="ja-JP" sz="1600" b="0" i="0" u="none" strike="noStrike" dirty="0">
                          <a:solidFill>
                            <a:srgbClr val="000000"/>
                          </a:solidFill>
                          <a:effectLst/>
                          <a:latin typeface="メイリオ" panose="020B0604030504040204" pitchFamily="50" charset="-128"/>
                          <a:ea typeface="メイリオ" panose="020B0604030504040204" pitchFamily="50" charset="-128"/>
                        </a:rPr>
                        <a:t>23.34%</a:t>
                      </a:r>
                    </a:p>
                  </a:txBody>
                  <a:tcPr marL="6350" marR="6350" marT="635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4393">
                <a:tc>
                  <a:txBody>
                    <a:body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ja-JP" altLang="en-US" sz="16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rPr>
                        <a:t>部門利益</a:t>
                      </a:r>
                      <a:endParaRPr kumimoji="0" lang="en-US" altLang="ja-JP" sz="16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endParaRPr>
                    </a:p>
                  </a:txBody>
                  <a:tcPr marL="71998" marR="35998" marT="35947" marB="35947"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CCFFCC"/>
                    </a:solidFill>
                  </a:tcPr>
                </a:tc>
                <a:tc>
                  <a:txBody>
                    <a:bodyPr/>
                    <a:lstStyle/>
                    <a:p>
                      <a:pPr algn="r" fontAlgn="ctr"/>
                      <a:r>
                        <a:rPr lang="en-US" altLang="ja-JP" sz="1600" b="0" i="0" u="none" strike="noStrike" dirty="0">
                          <a:solidFill>
                            <a:srgbClr val="000000"/>
                          </a:solidFill>
                          <a:effectLst/>
                          <a:latin typeface="メイリオ" panose="020B0604030504040204" pitchFamily="50" charset="-128"/>
                          <a:ea typeface="メイリオ" panose="020B0604030504040204" pitchFamily="50" charset="-128"/>
                        </a:rPr>
                        <a:t>8,000,000 </a:t>
                      </a:r>
                    </a:p>
                  </a:txBody>
                  <a:tcPr marL="6350" marR="6350" marT="635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algn="r" fontAlgn="ctr"/>
                      <a:r>
                        <a:rPr lang="en-US" altLang="ja-JP" sz="1600" b="0" i="0" u="none" strike="noStrike" dirty="0">
                          <a:solidFill>
                            <a:srgbClr val="000000"/>
                          </a:solidFill>
                          <a:effectLst/>
                          <a:latin typeface="メイリオ" panose="020B0604030504040204" pitchFamily="50" charset="-128"/>
                          <a:ea typeface="メイリオ" panose="020B0604030504040204" pitchFamily="50" charset="-128"/>
                        </a:rPr>
                        <a:t>-14,851,957</a:t>
                      </a:r>
                    </a:p>
                  </a:txBody>
                  <a:tcPr marL="6350" marR="6350" marT="635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algn="r" fontAlgn="ctr"/>
                      <a:r>
                        <a:rPr lang="en-US" altLang="ja-JP" sz="1600" b="0" i="0" u="none" strike="noStrike" dirty="0">
                          <a:solidFill>
                            <a:srgbClr val="000000"/>
                          </a:solidFill>
                          <a:effectLst/>
                          <a:latin typeface="メイリオ" panose="020B0604030504040204" pitchFamily="50" charset="-128"/>
                          <a:ea typeface="メイリオ" panose="020B0604030504040204" pitchFamily="50" charset="-128"/>
                        </a:rPr>
                        <a:t>-263.75%</a:t>
                      </a:r>
                    </a:p>
                  </a:txBody>
                  <a:tcPr marL="6350" marR="6350" marT="635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3" name="Text Box 3">
            <a:extLst>
              <a:ext uri="{FF2B5EF4-FFF2-40B4-BE49-F238E27FC236}">
                <a16:creationId xmlns:a16="http://schemas.microsoft.com/office/drawing/2014/main" id="{806B1BD5-D1DA-F8D3-0DEC-C13CDD300574}"/>
              </a:ext>
            </a:extLst>
          </p:cNvPr>
          <p:cNvSpPr txBox="1">
            <a:spLocks noChangeArrowheads="1"/>
          </p:cNvSpPr>
          <p:nvPr/>
        </p:nvSpPr>
        <p:spPr bwMode="auto">
          <a:xfrm>
            <a:off x="464186" y="848678"/>
            <a:ext cx="34083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Font typeface="Wingdings" panose="05000000000000000000" pitchFamily="2" charset="2"/>
              <a:buChar char="l"/>
              <a:defRPr kumimoji="1" sz="2800">
                <a:solidFill>
                  <a:srgbClr val="595959"/>
                </a:solidFill>
                <a:latin typeface="メイリオ" panose="020B0604030504040204" pitchFamily="50" charset="-128"/>
                <a:ea typeface="メイリオ" panose="020B0604030504040204" pitchFamily="50" charset="-128"/>
              </a:defRPr>
            </a:lvl1pPr>
            <a:lvl2pPr marL="742950" indent="-285750">
              <a:spcBef>
                <a:spcPct val="20000"/>
              </a:spcBef>
              <a:buFont typeface="Wingdings" panose="05000000000000000000" pitchFamily="2" charset="2"/>
              <a:buChar char="l"/>
              <a:defRPr kumimoji="1" sz="2400">
                <a:solidFill>
                  <a:srgbClr val="595959"/>
                </a:solidFill>
                <a:latin typeface="メイリオ" panose="020B0604030504040204" pitchFamily="50" charset="-128"/>
                <a:ea typeface="メイリオ" panose="020B0604030504040204" pitchFamily="50" charset="-128"/>
              </a:defRPr>
            </a:lvl2pPr>
            <a:lvl3pPr marL="1143000" indent="-228600">
              <a:spcBef>
                <a:spcPct val="20000"/>
              </a:spcBef>
              <a:buFont typeface="Wingdings" panose="05000000000000000000" pitchFamily="2" charset="2"/>
              <a:buChar char="l"/>
              <a:defRPr kumimoji="1" sz="2000">
                <a:solidFill>
                  <a:srgbClr val="595959"/>
                </a:solidFill>
                <a:latin typeface="メイリオ" panose="020B0604030504040204" pitchFamily="50" charset="-128"/>
                <a:ea typeface="メイリオ" panose="020B0604030504040204" pitchFamily="50" charset="-128"/>
              </a:defRPr>
            </a:lvl3pPr>
            <a:lvl4pPr marL="1600200" indent="-228600">
              <a:spcBef>
                <a:spcPct val="20000"/>
              </a:spcBef>
              <a:buFont typeface="Wingdings" panose="05000000000000000000" pitchFamily="2" charset="2"/>
              <a:buChar char="l"/>
              <a:defRPr kumimoji="1">
                <a:solidFill>
                  <a:srgbClr val="595959"/>
                </a:solidFill>
                <a:latin typeface="メイリオ" panose="020B0604030504040204" pitchFamily="50" charset="-128"/>
                <a:ea typeface="メイリオ" panose="020B0604030504040204" pitchFamily="50" charset="-128"/>
              </a:defRPr>
            </a:lvl4pPr>
            <a:lvl5pPr marL="2057400" indent="-228600">
              <a:spcBef>
                <a:spcPct val="20000"/>
              </a:spcBef>
              <a:buFont typeface="Wingdings" panose="05000000000000000000" pitchFamily="2" charset="2"/>
              <a:buChar char="l"/>
              <a:defRPr kumimoji="1" sz="1600">
                <a:solidFill>
                  <a:srgbClr val="595959"/>
                </a:solidFill>
                <a:latin typeface="メイリオ" panose="020B0604030504040204" pitchFamily="50" charset="-128"/>
                <a:ea typeface="メイリオ" panose="020B0604030504040204" pitchFamily="50" charset="-128"/>
              </a:defRPr>
            </a:lvl5pPr>
            <a:lvl6pPr marL="2514600" indent="-228600" eaLnBrk="0" fontAlgn="base" hangingPunct="0">
              <a:spcBef>
                <a:spcPct val="20000"/>
              </a:spcBef>
              <a:spcAft>
                <a:spcPct val="0"/>
              </a:spcAft>
              <a:buFont typeface="Wingdings" panose="05000000000000000000" pitchFamily="2" charset="2"/>
              <a:buChar char="l"/>
              <a:defRPr kumimoji="1" sz="1600">
                <a:solidFill>
                  <a:srgbClr val="595959"/>
                </a:solidFill>
                <a:latin typeface="メイリオ" panose="020B0604030504040204" pitchFamily="50" charset="-128"/>
                <a:ea typeface="メイリオ" panose="020B0604030504040204" pitchFamily="50" charset="-128"/>
              </a:defRPr>
            </a:lvl6pPr>
            <a:lvl7pPr marL="2971800" indent="-228600" eaLnBrk="0" fontAlgn="base" hangingPunct="0">
              <a:spcBef>
                <a:spcPct val="20000"/>
              </a:spcBef>
              <a:spcAft>
                <a:spcPct val="0"/>
              </a:spcAft>
              <a:buFont typeface="Wingdings" panose="05000000000000000000" pitchFamily="2" charset="2"/>
              <a:buChar char="l"/>
              <a:defRPr kumimoji="1" sz="1600">
                <a:solidFill>
                  <a:srgbClr val="595959"/>
                </a:solidFill>
                <a:latin typeface="メイリオ" panose="020B0604030504040204" pitchFamily="50" charset="-128"/>
                <a:ea typeface="メイリオ" panose="020B0604030504040204" pitchFamily="50" charset="-128"/>
              </a:defRPr>
            </a:lvl7pPr>
            <a:lvl8pPr marL="3429000" indent="-228600" eaLnBrk="0" fontAlgn="base" hangingPunct="0">
              <a:spcBef>
                <a:spcPct val="20000"/>
              </a:spcBef>
              <a:spcAft>
                <a:spcPct val="0"/>
              </a:spcAft>
              <a:buFont typeface="Wingdings" panose="05000000000000000000" pitchFamily="2" charset="2"/>
              <a:buChar char="l"/>
              <a:defRPr kumimoji="1" sz="1600">
                <a:solidFill>
                  <a:srgbClr val="595959"/>
                </a:solidFill>
                <a:latin typeface="メイリオ" panose="020B0604030504040204" pitchFamily="50" charset="-128"/>
                <a:ea typeface="メイリオ" panose="020B0604030504040204" pitchFamily="50" charset="-128"/>
              </a:defRPr>
            </a:lvl8pPr>
            <a:lvl9pPr marL="3886200" indent="-228600" eaLnBrk="0" fontAlgn="base" hangingPunct="0">
              <a:spcBef>
                <a:spcPct val="20000"/>
              </a:spcBef>
              <a:spcAft>
                <a:spcPct val="0"/>
              </a:spcAft>
              <a:buFont typeface="Wingdings" panose="05000000000000000000" pitchFamily="2" charset="2"/>
              <a:buChar char="l"/>
              <a:defRPr kumimoji="1" sz="1600">
                <a:solidFill>
                  <a:srgbClr val="595959"/>
                </a:solidFill>
                <a:latin typeface="メイリオ" panose="020B0604030504040204" pitchFamily="50" charset="-128"/>
                <a:ea typeface="メイリオ" panose="020B0604030504040204" pitchFamily="50" charset="-128"/>
              </a:defRPr>
            </a:lvl9pPr>
          </a:lstStyle>
          <a:p>
            <a:pPr marL="285750" indent="-285750" eaLnBrk="1" hangingPunct="1">
              <a:spcBef>
                <a:spcPct val="50000"/>
              </a:spcBef>
              <a:buFont typeface="Wingdings" panose="05000000000000000000" pitchFamily="2" charset="2"/>
              <a:buChar char="p"/>
            </a:pPr>
            <a:r>
              <a:rPr lang="ja-JP" altLang="en-US" sz="1800" dirty="0">
                <a:solidFill>
                  <a:schemeClr val="tx2">
                    <a:lumMod val="50000"/>
                  </a:schemeClr>
                </a:solidFill>
              </a:rPr>
              <a:t>事業目標</a:t>
            </a:r>
            <a:endParaRPr lang="en-US" altLang="ja-JP" sz="1800" dirty="0">
              <a:solidFill>
                <a:schemeClr val="tx2">
                  <a:lumMod val="50000"/>
                </a:schemeClr>
              </a:solidFill>
            </a:endParaRPr>
          </a:p>
        </p:txBody>
      </p:sp>
      <p:sp>
        <p:nvSpPr>
          <p:cNvPr id="4" name="正方形/長方形 12">
            <a:extLst>
              <a:ext uri="{FF2B5EF4-FFF2-40B4-BE49-F238E27FC236}">
                <a16:creationId xmlns:a16="http://schemas.microsoft.com/office/drawing/2014/main" id="{0F11408F-1EDD-F450-E710-8F8EE6C2C033}"/>
              </a:ext>
            </a:extLst>
          </p:cNvPr>
          <p:cNvSpPr>
            <a:spLocks noChangeArrowheads="1"/>
          </p:cNvSpPr>
          <p:nvPr/>
        </p:nvSpPr>
        <p:spPr bwMode="auto">
          <a:xfrm>
            <a:off x="8158481" y="919290"/>
            <a:ext cx="141922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Font typeface="Wingdings" panose="05000000000000000000" pitchFamily="2" charset="2"/>
              <a:buChar char="l"/>
              <a:defRPr kumimoji="1" sz="2800">
                <a:solidFill>
                  <a:srgbClr val="595959"/>
                </a:solidFill>
                <a:latin typeface="メイリオ" panose="020B0604030504040204" pitchFamily="50" charset="-128"/>
                <a:ea typeface="メイリオ" panose="020B0604030504040204" pitchFamily="50" charset="-128"/>
              </a:defRPr>
            </a:lvl1pPr>
            <a:lvl2pPr marL="742950" indent="-285750">
              <a:spcBef>
                <a:spcPct val="20000"/>
              </a:spcBef>
              <a:buFont typeface="Wingdings" panose="05000000000000000000" pitchFamily="2" charset="2"/>
              <a:buChar char="l"/>
              <a:defRPr kumimoji="1" sz="2400">
                <a:solidFill>
                  <a:srgbClr val="595959"/>
                </a:solidFill>
                <a:latin typeface="メイリオ" panose="020B0604030504040204" pitchFamily="50" charset="-128"/>
                <a:ea typeface="メイリオ" panose="020B0604030504040204" pitchFamily="50" charset="-128"/>
              </a:defRPr>
            </a:lvl2pPr>
            <a:lvl3pPr marL="1143000" indent="-228600">
              <a:spcBef>
                <a:spcPct val="20000"/>
              </a:spcBef>
              <a:buFont typeface="Wingdings" panose="05000000000000000000" pitchFamily="2" charset="2"/>
              <a:buChar char="l"/>
              <a:defRPr kumimoji="1" sz="2000">
                <a:solidFill>
                  <a:srgbClr val="595959"/>
                </a:solidFill>
                <a:latin typeface="メイリオ" panose="020B0604030504040204" pitchFamily="50" charset="-128"/>
                <a:ea typeface="メイリオ" panose="020B0604030504040204" pitchFamily="50" charset="-128"/>
              </a:defRPr>
            </a:lvl3pPr>
            <a:lvl4pPr marL="1600200" indent="-228600">
              <a:spcBef>
                <a:spcPct val="20000"/>
              </a:spcBef>
              <a:buFont typeface="Wingdings" panose="05000000000000000000" pitchFamily="2" charset="2"/>
              <a:buChar char="l"/>
              <a:defRPr kumimoji="1">
                <a:solidFill>
                  <a:srgbClr val="595959"/>
                </a:solidFill>
                <a:latin typeface="メイリオ" panose="020B0604030504040204" pitchFamily="50" charset="-128"/>
                <a:ea typeface="メイリオ" panose="020B0604030504040204" pitchFamily="50" charset="-128"/>
              </a:defRPr>
            </a:lvl4pPr>
            <a:lvl5pPr marL="2057400" indent="-228600">
              <a:spcBef>
                <a:spcPct val="20000"/>
              </a:spcBef>
              <a:buFont typeface="Wingdings" panose="05000000000000000000" pitchFamily="2" charset="2"/>
              <a:buChar char="l"/>
              <a:defRPr kumimoji="1" sz="1600">
                <a:solidFill>
                  <a:srgbClr val="595959"/>
                </a:solidFill>
                <a:latin typeface="メイリオ" panose="020B0604030504040204" pitchFamily="50" charset="-128"/>
                <a:ea typeface="メイリオ" panose="020B0604030504040204" pitchFamily="50" charset="-128"/>
              </a:defRPr>
            </a:lvl5pPr>
            <a:lvl6pPr marL="2514600" indent="-228600" eaLnBrk="0" fontAlgn="base" hangingPunct="0">
              <a:spcBef>
                <a:spcPct val="20000"/>
              </a:spcBef>
              <a:spcAft>
                <a:spcPct val="0"/>
              </a:spcAft>
              <a:buFont typeface="Wingdings" panose="05000000000000000000" pitchFamily="2" charset="2"/>
              <a:buChar char="l"/>
              <a:defRPr kumimoji="1" sz="1600">
                <a:solidFill>
                  <a:srgbClr val="595959"/>
                </a:solidFill>
                <a:latin typeface="メイリオ" panose="020B0604030504040204" pitchFamily="50" charset="-128"/>
                <a:ea typeface="メイリオ" panose="020B0604030504040204" pitchFamily="50" charset="-128"/>
              </a:defRPr>
            </a:lvl6pPr>
            <a:lvl7pPr marL="2971800" indent="-228600" eaLnBrk="0" fontAlgn="base" hangingPunct="0">
              <a:spcBef>
                <a:spcPct val="20000"/>
              </a:spcBef>
              <a:spcAft>
                <a:spcPct val="0"/>
              </a:spcAft>
              <a:buFont typeface="Wingdings" panose="05000000000000000000" pitchFamily="2" charset="2"/>
              <a:buChar char="l"/>
              <a:defRPr kumimoji="1" sz="1600">
                <a:solidFill>
                  <a:srgbClr val="595959"/>
                </a:solidFill>
                <a:latin typeface="メイリオ" panose="020B0604030504040204" pitchFamily="50" charset="-128"/>
                <a:ea typeface="メイリオ" panose="020B0604030504040204" pitchFamily="50" charset="-128"/>
              </a:defRPr>
            </a:lvl7pPr>
            <a:lvl8pPr marL="3429000" indent="-228600" eaLnBrk="0" fontAlgn="base" hangingPunct="0">
              <a:spcBef>
                <a:spcPct val="20000"/>
              </a:spcBef>
              <a:spcAft>
                <a:spcPct val="0"/>
              </a:spcAft>
              <a:buFont typeface="Wingdings" panose="05000000000000000000" pitchFamily="2" charset="2"/>
              <a:buChar char="l"/>
              <a:defRPr kumimoji="1" sz="1600">
                <a:solidFill>
                  <a:srgbClr val="595959"/>
                </a:solidFill>
                <a:latin typeface="メイリオ" panose="020B0604030504040204" pitchFamily="50" charset="-128"/>
                <a:ea typeface="メイリオ" panose="020B0604030504040204" pitchFamily="50" charset="-128"/>
              </a:defRPr>
            </a:lvl8pPr>
            <a:lvl9pPr marL="3886200" indent="-228600" eaLnBrk="0" fontAlgn="base" hangingPunct="0">
              <a:spcBef>
                <a:spcPct val="20000"/>
              </a:spcBef>
              <a:spcAft>
                <a:spcPct val="0"/>
              </a:spcAft>
              <a:buFont typeface="Wingdings" panose="05000000000000000000" pitchFamily="2" charset="2"/>
              <a:buChar char="l"/>
              <a:defRPr kumimoji="1" sz="1600">
                <a:solidFill>
                  <a:srgbClr val="595959"/>
                </a:solidFill>
                <a:latin typeface="メイリオ" panose="020B0604030504040204" pitchFamily="50" charset="-128"/>
                <a:ea typeface="メイリオ" panose="020B0604030504040204" pitchFamily="50" charset="-128"/>
              </a:defRPr>
            </a:lvl9pPr>
          </a:lstStyle>
          <a:p>
            <a:pPr algn="r" eaLnBrk="1" hangingPunct="1">
              <a:spcBef>
                <a:spcPct val="50000"/>
              </a:spcBef>
              <a:buFont typeface="Wingdings" panose="05000000000000000000" pitchFamily="2" charset="2"/>
              <a:buNone/>
            </a:pPr>
            <a:r>
              <a:rPr lang="ja-JP" altLang="en-US" sz="1400" dirty="0">
                <a:solidFill>
                  <a:schemeClr val="tx1"/>
                </a:solidFill>
              </a:rPr>
              <a:t>単位（円）</a:t>
            </a:r>
            <a:endParaRPr lang="zh-TW" altLang="en-US" sz="1400" dirty="0">
              <a:solidFill>
                <a:schemeClr val="tx1"/>
              </a:solidFill>
            </a:endParaRPr>
          </a:p>
        </p:txBody>
      </p:sp>
      <p:sp>
        <p:nvSpPr>
          <p:cNvPr id="5" name="テキスト ボックス 4">
            <a:extLst>
              <a:ext uri="{FF2B5EF4-FFF2-40B4-BE49-F238E27FC236}">
                <a16:creationId xmlns:a16="http://schemas.microsoft.com/office/drawing/2014/main" id="{7A9DD35C-18FB-FDA4-0D67-25F2CE129A1D}"/>
              </a:ext>
            </a:extLst>
          </p:cNvPr>
          <p:cNvSpPr txBox="1"/>
          <p:nvPr/>
        </p:nvSpPr>
        <p:spPr>
          <a:xfrm>
            <a:off x="704528" y="2660516"/>
            <a:ext cx="8344222" cy="461665"/>
          </a:xfrm>
          <a:prstGeom prst="rect">
            <a:avLst/>
          </a:prstGeom>
          <a:noFill/>
        </p:spPr>
        <p:txBody>
          <a:bodyPr wrap="square">
            <a:spAutoFit/>
          </a:bodyPr>
          <a:lstStyle/>
          <a:p>
            <a:pPr marL="285750" indent="-285750">
              <a:spcBef>
                <a:spcPct val="50000"/>
              </a:spcBef>
              <a:buClr>
                <a:srgbClr val="002060"/>
              </a:buClr>
              <a:buFont typeface="Arial" panose="020B0604020202020204" pitchFamily="34" charset="0"/>
              <a:buChar char="•"/>
            </a:pPr>
            <a:r>
              <a:rPr lang="ja-JP" altLang="en-US" sz="1200" dirty="0">
                <a:solidFill>
                  <a:schemeClr val="tx1"/>
                </a:solidFill>
                <a:latin typeface="メイリオ" panose="020B0604030504040204" pitchFamily="50" charset="-128"/>
                <a:ea typeface="メイリオ" panose="020B0604030504040204" pitchFamily="50" charset="-128"/>
              </a:rPr>
              <a:t>チャネルオリジナル様追加、既存顧客の小改修案件は計画通りの収支が出せているが、案件不足が解消できていない。結果的に非有償稼働が増えている。</a:t>
            </a:r>
            <a:endParaRPr lang="en-US" altLang="ja-JP" sz="1200" dirty="0">
              <a:solidFill>
                <a:schemeClr val="tx1"/>
              </a:solidFill>
              <a:latin typeface="メイリオ" panose="020B0604030504040204" pitchFamily="50" charset="-128"/>
              <a:ea typeface="メイリオ" panose="020B0604030504040204" pitchFamily="50" charset="-128"/>
            </a:endParaRPr>
          </a:p>
        </p:txBody>
      </p:sp>
      <p:sp>
        <p:nvSpPr>
          <p:cNvPr id="7" name="Text Box 3">
            <a:extLst>
              <a:ext uri="{FF2B5EF4-FFF2-40B4-BE49-F238E27FC236}">
                <a16:creationId xmlns:a16="http://schemas.microsoft.com/office/drawing/2014/main" id="{68DF457F-FF71-0E37-807B-C6970F19340B}"/>
              </a:ext>
            </a:extLst>
          </p:cNvPr>
          <p:cNvSpPr txBox="1">
            <a:spLocks noChangeArrowheads="1"/>
          </p:cNvSpPr>
          <p:nvPr/>
        </p:nvSpPr>
        <p:spPr bwMode="auto">
          <a:xfrm>
            <a:off x="472137" y="3206616"/>
            <a:ext cx="34083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Font typeface="Wingdings" panose="05000000000000000000" pitchFamily="2" charset="2"/>
              <a:buChar char="l"/>
              <a:defRPr kumimoji="1" sz="2800">
                <a:solidFill>
                  <a:srgbClr val="595959"/>
                </a:solidFill>
                <a:latin typeface="メイリオ" panose="020B0604030504040204" pitchFamily="50" charset="-128"/>
                <a:ea typeface="メイリオ" panose="020B0604030504040204" pitchFamily="50" charset="-128"/>
              </a:defRPr>
            </a:lvl1pPr>
            <a:lvl2pPr marL="742950" indent="-285750">
              <a:spcBef>
                <a:spcPct val="20000"/>
              </a:spcBef>
              <a:buFont typeface="Wingdings" panose="05000000000000000000" pitchFamily="2" charset="2"/>
              <a:buChar char="l"/>
              <a:defRPr kumimoji="1" sz="2400">
                <a:solidFill>
                  <a:srgbClr val="595959"/>
                </a:solidFill>
                <a:latin typeface="メイリオ" panose="020B0604030504040204" pitchFamily="50" charset="-128"/>
                <a:ea typeface="メイリオ" panose="020B0604030504040204" pitchFamily="50" charset="-128"/>
              </a:defRPr>
            </a:lvl2pPr>
            <a:lvl3pPr marL="1143000" indent="-228600">
              <a:spcBef>
                <a:spcPct val="20000"/>
              </a:spcBef>
              <a:buFont typeface="Wingdings" panose="05000000000000000000" pitchFamily="2" charset="2"/>
              <a:buChar char="l"/>
              <a:defRPr kumimoji="1" sz="2000">
                <a:solidFill>
                  <a:srgbClr val="595959"/>
                </a:solidFill>
                <a:latin typeface="メイリオ" panose="020B0604030504040204" pitchFamily="50" charset="-128"/>
                <a:ea typeface="メイリオ" panose="020B0604030504040204" pitchFamily="50" charset="-128"/>
              </a:defRPr>
            </a:lvl3pPr>
            <a:lvl4pPr marL="1600200" indent="-228600">
              <a:spcBef>
                <a:spcPct val="20000"/>
              </a:spcBef>
              <a:buFont typeface="Wingdings" panose="05000000000000000000" pitchFamily="2" charset="2"/>
              <a:buChar char="l"/>
              <a:defRPr kumimoji="1">
                <a:solidFill>
                  <a:srgbClr val="595959"/>
                </a:solidFill>
                <a:latin typeface="メイリオ" panose="020B0604030504040204" pitchFamily="50" charset="-128"/>
                <a:ea typeface="メイリオ" panose="020B0604030504040204" pitchFamily="50" charset="-128"/>
              </a:defRPr>
            </a:lvl4pPr>
            <a:lvl5pPr marL="2057400" indent="-228600">
              <a:spcBef>
                <a:spcPct val="20000"/>
              </a:spcBef>
              <a:buFont typeface="Wingdings" panose="05000000000000000000" pitchFamily="2" charset="2"/>
              <a:buChar char="l"/>
              <a:defRPr kumimoji="1" sz="1600">
                <a:solidFill>
                  <a:srgbClr val="595959"/>
                </a:solidFill>
                <a:latin typeface="メイリオ" panose="020B0604030504040204" pitchFamily="50" charset="-128"/>
                <a:ea typeface="メイリオ" panose="020B0604030504040204" pitchFamily="50" charset="-128"/>
              </a:defRPr>
            </a:lvl5pPr>
            <a:lvl6pPr marL="2514600" indent="-228600" eaLnBrk="0" fontAlgn="base" hangingPunct="0">
              <a:spcBef>
                <a:spcPct val="20000"/>
              </a:spcBef>
              <a:spcAft>
                <a:spcPct val="0"/>
              </a:spcAft>
              <a:buFont typeface="Wingdings" panose="05000000000000000000" pitchFamily="2" charset="2"/>
              <a:buChar char="l"/>
              <a:defRPr kumimoji="1" sz="1600">
                <a:solidFill>
                  <a:srgbClr val="595959"/>
                </a:solidFill>
                <a:latin typeface="メイリオ" panose="020B0604030504040204" pitchFamily="50" charset="-128"/>
                <a:ea typeface="メイリオ" panose="020B0604030504040204" pitchFamily="50" charset="-128"/>
              </a:defRPr>
            </a:lvl6pPr>
            <a:lvl7pPr marL="2971800" indent="-228600" eaLnBrk="0" fontAlgn="base" hangingPunct="0">
              <a:spcBef>
                <a:spcPct val="20000"/>
              </a:spcBef>
              <a:spcAft>
                <a:spcPct val="0"/>
              </a:spcAft>
              <a:buFont typeface="Wingdings" panose="05000000000000000000" pitchFamily="2" charset="2"/>
              <a:buChar char="l"/>
              <a:defRPr kumimoji="1" sz="1600">
                <a:solidFill>
                  <a:srgbClr val="595959"/>
                </a:solidFill>
                <a:latin typeface="メイリオ" panose="020B0604030504040204" pitchFamily="50" charset="-128"/>
                <a:ea typeface="メイリオ" panose="020B0604030504040204" pitchFamily="50" charset="-128"/>
              </a:defRPr>
            </a:lvl7pPr>
            <a:lvl8pPr marL="3429000" indent="-228600" eaLnBrk="0" fontAlgn="base" hangingPunct="0">
              <a:spcBef>
                <a:spcPct val="20000"/>
              </a:spcBef>
              <a:spcAft>
                <a:spcPct val="0"/>
              </a:spcAft>
              <a:buFont typeface="Wingdings" panose="05000000000000000000" pitchFamily="2" charset="2"/>
              <a:buChar char="l"/>
              <a:defRPr kumimoji="1" sz="1600">
                <a:solidFill>
                  <a:srgbClr val="595959"/>
                </a:solidFill>
                <a:latin typeface="メイリオ" panose="020B0604030504040204" pitchFamily="50" charset="-128"/>
                <a:ea typeface="メイリオ" panose="020B0604030504040204" pitchFamily="50" charset="-128"/>
              </a:defRPr>
            </a:lvl8pPr>
            <a:lvl9pPr marL="3886200" indent="-228600" eaLnBrk="0" fontAlgn="base" hangingPunct="0">
              <a:spcBef>
                <a:spcPct val="20000"/>
              </a:spcBef>
              <a:spcAft>
                <a:spcPct val="0"/>
              </a:spcAft>
              <a:buFont typeface="Wingdings" panose="05000000000000000000" pitchFamily="2" charset="2"/>
              <a:buChar char="l"/>
              <a:defRPr kumimoji="1" sz="1600">
                <a:solidFill>
                  <a:srgbClr val="595959"/>
                </a:solidFill>
                <a:latin typeface="メイリオ" panose="020B0604030504040204" pitchFamily="50" charset="-128"/>
                <a:ea typeface="メイリオ" panose="020B0604030504040204" pitchFamily="50" charset="-128"/>
              </a:defRPr>
            </a:lvl9pPr>
          </a:lstStyle>
          <a:p>
            <a:pPr marL="285750" indent="-285750" eaLnBrk="1" hangingPunct="1">
              <a:spcBef>
                <a:spcPct val="50000"/>
              </a:spcBef>
              <a:buFont typeface="Wingdings" panose="05000000000000000000" pitchFamily="2" charset="2"/>
              <a:buChar char="p"/>
            </a:pPr>
            <a:r>
              <a:rPr lang="ja-JP" altLang="en-US" sz="1800" dirty="0">
                <a:solidFill>
                  <a:schemeClr val="tx2">
                    <a:lumMod val="50000"/>
                  </a:schemeClr>
                </a:solidFill>
              </a:rPr>
              <a:t>対策</a:t>
            </a:r>
            <a:endParaRPr lang="en-US" altLang="ja-JP" sz="1800" dirty="0">
              <a:solidFill>
                <a:schemeClr val="tx2">
                  <a:lumMod val="50000"/>
                </a:schemeClr>
              </a:solidFill>
            </a:endParaRPr>
          </a:p>
        </p:txBody>
      </p:sp>
      <p:sp>
        <p:nvSpPr>
          <p:cNvPr id="8" name="テキスト ボックス 7">
            <a:extLst>
              <a:ext uri="{FF2B5EF4-FFF2-40B4-BE49-F238E27FC236}">
                <a16:creationId xmlns:a16="http://schemas.microsoft.com/office/drawing/2014/main" id="{10378CEA-43AC-FE1C-E85C-1615570527C3}"/>
              </a:ext>
            </a:extLst>
          </p:cNvPr>
          <p:cNvSpPr txBox="1"/>
          <p:nvPr/>
        </p:nvSpPr>
        <p:spPr>
          <a:xfrm>
            <a:off x="712148" y="3574916"/>
            <a:ext cx="8344222" cy="2862322"/>
          </a:xfrm>
          <a:prstGeom prst="rect">
            <a:avLst/>
          </a:prstGeom>
          <a:noFill/>
        </p:spPr>
        <p:txBody>
          <a:bodyPr wrap="square">
            <a:spAutoFit/>
          </a:bodyPr>
          <a:lstStyle/>
          <a:p>
            <a:pPr marL="285750" indent="-285750">
              <a:spcBef>
                <a:spcPct val="50000"/>
              </a:spcBef>
              <a:buClr>
                <a:srgbClr val="002060"/>
              </a:buClr>
              <a:buFont typeface="Arial" panose="020B0604020202020204" pitchFamily="34" charset="0"/>
              <a:buChar char="•"/>
            </a:pPr>
            <a:r>
              <a:rPr lang="ja-JP" altLang="en-US" sz="1200" dirty="0">
                <a:solidFill>
                  <a:schemeClr val="tx1"/>
                </a:solidFill>
                <a:latin typeface="メイリオ" panose="020B0604030504040204" pitchFamily="50" charset="-128"/>
                <a:ea typeface="メイリオ" panose="020B0604030504040204" pitchFamily="50" charset="-128"/>
              </a:rPr>
              <a:t>試験的に展示会に参加　</a:t>
            </a:r>
            <a:r>
              <a:rPr lang="en-US" altLang="ja-JP" sz="1200" dirty="0">
                <a:solidFill>
                  <a:schemeClr val="tx1"/>
                </a:solidFill>
                <a:latin typeface="メイリオ" panose="020B0604030504040204" pitchFamily="50" charset="-128"/>
                <a:ea typeface="メイリオ" panose="020B0604030504040204" pitchFamily="50" charset="-128"/>
              </a:rPr>
              <a:t>7/25</a:t>
            </a:r>
            <a:r>
              <a:rPr lang="ja-JP" altLang="en-US" sz="1200" dirty="0">
                <a:solidFill>
                  <a:schemeClr val="tx1"/>
                </a:solidFill>
                <a:latin typeface="メイリオ" panose="020B0604030504040204" pitchFamily="50" charset="-128"/>
                <a:ea typeface="メイリオ" panose="020B0604030504040204" pitchFamily="50" charset="-128"/>
              </a:rPr>
              <a:t>富士フィルムビジネスイノベーションジャパン様主催</a:t>
            </a:r>
            <a:endParaRPr lang="en-US" altLang="ja-JP" sz="1200" dirty="0">
              <a:solidFill>
                <a:schemeClr val="tx1"/>
              </a:solidFill>
              <a:latin typeface="メイリオ" panose="020B0604030504040204" pitchFamily="50" charset="-128"/>
              <a:ea typeface="メイリオ" panose="020B0604030504040204" pitchFamily="50" charset="-128"/>
            </a:endParaRPr>
          </a:p>
          <a:p>
            <a:pPr lvl="1">
              <a:spcBef>
                <a:spcPct val="50000"/>
              </a:spcBef>
              <a:buClr>
                <a:srgbClr val="002060"/>
              </a:buClr>
            </a:pPr>
            <a:r>
              <a:rPr lang="ja-JP" altLang="en-US" sz="1200" dirty="0">
                <a:latin typeface="メイリオ" panose="020B0604030504040204" pitchFamily="50" charset="-128"/>
                <a:ea typeface="メイリオ" panose="020B0604030504040204" pitchFamily="50" charset="-128"/>
              </a:rPr>
              <a:t>→</a:t>
            </a:r>
            <a:r>
              <a:rPr lang="en-US" altLang="ja-JP" sz="1200" dirty="0">
                <a:latin typeface="メイリオ" panose="020B0604030504040204" pitchFamily="50" charset="-128"/>
                <a:ea typeface="メイリオ" panose="020B0604030504040204" pitchFamily="50" charset="-128"/>
              </a:rPr>
              <a:t>11</a:t>
            </a:r>
            <a:r>
              <a:rPr lang="ja-JP" altLang="en-US" sz="1200" dirty="0">
                <a:latin typeface="メイリオ" panose="020B0604030504040204" pitchFamily="50" charset="-128"/>
                <a:ea typeface="メイリオ" panose="020B0604030504040204" pitchFamily="50" charset="-128"/>
              </a:rPr>
              <a:t>件の引き合い</a:t>
            </a:r>
            <a:endParaRPr lang="en-US" altLang="ja-JP" sz="1200" dirty="0">
              <a:latin typeface="メイリオ" panose="020B0604030504040204" pitchFamily="50" charset="-128"/>
              <a:ea typeface="メイリオ" panose="020B0604030504040204" pitchFamily="50" charset="-128"/>
            </a:endParaRPr>
          </a:p>
          <a:p>
            <a:pPr lvl="1">
              <a:spcBef>
                <a:spcPct val="50000"/>
              </a:spcBef>
              <a:buClr>
                <a:srgbClr val="002060"/>
              </a:buClr>
            </a:pPr>
            <a:r>
              <a:rPr lang="ja-JP" altLang="en-US" sz="1200" dirty="0">
                <a:solidFill>
                  <a:srgbClr val="FF0000"/>
                </a:solidFill>
                <a:latin typeface="メイリオ" panose="020B0604030504040204" pitchFamily="50" charset="-128"/>
                <a:ea typeface="メイリオ" panose="020B0604030504040204" pitchFamily="50" charset="-128"/>
              </a:rPr>
              <a:t>→ダイジク様等の提案を継続中</a:t>
            </a:r>
            <a:endParaRPr lang="en-US" altLang="ja-JP" sz="1200" dirty="0">
              <a:solidFill>
                <a:srgbClr val="FF0000"/>
              </a:solidFill>
              <a:latin typeface="メイリオ" panose="020B0604030504040204" pitchFamily="50" charset="-128"/>
              <a:ea typeface="メイリオ" panose="020B0604030504040204" pitchFamily="50" charset="-128"/>
            </a:endParaRPr>
          </a:p>
          <a:p>
            <a:pPr marL="285750" indent="-285750">
              <a:spcBef>
                <a:spcPct val="50000"/>
              </a:spcBef>
              <a:buClr>
                <a:srgbClr val="002060"/>
              </a:buClr>
              <a:buFont typeface="Arial" panose="020B0604020202020204" pitchFamily="34" charset="0"/>
              <a:buChar char="•"/>
            </a:pPr>
            <a:r>
              <a:rPr lang="ja-JP" altLang="en-US" sz="1200" dirty="0">
                <a:solidFill>
                  <a:schemeClr val="tx1"/>
                </a:solidFill>
                <a:latin typeface="メイリオ" panose="020B0604030504040204" pitchFamily="50" charset="-128"/>
                <a:ea typeface="メイリオ" panose="020B0604030504040204" pitchFamily="50" charset="-128"/>
              </a:rPr>
              <a:t>マッチングサイト、比較サイトへの登録</a:t>
            </a:r>
            <a:endParaRPr lang="en-US" altLang="ja-JP" sz="1200" dirty="0">
              <a:solidFill>
                <a:schemeClr val="tx1"/>
              </a:solidFill>
              <a:latin typeface="メイリオ" panose="020B0604030504040204" pitchFamily="50" charset="-128"/>
              <a:ea typeface="メイリオ" panose="020B0604030504040204" pitchFamily="50" charset="-128"/>
            </a:endParaRPr>
          </a:p>
          <a:p>
            <a:pPr lvl="1">
              <a:spcBef>
                <a:spcPct val="50000"/>
              </a:spcBef>
              <a:buClr>
                <a:srgbClr val="002060"/>
              </a:buClr>
            </a:pPr>
            <a:r>
              <a:rPr lang="ja-JP" altLang="en-US" sz="1200" dirty="0">
                <a:latin typeface="メイリオ" panose="020B0604030504040204" pitchFamily="50" charset="-128"/>
                <a:ea typeface="メイリオ" panose="020B0604030504040204" pitchFamily="50" charset="-128"/>
              </a:rPr>
              <a:t>→</a:t>
            </a:r>
            <a:r>
              <a:rPr lang="en-US" altLang="ja-JP" sz="1200" dirty="0">
                <a:latin typeface="メイリオ" panose="020B0604030504040204" pitchFamily="50" charset="-128"/>
                <a:ea typeface="メイリオ" panose="020B0604030504040204" pitchFamily="50" charset="-128"/>
              </a:rPr>
              <a:t>IT</a:t>
            </a:r>
            <a:r>
              <a:rPr lang="ja-JP" altLang="en-US" sz="1200" dirty="0">
                <a:latin typeface="メイリオ" panose="020B0604030504040204" pitchFamily="50" charset="-128"/>
                <a:ea typeface="メイリオ" panose="020B0604030504040204" pitchFamily="50" charset="-128"/>
              </a:rPr>
              <a:t>トレンド、比較ビズ、ウキヨ</a:t>
            </a:r>
            <a:endParaRPr lang="en-US" altLang="ja-JP" sz="1200" dirty="0">
              <a:latin typeface="メイリオ" panose="020B0604030504040204" pitchFamily="50" charset="-128"/>
              <a:ea typeface="メイリオ" panose="020B0604030504040204" pitchFamily="50" charset="-128"/>
            </a:endParaRPr>
          </a:p>
          <a:p>
            <a:pPr lvl="1">
              <a:spcBef>
                <a:spcPct val="50000"/>
              </a:spcBef>
              <a:buClr>
                <a:srgbClr val="002060"/>
              </a:buClr>
            </a:pPr>
            <a:r>
              <a:rPr lang="ja-JP" altLang="en-US" sz="1200">
                <a:solidFill>
                  <a:srgbClr val="FF0000"/>
                </a:solidFill>
                <a:latin typeface="メイリオ" panose="020B0604030504040204" pitchFamily="50" charset="-128"/>
                <a:ea typeface="メイリオ" panose="020B0604030504040204" pitchFamily="50" charset="-128"/>
              </a:rPr>
              <a:t>→マッチングサイトの </a:t>
            </a:r>
            <a:r>
              <a:rPr lang="en-US" altLang="ja-JP" sz="1200" dirty="0">
                <a:solidFill>
                  <a:srgbClr val="FF0000"/>
                </a:solidFill>
                <a:latin typeface="メイリオ" panose="020B0604030504040204" pitchFamily="50" charset="-128"/>
                <a:ea typeface="メイリオ" panose="020B0604030504040204" pitchFamily="50" charset="-128"/>
              </a:rPr>
              <a:t>IT</a:t>
            </a:r>
            <a:r>
              <a:rPr lang="ja-JP" altLang="en-US" sz="1200" dirty="0">
                <a:solidFill>
                  <a:srgbClr val="FF0000"/>
                </a:solidFill>
                <a:latin typeface="メイリオ" panose="020B0604030504040204" pitchFamily="50" charset="-128"/>
                <a:ea typeface="メイリオ" panose="020B0604030504040204" pitchFamily="50" charset="-128"/>
              </a:rPr>
              <a:t>トレンドだけ残して、他は一旦解約　ビックカメラ様提案中</a:t>
            </a:r>
            <a:endParaRPr lang="en-US" altLang="ja-JP" sz="1200" dirty="0">
              <a:solidFill>
                <a:srgbClr val="FF0000"/>
              </a:solidFill>
              <a:latin typeface="メイリオ" panose="020B0604030504040204" pitchFamily="50" charset="-128"/>
              <a:ea typeface="メイリオ" panose="020B0604030504040204" pitchFamily="50" charset="-128"/>
            </a:endParaRPr>
          </a:p>
          <a:p>
            <a:pPr marL="285750" indent="-285750">
              <a:spcBef>
                <a:spcPct val="50000"/>
              </a:spcBef>
              <a:buClr>
                <a:srgbClr val="002060"/>
              </a:buClr>
              <a:buFont typeface="Arial" panose="020B0604020202020204" pitchFamily="34" charset="0"/>
              <a:buChar char="•"/>
            </a:pPr>
            <a:r>
              <a:rPr lang="en-US" altLang="ja-JP" sz="1200" dirty="0">
                <a:latin typeface="メイリオ" panose="020B0604030504040204" pitchFamily="50" charset="-128"/>
                <a:ea typeface="メイリオ" panose="020B0604030504040204" pitchFamily="50" charset="-128"/>
              </a:rPr>
              <a:t>SEO</a:t>
            </a:r>
            <a:r>
              <a:rPr lang="ja-JP" altLang="en-US" sz="1200" dirty="0">
                <a:latin typeface="メイリオ" panose="020B0604030504040204" pitchFamily="50" charset="-128"/>
                <a:ea typeface="メイリオ" panose="020B0604030504040204" pitchFamily="50" charset="-128"/>
              </a:rPr>
              <a:t>対策</a:t>
            </a:r>
            <a:br>
              <a:rPr lang="en-US" altLang="ja-JP" sz="1200" dirty="0">
                <a:latin typeface="メイリオ" panose="020B0604030504040204" pitchFamily="50" charset="-128"/>
                <a:ea typeface="メイリオ" panose="020B0604030504040204" pitchFamily="50" charset="-128"/>
              </a:rPr>
            </a:br>
            <a:r>
              <a:rPr lang="ja-JP" altLang="en-US" sz="1200" dirty="0">
                <a:latin typeface="メイリオ" panose="020B0604030504040204" pitchFamily="50" charset="-128"/>
                <a:ea typeface="メイリオ" panose="020B0604030504040204" pitchFamily="50" charset="-128"/>
              </a:rPr>
              <a:t>→ツールを導入して分析、定期的な製品ページのコラムの更新→コーポレートページの「お知らせ」に連動</a:t>
            </a:r>
            <a:endParaRPr lang="en-US" altLang="ja-JP" sz="1200" dirty="0">
              <a:latin typeface="メイリオ" panose="020B0604030504040204" pitchFamily="50" charset="-128"/>
              <a:ea typeface="メイリオ" panose="020B0604030504040204" pitchFamily="50" charset="-128"/>
            </a:endParaRPr>
          </a:p>
          <a:p>
            <a:pPr lvl="1">
              <a:spcBef>
                <a:spcPct val="50000"/>
              </a:spcBef>
              <a:buClr>
                <a:srgbClr val="002060"/>
              </a:buClr>
            </a:pPr>
            <a:r>
              <a:rPr lang="ja-JP" altLang="en-US" sz="1200" dirty="0">
                <a:solidFill>
                  <a:srgbClr val="FF0000"/>
                </a:solidFill>
                <a:latin typeface="メイリオ" panose="020B0604030504040204" pitchFamily="50" charset="-128"/>
                <a:ea typeface="メイリオ" panose="020B0604030504040204" pitchFamily="50" charset="-128"/>
              </a:rPr>
              <a:t>→継続中</a:t>
            </a:r>
            <a:endParaRPr lang="en-US" altLang="ja-JP" sz="1200" dirty="0">
              <a:solidFill>
                <a:srgbClr val="FF0000"/>
              </a:solidFill>
              <a:latin typeface="メイリオ" panose="020B0604030504040204" pitchFamily="50" charset="-128"/>
              <a:ea typeface="メイリオ" panose="020B0604030504040204" pitchFamily="50" charset="-128"/>
            </a:endParaRPr>
          </a:p>
          <a:p>
            <a:pPr marL="285750" indent="-285750">
              <a:spcBef>
                <a:spcPct val="50000"/>
              </a:spcBef>
              <a:buClr>
                <a:srgbClr val="002060"/>
              </a:buClr>
              <a:buFont typeface="Arial" panose="020B0604020202020204" pitchFamily="34" charset="0"/>
              <a:buChar char="•"/>
            </a:pPr>
            <a:r>
              <a:rPr lang="ja-JP" altLang="en-US" sz="1200" dirty="0">
                <a:solidFill>
                  <a:srgbClr val="FF0000"/>
                </a:solidFill>
                <a:latin typeface="メイリオ" panose="020B0604030504040204" pitchFamily="50" charset="-128"/>
                <a:ea typeface="メイリオ" panose="020B0604030504040204" pitchFamily="50" charset="-128"/>
              </a:rPr>
              <a:t>営業代理店</a:t>
            </a:r>
            <a:br>
              <a:rPr lang="en-US" altLang="ja-JP" sz="1200" dirty="0">
                <a:solidFill>
                  <a:srgbClr val="FF0000"/>
                </a:solidFill>
                <a:latin typeface="メイリオ" panose="020B0604030504040204" pitchFamily="50" charset="-128"/>
                <a:ea typeface="メイリオ" panose="020B0604030504040204" pitchFamily="50" charset="-128"/>
              </a:rPr>
            </a:br>
            <a:r>
              <a:rPr lang="ja-JP" altLang="en-US" sz="1200" dirty="0">
                <a:solidFill>
                  <a:srgbClr val="FF0000"/>
                </a:solidFill>
                <a:latin typeface="メイリオ" panose="020B0604030504040204" pitchFamily="50" charset="-128"/>
                <a:ea typeface="メイリオ" panose="020B0604030504040204" pitchFamily="50" charset="-128"/>
              </a:rPr>
              <a:t>→製品サイトにマーケティングの問い合わせをいただく企業様からスタート</a:t>
            </a:r>
            <a:endParaRPr lang="en-US" altLang="ja-JP" sz="1200" dirty="0">
              <a:solidFill>
                <a:srgbClr val="FF0000"/>
              </a:solidFill>
              <a:latin typeface="メイリオ" panose="020B0604030504040204" pitchFamily="50" charset="-128"/>
              <a:ea typeface="メイリオ" panose="020B0604030504040204" pitchFamily="50" charset="-128"/>
            </a:endParaRPr>
          </a:p>
        </p:txBody>
      </p:sp>
      <p:sp>
        <p:nvSpPr>
          <p:cNvPr id="9" name="Google Shape;152;p7">
            <a:extLst>
              <a:ext uri="{FF2B5EF4-FFF2-40B4-BE49-F238E27FC236}">
                <a16:creationId xmlns:a16="http://schemas.microsoft.com/office/drawing/2014/main" id="{5DC62A3E-04E9-CCB2-B62D-7B6D4D36E2F0}"/>
              </a:ext>
            </a:extLst>
          </p:cNvPr>
          <p:cNvSpPr txBox="1">
            <a:spLocks noGrp="1"/>
          </p:cNvSpPr>
          <p:nvPr>
            <p:ph type="title"/>
          </p:nvPr>
        </p:nvSpPr>
        <p:spPr>
          <a:xfrm>
            <a:off x="835852" y="142852"/>
            <a:ext cx="8915400" cy="582594"/>
          </a:xfrm>
          <a:prstGeom prst="rect">
            <a:avLst/>
          </a:prstGeom>
          <a:noFill/>
          <a:ln>
            <a:noFill/>
          </a:ln>
        </p:spPr>
        <p:txBody>
          <a:bodyPr spcFirstLastPara="1" wrap="square" lIns="91425" tIns="45700" rIns="91425" bIns="45700" anchor="b" anchorCtr="0">
            <a:noAutofit/>
          </a:bodyPr>
          <a:lstStyle/>
          <a:p>
            <a:pPr lvl="0">
              <a:lnSpc>
                <a:spcPct val="130000"/>
              </a:lnSpc>
              <a:spcBef>
                <a:spcPts val="0"/>
              </a:spcBef>
              <a:spcAft>
                <a:spcPts val="0"/>
              </a:spcAft>
            </a:pPr>
            <a:r>
              <a:rPr lang="en-US" altLang="ja-JP" sz="2000" dirty="0"/>
              <a:t>1.</a:t>
            </a:r>
            <a:r>
              <a:rPr lang="ja-JP" altLang="en-US" sz="2000" dirty="0"/>
              <a:t>ＥＣサービス部の現状と今後の展開について</a:t>
            </a:r>
            <a:endParaRPr sz="2000" dirty="0">
              <a:solidFill>
                <a:srgbClr val="3F3F3F"/>
              </a:solidFill>
              <a:latin typeface="Meiryo"/>
              <a:ea typeface="Meiryo"/>
              <a:cs typeface="Meiryo"/>
              <a:sym typeface="Meiryo"/>
            </a:endParaRPr>
          </a:p>
        </p:txBody>
      </p:sp>
    </p:spTree>
    <p:extLst>
      <p:ext uri="{BB962C8B-B14F-4D97-AF65-F5344CB8AC3E}">
        <p14:creationId xmlns:p14="http://schemas.microsoft.com/office/powerpoint/2010/main" val="3386088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7F5B5964-C693-E8F5-A051-6FC84BFA291D}"/>
            </a:ext>
          </a:extLst>
        </p:cNvPr>
        <p:cNvGrpSpPr/>
        <p:nvPr/>
      </p:nvGrpSpPr>
      <p:grpSpPr>
        <a:xfrm>
          <a:off x="0" y="0"/>
          <a:ext cx="0" cy="0"/>
          <a:chOff x="0" y="0"/>
          <a:chExt cx="0" cy="0"/>
        </a:xfrm>
      </p:grpSpPr>
      <p:sp>
        <p:nvSpPr>
          <p:cNvPr id="152" name="Google Shape;152;p7">
            <a:extLst>
              <a:ext uri="{FF2B5EF4-FFF2-40B4-BE49-F238E27FC236}">
                <a16:creationId xmlns:a16="http://schemas.microsoft.com/office/drawing/2014/main" id="{C167004C-FBB2-4DDC-5FCC-786CDBA6ED8F}"/>
              </a:ext>
            </a:extLst>
          </p:cNvPr>
          <p:cNvSpPr txBox="1">
            <a:spLocks noGrp="1"/>
          </p:cNvSpPr>
          <p:nvPr>
            <p:ph type="title"/>
          </p:nvPr>
        </p:nvSpPr>
        <p:spPr>
          <a:xfrm>
            <a:off x="835852" y="142852"/>
            <a:ext cx="8915400" cy="582594"/>
          </a:xfrm>
          <a:prstGeom prst="rect">
            <a:avLst/>
          </a:prstGeom>
          <a:noFill/>
          <a:ln>
            <a:noFill/>
          </a:ln>
        </p:spPr>
        <p:txBody>
          <a:bodyPr spcFirstLastPara="1" wrap="square" lIns="91425" tIns="45700" rIns="91425" bIns="45700" anchor="b" anchorCtr="0">
            <a:noAutofit/>
          </a:bodyPr>
          <a:lstStyle/>
          <a:p>
            <a:pPr lvl="0">
              <a:lnSpc>
                <a:spcPct val="130000"/>
              </a:lnSpc>
              <a:spcBef>
                <a:spcPts val="0"/>
              </a:spcBef>
              <a:spcAft>
                <a:spcPts val="0"/>
              </a:spcAft>
            </a:pPr>
            <a:r>
              <a:rPr lang="en-US" altLang="ja-JP" sz="2000" dirty="0"/>
              <a:t>1.</a:t>
            </a:r>
            <a:r>
              <a:rPr lang="ja-JP" altLang="en-US" sz="2000" dirty="0"/>
              <a:t>ＥＣサービス部の現状と今後の展開について</a:t>
            </a:r>
            <a:endParaRPr sz="2000" dirty="0">
              <a:solidFill>
                <a:srgbClr val="3F3F3F"/>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E21B632F-1E9F-36C4-D3F8-E9E976649928}"/>
              </a:ext>
            </a:extLst>
          </p:cNvPr>
          <p:cNvSpPr txBox="1"/>
          <p:nvPr/>
        </p:nvSpPr>
        <p:spPr>
          <a:xfrm>
            <a:off x="269643" y="1069553"/>
            <a:ext cx="9280183" cy="3600986"/>
          </a:xfrm>
          <a:prstGeom prst="rect">
            <a:avLst/>
          </a:prstGeom>
          <a:noFill/>
        </p:spPr>
        <p:txBody>
          <a:bodyPr wrap="square" rtlCol="0">
            <a:spAutoFit/>
          </a:bodyPr>
          <a:lstStyle/>
          <a:p>
            <a:r>
              <a:rPr kumimoji="1" lang="ja-JP" altLang="en-US" b="1" dirty="0">
                <a:latin typeface="メイリオ" panose="020B0604030504040204" pitchFamily="50" charset="-128"/>
                <a:ea typeface="メイリオ" panose="020B0604030504040204" pitchFamily="50" charset="-128"/>
              </a:rPr>
              <a:t>■ マッチングサイト「</a:t>
            </a:r>
            <a:r>
              <a:rPr lang="en-US" altLang="ja-JP" b="1" dirty="0">
                <a:latin typeface="メイリオ" panose="020B0604030504040204" pitchFamily="50" charset="-128"/>
                <a:ea typeface="メイリオ" panose="020B0604030504040204" pitchFamily="50" charset="-128"/>
              </a:rPr>
              <a:t> IT</a:t>
            </a:r>
            <a:r>
              <a:rPr lang="ja-JP" altLang="en-US" b="1" dirty="0">
                <a:latin typeface="メイリオ" panose="020B0604030504040204" pitchFamily="50" charset="-128"/>
                <a:ea typeface="メイリオ" panose="020B0604030504040204" pitchFamily="50" charset="-128"/>
              </a:rPr>
              <a:t>トレンド</a:t>
            </a:r>
            <a:r>
              <a:rPr kumimoji="1" lang="ja-JP" altLang="en-US" b="1" dirty="0">
                <a:latin typeface="メイリオ" panose="020B0604030504040204" pitchFamily="50" charset="-128"/>
                <a:ea typeface="メイリオ" panose="020B0604030504040204" pitchFamily="50" charset="-128"/>
              </a:rPr>
              <a:t>」を利用してみて</a:t>
            </a:r>
            <a:endParaRPr lang="en-US" altLang="ja-JP" dirty="0">
              <a:latin typeface="メイリオ" panose="020B0604030504040204" pitchFamily="50" charset="-128"/>
              <a:ea typeface="メイリオ" panose="020B0604030504040204" pitchFamily="50" charset="-128"/>
            </a:endParaRPr>
          </a:p>
          <a:p>
            <a:pPr marL="285750" indent="-285750">
              <a:spcBef>
                <a:spcPts val="1200"/>
              </a:spcBef>
              <a:buFont typeface="Arial" panose="020B0604020202020204" pitchFamily="34" charset="0"/>
              <a:buChar char="•"/>
            </a:pPr>
            <a:r>
              <a:rPr lang="ja-JP" altLang="en-US" sz="1600" b="1" dirty="0">
                <a:latin typeface="メイリオ" panose="020B0604030504040204" pitchFamily="50" charset="-128"/>
                <a:ea typeface="メイリオ" panose="020B0604030504040204" pitchFamily="50" charset="-128"/>
              </a:rPr>
              <a:t>基本的な仕組みは</a:t>
            </a:r>
            <a:r>
              <a:rPr lang="en-US" altLang="ja-JP" sz="1600" b="1" dirty="0">
                <a:latin typeface="メイリオ" panose="020B0604030504040204" pitchFamily="50" charset="-128"/>
                <a:ea typeface="メイリオ" panose="020B0604030504040204" pitchFamily="50" charset="-128"/>
              </a:rPr>
              <a:t>IT</a:t>
            </a:r>
            <a:r>
              <a:rPr lang="ja-JP" altLang="en-US" sz="1600" b="1" dirty="0">
                <a:latin typeface="メイリオ" panose="020B0604030504040204" pitchFamily="50" charset="-128"/>
                <a:ea typeface="メイリオ" panose="020B0604030504040204" pitchFamily="50" charset="-128"/>
              </a:rPr>
              <a:t>トレンド社に登録した</a:t>
            </a:r>
            <a:r>
              <a:rPr lang="en-US" altLang="ja-JP" sz="1600" b="1" dirty="0">
                <a:latin typeface="メイリオ" panose="020B0604030504040204" pitchFamily="50" charset="-128"/>
                <a:ea typeface="メイリオ" panose="020B0604030504040204" pitchFamily="50" charset="-128"/>
              </a:rPr>
              <a:t>EC-RiderB2B</a:t>
            </a:r>
            <a:r>
              <a:rPr lang="ja-JP" altLang="en-US" sz="1600" b="1" dirty="0">
                <a:latin typeface="メイリオ" panose="020B0604030504040204" pitchFamily="50" charset="-128"/>
                <a:ea typeface="メイリオ" panose="020B0604030504040204" pitchFamily="50" charset="-128"/>
              </a:rPr>
              <a:t>の情報に興味を持ったお客様が資料をダウンロードすると</a:t>
            </a:r>
            <a:r>
              <a:rPr lang="en-US" altLang="ja-JP" sz="1600" b="1" dirty="0">
                <a:latin typeface="メイリオ" panose="020B0604030504040204" pitchFamily="50" charset="-128"/>
                <a:ea typeface="メイリオ" panose="020B0604030504040204" pitchFamily="50" charset="-128"/>
              </a:rPr>
              <a:t>IT</a:t>
            </a:r>
            <a:r>
              <a:rPr lang="ja-JP" altLang="en-US" sz="1600" b="1" dirty="0">
                <a:latin typeface="メイリオ" panose="020B0604030504040204" pitchFamily="50" charset="-128"/>
                <a:ea typeface="メイリオ" panose="020B0604030504040204" pitchFamily="50" charset="-128"/>
              </a:rPr>
              <a:t>トレンド社から連絡が入り、リードとなる。（月</a:t>
            </a:r>
            <a:r>
              <a:rPr lang="en-US" altLang="ja-JP" sz="1600" b="1" dirty="0">
                <a:latin typeface="メイリオ" panose="020B0604030504040204" pitchFamily="50" charset="-128"/>
                <a:ea typeface="メイリオ" panose="020B0604030504040204" pitchFamily="50" charset="-128"/>
              </a:rPr>
              <a:t>10</a:t>
            </a:r>
            <a:r>
              <a:rPr lang="ja-JP" altLang="en-US" sz="1600" b="1" dirty="0">
                <a:latin typeface="メイリオ" panose="020B0604030504040204" pitchFamily="50" charset="-128"/>
                <a:ea typeface="メイリオ" panose="020B0604030504040204" pitchFamily="50" charset="-128"/>
              </a:rPr>
              <a:t>件まで）</a:t>
            </a:r>
            <a:endParaRPr lang="en-US" altLang="ja-JP" sz="1600" b="1" dirty="0">
              <a:latin typeface="メイリオ" panose="020B0604030504040204" pitchFamily="50" charset="-128"/>
              <a:ea typeface="メイリオ" panose="020B0604030504040204" pitchFamily="50" charset="-128"/>
            </a:endParaRPr>
          </a:p>
          <a:p>
            <a:pPr marL="285750" indent="-285750">
              <a:spcBef>
                <a:spcPct val="50000"/>
              </a:spcBef>
              <a:buClr>
                <a:srgbClr val="002060"/>
              </a:buClr>
              <a:buFont typeface="Arial" panose="020B0604020202020204" pitchFamily="34" charset="0"/>
              <a:buChar char="•"/>
            </a:pPr>
            <a:r>
              <a:rPr lang="en-US" altLang="ja-JP" sz="1600" b="1" dirty="0">
                <a:latin typeface="メイリオ" panose="020B0604030504040204" pitchFamily="50" charset="-128"/>
                <a:ea typeface="メイリオ" panose="020B0604030504040204" pitchFamily="50" charset="-128"/>
              </a:rPr>
              <a:t>10</a:t>
            </a:r>
            <a:r>
              <a:rPr lang="ja-JP" altLang="en-US" sz="1600" b="1" dirty="0">
                <a:latin typeface="メイリオ" panose="020B0604030504040204" pitchFamily="50" charset="-128"/>
                <a:ea typeface="メイリオ" panose="020B0604030504040204" pitchFamily="50" charset="-128"/>
              </a:rPr>
              <a:t>件の平均的な進捗内訳は以下の通り</a:t>
            </a:r>
            <a:endParaRPr lang="en-US" altLang="ja-JP" sz="1600" dirty="0">
              <a:latin typeface="メイリオ" panose="020B0604030504040204" pitchFamily="50" charset="-128"/>
              <a:ea typeface="メイリオ" panose="020B0604030504040204" pitchFamily="50" charset="-128"/>
            </a:endParaRPr>
          </a:p>
          <a:p>
            <a:pPr lvl="1">
              <a:spcBef>
                <a:spcPct val="50000"/>
              </a:spcBef>
              <a:buClr>
                <a:srgbClr val="002060"/>
              </a:buClr>
            </a:pPr>
            <a:r>
              <a:rPr lang="ja-JP" altLang="en-US" sz="1600" dirty="0">
                <a:latin typeface="メイリオ" panose="020B0604030504040204" pitchFamily="50" charset="-128"/>
                <a:ea typeface="メイリオ" panose="020B0604030504040204" pitchFamily="50" charset="-128"/>
              </a:rPr>
              <a:t>→</a:t>
            </a:r>
            <a:r>
              <a:rPr lang="en-US" altLang="ja-JP" sz="1600" dirty="0">
                <a:latin typeface="メイリオ" panose="020B0604030504040204" pitchFamily="50" charset="-128"/>
                <a:ea typeface="メイリオ" panose="020B0604030504040204" pitchFamily="50" charset="-128"/>
              </a:rPr>
              <a:t>80%</a:t>
            </a:r>
            <a:r>
              <a:rPr lang="ja-JP" altLang="en-US" sz="1600" dirty="0">
                <a:latin typeface="メイリオ" panose="020B0604030504040204" pitchFamily="50" charset="-128"/>
                <a:ea typeface="メイリオ" panose="020B0604030504040204" pitchFamily="50" charset="-128"/>
              </a:rPr>
              <a:t>：情報収集中等の検討材料の一つで、連絡してもリターンがない</a:t>
            </a:r>
            <a:endParaRPr lang="en-US" altLang="ja-JP" sz="1600" dirty="0">
              <a:latin typeface="メイリオ" panose="020B0604030504040204" pitchFamily="50" charset="-128"/>
              <a:ea typeface="メイリオ" panose="020B0604030504040204" pitchFamily="50" charset="-128"/>
            </a:endParaRPr>
          </a:p>
          <a:p>
            <a:pPr lvl="1">
              <a:spcBef>
                <a:spcPct val="50000"/>
              </a:spcBef>
              <a:buClr>
                <a:srgbClr val="002060"/>
              </a:buClr>
            </a:pPr>
            <a:r>
              <a:rPr lang="ja-JP" altLang="en-US" sz="1600" dirty="0">
                <a:latin typeface="メイリオ" panose="020B0604030504040204" pitchFamily="50" charset="-128"/>
                <a:ea typeface="メイリオ" panose="020B0604030504040204" pitchFamily="50" charset="-128"/>
              </a:rPr>
              <a:t>→</a:t>
            </a:r>
            <a:r>
              <a:rPr lang="en-US" altLang="ja-JP" sz="1600" dirty="0">
                <a:latin typeface="メイリオ" panose="020B0604030504040204" pitchFamily="50" charset="-128"/>
                <a:ea typeface="メイリオ" panose="020B0604030504040204" pitchFamily="50" charset="-128"/>
              </a:rPr>
              <a:t>10%</a:t>
            </a:r>
            <a:r>
              <a:rPr lang="ja-JP" altLang="en-US" sz="1600" dirty="0">
                <a:latin typeface="メイリオ" panose="020B0604030504040204" pitchFamily="50" charset="-128"/>
                <a:ea typeface="メイリオ" panose="020B0604030504040204" pitchFamily="50" charset="-128"/>
              </a:rPr>
              <a:t>：連絡は取れるが、提案には至らず</a:t>
            </a:r>
            <a:endParaRPr lang="en-US" altLang="ja-JP" sz="1600" dirty="0">
              <a:latin typeface="メイリオ" panose="020B0604030504040204" pitchFamily="50" charset="-128"/>
              <a:ea typeface="メイリオ" panose="020B0604030504040204" pitchFamily="50" charset="-128"/>
            </a:endParaRPr>
          </a:p>
          <a:p>
            <a:pPr lvl="1">
              <a:spcBef>
                <a:spcPct val="50000"/>
              </a:spcBef>
              <a:buClr>
                <a:srgbClr val="002060"/>
              </a:buClr>
            </a:pPr>
            <a:r>
              <a:rPr lang="ja-JP" altLang="en-US" sz="1600" dirty="0">
                <a:latin typeface="メイリオ" panose="020B0604030504040204" pitchFamily="50" charset="-128"/>
                <a:ea typeface="メイリオ" panose="020B0604030504040204" pitchFamily="50" charset="-128"/>
              </a:rPr>
              <a:t>→</a:t>
            </a:r>
            <a:r>
              <a:rPr lang="en-US" altLang="ja-JP" sz="1600" dirty="0">
                <a:latin typeface="メイリオ" panose="020B0604030504040204" pitchFamily="50" charset="-128"/>
                <a:ea typeface="メイリオ" panose="020B0604030504040204" pitchFamily="50" charset="-128"/>
              </a:rPr>
              <a:t>10%</a:t>
            </a:r>
            <a:r>
              <a:rPr lang="ja-JP" altLang="en-US" sz="1600" dirty="0">
                <a:latin typeface="メイリオ" panose="020B0604030504040204" pitchFamily="50" charset="-128"/>
                <a:ea typeface="メイリオ" panose="020B0604030504040204" pitchFamily="50" charset="-128"/>
              </a:rPr>
              <a:t>：連絡が取れ、提案に進む</a:t>
            </a:r>
            <a:endParaRPr lang="en-US" altLang="ja-JP" sz="1600" dirty="0">
              <a:latin typeface="メイリオ" panose="020B0604030504040204" pitchFamily="50" charset="-128"/>
              <a:ea typeface="メイリオ" panose="020B0604030504040204" pitchFamily="50" charset="-128"/>
            </a:endParaRPr>
          </a:p>
          <a:p>
            <a:pPr marL="285750" indent="-285750">
              <a:spcBef>
                <a:spcPct val="50000"/>
              </a:spcBef>
              <a:buClr>
                <a:srgbClr val="002060"/>
              </a:buClr>
              <a:buFont typeface="Arial" panose="020B0604020202020204" pitchFamily="34" charset="0"/>
              <a:buChar char="•"/>
            </a:pPr>
            <a:r>
              <a:rPr lang="en-US" altLang="ja-JP" sz="1600" b="1" dirty="0">
                <a:latin typeface="メイリオ" panose="020B0604030504040204" pitchFamily="50" charset="-128"/>
                <a:ea typeface="メイリオ" panose="020B0604030504040204" pitchFamily="50" charset="-128"/>
              </a:rPr>
              <a:t>10</a:t>
            </a:r>
            <a:r>
              <a:rPr lang="ja-JP" altLang="en-US" sz="1600" b="1" dirty="0">
                <a:latin typeface="メイリオ" panose="020B0604030504040204" pitchFamily="50" charset="-128"/>
                <a:ea typeface="メイリオ" panose="020B0604030504040204" pitchFamily="50" charset="-128"/>
              </a:rPr>
              <a:t>件の平均的な企業規模は以下の通り</a:t>
            </a:r>
            <a:endParaRPr lang="en-US" altLang="ja-JP" sz="1600" dirty="0">
              <a:latin typeface="メイリオ" panose="020B0604030504040204" pitchFamily="50" charset="-128"/>
              <a:ea typeface="メイリオ" panose="020B0604030504040204" pitchFamily="50" charset="-128"/>
            </a:endParaRPr>
          </a:p>
          <a:p>
            <a:pPr lvl="1">
              <a:spcBef>
                <a:spcPct val="50000"/>
              </a:spcBef>
              <a:buClr>
                <a:srgbClr val="002060"/>
              </a:buClr>
            </a:pPr>
            <a:r>
              <a:rPr lang="ja-JP" altLang="en-US" sz="1600" dirty="0">
                <a:latin typeface="メイリオ" panose="020B0604030504040204" pitchFamily="50" charset="-128"/>
                <a:ea typeface="メイリオ" panose="020B0604030504040204" pitchFamily="50" charset="-128"/>
              </a:rPr>
              <a:t>→</a:t>
            </a:r>
            <a:r>
              <a:rPr lang="en-US" altLang="ja-JP" sz="1600" dirty="0">
                <a:latin typeface="メイリオ" panose="020B0604030504040204" pitchFamily="50" charset="-128"/>
                <a:ea typeface="メイリオ" panose="020B0604030504040204" pitchFamily="50" charset="-128"/>
              </a:rPr>
              <a:t>90%</a:t>
            </a:r>
            <a:r>
              <a:rPr lang="ja-JP" altLang="en-US" sz="1600" dirty="0">
                <a:latin typeface="メイリオ" panose="020B0604030504040204" pitchFamily="50" charset="-128"/>
                <a:ea typeface="メイリオ" panose="020B0604030504040204" pitchFamily="50" charset="-128"/>
              </a:rPr>
              <a:t>：中小、零細</a:t>
            </a:r>
            <a:endParaRPr lang="en-US" altLang="ja-JP" sz="1600" dirty="0">
              <a:latin typeface="メイリオ" panose="020B0604030504040204" pitchFamily="50" charset="-128"/>
              <a:ea typeface="メイリオ" panose="020B0604030504040204" pitchFamily="50" charset="-128"/>
            </a:endParaRPr>
          </a:p>
          <a:p>
            <a:pPr lvl="1">
              <a:spcBef>
                <a:spcPct val="50000"/>
              </a:spcBef>
              <a:buClr>
                <a:srgbClr val="002060"/>
              </a:buClr>
            </a:pPr>
            <a:r>
              <a:rPr lang="ja-JP" altLang="en-US" sz="1600" dirty="0">
                <a:latin typeface="メイリオ" panose="020B0604030504040204" pitchFamily="50" charset="-128"/>
                <a:ea typeface="メイリオ" panose="020B0604030504040204" pitchFamily="50" charset="-128"/>
              </a:rPr>
              <a:t>→</a:t>
            </a:r>
            <a:r>
              <a:rPr lang="en-US" altLang="ja-JP" sz="1600" dirty="0">
                <a:latin typeface="メイリオ" panose="020B0604030504040204" pitchFamily="50" charset="-128"/>
                <a:ea typeface="メイリオ" panose="020B0604030504040204" pitchFamily="50" charset="-128"/>
              </a:rPr>
              <a:t>10%</a:t>
            </a:r>
            <a:r>
              <a:rPr lang="ja-JP" altLang="en-US" sz="1600" dirty="0">
                <a:latin typeface="メイリオ" panose="020B0604030504040204" pitchFamily="50" charset="-128"/>
                <a:ea typeface="メイリオ" panose="020B0604030504040204" pitchFamily="50" charset="-128"/>
              </a:rPr>
              <a:t>：</a:t>
            </a:r>
            <a:r>
              <a:rPr lang="en-US" altLang="ja-JP" sz="1600" dirty="0">
                <a:latin typeface="メイリオ" panose="020B0604030504040204" pitchFamily="50" charset="-128"/>
                <a:ea typeface="メイリオ" panose="020B0604030504040204" pitchFamily="50" charset="-128"/>
              </a:rPr>
              <a:t>100</a:t>
            </a:r>
            <a:r>
              <a:rPr lang="ja-JP" altLang="en-US" sz="1600" dirty="0">
                <a:latin typeface="メイリオ" panose="020B0604030504040204" pitchFamily="50" charset="-128"/>
                <a:ea typeface="メイリオ" panose="020B0604030504040204" pitchFamily="50" charset="-128"/>
              </a:rPr>
              <a:t>名以上であったり、ある程度、名のある企業</a:t>
            </a:r>
            <a:endParaRPr lang="en-US" altLang="ja-JP" sz="16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541604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773C1D5F-8428-2320-EFCC-8D4B9A40187E}"/>
            </a:ext>
          </a:extLst>
        </p:cNvPr>
        <p:cNvGrpSpPr/>
        <p:nvPr/>
      </p:nvGrpSpPr>
      <p:grpSpPr>
        <a:xfrm>
          <a:off x="0" y="0"/>
          <a:ext cx="0" cy="0"/>
          <a:chOff x="0" y="0"/>
          <a:chExt cx="0" cy="0"/>
        </a:xfrm>
      </p:grpSpPr>
      <p:sp>
        <p:nvSpPr>
          <p:cNvPr id="152" name="Google Shape;152;p7">
            <a:extLst>
              <a:ext uri="{FF2B5EF4-FFF2-40B4-BE49-F238E27FC236}">
                <a16:creationId xmlns:a16="http://schemas.microsoft.com/office/drawing/2014/main" id="{D267498E-F2F7-BC53-91D5-E2C54486DB27}"/>
              </a:ext>
            </a:extLst>
          </p:cNvPr>
          <p:cNvSpPr txBox="1">
            <a:spLocks noGrp="1"/>
          </p:cNvSpPr>
          <p:nvPr>
            <p:ph type="title"/>
          </p:nvPr>
        </p:nvSpPr>
        <p:spPr>
          <a:xfrm>
            <a:off x="835852" y="142852"/>
            <a:ext cx="8915400" cy="582594"/>
          </a:xfrm>
          <a:prstGeom prst="rect">
            <a:avLst/>
          </a:prstGeom>
          <a:noFill/>
          <a:ln>
            <a:noFill/>
          </a:ln>
        </p:spPr>
        <p:txBody>
          <a:bodyPr spcFirstLastPara="1" wrap="square" lIns="91425" tIns="45700" rIns="91425" bIns="45700" anchor="b" anchorCtr="0">
            <a:noAutofit/>
          </a:bodyPr>
          <a:lstStyle/>
          <a:p>
            <a:pPr lvl="0">
              <a:lnSpc>
                <a:spcPct val="130000"/>
              </a:lnSpc>
              <a:spcBef>
                <a:spcPts val="0"/>
              </a:spcBef>
              <a:spcAft>
                <a:spcPts val="0"/>
              </a:spcAft>
            </a:pPr>
            <a:r>
              <a:rPr lang="en-US" altLang="ja-JP" sz="2000" dirty="0"/>
              <a:t>1.</a:t>
            </a:r>
            <a:r>
              <a:rPr lang="ja-JP" altLang="en-US" sz="2000" dirty="0"/>
              <a:t>ＥＣサービス部の現状と今後の展開について</a:t>
            </a:r>
            <a:endParaRPr sz="2000" dirty="0">
              <a:solidFill>
                <a:srgbClr val="3F3F3F"/>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8DEFFC58-0136-7D0E-3894-87D37245BD03}"/>
              </a:ext>
            </a:extLst>
          </p:cNvPr>
          <p:cNvSpPr txBox="1"/>
          <p:nvPr/>
        </p:nvSpPr>
        <p:spPr>
          <a:xfrm>
            <a:off x="269643" y="1069553"/>
            <a:ext cx="9280183" cy="1969770"/>
          </a:xfrm>
          <a:prstGeom prst="rect">
            <a:avLst/>
          </a:prstGeom>
          <a:noFill/>
        </p:spPr>
        <p:txBody>
          <a:bodyPr wrap="square" rtlCol="0">
            <a:spAutoFit/>
          </a:bodyPr>
          <a:lstStyle/>
          <a:p>
            <a:r>
              <a:rPr kumimoji="1" lang="ja-JP" altLang="en-US" b="1" dirty="0">
                <a:latin typeface="メイリオ" panose="020B0604030504040204" pitchFamily="50" charset="-128"/>
                <a:ea typeface="メイリオ" panose="020B0604030504040204" pitchFamily="50" charset="-128"/>
              </a:rPr>
              <a:t>■ </a:t>
            </a:r>
            <a:r>
              <a:rPr lang="ja-JP" altLang="en-US" b="1" dirty="0">
                <a:latin typeface="メイリオ" panose="020B0604030504040204" pitchFamily="50" charset="-128"/>
                <a:ea typeface="メイリオ" panose="020B0604030504040204" pitchFamily="50" charset="-128"/>
              </a:rPr>
              <a:t>結果からわかること</a:t>
            </a:r>
            <a:endParaRPr lang="en-US" altLang="ja-JP" dirty="0">
              <a:latin typeface="メイリオ" panose="020B0604030504040204" pitchFamily="50" charset="-128"/>
              <a:ea typeface="メイリオ" panose="020B0604030504040204" pitchFamily="50" charset="-128"/>
            </a:endParaRPr>
          </a:p>
          <a:p>
            <a:pPr marL="285750" indent="-285750">
              <a:spcBef>
                <a:spcPct val="50000"/>
              </a:spcBef>
              <a:buClr>
                <a:srgbClr val="002060"/>
              </a:buClr>
              <a:buFont typeface="Arial" panose="020B0604020202020204" pitchFamily="34" charset="0"/>
              <a:buChar char="•"/>
            </a:pPr>
            <a:r>
              <a:rPr lang="en-US" altLang="ja-JP" sz="1600" b="1" dirty="0">
                <a:latin typeface="メイリオ" panose="020B0604030504040204" pitchFamily="50" charset="-128"/>
                <a:ea typeface="メイリオ" panose="020B0604030504040204" pitchFamily="50" charset="-128"/>
              </a:rPr>
              <a:t>EC-RiderB2B</a:t>
            </a:r>
            <a:r>
              <a:rPr lang="ja-JP" altLang="en-US" sz="1600" b="1" dirty="0">
                <a:latin typeface="メイリオ" panose="020B0604030504040204" pitchFamily="50" charset="-128"/>
                <a:ea typeface="メイリオ" panose="020B0604030504040204" pitchFamily="50" charset="-128"/>
              </a:rPr>
              <a:t>の基本プランの</a:t>
            </a:r>
            <a:r>
              <a:rPr lang="en-US" altLang="ja-JP" sz="1600" b="1" dirty="0">
                <a:latin typeface="メイリオ" panose="020B0604030504040204" pitchFamily="50" charset="-128"/>
                <a:ea typeface="メイリオ" panose="020B0604030504040204" pitchFamily="50" charset="-128"/>
              </a:rPr>
              <a:t>17</a:t>
            </a:r>
            <a:r>
              <a:rPr lang="ja-JP" altLang="en-US" sz="1600" b="1" dirty="0">
                <a:latin typeface="メイリオ" panose="020B0604030504040204" pitchFamily="50" charset="-128"/>
                <a:ea typeface="メイリオ" panose="020B0604030504040204" pitchFamily="50" charset="-128"/>
              </a:rPr>
              <a:t>万円</a:t>
            </a:r>
            <a:r>
              <a:rPr lang="en-US" altLang="ja-JP" sz="1600" b="1" dirty="0">
                <a:latin typeface="メイリオ" panose="020B0604030504040204" pitchFamily="50" charset="-128"/>
                <a:ea typeface="メイリオ" panose="020B0604030504040204" pitchFamily="50" charset="-128"/>
              </a:rPr>
              <a:t>+</a:t>
            </a:r>
            <a:r>
              <a:rPr lang="ja-JP" altLang="en-US" sz="1600" b="1" dirty="0">
                <a:latin typeface="メイリオ" panose="020B0604030504040204" pitchFamily="50" charset="-128"/>
                <a:ea typeface="メイリオ" panose="020B0604030504040204" pitchFamily="50" charset="-128"/>
              </a:rPr>
              <a:t>サポート保守</a:t>
            </a:r>
            <a:r>
              <a:rPr lang="en-US" altLang="ja-JP" sz="1600" b="1" dirty="0">
                <a:latin typeface="メイリオ" panose="020B0604030504040204" pitchFamily="50" charset="-128"/>
                <a:ea typeface="メイリオ" panose="020B0604030504040204" pitchFamily="50" charset="-128"/>
              </a:rPr>
              <a:t>10</a:t>
            </a:r>
            <a:r>
              <a:rPr lang="ja-JP" altLang="en-US" sz="1600" b="1" dirty="0">
                <a:latin typeface="メイリオ" panose="020B0604030504040204" pitchFamily="50" charset="-128"/>
                <a:ea typeface="メイリオ" panose="020B0604030504040204" pitchFamily="50" charset="-128"/>
              </a:rPr>
              <a:t>万円の計</a:t>
            </a:r>
            <a:r>
              <a:rPr lang="en-US" altLang="ja-JP" sz="1600" b="1" dirty="0">
                <a:latin typeface="メイリオ" panose="020B0604030504040204" pitchFamily="50" charset="-128"/>
                <a:ea typeface="メイリオ" panose="020B0604030504040204" pitchFamily="50" charset="-128"/>
              </a:rPr>
              <a:t>27</a:t>
            </a:r>
            <a:r>
              <a:rPr lang="ja-JP" altLang="en-US" sz="1600" b="1" dirty="0">
                <a:latin typeface="メイリオ" panose="020B0604030504040204" pitchFamily="50" charset="-128"/>
                <a:ea typeface="メイリオ" panose="020B0604030504040204" pitchFamily="50" charset="-128"/>
              </a:rPr>
              <a:t>万円を捻出することが困難であると想定される企業からのリードが</a:t>
            </a:r>
            <a:r>
              <a:rPr lang="en-US" altLang="ja-JP" sz="1600" b="1" dirty="0">
                <a:latin typeface="メイリオ" panose="020B0604030504040204" pitchFamily="50" charset="-128"/>
                <a:ea typeface="メイリオ" panose="020B0604030504040204" pitchFamily="50" charset="-128"/>
              </a:rPr>
              <a:t>90%</a:t>
            </a:r>
            <a:endParaRPr lang="en-US" altLang="ja-JP" sz="1600" dirty="0">
              <a:latin typeface="メイリオ" panose="020B0604030504040204" pitchFamily="50" charset="-128"/>
              <a:ea typeface="メイリオ" panose="020B0604030504040204" pitchFamily="50" charset="-128"/>
            </a:endParaRPr>
          </a:p>
          <a:p>
            <a:pPr lvl="1">
              <a:spcBef>
                <a:spcPct val="50000"/>
              </a:spcBef>
              <a:buClr>
                <a:srgbClr val="002060"/>
              </a:buClr>
            </a:pPr>
            <a:r>
              <a:rPr lang="ja-JP" altLang="en-US" sz="1600" dirty="0">
                <a:latin typeface="メイリオ" panose="020B0604030504040204" pitchFamily="50" charset="-128"/>
                <a:ea typeface="メイリオ" panose="020B0604030504040204" pitchFamily="50" charset="-128"/>
              </a:rPr>
              <a:t>→ここを案件化できるようにしていきたい。</a:t>
            </a:r>
            <a:endParaRPr lang="en-US" altLang="ja-JP" sz="1600" dirty="0">
              <a:latin typeface="メイリオ" panose="020B0604030504040204" pitchFamily="50" charset="-128"/>
              <a:ea typeface="メイリオ" panose="020B0604030504040204" pitchFamily="50" charset="-128"/>
            </a:endParaRPr>
          </a:p>
          <a:p>
            <a:pPr lvl="1">
              <a:spcBef>
                <a:spcPct val="50000"/>
              </a:spcBef>
              <a:buClr>
                <a:srgbClr val="002060"/>
              </a:buClr>
            </a:pPr>
            <a:r>
              <a:rPr lang="ja-JP" altLang="en-US" sz="1600" dirty="0">
                <a:latin typeface="メイリオ" panose="020B0604030504040204" pitchFamily="50" charset="-128"/>
                <a:ea typeface="メイリオ" panose="020B0604030504040204" pitchFamily="50" charset="-128"/>
              </a:rPr>
              <a:t>→値段を抑える代わりに</a:t>
            </a:r>
            <a:r>
              <a:rPr lang="en-US" altLang="ja-JP" sz="1600" dirty="0">
                <a:solidFill>
                  <a:srgbClr val="FF0000"/>
                </a:solidFill>
                <a:latin typeface="メイリオ" panose="020B0604030504040204" pitchFamily="50" charset="-128"/>
                <a:ea typeface="メイリオ" panose="020B0604030504040204" pitchFamily="50" charset="-128"/>
              </a:rPr>
              <a:t>EC-RiderB2B</a:t>
            </a:r>
            <a:r>
              <a:rPr lang="ja-JP" altLang="en-US" sz="1600" dirty="0">
                <a:solidFill>
                  <a:srgbClr val="FF0000"/>
                </a:solidFill>
                <a:latin typeface="メイリオ" panose="020B0604030504040204" pitchFamily="50" charset="-128"/>
                <a:ea typeface="メイリオ" panose="020B0604030504040204" pitchFamily="50" charset="-128"/>
              </a:rPr>
              <a:t>の仕様に運用を合わせてもらうカートシステムを</a:t>
            </a:r>
            <a:r>
              <a:rPr lang="en-US" altLang="ja-JP" sz="1600" dirty="0">
                <a:solidFill>
                  <a:srgbClr val="FF0000"/>
                </a:solidFill>
                <a:latin typeface="メイリオ" panose="020B0604030504040204" pitchFamily="50" charset="-128"/>
                <a:ea typeface="メイリオ" panose="020B0604030504040204" pitchFamily="50" charset="-128"/>
              </a:rPr>
              <a:t>EC-Rider</a:t>
            </a:r>
            <a:r>
              <a:rPr lang="ja-JP" altLang="en-US" sz="1600" dirty="0">
                <a:solidFill>
                  <a:srgbClr val="FF0000"/>
                </a:solidFill>
                <a:latin typeface="メイリオ" panose="020B0604030504040204" pitchFamily="50" charset="-128"/>
                <a:ea typeface="メイリオ" panose="020B0604030504040204" pitchFamily="50" charset="-128"/>
              </a:rPr>
              <a:t>のサブブランドとしてリリース</a:t>
            </a:r>
            <a:r>
              <a:rPr lang="ja-JP" altLang="en-US" sz="1600" dirty="0">
                <a:latin typeface="メイリオ" panose="020B0604030504040204" pitchFamily="50" charset="-128"/>
                <a:ea typeface="メイリオ" panose="020B0604030504040204" pitchFamily="50" charset="-128"/>
              </a:rPr>
              <a:t>する。</a:t>
            </a:r>
            <a:r>
              <a:rPr lang="ja-JP" altLang="en-US" sz="1600" dirty="0">
                <a:solidFill>
                  <a:srgbClr val="FF0000"/>
                </a:solidFill>
                <a:latin typeface="メイリオ" panose="020B0604030504040204" pitchFamily="50" charset="-128"/>
                <a:ea typeface="メイリオ" panose="020B0604030504040204" pitchFamily="50" charset="-128"/>
              </a:rPr>
              <a:t>新カートシステムのベースは</a:t>
            </a:r>
            <a:r>
              <a:rPr lang="en-US" altLang="ja-JP" sz="1600" dirty="0">
                <a:solidFill>
                  <a:srgbClr val="FF0000"/>
                </a:solidFill>
                <a:latin typeface="メイリオ" panose="020B0604030504040204" pitchFamily="50" charset="-128"/>
                <a:ea typeface="メイリオ" panose="020B0604030504040204" pitchFamily="50" charset="-128"/>
              </a:rPr>
              <a:t>EC-RiderB2B</a:t>
            </a:r>
          </a:p>
        </p:txBody>
      </p:sp>
      <p:graphicFrame>
        <p:nvGraphicFramePr>
          <p:cNvPr id="3" name="Group 92">
            <a:extLst>
              <a:ext uri="{FF2B5EF4-FFF2-40B4-BE49-F238E27FC236}">
                <a16:creationId xmlns:a16="http://schemas.microsoft.com/office/drawing/2014/main" id="{7925A78B-42EE-737C-5790-2AB8926D131A}"/>
              </a:ext>
            </a:extLst>
          </p:cNvPr>
          <p:cNvGraphicFramePr>
            <a:graphicFrameLocks noGrp="1"/>
          </p:cNvGraphicFramePr>
          <p:nvPr/>
        </p:nvGraphicFramePr>
        <p:xfrm>
          <a:off x="281058" y="3096718"/>
          <a:ext cx="9268768" cy="3140591"/>
        </p:xfrm>
        <a:graphic>
          <a:graphicData uri="http://schemas.openxmlformats.org/drawingml/2006/table">
            <a:tbl>
              <a:tblPr/>
              <a:tblGrid>
                <a:gridCol w="1935638">
                  <a:extLst>
                    <a:ext uri="{9D8B030D-6E8A-4147-A177-3AD203B41FA5}">
                      <a16:colId xmlns:a16="http://schemas.microsoft.com/office/drawing/2014/main" val="20000"/>
                    </a:ext>
                  </a:extLst>
                </a:gridCol>
                <a:gridCol w="3666565">
                  <a:extLst>
                    <a:ext uri="{9D8B030D-6E8A-4147-A177-3AD203B41FA5}">
                      <a16:colId xmlns:a16="http://schemas.microsoft.com/office/drawing/2014/main" val="1499496574"/>
                    </a:ext>
                  </a:extLst>
                </a:gridCol>
                <a:gridCol w="3666565">
                  <a:extLst>
                    <a:ext uri="{9D8B030D-6E8A-4147-A177-3AD203B41FA5}">
                      <a16:colId xmlns:a16="http://schemas.microsoft.com/office/drawing/2014/main" val="20002"/>
                    </a:ext>
                  </a:extLst>
                </a:gridCol>
              </a:tblGrid>
              <a:tr h="532715">
                <a:tc>
                  <a:txBody>
                    <a:bodyPr/>
                    <a:lstStyle>
                      <a:lvl1pPr>
                        <a:spcBef>
                          <a:spcPct val="20000"/>
                        </a:spcBef>
                        <a:buFont typeface="Wingdings" panose="05000000000000000000" pitchFamily="2" charset="2"/>
                        <a:defRPr kumimoji="1" sz="2400">
                          <a:solidFill>
                            <a:srgbClr val="595959"/>
                          </a:solidFill>
                          <a:latin typeface="メイリオ" panose="020B0604030504040204" pitchFamily="50" charset="-128"/>
                          <a:ea typeface="メイリオ" panose="020B0604030504040204" pitchFamily="50" charset="-128"/>
                        </a:defRPr>
                      </a:lvl1pPr>
                      <a:lvl2pPr marL="742950" indent="-285750">
                        <a:spcBef>
                          <a:spcPct val="20000"/>
                        </a:spcBef>
                        <a:buFont typeface="Wingdings" panose="05000000000000000000" pitchFamily="2" charset="2"/>
                        <a:defRPr kumimoji="1" sz="2000">
                          <a:solidFill>
                            <a:srgbClr val="595959"/>
                          </a:solidFill>
                          <a:latin typeface="メイリオ" panose="020B0604030504040204" pitchFamily="50" charset="-128"/>
                          <a:ea typeface="メイリオ" panose="020B0604030504040204" pitchFamily="50" charset="-128"/>
                        </a:defRPr>
                      </a:lvl2pPr>
                      <a:lvl3pPr marL="1143000" indent="-228600">
                        <a:spcBef>
                          <a:spcPct val="20000"/>
                        </a:spcBef>
                        <a:buFont typeface="Wingdings" panose="05000000000000000000" pitchFamily="2" charset="2"/>
                        <a:defRPr kumimoji="1">
                          <a:solidFill>
                            <a:srgbClr val="595959"/>
                          </a:solidFill>
                          <a:latin typeface="メイリオ" panose="020B0604030504040204" pitchFamily="50" charset="-128"/>
                          <a:ea typeface="メイリオ" panose="020B0604030504040204" pitchFamily="50" charset="-128"/>
                        </a:defRPr>
                      </a:lvl3pPr>
                      <a:lvl4pPr marL="1600200" indent="-228600">
                        <a:spcBef>
                          <a:spcPct val="20000"/>
                        </a:spcBef>
                        <a:buFont typeface="Wingdings" panose="05000000000000000000" pitchFamily="2" charset="2"/>
                        <a:defRPr kumimoji="1" sz="1600">
                          <a:solidFill>
                            <a:srgbClr val="595959"/>
                          </a:solidFill>
                          <a:latin typeface="メイリオ" panose="020B0604030504040204" pitchFamily="50" charset="-128"/>
                          <a:ea typeface="メイリオ" panose="020B0604030504040204" pitchFamily="50" charset="-128"/>
                        </a:defRPr>
                      </a:lvl4pPr>
                      <a:lvl5pPr marL="2057400" indent="-228600">
                        <a:spcBef>
                          <a:spcPct val="20000"/>
                        </a:spcBef>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5pPr>
                      <a:lvl6pPr marL="25146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6pPr>
                      <a:lvl7pPr marL="29718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7pPr>
                      <a:lvl8pPr marL="34290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8pPr>
                      <a:lvl9pPr marL="38862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9pPr>
                    </a:lstStyle>
                    <a:p>
                      <a:pPr marL="0" marR="0" lvl="0" indent="0" algn="ctr" defTabSz="914400" rtl="0" eaLnBrk="1" fontAlgn="ctr" latinLnBrk="0" hangingPunct="1">
                        <a:lnSpc>
                          <a:spcPct val="100000"/>
                        </a:lnSpc>
                        <a:spcBef>
                          <a:spcPct val="0"/>
                        </a:spcBef>
                        <a:spcAft>
                          <a:spcPct val="0"/>
                        </a:spcAft>
                        <a:buClrTx/>
                        <a:buSzTx/>
                        <a:buFontTx/>
                        <a:buNone/>
                        <a:tabLst/>
                      </a:pPr>
                      <a:endParaRPr kumimoji="0" lang="ja-JP" altLang="en-US" sz="14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endParaRPr>
                    </a:p>
                  </a:txBody>
                  <a:tcPr marL="71998" marR="35998" marT="71890" marB="7189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ja-JP" sz="14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rPr>
                        <a:t>EC-RiderB2B</a:t>
                      </a:r>
                      <a:endParaRPr kumimoji="0" lang="ja-JP" altLang="en-US" sz="14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endParaRPr>
                    </a:p>
                  </a:txBody>
                  <a:tcPr marL="71998" marR="35998" marT="71890" marB="7189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CCFFCC"/>
                    </a:solidFill>
                  </a:tcPr>
                </a:tc>
                <a:tc>
                  <a:txBody>
                    <a:bodyPr/>
                    <a:lstStyle>
                      <a:lvl1pPr>
                        <a:spcBef>
                          <a:spcPct val="20000"/>
                        </a:spcBef>
                        <a:buFont typeface="Wingdings" panose="05000000000000000000" pitchFamily="2" charset="2"/>
                        <a:defRPr kumimoji="1" sz="2400">
                          <a:solidFill>
                            <a:srgbClr val="595959"/>
                          </a:solidFill>
                          <a:latin typeface="メイリオ" panose="020B0604030504040204" pitchFamily="50" charset="-128"/>
                          <a:ea typeface="メイリオ" panose="020B0604030504040204" pitchFamily="50" charset="-128"/>
                        </a:defRPr>
                      </a:lvl1pPr>
                      <a:lvl2pPr marL="742950" indent="-285750">
                        <a:spcBef>
                          <a:spcPct val="20000"/>
                        </a:spcBef>
                        <a:buFont typeface="Wingdings" panose="05000000000000000000" pitchFamily="2" charset="2"/>
                        <a:defRPr kumimoji="1" sz="2000">
                          <a:solidFill>
                            <a:srgbClr val="595959"/>
                          </a:solidFill>
                          <a:latin typeface="メイリオ" panose="020B0604030504040204" pitchFamily="50" charset="-128"/>
                          <a:ea typeface="メイリオ" panose="020B0604030504040204" pitchFamily="50" charset="-128"/>
                        </a:defRPr>
                      </a:lvl2pPr>
                      <a:lvl3pPr marL="1143000" indent="-228600">
                        <a:spcBef>
                          <a:spcPct val="20000"/>
                        </a:spcBef>
                        <a:buFont typeface="Wingdings" panose="05000000000000000000" pitchFamily="2" charset="2"/>
                        <a:defRPr kumimoji="1">
                          <a:solidFill>
                            <a:srgbClr val="595959"/>
                          </a:solidFill>
                          <a:latin typeface="メイリオ" panose="020B0604030504040204" pitchFamily="50" charset="-128"/>
                          <a:ea typeface="メイリオ" panose="020B0604030504040204" pitchFamily="50" charset="-128"/>
                        </a:defRPr>
                      </a:lvl3pPr>
                      <a:lvl4pPr marL="1600200" indent="-228600">
                        <a:spcBef>
                          <a:spcPct val="20000"/>
                        </a:spcBef>
                        <a:buFont typeface="Wingdings" panose="05000000000000000000" pitchFamily="2" charset="2"/>
                        <a:defRPr kumimoji="1" sz="1600">
                          <a:solidFill>
                            <a:srgbClr val="595959"/>
                          </a:solidFill>
                          <a:latin typeface="メイリオ" panose="020B0604030504040204" pitchFamily="50" charset="-128"/>
                          <a:ea typeface="メイリオ" panose="020B0604030504040204" pitchFamily="50" charset="-128"/>
                        </a:defRPr>
                      </a:lvl4pPr>
                      <a:lvl5pPr marL="2057400" indent="-228600">
                        <a:spcBef>
                          <a:spcPct val="20000"/>
                        </a:spcBef>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5pPr>
                      <a:lvl6pPr marL="25146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6pPr>
                      <a:lvl7pPr marL="29718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7pPr>
                      <a:lvl8pPr marL="34290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8pPr>
                      <a:lvl9pPr marL="38862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ja-JP" altLang="en-US" sz="14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rPr>
                        <a:t>新カートシステム（案）</a:t>
                      </a:r>
                    </a:p>
                  </a:txBody>
                  <a:tcPr marL="71998" marR="35998" marT="71890" marB="7189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0"/>
                  </a:ext>
                </a:extLst>
              </a:tr>
              <a:tr h="651969">
                <a:tc>
                  <a:txBody>
                    <a:bodyPr/>
                    <a:lstStyle>
                      <a:lvl1pPr>
                        <a:spcBef>
                          <a:spcPct val="20000"/>
                        </a:spcBef>
                        <a:buFont typeface="Wingdings" panose="05000000000000000000" pitchFamily="2" charset="2"/>
                        <a:defRPr kumimoji="1" sz="2400">
                          <a:solidFill>
                            <a:srgbClr val="595959"/>
                          </a:solidFill>
                          <a:latin typeface="メイリオ" panose="020B0604030504040204" pitchFamily="50" charset="-128"/>
                          <a:ea typeface="メイリオ" panose="020B0604030504040204" pitchFamily="50" charset="-128"/>
                        </a:defRPr>
                      </a:lvl1pPr>
                      <a:lvl2pPr marL="742950" indent="-285750">
                        <a:spcBef>
                          <a:spcPct val="20000"/>
                        </a:spcBef>
                        <a:buFont typeface="Wingdings" panose="05000000000000000000" pitchFamily="2" charset="2"/>
                        <a:defRPr kumimoji="1" sz="2000">
                          <a:solidFill>
                            <a:srgbClr val="595959"/>
                          </a:solidFill>
                          <a:latin typeface="メイリオ" panose="020B0604030504040204" pitchFamily="50" charset="-128"/>
                          <a:ea typeface="メイリオ" panose="020B0604030504040204" pitchFamily="50" charset="-128"/>
                        </a:defRPr>
                      </a:lvl2pPr>
                      <a:lvl3pPr marL="1143000" indent="-228600">
                        <a:spcBef>
                          <a:spcPct val="20000"/>
                        </a:spcBef>
                        <a:buFont typeface="Wingdings" panose="05000000000000000000" pitchFamily="2" charset="2"/>
                        <a:defRPr kumimoji="1">
                          <a:solidFill>
                            <a:srgbClr val="595959"/>
                          </a:solidFill>
                          <a:latin typeface="メイリオ" panose="020B0604030504040204" pitchFamily="50" charset="-128"/>
                          <a:ea typeface="メイリオ" panose="020B0604030504040204" pitchFamily="50" charset="-128"/>
                        </a:defRPr>
                      </a:lvl3pPr>
                      <a:lvl4pPr marL="1600200" indent="-228600">
                        <a:spcBef>
                          <a:spcPct val="20000"/>
                        </a:spcBef>
                        <a:buFont typeface="Wingdings" panose="05000000000000000000" pitchFamily="2" charset="2"/>
                        <a:defRPr kumimoji="1" sz="1600">
                          <a:solidFill>
                            <a:srgbClr val="595959"/>
                          </a:solidFill>
                          <a:latin typeface="メイリオ" panose="020B0604030504040204" pitchFamily="50" charset="-128"/>
                          <a:ea typeface="メイリオ" panose="020B0604030504040204" pitchFamily="50" charset="-128"/>
                        </a:defRPr>
                      </a:lvl4pPr>
                      <a:lvl5pPr marL="2057400" indent="-228600">
                        <a:spcBef>
                          <a:spcPct val="20000"/>
                        </a:spcBef>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5pPr>
                      <a:lvl6pPr marL="25146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6pPr>
                      <a:lvl7pPr marL="29718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7pPr>
                      <a:lvl8pPr marL="34290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8pPr>
                      <a:lvl9pPr marL="38862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ja-JP" altLang="en-US" sz="14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rPr>
                        <a:t>カスタマイズ</a:t>
                      </a:r>
                      <a:endParaRPr kumimoji="0" lang="en-US" altLang="ja-JP" sz="14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endParaRPr>
                    </a:p>
                  </a:txBody>
                  <a:tcPr marL="71998" marR="35998" marT="35947" marB="35947"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CCFFCC"/>
                    </a:solidFill>
                  </a:tcPr>
                </a:tc>
                <a:tc>
                  <a:txBody>
                    <a:bodyPr/>
                    <a:lstStyle/>
                    <a:p>
                      <a:pPr algn="l" fontAlgn="ct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お客様の予算内で、できるだけ要望に応える</a:t>
                      </a:r>
                      <a:endParaRPr lang="en-US" altLang="ja-JP" sz="12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algn="l" fontAlgn="ct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新カートシステムの仕様に合わせて運用してもらう</a:t>
                      </a:r>
                      <a:endParaRPr lang="en-US" altLang="ja-JP" sz="1200" b="0" i="0" u="none" strike="noStrike" dirty="0">
                        <a:solidFill>
                          <a:srgbClr val="000000"/>
                        </a:solidFill>
                        <a:effectLst/>
                        <a:latin typeface="メイリオ" panose="020B0604030504040204" pitchFamily="50" charset="-128"/>
                        <a:ea typeface="メイリオ" panose="020B0604030504040204" pitchFamily="50" charset="-128"/>
                      </a:endParaRPr>
                    </a:p>
                    <a:p>
                      <a:pPr algn="l" fontAlgn="ctr"/>
                      <a:endParaRPr lang="en-US" altLang="ja-JP" sz="1200" b="0" i="0" u="none" strike="noStrike" dirty="0">
                        <a:solidFill>
                          <a:srgbClr val="000000"/>
                        </a:solidFill>
                        <a:effectLst/>
                        <a:latin typeface="メイリオ" panose="020B0604030504040204" pitchFamily="50" charset="-128"/>
                        <a:ea typeface="メイリオ" panose="020B0604030504040204" pitchFamily="50" charset="-128"/>
                      </a:endParaRPr>
                    </a:p>
                    <a:p>
                      <a:pPr algn="l" fontAlgn="ct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詳細は次ページ</a:t>
                      </a:r>
                      <a:endParaRPr lang="en-US" altLang="ja-JP" sz="12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51969">
                <a:tc>
                  <a:txBody>
                    <a:body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ja-JP" altLang="en-US" sz="14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rPr>
                        <a:t>イニシャルコスト</a:t>
                      </a:r>
                      <a:endParaRPr kumimoji="0" lang="en-US" altLang="ja-JP" sz="14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endParaRPr>
                    </a:p>
                  </a:txBody>
                  <a:tcPr marL="71998" marR="35998" marT="35947" marB="35947"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CCFFCC"/>
                    </a:solidFill>
                  </a:tcPr>
                </a:tc>
                <a:tc>
                  <a:txBody>
                    <a:bodyPr/>
                    <a:lstStyle/>
                    <a:p>
                      <a:pPr algn="l" fontAlgn="ct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約</a:t>
                      </a:r>
                      <a:r>
                        <a:rPr lang="en-US" altLang="ja-JP" sz="1200" b="0" i="0" u="none" strike="noStrike" dirty="0">
                          <a:solidFill>
                            <a:srgbClr val="000000"/>
                          </a:solidFill>
                          <a:effectLst/>
                          <a:latin typeface="メイリオ" panose="020B0604030504040204" pitchFamily="50" charset="-128"/>
                          <a:ea typeface="メイリオ" panose="020B0604030504040204" pitchFamily="50" charset="-128"/>
                        </a:rPr>
                        <a:t>30</a:t>
                      </a: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万円前後</a:t>
                      </a:r>
                      <a:endParaRPr lang="en-US" altLang="ja-JP" sz="12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algn="l" fontAlgn="ctr"/>
                      <a:r>
                        <a:rPr lang="en-US" altLang="ja-JP" sz="1200" b="0" i="0" u="none" strike="noStrike" dirty="0">
                          <a:solidFill>
                            <a:srgbClr val="000000"/>
                          </a:solidFill>
                          <a:effectLst/>
                          <a:latin typeface="メイリオ" panose="020B0604030504040204" pitchFamily="50" charset="-128"/>
                          <a:ea typeface="メイリオ" panose="020B0604030504040204" pitchFamily="50" charset="-128"/>
                        </a:rPr>
                        <a:t>15</a:t>
                      </a: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万前後</a:t>
                      </a:r>
                      <a:endParaRPr lang="en-US" altLang="ja-JP" sz="12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51969">
                <a:tc>
                  <a:txBody>
                    <a:body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ja-JP" altLang="en-US" sz="14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rPr>
                        <a:t>ランニングコスト</a:t>
                      </a:r>
                      <a:endParaRPr kumimoji="0" lang="en-US" altLang="ja-JP" sz="14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endParaRPr>
                    </a:p>
                  </a:txBody>
                  <a:tcPr marL="71998" marR="35998" marT="35947" marB="35947"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CCFFCC"/>
                    </a:solidFill>
                  </a:tcPr>
                </a:tc>
                <a:tc>
                  <a:txBody>
                    <a:bodyPr/>
                    <a:lstStyle/>
                    <a:p>
                      <a:pPr algn="l" fontAlgn="ct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約</a:t>
                      </a:r>
                      <a:r>
                        <a:rPr lang="en-US" altLang="ja-JP" sz="1200" b="0" i="0" u="none" strike="noStrike" dirty="0">
                          <a:solidFill>
                            <a:srgbClr val="000000"/>
                          </a:solidFill>
                          <a:effectLst/>
                          <a:latin typeface="メイリオ" panose="020B0604030504040204" pitchFamily="50" charset="-128"/>
                          <a:ea typeface="メイリオ" panose="020B0604030504040204" pitchFamily="50" charset="-128"/>
                        </a:rPr>
                        <a:t>27</a:t>
                      </a: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万円</a:t>
                      </a:r>
                      <a:endParaRPr lang="en-US" altLang="ja-JP" sz="12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algn="l" fontAlgn="ctr"/>
                      <a:r>
                        <a:rPr lang="en-US" altLang="ja-JP" sz="1200" b="0" i="0" u="none" strike="noStrike" dirty="0">
                          <a:solidFill>
                            <a:srgbClr val="000000"/>
                          </a:solidFill>
                          <a:effectLst/>
                          <a:latin typeface="メイリオ" panose="020B0604030504040204" pitchFamily="50" charset="-128"/>
                          <a:ea typeface="メイリオ" panose="020B0604030504040204" pitchFamily="50" charset="-128"/>
                        </a:rPr>
                        <a:t>10</a:t>
                      </a: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万円以下</a:t>
                      </a:r>
                      <a:endParaRPr lang="en-US" altLang="ja-JP" sz="12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76521359"/>
                  </a:ext>
                </a:extLst>
              </a:tr>
              <a:tr h="651969">
                <a:tc>
                  <a:txBody>
                    <a:body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en-US" altLang="ja-JP" sz="14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rPr>
                        <a:t>IaaS</a:t>
                      </a:r>
                    </a:p>
                  </a:txBody>
                  <a:tcPr marL="71998" marR="35998" marT="35947" marB="35947"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CCFFCC"/>
                    </a:solidFill>
                  </a:tcPr>
                </a:tc>
                <a:tc>
                  <a:txBody>
                    <a:bodyPr/>
                    <a:lstStyle/>
                    <a:p>
                      <a:pPr algn="l" fontAlgn="ctr"/>
                      <a:r>
                        <a:rPr lang="en-US" altLang="ja-JP" sz="1200" b="0" i="0" u="none" strike="noStrike" dirty="0">
                          <a:solidFill>
                            <a:srgbClr val="000000"/>
                          </a:solidFill>
                          <a:effectLst/>
                          <a:latin typeface="メイリオ" panose="020B0604030504040204" pitchFamily="50" charset="-128"/>
                          <a:ea typeface="メイリオ" panose="020B0604030504040204" pitchFamily="50" charset="-128"/>
                        </a:rPr>
                        <a:t>AWS</a:t>
                      </a:r>
                    </a:p>
                  </a:txBody>
                  <a:tcPr marL="6350" marR="6350" marT="635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algn="l" fontAlgn="ctr"/>
                      <a:r>
                        <a:rPr lang="en-US" altLang="ja-JP" sz="1200" b="0" i="0" u="none" strike="noStrike" dirty="0">
                          <a:solidFill>
                            <a:srgbClr val="000000"/>
                          </a:solidFill>
                          <a:effectLst/>
                          <a:latin typeface="メイリオ" panose="020B0604030504040204" pitchFamily="50" charset="-128"/>
                          <a:ea typeface="メイリオ" panose="020B0604030504040204" pitchFamily="50" charset="-128"/>
                        </a:rPr>
                        <a:t>ISMAP</a:t>
                      </a: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対応の安価な</a:t>
                      </a:r>
                      <a:r>
                        <a:rPr lang="en-US" altLang="ja-JP" sz="1200" b="0" i="0" u="none" strike="noStrike" dirty="0">
                          <a:solidFill>
                            <a:srgbClr val="000000"/>
                          </a:solidFill>
                          <a:effectLst/>
                          <a:latin typeface="メイリオ" panose="020B0604030504040204" pitchFamily="50" charset="-128"/>
                          <a:ea typeface="メイリオ" panose="020B0604030504040204" pitchFamily="50" charset="-128"/>
                        </a:rPr>
                        <a:t>IaaS</a:t>
                      </a: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を検討</a:t>
                      </a:r>
                      <a:endParaRPr lang="en-US" altLang="ja-JP" sz="12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49262991"/>
                  </a:ext>
                </a:extLst>
              </a:tr>
            </a:tbl>
          </a:graphicData>
        </a:graphic>
      </p:graphicFrame>
    </p:spTree>
    <p:extLst>
      <p:ext uri="{BB962C8B-B14F-4D97-AF65-F5344CB8AC3E}">
        <p14:creationId xmlns:p14="http://schemas.microsoft.com/office/powerpoint/2010/main" val="3420746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CA07DE41-12ED-B95A-D522-50DDEF4A7BFC}"/>
            </a:ext>
          </a:extLst>
        </p:cNvPr>
        <p:cNvGrpSpPr/>
        <p:nvPr/>
      </p:nvGrpSpPr>
      <p:grpSpPr>
        <a:xfrm>
          <a:off x="0" y="0"/>
          <a:ext cx="0" cy="0"/>
          <a:chOff x="0" y="0"/>
          <a:chExt cx="0" cy="0"/>
        </a:xfrm>
      </p:grpSpPr>
      <p:sp>
        <p:nvSpPr>
          <p:cNvPr id="152" name="Google Shape;152;p7">
            <a:extLst>
              <a:ext uri="{FF2B5EF4-FFF2-40B4-BE49-F238E27FC236}">
                <a16:creationId xmlns:a16="http://schemas.microsoft.com/office/drawing/2014/main" id="{64BB896E-5798-7904-67E4-5575CDB043CF}"/>
              </a:ext>
            </a:extLst>
          </p:cNvPr>
          <p:cNvSpPr txBox="1">
            <a:spLocks noGrp="1"/>
          </p:cNvSpPr>
          <p:nvPr>
            <p:ph type="title"/>
          </p:nvPr>
        </p:nvSpPr>
        <p:spPr>
          <a:xfrm>
            <a:off x="835852" y="142852"/>
            <a:ext cx="8915400" cy="582594"/>
          </a:xfrm>
          <a:prstGeom prst="rect">
            <a:avLst/>
          </a:prstGeom>
          <a:noFill/>
          <a:ln>
            <a:noFill/>
          </a:ln>
        </p:spPr>
        <p:txBody>
          <a:bodyPr spcFirstLastPara="1" wrap="square" lIns="91425" tIns="45700" rIns="91425" bIns="45700" anchor="b" anchorCtr="0">
            <a:noAutofit/>
          </a:bodyPr>
          <a:lstStyle/>
          <a:p>
            <a:pPr lvl="0">
              <a:lnSpc>
                <a:spcPct val="130000"/>
              </a:lnSpc>
              <a:spcBef>
                <a:spcPts val="0"/>
              </a:spcBef>
              <a:spcAft>
                <a:spcPts val="0"/>
              </a:spcAft>
            </a:pPr>
            <a:r>
              <a:rPr lang="en-US" altLang="ja-JP" sz="2000" dirty="0"/>
              <a:t>1.</a:t>
            </a:r>
            <a:r>
              <a:rPr lang="ja-JP" altLang="en-US" sz="2000" dirty="0"/>
              <a:t>ＥＣサービス部の現状と今後の展開について</a:t>
            </a:r>
            <a:endParaRPr sz="2000" dirty="0">
              <a:solidFill>
                <a:srgbClr val="3F3F3F"/>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9740838F-CB1B-6B31-F640-3D3FD319393B}"/>
              </a:ext>
            </a:extLst>
          </p:cNvPr>
          <p:cNvSpPr txBox="1"/>
          <p:nvPr/>
        </p:nvSpPr>
        <p:spPr>
          <a:xfrm>
            <a:off x="269643" y="1069553"/>
            <a:ext cx="9280183" cy="738664"/>
          </a:xfrm>
          <a:prstGeom prst="rect">
            <a:avLst/>
          </a:prstGeom>
          <a:noFill/>
        </p:spPr>
        <p:txBody>
          <a:bodyPr wrap="square" rtlCol="0">
            <a:spAutoFit/>
          </a:bodyPr>
          <a:lstStyle/>
          <a:p>
            <a:r>
              <a:rPr kumimoji="1" lang="ja-JP" altLang="en-US" b="1" dirty="0">
                <a:latin typeface="メイリオ" panose="020B0604030504040204" pitchFamily="50" charset="-128"/>
                <a:ea typeface="メイリオ" panose="020B0604030504040204" pitchFamily="50" charset="-128"/>
              </a:rPr>
              <a:t>■ </a:t>
            </a:r>
            <a:r>
              <a:rPr lang="ja-JP" altLang="en-US" b="1" dirty="0">
                <a:latin typeface="メイリオ" panose="020B0604030504040204" pitchFamily="50" charset="-128"/>
                <a:ea typeface="メイリオ" panose="020B0604030504040204" pitchFamily="50" charset="-128"/>
              </a:rPr>
              <a:t>結果からわかること（つづき）</a:t>
            </a:r>
          </a:p>
          <a:p>
            <a:pPr marL="285750" indent="-285750">
              <a:spcBef>
                <a:spcPct val="50000"/>
              </a:spcBef>
              <a:buClr>
                <a:srgbClr val="002060"/>
              </a:buClr>
              <a:buFont typeface="Arial" panose="020B0604020202020204" pitchFamily="34" charset="0"/>
              <a:buChar char="•"/>
            </a:pPr>
            <a:r>
              <a:rPr lang="ja-JP" altLang="en-US" sz="1600" b="1" dirty="0">
                <a:latin typeface="メイリオ" panose="020B0604030504040204" pitchFamily="50" charset="-128"/>
                <a:ea typeface="メイリオ" panose="020B0604030504040204" pitchFamily="50" charset="-128"/>
              </a:rPr>
              <a:t>新カートシステムで現在検討されていること</a:t>
            </a:r>
            <a:endParaRPr lang="en-US" altLang="ja-JP" sz="1600" dirty="0">
              <a:latin typeface="メイリオ" panose="020B0604030504040204" pitchFamily="50" charset="-128"/>
              <a:ea typeface="メイリオ" panose="020B0604030504040204" pitchFamily="50" charset="-128"/>
            </a:endParaRPr>
          </a:p>
        </p:txBody>
      </p:sp>
      <p:graphicFrame>
        <p:nvGraphicFramePr>
          <p:cNvPr id="3" name="Group 92">
            <a:extLst>
              <a:ext uri="{FF2B5EF4-FFF2-40B4-BE49-F238E27FC236}">
                <a16:creationId xmlns:a16="http://schemas.microsoft.com/office/drawing/2014/main" id="{132A1358-3AC9-CA4D-FA56-E5AC0E10DA03}"/>
              </a:ext>
            </a:extLst>
          </p:cNvPr>
          <p:cNvGraphicFramePr>
            <a:graphicFrameLocks noGrp="1"/>
          </p:cNvGraphicFramePr>
          <p:nvPr/>
        </p:nvGraphicFramePr>
        <p:xfrm>
          <a:off x="281058" y="1808218"/>
          <a:ext cx="9268767" cy="4429094"/>
        </p:xfrm>
        <a:graphic>
          <a:graphicData uri="http://schemas.openxmlformats.org/drawingml/2006/table">
            <a:tbl>
              <a:tblPr/>
              <a:tblGrid>
                <a:gridCol w="1386975">
                  <a:extLst>
                    <a:ext uri="{9D8B030D-6E8A-4147-A177-3AD203B41FA5}">
                      <a16:colId xmlns:a16="http://schemas.microsoft.com/office/drawing/2014/main" val="20000"/>
                    </a:ext>
                  </a:extLst>
                </a:gridCol>
                <a:gridCol w="3717015">
                  <a:extLst>
                    <a:ext uri="{9D8B030D-6E8A-4147-A177-3AD203B41FA5}">
                      <a16:colId xmlns:a16="http://schemas.microsoft.com/office/drawing/2014/main" val="1499496574"/>
                    </a:ext>
                  </a:extLst>
                </a:gridCol>
                <a:gridCol w="3600400">
                  <a:extLst>
                    <a:ext uri="{9D8B030D-6E8A-4147-A177-3AD203B41FA5}">
                      <a16:colId xmlns:a16="http://schemas.microsoft.com/office/drawing/2014/main" val="20002"/>
                    </a:ext>
                  </a:extLst>
                </a:gridCol>
                <a:gridCol w="564377">
                  <a:extLst>
                    <a:ext uri="{9D8B030D-6E8A-4147-A177-3AD203B41FA5}">
                      <a16:colId xmlns:a16="http://schemas.microsoft.com/office/drawing/2014/main" val="317576727"/>
                    </a:ext>
                  </a:extLst>
                </a:gridCol>
              </a:tblGrid>
              <a:tr h="751274">
                <a:tc>
                  <a:txBody>
                    <a:bodyPr/>
                    <a:lstStyle>
                      <a:lvl1pPr>
                        <a:spcBef>
                          <a:spcPct val="20000"/>
                        </a:spcBef>
                        <a:buFont typeface="Wingdings" panose="05000000000000000000" pitchFamily="2" charset="2"/>
                        <a:defRPr kumimoji="1" sz="2400">
                          <a:solidFill>
                            <a:srgbClr val="595959"/>
                          </a:solidFill>
                          <a:latin typeface="メイリオ" panose="020B0604030504040204" pitchFamily="50" charset="-128"/>
                          <a:ea typeface="メイリオ" panose="020B0604030504040204" pitchFamily="50" charset="-128"/>
                        </a:defRPr>
                      </a:lvl1pPr>
                      <a:lvl2pPr marL="742950" indent="-285750">
                        <a:spcBef>
                          <a:spcPct val="20000"/>
                        </a:spcBef>
                        <a:buFont typeface="Wingdings" panose="05000000000000000000" pitchFamily="2" charset="2"/>
                        <a:defRPr kumimoji="1" sz="2000">
                          <a:solidFill>
                            <a:srgbClr val="595959"/>
                          </a:solidFill>
                          <a:latin typeface="メイリオ" panose="020B0604030504040204" pitchFamily="50" charset="-128"/>
                          <a:ea typeface="メイリオ" panose="020B0604030504040204" pitchFamily="50" charset="-128"/>
                        </a:defRPr>
                      </a:lvl2pPr>
                      <a:lvl3pPr marL="1143000" indent="-228600">
                        <a:spcBef>
                          <a:spcPct val="20000"/>
                        </a:spcBef>
                        <a:buFont typeface="Wingdings" panose="05000000000000000000" pitchFamily="2" charset="2"/>
                        <a:defRPr kumimoji="1">
                          <a:solidFill>
                            <a:srgbClr val="595959"/>
                          </a:solidFill>
                          <a:latin typeface="メイリオ" panose="020B0604030504040204" pitchFamily="50" charset="-128"/>
                          <a:ea typeface="メイリオ" panose="020B0604030504040204" pitchFamily="50" charset="-128"/>
                        </a:defRPr>
                      </a:lvl3pPr>
                      <a:lvl4pPr marL="1600200" indent="-228600">
                        <a:spcBef>
                          <a:spcPct val="20000"/>
                        </a:spcBef>
                        <a:buFont typeface="Wingdings" panose="05000000000000000000" pitchFamily="2" charset="2"/>
                        <a:defRPr kumimoji="1" sz="1600">
                          <a:solidFill>
                            <a:srgbClr val="595959"/>
                          </a:solidFill>
                          <a:latin typeface="メイリオ" panose="020B0604030504040204" pitchFamily="50" charset="-128"/>
                          <a:ea typeface="メイリオ" panose="020B0604030504040204" pitchFamily="50" charset="-128"/>
                        </a:defRPr>
                      </a:lvl4pPr>
                      <a:lvl5pPr marL="2057400" indent="-228600">
                        <a:spcBef>
                          <a:spcPct val="20000"/>
                        </a:spcBef>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5pPr>
                      <a:lvl6pPr marL="25146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6pPr>
                      <a:lvl7pPr marL="29718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7pPr>
                      <a:lvl8pPr marL="34290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8pPr>
                      <a:lvl9pPr marL="38862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9pPr>
                    </a:lstStyle>
                    <a:p>
                      <a:pPr marL="0" marR="0" lvl="0" indent="0" algn="ctr" defTabSz="914400" rtl="0" eaLnBrk="1" fontAlgn="ctr" latinLnBrk="0" hangingPunct="1">
                        <a:lnSpc>
                          <a:spcPct val="100000"/>
                        </a:lnSpc>
                        <a:spcBef>
                          <a:spcPct val="0"/>
                        </a:spcBef>
                        <a:spcAft>
                          <a:spcPct val="0"/>
                        </a:spcAft>
                        <a:buClrTx/>
                        <a:buSzTx/>
                        <a:buFontTx/>
                        <a:buNone/>
                        <a:tabLst/>
                      </a:pPr>
                      <a:endParaRPr kumimoji="0" lang="ja-JP" altLang="en-US" sz="14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endParaRPr>
                    </a:p>
                  </a:txBody>
                  <a:tcPr marL="71998" marR="35998" marT="71890" marB="7189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ja-JP" sz="14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rPr>
                        <a:t>EC-RiderB2B</a:t>
                      </a:r>
                      <a:endParaRPr kumimoji="0" lang="ja-JP" altLang="en-US" sz="14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endParaRPr>
                    </a:p>
                  </a:txBody>
                  <a:tcPr marL="71998" marR="35998" marT="71890" marB="7189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CCFFCC"/>
                    </a:solidFill>
                  </a:tcPr>
                </a:tc>
                <a:tc gridSpan="2">
                  <a:txBody>
                    <a:bodyPr/>
                    <a:lstStyle>
                      <a:lvl1pPr>
                        <a:spcBef>
                          <a:spcPct val="20000"/>
                        </a:spcBef>
                        <a:buFont typeface="Wingdings" panose="05000000000000000000" pitchFamily="2" charset="2"/>
                        <a:defRPr kumimoji="1" sz="2400">
                          <a:solidFill>
                            <a:srgbClr val="595959"/>
                          </a:solidFill>
                          <a:latin typeface="メイリオ" panose="020B0604030504040204" pitchFamily="50" charset="-128"/>
                          <a:ea typeface="メイリオ" panose="020B0604030504040204" pitchFamily="50" charset="-128"/>
                        </a:defRPr>
                      </a:lvl1pPr>
                      <a:lvl2pPr marL="742950" indent="-285750">
                        <a:spcBef>
                          <a:spcPct val="20000"/>
                        </a:spcBef>
                        <a:buFont typeface="Wingdings" panose="05000000000000000000" pitchFamily="2" charset="2"/>
                        <a:defRPr kumimoji="1" sz="2000">
                          <a:solidFill>
                            <a:srgbClr val="595959"/>
                          </a:solidFill>
                          <a:latin typeface="メイリオ" panose="020B0604030504040204" pitchFamily="50" charset="-128"/>
                          <a:ea typeface="メイリオ" panose="020B0604030504040204" pitchFamily="50" charset="-128"/>
                        </a:defRPr>
                      </a:lvl2pPr>
                      <a:lvl3pPr marL="1143000" indent="-228600">
                        <a:spcBef>
                          <a:spcPct val="20000"/>
                        </a:spcBef>
                        <a:buFont typeface="Wingdings" panose="05000000000000000000" pitchFamily="2" charset="2"/>
                        <a:defRPr kumimoji="1">
                          <a:solidFill>
                            <a:srgbClr val="595959"/>
                          </a:solidFill>
                          <a:latin typeface="メイリオ" panose="020B0604030504040204" pitchFamily="50" charset="-128"/>
                          <a:ea typeface="メイリオ" panose="020B0604030504040204" pitchFamily="50" charset="-128"/>
                        </a:defRPr>
                      </a:lvl3pPr>
                      <a:lvl4pPr marL="1600200" indent="-228600">
                        <a:spcBef>
                          <a:spcPct val="20000"/>
                        </a:spcBef>
                        <a:buFont typeface="Wingdings" panose="05000000000000000000" pitchFamily="2" charset="2"/>
                        <a:defRPr kumimoji="1" sz="1600">
                          <a:solidFill>
                            <a:srgbClr val="595959"/>
                          </a:solidFill>
                          <a:latin typeface="メイリオ" panose="020B0604030504040204" pitchFamily="50" charset="-128"/>
                          <a:ea typeface="メイリオ" panose="020B0604030504040204" pitchFamily="50" charset="-128"/>
                        </a:defRPr>
                      </a:lvl4pPr>
                      <a:lvl5pPr marL="2057400" indent="-228600">
                        <a:spcBef>
                          <a:spcPct val="20000"/>
                        </a:spcBef>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5pPr>
                      <a:lvl6pPr marL="25146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6pPr>
                      <a:lvl7pPr marL="29718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7pPr>
                      <a:lvl8pPr marL="34290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8pPr>
                      <a:lvl9pPr marL="38862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ja-JP" altLang="en-US" sz="14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rPr>
                        <a:t>新カートシステム</a:t>
                      </a:r>
                    </a:p>
                  </a:txBody>
                  <a:tcPr marL="71998" marR="35998" marT="71890" marB="7189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CCFFCC"/>
                    </a:solidFill>
                  </a:tcPr>
                </a:tc>
                <a:tc hMerge="1">
                  <a:txBody>
                    <a:bodyPr/>
                    <a:lstStyle/>
                    <a:p>
                      <a:pPr marL="0" marR="0" lvl="0" indent="0" algn="ctr" defTabSz="914400" rtl="0" eaLnBrk="1" fontAlgn="ctr" latinLnBrk="0" hangingPunct="1">
                        <a:lnSpc>
                          <a:spcPct val="100000"/>
                        </a:lnSpc>
                        <a:spcBef>
                          <a:spcPct val="0"/>
                        </a:spcBef>
                        <a:spcAft>
                          <a:spcPct val="0"/>
                        </a:spcAft>
                        <a:buClrTx/>
                        <a:buSzTx/>
                        <a:buFontTx/>
                        <a:buNone/>
                        <a:tabLst/>
                      </a:pPr>
                      <a:endParaRPr kumimoji="0" lang="ja-JP" altLang="en-US" sz="14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endParaRPr>
                    </a:p>
                  </a:txBody>
                  <a:tcPr marL="71998" marR="35998" marT="71890" marB="71890"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0"/>
                  </a:ext>
                </a:extLst>
              </a:tr>
              <a:tr h="919455">
                <a:tc>
                  <a:txBody>
                    <a:bodyPr/>
                    <a:lstStyle>
                      <a:lvl1pPr>
                        <a:spcBef>
                          <a:spcPct val="20000"/>
                        </a:spcBef>
                        <a:buFont typeface="Wingdings" panose="05000000000000000000" pitchFamily="2" charset="2"/>
                        <a:defRPr kumimoji="1" sz="2400">
                          <a:solidFill>
                            <a:srgbClr val="595959"/>
                          </a:solidFill>
                          <a:latin typeface="メイリオ" panose="020B0604030504040204" pitchFamily="50" charset="-128"/>
                          <a:ea typeface="メイリオ" panose="020B0604030504040204" pitchFamily="50" charset="-128"/>
                        </a:defRPr>
                      </a:lvl1pPr>
                      <a:lvl2pPr marL="742950" indent="-285750">
                        <a:spcBef>
                          <a:spcPct val="20000"/>
                        </a:spcBef>
                        <a:buFont typeface="Wingdings" panose="05000000000000000000" pitchFamily="2" charset="2"/>
                        <a:defRPr kumimoji="1" sz="2000">
                          <a:solidFill>
                            <a:srgbClr val="595959"/>
                          </a:solidFill>
                          <a:latin typeface="メイリオ" panose="020B0604030504040204" pitchFamily="50" charset="-128"/>
                          <a:ea typeface="メイリオ" panose="020B0604030504040204" pitchFamily="50" charset="-128"/>
                        </a:defRPr>
                      </a:lvl2pPr>
                      <a:lvl3pPr marL="1143000" indent="-228600">
                        <a:spcBef>
                          <a:spcPct val="20000"/>
                        </a:spcBef>
                        <a:buFont typeface="Wingdings" panose="05000000000000000000" pitchFamily="2" charset="2"/>
                        <a:defRPr kumimoji="1">
                          <a:solidFill>
                            <a:srgbClr val="595959"/>
                          </a:solidFill>
                          <a:latin typeface="メイリオ" panose="020B0604030504040204" pitchFamily="50" charset="-128"/>
                          <a:ea typeface="メイリオ" panose="020B0604030504040204" pitchFamily="50" charset="-128"/>
                        </a:defRPr>
                      </a:lvl3pPr>
                      <a:lvl4pPr marL="1600200" indent="-228600">
                        <a:spcBef>
                          <a:spcPct val="20000"/>
                        </a:spcBef>
                        <a:buFont typeface="Wingdings" panose="05000000000000000000" pitchFamily="2" charset="2"/>
                        <a:defRPr kumimoji="1" sz="1600">
                          <a:solidFill>
                            <a:srgbClr val="595959"/>
                          </a:solidFill>
                          <a:latin typeface="メイリオ" panose="020B0604030504040204" pitchFamily="50" charset="-128"/>
                          <a:ea typeface="メイリオ" panose="020B0604030504040204" pitchFamily="50" charset="-128"/>
                        </a:defRPr>
                      </a:lvl4pPr>
                      <a:lvl5pPr marL="2057400" indent="-228600">
                        <a:spcBef>
                          <a:spcPct val="20000"/>
                        </a:spcBef>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5pPr>
                      <a:lvl6pPr marL="25146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6pPr>
                      <a:lvl7pPr marL="29718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7pPr>
                      <a:lvl8pPr marL="34290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8pPr>
                      <a:lvl9pPr marL="3886200" indent="-228600" eaLnBrk="0" fontAlgn="base" hangingPunct="0">
                        <a:spcBef>
                          <a:spcPct val="20000"/>
                        </a:spcBef>
                        <a:spcAft>
                          <a:spcPct val="0"/>
                        </a:spcAft>
                        <a:buFont typeface="Wingdings" panose="05000000000000000000" pitchFamily="2" charset="2"/>
                        <a:defRPr kumimoji="1" sz="1400">
                          <a:solidFill>
                            <a:srgbClr val="595959"/>
                          </a:solidFill>
                          <a:latin typeface="メイリオ" panose="020B0604030504040204" pitchFamily="50" charset="-128"/>
                          <a:ea typeface="メイリオ" panose="020B0604030504040204" pitchFamily="50" charset="-128"/>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ja-JP" altLang="en-US" sz="14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rPr>
                        <a:t>性能</a:t>
                      </a:r>
                      <a:endParaRPr kumimoji="0" lang="en-US" altLang="ja-JP" sz="14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endParaRPr>
                    </a:p>
                  </a:txBody>
                  <a:tcPr marL="71998" marR="35998" marT="35947" marB="35947"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CCFFCC"/>
                    </a:solidFill>
                  </a:tcPr>
                </a:tc>
                <a:tc>
                  <a:txBody>
                    <a:bodyPr/>
                    <a:lstStyle/>
                    <a:p>
                      <a:pPr algn="l" fontAlgn="ct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柔軟な販路や価格設定に対応しているので、一部機能の性能に負担がかかっている</a:t>
                      </a:r>
                      <a:endParaRPr lang="en-US" altLang="ja-JP" sz="12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algn="l" fontAlgn="ct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複雑な販路や価格設定は最小化し、シンプルな構成にする予定</a:t>
                      </a:r>
                      <a:endParaRPr lang="en-US" altLang="ja-JP" sz="12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algn="l" fontAlgn="ct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小園</a:t>
                      </a:r>
                      <a:endParaRPr lang="en-US" altLang="ja-JP" sz="12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19455">
                <a:tc>
                  <a:txBody>
                    <a:body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ja-JP" altLang="en-US" sz="14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rPr>
                        <a:t>他システム連携</a:t>
                      </a:r>
                      <a:endParaRPr kumimoji="0" lang="en-US" altLang="ja-JP" sz="14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endParaRPr>
                    </a:p>
                  </a:txBody>
                  <a:tcPr marL="71998" marR="35998" marT="35947" marB="35947"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CCFFCC"/>
                    </a:solidFill>
                  </a:tcPr>
                </a:tc>
                <a:tc>
                  <a:txBody>
                    <a:bodyPr/>
                    <a:lstStyle/>
                    <a:p>
                      <a:pPr algn="l" fontAlgn="ctr"/>
                      <a:r>
                        <a:rPr lang="en-US" altLang="ja-JP" sz="1200" b="0" i="0" u="none" strike="noStrike" dirty="0">
                          <a:solidFill>
                            <a:srgbClr val="000000"/>
                          </a:solidFill>
                          <a:effectLst/>
                          <a:latin typeface="メイリオ" panose="020B0604030504040204" pitchFamily="50" charset="-128"/>
                          <a:ea typeface="メイリオ" panose="020B0604030504040204" pitchFamily="50" charset="-128"/>
                        </a:rPr>
                        <a:t>EC-RiderB2B</a:t>
                      </a: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の構造が複雑なために顧客毎に大きなカスタマイズを実施している</a:t>
                      </a:r>
                      <a:endParaRPr lang="en-US" altLang="ja-JP" sz="12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algn="l" fontAlgn="ct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データのマッピング設定と</a:t>
                      </a:r>
                      <a:r>
                        <a:rPr lang="en-US" altLang="ja-JP" sz="1200" b="0" i="0" u="none" strike="noStrike" dirty="0">
                          <a:solidFill>
                            <a:srgbClr val="000000"/>
                          </a:solidFill>
                          <a:effectLst/>
                          <a:latin typeface="メイリオ" panose="020B0604030504040204" pitchFamily="50" charset="-128"/>
                          <a:ea typeface="メイリオ" panose="020B0604030504040204" pitchFamily="50" charset="-128"/>
                        </a:rPr>
                        <a:t>AI</a:t>
                      </a: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を活用した自動生成機能等を活用する</a:t>
                      </a:r>
                      <a:endParaRPr lang="en-US" altLang="ja-JP" sz="12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algn="l" fontAlgn="ct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森﨑</a:t>
                      </a:r>
                      <a:endParaRPr lang="en-US" altLang="ja-JP" sz="12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19455">
                <a:tc>
                  <a:txBody>
                    <a:body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ja-JP" altLang="en-US" sz="14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rPr>
                        <a:t>画面デザイン</a:t>
                      </a:r>
                      <a:endParaRPr kumimoji="0" lang="en-US" altLang="ja-JP" sz="14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endParaRPr>
                    </a:p>
                  </a:txBody>
                  <a:tcPr marL="71998" marR="35998" marT="35947" marB="35947"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CCFFCC"/>
                    </a:solidFill>
                  </a:tcPr>
                </a:tc>
                <a:tc>
                  <a:txBody>
                    <a:bodyPr/>
                    <a:lstStyle/>
                    <a:p>
                      <a:pPr algn="l" fontAlgn="ct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カスタマイズ前提のサービスなので、予算内でできるだけお客様の要望に応えている</a:t>
                      </a:r>
                      <a:endParaRPr lang="en-US" altLang="ja-JP" sz="12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algn="l" fontAlgn="ct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これまでの導入実績をもとに業種毎？などにテンプレートを準備して汎用性を高めていく</a:t>
                      </a:r>
                      <a:endParaRPr lang="en-US" altLang="ja-JP" sz="12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algn="l" fontAlgn="ct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開発チーム</a:t>
                      </a:r>
                      <a:endParaRPr lang="en-US" altLang="ja-JP" sz="12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76521359"/>
                  </a:ext>
                </a:extLst>
              </a:tr>
              <a:tr h="919455">
                <a:tc>
                  <a:txBody>
                    <a:body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0" lang="ja-JP" altLang="en-US" sz="14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rPr>
                        <a:t>オプション機能</a:t>
                      </a:r>
                      <a:endParaRPr kumimoji="0" lang="en-US" altLang="ja-JP" sz="1400" b="1" i="0" u="none" strike="noStrike" cap="none" normalizeH="0" baseline="0" dirty="0">
                        <a:ln>
                          <a:noFill/>
                        </a:ln>
                        <a:solidFill>
                          <a:schemeClr val="tx2">
                            <a:lumMod val="50000"/>
                          </a:schemeClr>
                        </a:solidFill>
                        <a:effectLst/>
                        <a:latin typeface="メイリオ" panose="020B0604030504040204" pitchFamily="50" charset="-128"/>
                        <a:ea typeface="メイリオ" panose="020B0604030504040204" pitchFamily="50" charset="-128"/>
                      </a:endParaRPr>
                    </a:p>
                  </a:txBody>
                  <a:tcPr marL="71998" marR="35998" marT="35947" marB="35947"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CCFFCC"/>
                    </a:solidFill>
                  </a:tcPr>
                </a:tc>
                <a:tc gridSpan="2">
                  <a:txBody>
                    <a:bodyPr/>
                    <a:lstStyle/>
                    <a:p>
                      <a:pPr algn="l" fontAlgn="ct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現在も未来在庫等オプション機能はあるが、カスタマイズ前提で十分な検討ができていなかったが、整理・検討・実装を行い、メニュー化していく</a:t>
                      </a:r>
                      <a:endParaRPr lang="en-US" altLang="ja-JP" sz="12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hMerge="1">
                  <a:txBody>
                    <a:bodyPr/>
                    <a:lstStyle/>
                    <a:p>
                      <a:pPr algn="l" fontAlgn="ctr"/>
                      <a:endParaRPr lang="en-US" altLang="ja-JP" sz="12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algn="l" fontAlgn="ctr"/>
                      <a:r>
                        <a:rPr lang="ja-JP" altLang="en-US" sz="1200" b="0" i="0" u="none" strike="noStrike" dirty="0">
                          <a:solidFill>
                            <a:srgbClr val="000000"/>
                          </a:solidFill>
                          <a:effectLst/>
                          <a:latin typeface="メイリオ" panose="020B0604030504040204" pitchFamily="50" charset="-128"/>
                          <a:ea typeface="メイリオ" panose="020B0604030504040204" pitchFamily="50" charset="-128"/>
                        </a:rPr>
                        <a:t>川手</a:t>
                      </a:r>
                      <a:endParaRPr lang="en-US" altLang="ja-JP" sz="12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350" marR="6350" marT="635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49262991"/>
                  </a:ext>
                </a:extLst>
              </a:tr>
            </a:tbl>
          </a:graphicData>
        </a:graphic>
      </p:graphicFrame>
    </p:spTree>
    <p:extLst>
      <p:ext uri="{BB962C8B-B14F-4D97-AF65-F5344CB8AC3E}">
        <p14:creationId xmlns:p14="http://schemas.microsoft.com/office/powerpoint/2010/main" val="3557137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4" name="テキスト ボックス 3"/>
          <p:cNvSpPr txBox="1"/>
          <p:nvPr/>
        </p:nvSpPr>
        <p:spPr>
          <a:xfrm>
            <a:off x="267854" y="1044719"/>
            <a:ext cx="9322713" cy="5209118"/>
          </a:xfrm>
          <a:prstGeom prst="rect">
            <a:avLst/>
          </a:prstGeom>
          <a:noFill/>
        </p:spPr>
        <p:txBody>
          <a:bodyPr wrap="square" rtlCol="0">
            <a:spAutoFit/>
          </a:bodyPr>
          <a:lstStyle/>
          <a:p>
            <a:r>
              <a:rPr lang="ja-JP" altLang="en-US" b="1" dirty="0">
                <a:latin typeface="メイリオ" panose="020B0604030504040204" pitchFamily="50" charset="-128"/>
                <a:ea typeface="メイリオ" panose="020B0604030504040204" pitchFamily="50" charset="-128"/>
              </a:rPr>
              <a:t>今後に向け、</a:t>
            </a:r>
            <a:r>
              <a:rPr lang="en-US" altLang="ja-JP" b="1" dirty="0">
                <a:latin typeface="メイリオ" panose="020B0604030504040204" pitchFamily="50" charset="-128"/>
                <a:ea typeface="メイリオ" panose="020B0604030504040204" pitchFamily="50" charset="-128"/>
              </a:rPr>
              <a:t>EC</a:t>
            </a:r>
            <a:r>
              <a:rPr lang="ja-JP" altLang="en-US" b="1" dirty="0">
                <a:latin typeface="メイリオ" panose="020B0604030504040204" pitchFamily="50" charset="-128"/>
                <a:ea typeface="メイリオ" panose="020B0604030504040204" pitchFamily="50" charset="-128"/>
              </a:rPr>
              <a:t>サービス部全体で頑張っていく事</a:t>
            </a:r>
            <a:endParaRPr lang="en-US" altLang="ja-JP" b="1" dirty="0">
              <a:latin typeface="メイリオ" panose="020B0604030504040204" pitchFamily="50" charset="-128"/>
              <a:ea typeface="メイリオ" panose="020B0604030504040204" pitchFamily="50" charset="-128"/>
            </a:endParaRPr>
          </a:p>
          <a:p>
            <a:endParaRPr lang="en-US" altLang="ja-JP" sz="1600" dirty="0">
              <a:latin typeface="メイリオ" panose="020B0604030504040204" pitchFamily="50" charset="-128"/>
              <a:ea typeface="メイリオ" panose="020B0604030504040204" pitchFamily="50" charset="-128"/>
            </a:endParaRPr>
          </a:p>
          <a:p>
            <a:r>
              <a:rPr lang="ja-JP" altLang="en-US" sz="1600" b="1" dirty="0">
                <a:latin typeface="メイリオ" panose="020B0604030504040204" pitchFamily="50" charset="-128"/>
                <a:ea typeface="メイリオ" panose="020B0604030504040204" pitchFamily="50" charset="-128"/>
              </a:rPr>
              <a:t>既存顧客</a:t>
            </a:r>
            <a:endParaRPr lang="en-US" altLang="ja-JP" sz="1600" b="1" dirty="0">
              <a:latin typeface="メイリオ" panose="020B0604030504040204" pitchFamily="50" charset="-128"/>
              <a:ea typeface="メイリオ" panose="020B0604030504040204" pitchFamily="50" charset="-128"/>
            </a:endParaRPr>
          </a:p>
          <a:p>
            <a:pPr marL="720725" indent="-268288">
              <a:spcBef>
                <a:spcPts val="300"/>
              </a:spcBef>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ミニ提案の積み重ね</a:t>
            </a:r>
            <a:endParaRPr lang="en-US" altLang="ja-JP" sz="1600" dirty="0">
              <a:latin typeface="メイリオ" panose="020B0604030504040204" pitchFamily="50" charset="-128"/>
              <a:ea typeface="メイリオ" panose="020B0604030504040204" pitchFamily="50" charset="-128"/>
            </a:endParaRPr>
          </a:p>
          <a:p>
            <a:pPr marL="285750" indent="434975">
              <a:spcBef>
                <a:spcPts val="300"/>
              </a:spcBef>
            </a:pPr>
            <a:r>
              <a:rPr lang="ja-JP" altLang="en-US" sz="1600" dirty="0">
                <a:latin typeface="メイリオ" panose="020B0604030504040204" pitchFamily="50" charset="-128"/>
                <a:ea typeface="メイリオ" panose="020B0604030504040204" pitchFamily="50" charset="-128"/>
              </a:rPr>
              <a:t>すぐ売上にならなくても将来案件の種まきの意味もある</a:t>
            </a:r>
          </a:p>
          <a:p>
            <a:pPr marL="720725" indent="-268288">
              <a:spcBef>
                <a:spcPts val="600"/>
              </a:spcBef>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既存顧客の深掘り</a:t>
            </a:r>
            <a:endParaRPr lang="en-US" altLang="ja-JP" sz="1600" dirty="0">
              <a:latin typeface="メイリオ" panose="020B0604030504040204" pitchFamily="50" charset="-128"/>
              <a:ea typeface="メイリオ" panose="020B0604030504040204" pitchFamily="50" charset="-128"/>
            </a:endParaRPr>
          </a:p>
          <a:p>
            <a:pPr marL="285750" indent="434975">
              <a:spcBef>
                <a:spcPts val="300"/>
              </a:spcBef>
            </a:pPr>
            <a:r>
              <a:rPr lang="en-US" altLang="ja-JP" sz="1600" dirty="0">
                <a:latin typeface="メイリオ" panose="020B0604030504040204" pitchFamily="50" charset="-128"/>
                <a:ea typeface="メイリオ" panose="020B0604030504040204" pitchFamily="50" charset="-128"/>
              </a:rPr>
              <a:t> </a:t>
            </a:r>
            <a:r>
              <a:rPr lang="ja-JP" altLang="en-US" sz="1600" dirty="0">
                <a:latin typeface="メイリオ" panose="020B0604030504040204" pitchFamily="50" charset="-128"/>
                <a:ea typeface="メイリオ" panose="020B0604030504040204" pitchFamily="50" charset="-128"/>
              </a:rPr>
              <a:t>開発・保守チームが見つけた課題を営業に共有し、追加提案へ</a:t>
            </a:r>
            <a:endParaRPr lang="en-US" altLang="ja-JP" sz="1600" dirty="0">
              <a:latin typeface="メイリオ" panose="020B0604030504040204" pitchFamily="50" charset="-128"/>
              <a:ea typeface="メイリオ" panose="020B0604030504040204" pitchFamily="50" charset="-128"/>
            </a:endParaRPr>
          </a:p>
          <a:p>
            <a:pPr marL="720725" indent="-268288">
              <a:spcBef>
                <a:spcPts val="600"/>
              </a:spcBef>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契約のひろがり</a:t>
            </a:r>
            <a:endParaRPr lang="en-US" altLang="ja-JP" sz="1600" dirty="0">
              <a:latin typeface="メイリオ" panose="020B0604030504040204" pitchFamily="50" charset="-128"/>
              <a:ea typeface="メイリオ" panose="020B0604030504040204" pitchFamily="50" charset="-128"/>
            </a:endParaRPr>
          </a:p>
          <a:p>
            <a:pPr marL="715963" indent="4763">
              <a:spcBef>
                <a:spcPts val="300"/>
              </a:spcBef>
            </a:pPr>
            <a:r>
              <a:rPr lang="ja-JP" altLang="en-US" sz="1600" dirty="0">
                <a:latin typeface="メイリオ" panose="020B0604030504040204" pitchFamily="50" charset="-128"/>
                <a:ea typeface="メイリオ" panose="020B0604030504040204" pitchFamily="50" charset="-128"/>
              </a:rPr>
              <a:t>「この作業、保守契約に含まれていませんが</a:t>
            </a:r>
            <a:r>
              <a:rPr lang="en-US" altLang="ja-JP" sz="1600" dirty="0">
                <a:latin typeface="メイリオ" panose="020B0604030504040204" pitchFamily="50" charset="-128"/>
                <a:ea typeface="メイリオ" panose="020B0604030504040204" pitchFamily="50" charset="-128"/>
              </a:rPr>
              <a:t>…</a:t>
            </a:r>
            <a:r>
              <a:rPr lang="ja-JP" altLang="en-US" sz="1600" dirty="0">
                <a:latin typeface="メイリオ" panose="020B0604030504040204" pitchFamily="50" charset="-128"/>
                <a:ea typeface="メイリオ" panose="020B0604030504040204" pitchFamily="50" charset="-128"/>
              </a:rPr>
              <a:t>」という現場からの声をもとに、保守契約を提案</a:t>
            </a:r>
            <a:endParaRPr lang="en-US" altLang="ja-JP" sz="1600" dirty="0">
              <a:latin typeface="メイリオ" panose="020B0604030504040204" pitchFamily="50" charset="-128"/>
              <a:ea typeface="メイリオ" panose="020B0604030504040204" pitchFamily="50" charset="-128"/>
            </a:endParaRPr>
          </a:p>
          <a:p>
            <a:pPr>
              <a:spcBef>
                <a:spcPts val="300"/>
              </a:spcBef>
            </a:pPr>
            <a:r>
              <a:rPr lang="ja-JP" altLang="en-US" sz="1600" b="1" dirty="0">
                <a:latin typeface="メイリオ" panose="020B0604030504040204" pitchFamily="50" charset="-128"/>
                <a:ea typeface="メイリオ" panose="020B0604030504040204" pitchFamily="50" charset="-128"/>
              </a:rPr>
              <a:t>保守</a:t>
            </a:r>
            <a:endParaRPr lang="en-US" altLang="ja-JP" sz="1600" b="1" dirty="0">
              <a:latin typeface="メイリオ" panose="020B0604030504040204" pitchFamily="50" charset="-128"/>
              <a:ea typeface="メイリオ" panose="020B0604030504040204" pitchFamily="50" charset="-128"/>
            </a:endParaRPr>
          </a:p>
          <a:p>
            <a:pPr marL="720725" indent="-268288">
              <a:spcBef>
                <a:spcPts val="300"/>
              </a:spcBef>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保守対応からの改善提案</a:t>
            </a:r>
            <a:endParaRPr lang="en-US" altLang="ja-JP" sz="1600" dirty="0">
              <a:latin typeface="メイリオ" panose="020B0604030504040204" pitchFamily="50" charset="-128"/>
              <a:ea typeface="メイリオ" panose="020B0604030504040204" pitchFamily="50" charset="-128"/>
            </a:endParaRPr>
          </a:p>
          <a:p>
            <a:pPr marL="285750" indent="434975">
              <a:spcBef>
                <a:spcPts val="300"/>
              </a:spcBef>
            </a:pPr>
            <a:r>
              <a:rPr lang="ja-JP" altLang="en-US" sz="1600" dirty="0">
                <a:latin typeface="メイリオ" panose="020B0604030504040204" pitchFamily="50" charset="-128"/>
                <a:ea typeface="メイリオ" panose="020B0604030504040204" pitchFamily="50" charset="-128"/>
              </a:rPr>
              <a:t>「よくある問い合わせ」や「けっこう出る障害」を元に開発側へ改善提案</a:t>
            </a:r>
          </a:p>
          <a:p>
            <a:pPr>
              <a:spcBef>
                <a:spcPts val="300"/>
              </a:spcBef>
            </a:pPr>
            <a:r>
              <a:rPr lang="ja-JP" altLang="en-US" sz="1600" b="1" dirty="0">
                <a:latin typeface="メイリオ" panose="020B0604030504040204" pitchFamily="50" charset="-128"/>
                <a:ea typeface="メイリオ" panose="020B0604030504040204" pitchFamily="50" charset="-128"/>
              </a:rPr>
              <a:t>共通</a:t>
            </a:r>
            <a:endParaRPr lang="en-US" altLang="ja-JP" sz="1600" b="1" dirty="0">
              <a:latin typeface="メイリオ" panose="020B0604030504040204" pitchFamily="50" charset="-128"/>
              <a:ea typeface="メイリオ" panose="020B0604030504040204" pitchFamily="50" charset="-128"/>
            </a:endParaRPr>
          </a:p>
          <a:p>
            <a:pPr marL="720725" indent="-268288">
              <a:spcBef>
                <a:spcPts val="300"/>
              </a:spcBef>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カート</a:t>
            </a:r>
            <a:r>
              <a:rPr lang="en-US" altLang="ja-JP" sz="1600" dirty="0">
                <a:latin typeface="メイリオ" panose="020B0604030504040204" pitchFamily="50" charset="-128"/>
                <a:ea typeface="メイリオ" panose="020B0604030504040204" pitchFamily="50" charset="-128"/>
              </a:rPr>
              <a:t>ASP</a:t>
            </a:r>
            <a:r>
              <a:rPr lang="ja-JP" altLang="en-US" sz="1600" dirty="0">
                <a:latin typeface="メイリオ" panose="020B0604030504040204" pitchFamily="50" charset="-128"/>
                <a:ea typeface="メイリオ" panose="020B0604030504040204" pitchFamily="50" charset="-128"/>
              </a:rPr>
              <a:t>に対する支援</a:t>
            </a:r>
            <a:endParaRPr lang="en-US" altLang="ja-JP" sz="1600" dirty="0">
              <a:latin typeface="メイリオ" panose="020B0604030504040204" pitchFamily="50" charset="-128"/>
              <a:ea typeface="メイリオ" panose="020B0604030504040204" pitchFamily="50" charset="-128"/>
            </a:endParaRPr>
          </a:p>
          <a:p>
            <a:pPr marL="285750" indent="434975">
              <a:spcBef>
                <a:spcPts val="300"/>
              </a:spcBef>
            </a:pPr>
            <a:r>
              <a:rPr lang="ja-JP" altLang="en-US" sz="1600" dirty="0">
                <a:latin typeface="メイリオ" panose="020B0604030504040204" pitchFamily="50" charset="-128"/>
                <a:ea typeface="メイリオ" panose="020B0604030504040204" pitchFamily="50" charset="-128"/>
              </a:rPr>
              <a:t>営業面、機能面、インフラ面、非機能面、保守面、価格面、販路面の検討支援</a:t>
            </a:r>
            <a:endParaRPr lang="en-US" altLang="ja-JP" sz="1600" dirty="0">
              <a:latin typeface="メイリオ" panose="020B0604030504040204" pitchFamily="50" charset="-128"/>
              <a:ea typeface="メイリオ" panose="020B0604030504040204" pitchFamily="50" charset="-128"/>
            </a:endParaRPr>
          </a:p>
          <a:p>
            <a:pPr marL="720725" indent="-268288">
              <a:spcBef>
                <a:spcPts val="600"/>
              </a:spcBef>
              <a:buFont typeface="Arial" panose="020B0604020202020204" pitchFamily="34" charset="0"/>
              <a:buChar char="•"/>
            </a:pPr>
            <a:r>
              <a:rPr lang="ja-JP" altLang="en-US" sz="1600" dirty="0">
                <a:latin typeface="メイリオ" panose="020B0604030504040204" pitchFamily="50" charset="-128"/>
                <a:ea typeface="メイリオ" panose="020B0604030504040204" pitchFamily="50" charset="-128"/>
              </a:rPr>
              <a:t>ナレッジ共有・共通化</a:t>
            </a:r>
            <a:endParaRPr lang="en-US" altLang="ja-JP" sz="1600" dirty="0">
              <a:latin typeface="メイリオ" panose="020B0604030504040204" pitchFamily="50" charset="-128"/>
              <a:ea typeface="メイリオ" panose="020B0604030504040204" pitchFamily="50" charset="-128"/>
            </a:endParaRPr>
          </a:p>
          <a:p>
            <a:pPr marL="285750" indent="434975">
              <a:spcBef>
                <a:spcPts val="300"/>
              </a:spcBef>
            </a:pPr>
            <a:r>
              <a:rPr lang="ja-JP" altLang="en-US" sz="1600" dirty="0">
                <a:latin typeface="メイリオ" panose="020B0604030504040204" pitchFamily="50" charset="-128"/>
                <a:ea typeface="メイリオ" panose="020B0604030504040204" pitchFamily="50" charset="-128"/>
              </a:rPr>
              <a:t>「○○処理の標準設計書」などを積み上げ、部としての生産性を底上げ</a:t>
            </a:r>
            <a:endParaRPr lang="en-US" altLang="ja-JP" sz="1600" dirty="0">
              <a:latin typeface="メイリオ" panose="020B0604030504040204" pitchFamily="50" charset="-128"/>
              <a:ea typeface="メイリオ" panose="020B0604030504040204" pitchFamily="50" charset="-128"/>
            </a:endParaRPr>
          </a:p>
        </p:txBody>
      </p:sp>
      <p:sp>
        <p:nvSpPr>
          <p:cNvPr id="2" name="Google Shape;152;p7">
            <a:extLst>
              <a:ext uri="{FF2B5EF4-FFF2-40B4-BE49-F238E27FC236}">
                <a16:creationId xmlns:a16="http://schemas.microsoft.com/office/drawing/2014/main" id="{2E335278-405B-0CEF-03CE-0226C68ED3DB}"/>
              </a:ext>
            </a:extLst>
          </p:cNvPr>
          <p:cNvSpPr txBox="1">
            <a:spLocks noGrp="1"/>
          </p:cNvSpPr>
          <p:nvPr>
            <p:ph type="title"/>
          </p:nvPr>
        </p:nvSpPr>
        <p:spPr>
          <a:xfrm>
            <a:off x="835852" y="142852"/>
            <a:ext cx="8915400" cy="582594"/>
          </a:xfrm>
          <a:prstGeom prst="rect">
            <a:avLst/>
          </a:prstGeom>
          <a:noFill/>
          <a:ln>
            <a:noFill/>
          </a:ln>
        </p:spPr>
        <p:txBody>
          <a:bodyPr spcFirstLastPara="1" wrap="square" lIns="91425" tIns="45700" rIns="91425" bIns="45700" anchor="b" anchorCtr="0">
            <a:noAutofit/>
          </a:bodyPr>
          <a:lstStyle/>
          <a:p>
            <a:pPr lvl="0">
              <a:lnSpc>
                <a:spcPct val="130000"/>
              </a:lnSpc>
              <a:spcBef>
                <a:spcPts val="0"/>
              </a:spcBef>
              <a:spcAft>
                <a:spcPts val="0"/>
              </a:spcAft>
            </a:pPr>
            <a:r>
              <a:rPr lang="en-US" altLang="ja-JP" sz="2000" dirty="0"/>
              <a:t>1.</a:t>
            </a:r>
            <a:r>
              <a:rPr lang="ja-JP" altLang="en-US" sz="2000" dirty="0"/>
              <a:t>ＥＣサービス部の現状と今後の展開について</a:t>
            </a:r>
            <a:endParaRPr sz="2000" dirty="0">
              <a:solidFill>
                <a:srgbClr val="3F3F3F"/>
              </a:solidFill>
              <a:latin typeface="Meiryo"/>
              <a:ea typeface="Meiryo"/>
              <a:cs typeface="Meiryo"/>
              <a:sym typeface="Meiryo"/>
            </a:endParaRPr>
          </a:p>
        </p:txBody>
      </p:sp>
    </p:spTree>
    <p:extLst>
      <p:ext uri="{BB962C8B-B14F-4D97-AF65-F5344CB8AC3E}">
        <p14:creationId xmlns:p14="http://schemas.microsoft.com/office/powerpoint/2010/main" val="3439113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E2820-4485-4C41-7A97-CFA71AB4EC29}"/>
            </a:ext>
          </a:extLst>
        </p:cNvPr>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9C07A831-20C1-4A8D-1F14-D5EAB483FFF6}"/>
              </a:ext>
            </a:extLst>
          </p:cNvPr>
          <p:cNvGraphicFramePr>
            <a:graphicFrameLocks noGrp="1"/>
          </p:cNvGraphicFramePr>
          <p:nvPr>
            <p:extLst>
              <p:ext uri="{D42A27DB-BD31-4B8C-83A1-F6EECF244321}">
                <p14:modId xmlns:p14="http://schemas.microsoft.com/office/powerpoint/2010/main" val="3224969221"/>
              </p:ext>
            </p:extLst>
          </p:nvPr>
        </p:nvGraphicFramePr>
        <p:xfrm>
          <a:off x="922194" y="1386223"/>
          <a:ext cx="3814782" cy="4054048"/>
        </p:xfrm>
        <a:graphic>
          <a:graphicData uri="http://schemas.openxmlformats.org/drawingml/2006/table">
            <a:tbl>
              <a:tblPr firstRow="1" bandRow="1">
                <a:tableStyleId>{5C22544A-7EE6-4342-B048-85BDC9FD1C3A}</a:tableStyleId>
              </a:tblPr>
              <a:tblGrid>
                <a:gridCol w="439873">
                  <a:extLst>
                    <a:ext uri="{9D8B030D-6E8A-4147-A177-3AD203B41FA5}">
                      <a16:colId xmlns:a16="http://schemas.microsoft.com/office/drawing/2014/main" val="2034357534"/>
                    </a:ext>
                  </a:extLst>
                </a:gridCol>
                <a:gridCol w="3374909">
                  <a:extLst>
                    <a:ext uri="{9D8B030D-6E8A-4147-A177-3AD203B41FA5}">
                      <a16:colId xmlns:a16="http://schemas.microsoft.com/office/drawing/2014/main" val="879950940"/>
                    </a:ext>
                  </a:extLst>
                </a:gridCol>
              </a:tblGrid>
              <a:tr h="370840">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4210059274"/>
                  </a:ext>
                </a:extLst>
              </a:tr>
              <a:tr h="370840">
                <a:tc>
                  <a:txBody>
                    <a:bodyPr/>
                    <a:lstStyle/>
                    <a:p>
                      <a:pPr algn="r"/>
                      <a:r>
                        <a:rPr kumimoji="1" lang="en-US" altLang="ja-JP" sz="1400" dirty="0">
                          <a:latin typeface="メイリオ" panose="020B0604030504040204" pitchFamily="50" charset="-128"/>
                          <a:ea typeface="メイリオ" panose="020B0604030504040204" pitchFamily="50" charset="-128"/>
                        </a:rPr>
                        <a:t>1</a:t>
                      </a:r>
                      <a:endParaRPr kumimoji="1" lang="ja-JP" altLang="en-US" sz="14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400" dirty="0">
                          <a:latin typeface="メイリオ" panose="020B0604030504040204" pitchFamily="50" charset="-128"/>
                          <a:ea typeface="メイリオ" panose="020B0604030504040204" pitchFamily="50" charset="-128"/>
                        </a:rPr>
                        <a:t>ナイガイ</a:t>
                      </a:r>
                    </a:p>
                  </a:txBody>
                  <a:tcPr anchor="ctr"/>
                </a:tc>
                <a:extLst>
                  <a:ext uri="{0D108BD9-81ED-4DB2-BD59-A6C34878D82A}">
                    <a16:rowId xmlns:a16="http://schemas.microsoft.com/office/drawing/2014/main" val="842568075"/>
                  </a:ext>
                </a:extLst>
              </a:tr>
              <a:tr h="370840">
                <a:tc>
                  <a:txBody>
                    <a:bodyPr/>
                    <a:lstStyle/>
                    <a:p>
                      <a:pPr algn="r"/>
                      <a:r>
                        <a:rPr kumimoji="1" lang="en-US" altLang="ja-JP" sz="1400" dirty="0">
                          <a:latin typeface="メイリオ" panose="020B0604030504040204" pitchFamily="50" charset="-128"/>
                          <a:ea typeface="メイリオ" panose="020B0604030504040204" pitchFamily="50" charset="-128"/>
                        </a:rPr>
                        <a:t>2</a:t>
                      </a:r>
                      <a:endParaRPr kumimoji="1" lang="ja-JP" altLang="en-US" sz="14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400" dirty="0">
                          <a:latin typeface="メイリオ" panose="020B0604030504040204" pitchFamily="50" charset="-128"/>
                          <a:ea typeface="メイリオ" panose="020B0604030504040204" pitchFamily="50" charset="-128"/>
                        </a:rPr>
                        <a:t>ジャクソン・ラボラトリー・ジャパン</a:t>
                      </a:r>
                    </a:p>
                  </a:txBody>
                  <a:tcPr anchor="ctr"/>
                </a:tc>
                <a:extLst>
                  <a:ext uri="{0D108BD9-81ED-4DB2-BD59-A6C34878D82A}">
                    <a16:rowId xmlns:a16="http://schemas.microsoft.com/office/drawing/2014/main" val="2129140566"/>
                  </a:ext>
                </a:extLst>
              </a:tr>
              <a:tr h="370840">
                <a:tc>
                  <a:txBody>
                    <a:bodyPr/>
                    <a:lstStyle/>
                    <a:p>
                      <a:pPr algn="r"/>
                      <a:r>
                        <a:rPr kumimoji="1" lang="en-US" altLang="ja-JP" sz="1400" dirty="0">
                          <a:latin typeface="メイリオ" panose="020B0604030504040204" pitchFamily="50" charset="-128"/>
                          <a:ea typeface="メイリオ" panose="020B0604030504040204" pitchFamily="50" charset="-128"/>
                        </a:rPr>
                        <a:t>3</a:t>
                      </a:r>
                      <a:endParaRPr kumimoji="1" lang="ja-JP" altLang="en-US" sz="14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400" dirty="0">
                          <a:latin typeface="メイリオ" panose="020B0604030504040204" pitchFamily="50" charset="-128"/>
                          <a:ea typeface="メイリオ" panose="020B0604030504040204" pitchFamily="50" charset="-128"/>
                        </a:rPr>
                        <a:t>タイロテック</a:t>
                      </a:r>
                    </a:p>
                  </a:txBody>
                  <a:tcPr anchor="ctr"/>
                </a:tc>
                <a:extLst>
                  <a:ext uri="{0D108BD9-81ED-4DB2-BD59-A6C34878D82A}">
                    <a16:rowId xmlns:a16="http://schemas.microsoft.com/office/drawing/2014/main" val="2125371019"/>
                  </a:ext>
                </a:extLst>
              </a:tr>
              <a:tr h="370840">
                <a:tc>
                  <a:txBody>
                    <a:bodyPr/>
                    <a:lstStyle/>
                    <a:p>
                      <a:pPr algn="r"/>
                      <a:r>
                        <a:rPr kumimoji="1" lang="en-US" altLang="ja-JP" sz="1400" dirty="0">
                          <a:latin typeface="メイリオ" panose="020B0604030504040204" pitchFamily="50" charset="-128"/>
                          <a:ea typeface="メイリオ" panose="020B0604030504040204" pitchFamily="50" charset="-128"/>
                        </a:rPr>
                        <a:t>4</a:t>
                      </a:r>
                      <a:endParaRPr kumimoji="1" lang="ja-JP" altLang="en-US" sz="14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400" dirty="0">
                          <a:latin typeface="メイリオ" panose="020B0604030504040204" pitchFamily="50" charset="-128"/>
                          <a:ea typeface="メイリオ" panose="020B0604030504040204" pitchFamily="50" charset="-128"/>
                        </a:rPr>
                        <a:t>カーコンビニ倶楽部</a:t>
                      </a:r>
                    </a:p>
                  </a:txBody>
                  <a:tcPr anchor="ctr"/>
                </a:tc>
                <a:extLst>
                  <a:ext uri="{0D108BD9-81ED-4DB2-BD59-A6C34878D82A}">
                    <a16:rowId xmlns:a16="http://schemas.microsoft.com/office/drawing/2014/main" val="3140885341"/>
                  </a:ext>
                </a:extLst>
              </a:tr>
              <a:tr h="370840">
                <a:tc>
                  <a:txBody>
                    <a:bodyPr/>
                    <a:lstStyle/>
                    <a:p>
                      <a:pPr algn="r"/>
                      <a:r>
                        <a:rPr kumimoji="1" lang="en-US" altLang="ja-JP" sz="1400" dirty="0">
                          <a:latin typeface="メイリオ" panose="020B0604030504040204" pitchFamily="50" charset="-128"/>
                          <a:ea typeface="メイリオ" panose="020B0604030504040204" pitchFamily="50" charset="-128"/>
                        </a:rPr>
                        <a:t>5</a:t>
                      </a:r>
                      <a:endParaRPr kumimoji="1" lang="ja-JP" altLang="en-US" sz="14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400" dirty="0">
                          <a:latin typeface="メイリオ" panose="020B0604030504040204" pitchFamily="50" charset="-128"/>
                          <a:ea typeface="メイリオ" panose="020B0604030504040204" pitchFamily="50" charset="-128"/>
                        </a:rPr>
                        <a:t>フジキ工芸産業　</a:t>
                      </a:r>
                      <a:r>
                        <a:rPr kumimoji="1" lang="en-US" altLang="ja-JP" sz="1400" dirty="0">
                          <a:solidFill>
                            <a:srgbClr val="FF0000"/>
                          </a:solidFill>
                          <a:latin typeface="メイリオ" panose="020B0604030504040204" pitchFamily="50" charset="-128"/>
                          <a:ea typeface="メイリオ" panose="020B0604030504040204" pitchFamily="50" charset="-128"/>
                        </a:rPr>
                        <a:t>※7</a:t>
                      </a:r>
                      <a:r>
                        <a:rPr kumimoji="1" lang="ja-JP" altLang="en-US" sz="1400" dirty="0">
                          <a:solidFill>
                            <a:srgbClr val="FF0000"/>
                          </a:solidFill>
                          <a:latin typeface="メイリオ" panose="020B0604030504040204" pitchFamily="50" charset="-128"/>
                          <a:ea typeface="メイリオ" panose="020B0604030504040204" pitchFamily="50" charset="-128"/>
                        </a:rPr>
                        <a:t>月末クローズ</a:t>
                      </a:r>
                    </a:p>
                  </a:txBody>
                  <a:tcPr anchor="ctr"/>
                </a:tc>
                <a:extLst>
                  <a:ext uri="{0D108BD9-81ED-4DB2-BD59-A6C34878D82A}">
                    <a16:rowId xmlns:a16="http://schemas.microsoft.com/office/drawing/2014/main" val="3048989387"/>
                  </a:ext>
                </a:extLst>
              </a:tr>
              <a:tr h="370840">
                <a:tc>
                  <a:txBody>
                    <a:bodyPr/>
                    <a:lstStyle/>
                    <a:p>
                      <a:pPr algn="r"/>
                      <a:r>
                        <a:rPr kumimoji="1" lang="en-US" altLang="ja-JP" sz="1400" dirty="0">
                          <a:latin typeface="メイリオ" panose="020B0604030504040204" pitchFamily="50" charset="-128"/>
                          <a:ea typeface="メイリオ" panose="020B0604030504040204" pitchFamily="50" charset="-128"/>
                        </a:rPr>
                        <a:t>6</a:t>
                      </a:r>
                      <a:endParaRPr kumimoji="1" lang="ja-JP" altLang="en-US" sz="14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400" dirty="0">
                          <a:latin typeface="メイリオ" panose="020B0604030504040204" pitchFamily="50" charset="-128"/>
                          <a:ea typeface="メイリオ" panose="020B0604030504040204" pitchFamily="50" charset="-128"/>
                        </a:rPr>
                        <a:t>加納コーポレーション</a:t>
                      </a:r>
                    </a:p>
                  </a:txBody>
                  <a:tcPr anchor="ctr"/>
                </a:tc>
                <a:extLst>
                  <a:ext uri="{0D108BD9-81ED-4DB2-BD59-A6C34878D82A}">
                    <a16:rowId xmlns:a16="http://schemas.microsoft.com/office/drawing/2014/main" val="3574178380"/>
                  </a:ext>
                </a:extLst>
              </a:tr>
              <a:tr h="370840">
                <a:tc>
                  <a:txBody>
                    <a:bodyPr/>
                    <a:lstStyle/>
                    <a:p>
                      <a:pPr algn="r"/>
                      <a:r>
                        <a:rPr kumimoji="1" lang="en-US" altLang="ja-JP" sz="1400" dirty="0">
                          <a:latin typeface="メイリオ" panose="020B0604030504040204" pitchFamily="50" charset="-128"/>
                          <a:ea typeface="メイリオ" panose="020B0604030504040204" pitchFamily="50" charset="-128"/>
                        </a:rPr>
                        <a:t>7</a:t>
                      </a:r>
                      <a:endParaRPr kumimoji="1" lang="ja-JP" altLang="en-US" sz="14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400" dirty="0">
                          <a:latin typeface="メイリオ" panose="020B0604030504040204" pitchFamily="50" charset="-128"/>
                          <a:ea typeface="メイリオ" panose="020B0604030504040204" pitchFamily="50" charset="-128"/>
                        </a:rPr>
                        <a:t>日本ウエイン</a:t>
                      </a:r>
                    </a:p>
                  </a:txBody>
                  <a:tcPr anchor="ctr"/>
                </a:tc>
                <a:extLst>
                  <a:ext uri="{0D108BD9-81ED-4DB2-BD59-A6C34878D82A}">
                    <a16:rowId xmlns:a16="http://schemas.microsoft.com/office/drawing/2014/main" val="1990382075"/>
                  </a:ext>
                </a:extLst>
              </a:tr>
              <a:tr h="345648">
                <a:tc>
                  <a:txBody>
                    <a:bodyPr/>
                    <a:lstStyle/>
                    <a:p>
                      <a:pPr algn="r"/>
                      <a:r>
                        <a:rPr kumimoji="1" lang="en-US" altLang="ja-JP" sz="1400" dirty="0">
                          <a:latin typeface="メイリオ" panose="020B0604030504040204" pitchFamily="50" charset="-128"/>
                          <a:ea typeface="メイリオ" panose="020B0604030504040204" pitchFamily="50" charset="-128"/>
                        </a:rPr>
                        <a:t>8</a:t>
                      </a:r>
                      <a:endParaRPr kumimoji="1" lang="ja-JP" altLang="en-US" sz="14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400" dirty="0">
                          <a:latin typeface="メイリオ" panose="020B0604030504040204" pitchFamily="50" charset="-128"/>
                          <a:ea typeface="メイリオ" panose="020B0604030504040204" pitchFamily="50" charset="-128"/>
                        </a:rPr>
                        <a:t>日東電工</a:t>
                      </a:r>
                      <a:r>
                        <a:rPr kumimoji="1" lang="en-US" altLang="ja-JP" sz="1400" dirty="0">
                          <a:latin typeface="メイリオ" panose="020B0604030504040204" pitchFamily="50" charset="-128"/>
                          <a:ea typeface="メイリオ" panose="020B0604030504040204" pitchFamily="50" charset="-128"/>
                        </a:rPr>
                        <a:t>BM</a:t>
                      </a:r>
                      <a:endParaRPr kumimoji="1" lang="ja-JP" altLang="en-US" sz="1400" dirty="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4187584493"/>
                  </a:ext>
                </a:extLst>
              </a:tr>
              <a:tr h="370840">
                <a:tc>
                  <a:txBody>
                    <a:bodyPr/>
                    <a:lstStyle/>
                    <a:p>
                      <a:pPr algn="r"/>
                      <a:r>
                        <a:rPr kumimoji="1" lang="en-US" altLang="ja-JP" sz="1400" dirty="0">
                          <a:latin typeface="メイリオ" panose="020B0604030504040204" pitchFamily="50" charset="-128"/>
                          <a:ea typeface="メイリオ" panose="020B0604030504040204" pitchFamily="50" charset="-128"/>
                        </a:rPr>
                        <a:t>9</a:t>
                      </a:r>
                      <a:endParaRPr kumimoji="1" lang="ja-JP" altLang="en-US" sz="14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400" dirty="0">
                          <a:latin typeface="メイリオ" panose="020B0604030504040204" pitchFamily="50" charset="-128"/>
                          <a:ea typeface="メイリオ" panose="020B0604030504040204" pitchFamily="50" charset="-128"/>
                        </a:rPr>
                        <a:t>貴和製作所</a:t>
                      </a:r>
                    </a:p>
                  </a:txBody>
                  <a:tcPr anchor="ctr"/>
                </a:tc>
                <a:extLst>
                  <a:ext uri="{0D108BD9-81ED-4DB2-BD59-A6C34878D82A}">
                    <a16:rowId xmlns:a16="http://schemas.microsoft.com/office/drawing/2014/main" val="3341462380"/>
                  </a:ext>
                </a:extLst>
              </a:tr>
              <a:tr h="370840">
                <a:tc>
                  <a:txBody>
                    <a:bodyPr/>
                    <a:lstStyle/>
                    <a:p>
                      <a:pPr algn="r"/>
                      <a:r>
                        <a:rPr kumimoji="1" lang="en-US" altLang="ja-JP" sz="1400" dirty="0">
                          <a:latin typeface="メイリオ" panose="020B0604030504040204" pitchFamily="50" charset="-128"/>
                          <a:ea typeface="メイリオ" panose="020B0604030504040204" pitchFamily="50" charset="-128"/>
                        </a:rPr>
                        <a:t>10</a:t>
                      </a:r>
                      <a:endParaRPr kumimoji="1" lang="ja-JP" altLang="en-US" sz="14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400" dirty="0">
                          <a:latin typeface="メイリオ" panose="020B0604030504040204" pitchFamily="50" charset="-128"/>
                          <a:ea typeface="メイリオ" panose="020B0604030504040204" pitchFamily="50" charset="-128"/>
                        </a:rPr>
                        <a:t>マルサン</a:t>
                      </a:r>
                    </a:p>
                  </a:txBody>
                  <a:tcPr anchor="ctr"/>
                </a:tc>
                <a:extLst>
                  <a:ext uri="{0D108BD9-81ED-4DB2-BD59-A6C34878D82A}">
                    <a16:rowId xmlns:a16="http://schemas.microsoft.com/office/drawing/2014/main" val="211615461"/>
                  </a:ext>
                </a:extLst>
              </a:tr>
            </a:tbl>
          </a:graphicData>
        </a:graphic>
      </p:graphicFrame>
      <p:graphicFrame>
        <p:nvGraphicFramePr>
          <p:cNvPr id="4" name="表 3">
            <a:extLst>
              <a:ext uri="{FF2B5EF4-FFF2-40B4-BE49-F238E27FC236}">
                <a16:creationId xmlns:a16="http://schemas.microsoft.com/office/drawing/2014/main" id="{D3EA38CF-4724-C923-106C-AB3BCF02E64B}"/>
              </a:ext>
            </a:extLst>
          </p:cNvPr>
          <p:cNvGraphicFramePr>
            <a:graphicFrameLocks noGrp="1"/>
          </p:cNvGraphicFramePr>
          <p:nvPr>
            <p:extLst>
              <p:ext uri="{D42A27DB-BD31-4B8C-83A1-F6EECF244321}">
                <p14:modId xmlns:p14="http://schemas.microsoft.com/office/powerpoint/2010/main" val="933450982"/>
              </p:ext>
            </p:extLst>
          </p:nvPr>
        </p:nvGraphicFramePr>
        <p:xfrm>
          <a:off x="4954642" y="1386223"/>
          <a:ext cx="3814782" cy="4079240"/>
        </p:xfrm>
        <a:graphic>
          <a:graphicData uri="http://schemas.openxmlformats.org/drawingml/2006/table">
            <a:tbl>
              <a:tblPr firstRow="1" bandRow="1">
                <a:tableStyleId>{5C22544A-7EE6-4342-B048-85BDC9FD1C3A}</a:tableStyleId>
              </a:tblPr>
              <a:tblGrid>
                <a:gridCol w="439873">
                  <a:extLst>
                    <a:ext uri="{9D8B030D-6E8A-4147-A177-3AD203B41FA5}">
                      <a16:colId xmlns:a16="http://schemas.microsoft.com/office/drawing/2014/main" val="2034357534"/>
                    </a:ext>
                  </a:extLst>
                </a:gridCol>
                <a:gridCol w="3374909">
                  <a:extLst>
                    <a:ext uri="{9D8B030D-6E8A-4147-A177-3AD203B41FA5}">
                      <a16:colId xmlns:a16="http://schemas.microsoft.com/office/drawing/2014/main" val="879950940"/>
                    </a:ext>
                  </a:extLst>
                </a:gridCol>
              </a:tblGrid>
              <a:tr h="370840">
                <a:tc>
                  <a:txBody>
                    <a:bodyPr/>
                    <a:lstStyle/>
                    <a:p>
                      <a:endParaRPr kumimoji="1" lang="ja-JP" altLang="en-US" dirty="0"/>
                    </a:p>
                  </a:txBody>
                  <a:tcPr/>
                </a:tc>
                <a:tc>
                  <a:txBody>
                    <a:bodyPr/>
                    <a:lstStyle/>
                    <a:p>
                      <a:endParaRPr kumimoji="1" lang="ja-JP" altLang="en-US" dirty="0"/>
                    </a:p>
                  </a:txBody>
                  <a:tcPr/>
                </a:tc>
                <a:extLst>
                  <a:ext uri="{0D108BD9-81ED-4DB2-BD59-A6C34878D82A}">
                    <a16:rowId xmlns:a16="http://schemas.microsoft.com/office/drawing/2014/main" val="4210059274"/>
                  </a:ext>
                </a:extLst>
              </a:tr>
              <a:tr h="370840">
                <a:tc>
                  <a:txBody>
                    <a:bodyPr/>
                    <a:lstStyle/>
                    <a:p>
                      <a:pPr algn="r"/>
                      <a:r>
                        <a:rPr kumimoji="1" lang="en-US" altLang="ja-JP" sz="1400" dirty="0">
                          <a:latin typeface="メイリオ" panose="020B0604030504040204" pitchFamily="50" charset="-128"/>
                          <a:ea typeface="メイリオ" panose="020B0604030504040204" pitchFamily="50" charset="-128"/>
                        </a:rPr>
                        <a:t>11</a:t>
                      </a:r>
                      <a:endParaRPr kumimoji="1" lang="ja-JP" altLang="en-US" sz="1400" dirty="0">
                        <a:latin typeface="メイリオ" panose="020B0604030504040204" pitchFamily="50" charset="-128"/>
                        <a:ea typeface="メイリオ"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メイリオ" panose="020B0604030504040204" pitchFamily="50" charset="-128"/>
                          <a:ea typeface="メイリオ" panose="020B0604030504040204" pitchFamily="50" charset="-128"/>
                        </a:rPr>
                        <a:t>EM</a:t>
                      </a:r>
                      <a:r>
                        <a:rPr kumimoji="1" lang="ja-JP" altLang="en-US" sz="1400" dirty="0">
                          <a:latin typeface="メイリオ" panose="020B0604030504040204" pitchFamily="50" charset="-128"/>
                          <a:ea typeface="メイリオ" panose="020B0604030504040204" pitchFamily="50" charset="-128"/>
                        </a:rPr>
                        <a:t>システムズ</a:t>
                      </a:r>
                    </a:p>
                  </a:txBody>
                  <a:tcPr anchor="ctr"/>
                </a:tc>
                <a:extLst>
                  <a:ext uri="{0D108BD9-81ED-4DB2-BD59-A6C34878D82A}">
                    <a16:rowId xmlns:a16="http://schemas.microsoft.com/office/drawing/2014/main" val="842568075"/>
                  </a:ext>
                </a:extLst>
              </a:tr>
              <a:tr h="370840">
                <a:tc>
                  <a:txBody>
                    <a:bodyPr/>
                    <a:lstStyle/>
                    <a:p>
                      <a:pPr algn="r"/>
                      <a:r>
                        <a:rPr kumimoji="1" lang="en-US" altLang="ja-JP" sz="1400" dirty="0">
                          <a:latin typeface="メイリオ" panose="020B0604030504040204" pitchFamily="50" charset="-128"/>
                          <a:ea typeface="メイリオ" panose="020B0604030504040204" pitchFamily="50" charset="-128"/>
                        </a:rPr>
                        <a:t>12</a:t>
                      </a:r>
                      <a:endParaRPr kumimoji="1" lang="ja-JP" altLang="en-US" sz="1400" dirty="0">
                        <a:latin typeface="メイリオ" panose="020B0604030504040204" pitchFamily="50" charset="-128"/>
                        <a:ea typeface="メイリオ" panose="020B0604030504040204" pitchFamily="50" charset="-128"/>
                      </a:endParaRPr>
                    </a:p>
                  </a:txBody>
                  <a:tcPr anchor="ctr"/>
                </a:tc>
                <a:tc>
                  <a:txBody>
                    <a:bodyPr/>
                    <a:lstStyle/>
                    <a:p>
                      <a:r>
                        <a:rPr kumimoji="1" lang="zh-TW" altLang="en-US" sz="1400" dirty="0">
                          <a:latin typeface="メイリオ" panose="020B0604030504040204" pitchFamily="50" charset="-128"/>
                          <a:ea typeface="メイリオ" panose="020B0604030504040204" pitchFamily="50" charset="-128"/>
                        </a:rPr>
                        <a:t>日本漢字能力検定協会</a:t>
                      </a:r>
                      <a:endParaRPr kumimoji="1" lang="ja-JP" altLang="en-US" sz="1400" dirty="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41406698"/>
                  </a:ext>
                </a:extLst>
              </a:tr>
              <a:tr h="370840">
                <a:tc>
                  <a:txBody>
                    <a:bodyPr/>
                    <a:lstStyle/>
                    <a:p>
                      <a:pPr algn="r"/>
                      <a:r>
                        <a:rPr kumimoji="1" lang="en-US" altLang="ja-JP" sz="1400" dirty="0">
                          <a:latin typeface="メイリオ" panose="020B0604030504040204" pitchFamily="50" charset="-128"/>
                          <a:ea typeface="メイリオ" panose="020B0604030504040204" pitchFamily="50" charset="-128"/>
                        </a:rPr>
                        <a:t>13</a:t>
                      </a:r>
                      <a:endParaRPr kumimoji="1" lang="ja-JP" altLang="en-US" sz="14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400" dirty="0">
                          <a:latin typeface="メイリオ" panose="020B0604030504040204" pitchFamily="50" charset="-128"/>
                          <a:ea typeface="メイリオ" panose="020B0604030504040204" pitchFamily="50" charset="-128"/>
                        </a:rPr>
                        <a:t>ヤーマン</a:t>
                      </a:r>
                    </a:p>
                  </a:txBody>
                  <a:tcPr anchor="ctr"/>
                </a:tc>
                <a:extLst>
                  <a:ext uri="{0D108BD9-81ED-4DB2-BD59-A6C34878D82A}">
                    <a16:rowId xmlns:a16="http://schemas.microsoft.com/office/drawing/2014/main" val="2768856662"/>
                  </a:ext>
                </a:extLst>
              </a:tr>
              <a:tr h="370840">
                <a:tc>
                  <a:txBody>
                    <a:bodyPr/>
                    <a:lstStyle/>
                    <a:p>
                      <a:r>
                        <a:rPr kumimoji="1" lang="en-US" altLang="ja-JP" sz="1400" dirty="0">
                          <a:latin typeface="メイリオ" panose="020B0604030504040204" pitchFamily="50" charset="-128"/>
                          <a:ea typeface="メイリオ" panose="020B0604030504040204" pitchFamily="50" charset="-128"/>
                        </a:rPr>
                        <a:t>14</a:t>
                      </a:r>
                      <a:endParaRPr kumimoji="1" lang="ja-JP" altLang="en-US" sz="14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400" dirty="0">
                          <a:latin typeface="メイリオ" panose="020B0604030504040204" pitchFamily="50" charset="-128"/>
                          <a:ea typeface="メイリオ" panose="020B0604030504040204" pitchFamily="50" charset="-128"/>
                        </a:rPr>
                        <a:t>ニトムズ</a:t>
                      </a:r>
                    </a:p>
                  </a:txBody>
                  <a:tcPr anchor="ctr"/>
                </a:tc>
                <a:extLst>
                  <a:ext uri="{0D108BD9-81ED-4DB2-BD59-A6C34878D82A}">
                    <a16:rowId xmlns:a16="http://schemas.microsoft.com/office/drawing/2014/main" val="3478899416"/>
                  </a:ext>
                </a:extLst>
              </a:tr>
              <a:tr h="370840">
                <a:tc>
                  <a:txBody>
                    <a:bodyPr/>
                    <a:lstStyle/>
                    <a:p>
                      <a:r>
                        <a:rPr kumimoji="1" lang="en-US" altLang="ja-JP" sz="1400" dirty="0">
                          <a:latin typeface="メイリオ" panose="020B0604030504040204" pitchFamily="50" charset="-128"/>
                          <a:ea typeface="メイリオ" panose="020B0604030504040204" pitchFamily="50" charset="-128"/>
                        </a:rPr>
                        <a:t>15</a:t>
                      </a:r>
                      <a:endParaRPr kumimoji="1" lang="ja-JP" altLang="en-US" sz="1400" dirty="0">
                        <a:latin typeface="メイリオ" panose="020B0604030504040204" pitchFamily="50" charset="-128"/>
                        <a:ea typeface="メイリオ"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メイリオ" panose="020B0604030504040204" pitchFamily="50" charset="-128"/>
                          <a:ea typeface="メイリオ" panose="020B0604030504040204" pitchFamily="50" charset="-128"/>
                        </a:rPr>
                        <a:t>ティーガイア</a:t>
                      </a:r>
                    </a:p>
                  </a:txBody>
                  <a:tcPr anchor="ctr"/>
                </a:tc>
                <a:extLst>
                  <a:ext uri="{0D108BD9-81ED-4DB2-BD59-A6C34878D82A}">
                    <a16:rowId xmlns:a16="http://schemas.microsoft.com/office/drawing/2014/main" val="2129140566"/>
                  </a:ext>
                </a:extLst>
              </a:tr>
              <a:tr h="370840">
                <a:tc>
                  <a:txBody>
                    <a:bodyPr/>
                    <a:lstStyle/>
                    <a:p>
                      <a:r>
                        <a:rPr kumimoji="1" lang="en-US" altLang="ja-JP" sz="1400" dirty="0">
                          <a:latin typeface="メイリオ" panose="020B0604030504040204" pitchFamily="50" charset="-128"/>
                          <a:ea typeface="メイリオ" panose="020B0604030504040204" pitchFamily="50" charset="-128"/>
                        </a:rPr>
                        <a:t>16</a:t>
                      </a:r>
                      <a:endParaRPr kumimoji="1" lang="ja-JP" altLang="en-US" sz="1400" dirty="0">
                        <a:latin typeface="メイリオ" panose="020B0604030504040204" pitchFamily="50" charset="-128"/>
                        <a:ea typeface="メイリオ"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メイリオ" panose="020B0604030504040204" pitchFamily="50" charset="-128"/>
                          <a:ea typeface="メイリオ" panose="020B0604030504040204" pitchFamily="50" charset="-128"/>
                        </a:rPr>
                        <a:t>アシックス商事　</a:t>
                      </a:r>
                      <a:r>
                        <a:rPr kumimoji="1" lang="en-US" altLang="ja-JP" sz="1400" dirty="0">
                          <a:solidFill>
                            <a:srgbClr val="FF0000"/>
                          </a:solidFill>
                          <a:latin typeface="メイリオ" panose="020B0604030504040204" pitchFamily="50" charset="-128"/>
                          <a:ea typeface="メイリオ" panose="020B0604030504040204" pitchFamily="50" charset="-128"/>
                        </a:rPr>
                        <a:t>※9</a:t>
                      </a:r>
                      <a:r>
                        <a:rPr kumimoji="1" lang="ja-JP" altLang="en-US" sz="1400" dirty="0">
                          <a:solidFill>
                            <a:srgbClr val="FF0000"/>
                          </a:solidFill>
                          <a:latin typeface="メイリオ" panose="020B0604030504040204" pitchFamily="50" charset="-128"/>
                          <a:ea typeface="メイリオ" panose="020B0604030504040204" pitchFamily="50" charset="-128"/>
                        </a:rPr>
                        <a:t>月末クローズ</a:t>
                      </a:r>
                      <a:endParaRPr kumimoji="1" lang="ja-JP" altLang="en-US" sz="1400" dirty="0">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2125371019"/>
                  </a:ext>
                </a:extLst>
              </a:tr>
              <a:tr h="370840">
                <a:tc>
                  <a:txBody>
                    <a:bodyPr/>
                    <a:lstStyle/>
                    <a:p>
                      <a:r>
                        <a:rPr kumimoji="1" lang="en-US" altLang="ja-JP" sz="1400" dirty="0">
                          <a:latin typeface="メイリオ" panose="020B0604030504040204" pitchFamily="50" charset="-128"/>
                          <a:ea typeface="メイリオ" panose="020B0604030504040204" pitchFamily="50" charset="-128"/>
                        </a:rPr>
                        <a:t>17</a:t>
                      </a:r>
                      <a:endParaRPr kumimoji="1" lang="ja-JP" altLang="en-US" sz="1400" dirty="0">
                        <a:latin typeface="メイリオ" panose="020B0604030504040204" pitchFamily="50" charset="-128"/>
                        <a:ea typeface="メイリオ"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メイリオ" panose="020B0604030504040204" pitchFamily="50" charset="-128"/>
                          <a:ea typeface="メイリオ" panose="020B0604030504040204" pitchFamily="50" charset="-128"/>
                        </a:rPr>
                        <a:t>パシフィックプロダクツ</a:t>
                      </a:r>
                    </a:p>
                  </a:txBody>
                  <a:tcPr anchor="ctr"/>
                </a:tc>
                <a:extLst>
                  <a:ext uri="{0D108BD9-81ED-4DB2-BD59-A6C34878D82A}">
                    <a16:rowId xmlns:a16="http://schemas.microsoft.com/office/drawing/2014/main" val="3140885341"/>
                  </a:ext>
                </a:extLst>
              </a:tr>
              <a:tr h="370840">
                <a:tc>
                  <a:txBody>
                    <a:bodyPr/>
                    <a:lstStyle/>
                    <a:p>
                      <a:r>
                        <a:rPr kumimoji="1" lang="en-US" altLang="ja-JP" sz="1400" dirty="0">
                          <a:latin typeface="メイリオ" panose="020B0604030504040204" pitchFamily="50" charset="-128"/>
                          <a:ea typeface="メイリオ" panose="020B0604030504040204" pitchFamily="50" charset="-128"/>
                        </a:rPr>
                        <a:t>18</a:t>
                      </a:r>
                      <a:endParaRPr kumimoji="1" lang="ja-JP" altLang="en-US" sz="1400" dirty="0">
                        <a:latin typeface="メイリオ" panose="020B0604030504040204" pitchFamily="50" charset="-128"/>
                        <a:ea typeface="メイリオ"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メイリオ" panose="020B0604030504040204" pitchFamily="50" charset="-128"/>
                          <a:ea typeface="メイリオ" panose="020B0604030504040204" pitchFamily="50" charset="-128"/>
                        </a:rPr>
                        <a:t>紀伊國屋書店</a:t>
                      </a:r>
                    </a:p>
                  </a:txBody>
                  <a:tcPr anchor="ctr"/>
                </a:tc>
                <a:extLst>
                  <a:ext uri="{0D108BD9-81ED-4DB2-BD59-A6C34878D82A}">
                    <a16:rowId xmlns:a16="http://schemas.microsoft.com/office/drawing/2014/main" val="3048989387"/>
                  </a:ext>
                </a:extLst>
              </a:tr>
              <a:tr h="370840">
                <a:tc>
                  <a:txBody>
                    <a:bodyPr/>
                    <a:lstStyle/>
                    <a:p>
                      <a:r>
                        <a:rPr kumimoji="1" lang="en-US" altLang="ja-JP" sz="1400" dirty="0">
                          <a:latin typeface="メイリオ" panose="020B0604030504040204" pitchFamily="50" charset="-128"/>
                          <a:ea typeface="メイリオ" panose="020B0604030504040204" pitchFamily="50" charset="-128"/>
                        </a:rPr>
                        <a:t>19</a:t>
                      </a:r>
                      <a:endParaRPr kumimoji="1" lang="ja-JP" altLang="en-US" sz="1400" dirty="0">
                        <a:latin typeface="メイリオ" panose="020B0604030504040204" pitchFamily="50" charset="-128"/>
                        <a:ea typeface="メイリオ"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latin typeface="メイリオ" panose="020B0604030504040204" pitchFamily="50" charset="-128"/>
                          <a:ea typeface="メイリオ" panose="020B0604030504040204" pitchFamily="50" charset="-128"/>
                        </a:rPr>
                        <a:t>キャンドゥ　</a:t>
                      </a:r>
                      <a:r>
                        <a:rPr kumimoji="1" lang="en-US" altLang="ja-JP" sz="1400" dirty="0">
                          <a:solidFill>
                            <a:schemeClr val="tx1"/>
                          </a:solidFill>
                          <a:latin typeface="メイリオ" panose="020B0604030504040204" pitchFamily="50" charset="-128"/>
                          <a:ea typeface="メイリオ" panose="020B0604030504040204" pitchFamily="50" charset="-128"/>
                        </a:rPr>
                        <a:t>※1</a:t>
                      </a:r>
                      <a:endParaRPr kumimoji="1" lang="ja-JP" altLang="en-US" sz="1400" dirty="0">
                        <a:solidFill>
                          <a:schemeClr val="tx1"/>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3574178380"/>
                  </a:ext>
                </a:extLst>
              </a:tr>
              <a:tr h="370840">
                <a:tc>
                  <a:txBody>
                    <a:bodyPr/>
                    <a:lstStyle/>
                    <a:p>
                      <a:r>
                        <a:rPr kumimoji="1" lang="en-US" altLang="ja-JP" sz="1400" dirty="0">
                          <a:latin typeface="メイリオ" panose="020B0604030504040204" pitchFamily="50" charset="-128"/>
                          <a:ea typeface="メイリオ" panose="020B0604030504040204" pitchFamily="50" charset="-128"/>
                        </a:rPr>
                        <a:t>20</a:t>
                      </a:r>
                      <a:endParaRPr kumimoji="1" lang="ja-JP" altLang="en-US" sz="1400" dirty="0">
                        <a:latin typeface="メイリオ" panose="020B0604030504040204" pitchFamily="50" charset="-128"/>
                        <a:ea typeface="メイリオ"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solidFill>
                            <a:schemeClr val="tx1"/>
                          </a:solidFill>
                          <a:latin typeface="メイリオ" panose="020B0604030504040204" pitchFamily="50" charset="-128"/>
                          <a:ea typeface="メイリオ" panose="020B0604030504040204" pitchFamily="50" charset="-128"/>
                        </a:rPr>
                        <a:t>ポディウム　</a:t>
                      </a:r>
                      <a:r>
                        <a:rPr kumimoji="1" lang="en-US" altLang="ja-JP" sz="1400" dirty="0">
                          <a:solidFill>
                            <a:schemeClr val="tx1"/>
                          </a:solidFill>
                          <a:latin typeface="メイリオ" panose="020B0604030504040204" pitchFamily="50" charset="-128"/>
                          <a:ea typeface="メイリオ" panose="020B0604030504040204" pitchFamily="50" charset="-128"/>
                        </a:rPr>
                        <a:t>※1</a:t>
                      </a:r>
                      <a:endParaRPr kumimoji="1" lang="ja-JP" altLang="en-US" sz="1400" dirty="0">
                        <a:solidFill>
                          <a:schemeClr val="tx1"/>
                        </a:solidFill>
                        <a:latin typeface="メイリオ" panose="020B0604030504040204" pitchFamily="50" charset="-128"/>
                        <a:ea typeface="メイリオ" panose="020B0604030504040204" pitchFamily="50" charset="-128"/>
                      </a:endParaRPr>
                    </a:p>
                  </a:txBody>
                  <a:tcPr anchor="ctr"/>
                </a:tc>
                <a:extLst>
                  <a:ext uri="{0D108BD9-81ED-4DB2-BD59-A6C34878D82A}">
                    <a16:rowId xmlns:a16="http://schemas.microsoft.com/office/drawing/2014/main" val="1990382075"/>
                  </a:ext>
                </a:extLst>
              </a:tr>
            </a:tbl>
          </a:graphicData>
        </a:graphic>
      </p:graphicFrame>
      <p:sp>
        <p:nvSpPr>
          <p:cNvPr id="5" name="テキスト ボックス 4">
            <a:extLst>
              <a:ext uri="{FF2B5EF4-FFF2-40B4-BE49-F238E27FC236}">
                <a16:creationId xmlns:a16="http://schemas.microsoft.com/office/drawing/2014/main" id="{3B5BF170-B0CE-2DC5-9089-72F096C206A8}"/>
              </a:ext>
            </a:extLst>
          </p:cNvPr>
          <p:cNvSpPr txBox="1">
            <a:spLocks/>
          </p:cNvSpPr>
          <p:nvPr/>
        </p:nvSpPr>
        <p:spPr>
          <a:xfrm>
            <a:off x="776537" y="908720"/>
            <a:ext cx="8064895" cy="338554"/>
          </a:xfrm>
          <a:prstGeom prst="rect">
            <a:avLst/>
          </a:prstGeom>
          <a:noFill/>
        </p:spPr>
        <p:txBody>
          <a:bodyPr wrap="square" rtlCol="0">
            <a:spAutoFit/>
          </a:bodyPr>
          <a:lstStyle/>
          <a:p>
            <a:r>
              <a:rPr lang="en-US" altLang="ja-JP" sz="1600" dirty="0">
                <a:latin typeface="メイリオ"/>
                <a:ea typeface="メイリオ"/>
                <a:cs typeface="メイリオ"/>
              </a:rPr>
              <a:t>2026</a:t>
            </a:r>
            <a:r>
              <a:rPr lang="ja-JP" altLang="en-US" sz="1600" dirty="0">
                <a:latin typeface="メイリオ"/>
                <a:ea typeface="メイリオ"/>
                <a:cs typeface="メイリオ"/>
              </a:rPr>
              <a:t>年度の既存顧客</a:t>
            </a:r>
            <a:endParaRPr lang="en-US" altLang="ja-JP" sz="1600" dirty="0">
              <a:latin typeface="メイリオ"/>
              <a:ea typeface="メイリオ"/>
              <a:cs typeface="メイリオ"/>
            </a:endParaRPr>
          </a:p>
        </p:txBody>
      </p:sp>
      <p:sp>
        <p:nvSpPr>
          <p:cNvPr id="7" name="テキスト ボックス 6">
            <a:extLst>
              <a:ext uri="{FF2B5EF4-FFF2-40B4-BE49-F238E27FC236}">
                <a16:creationId xmlns:a16="http://schemas.microsoft.com/office/drawing/2014/main" id="{FECA8E7B-065F-A45D-5BF2-F051A39025C1}"/>
              </a:ext>
            </a:extLst>
          </p:cNvPr>
          <p:cNvSpPr txBox="1">
            <a:spLocks/>
          </p:cNvSpPr>
          <p:nvPr/>
        </p:nvSpPr>
        <p:spPr>
          <a:xfrm>
            <a:off x="5385048" y="5510324"/>
            <a:ext cx="2808312" cy="307777"/>
          </a:xfrm>
          <a:prstGeom prst="rect">
            <a:avLst/>
          </a:prstGeom>
          <a:noFill/>
        </p:spPr>
        <p:txBody>
          <a:bodyPr wrap="square" rtlCol="0">
            <a:spAutoFit/>
          </a:bodyPr>
          <a:lstStyle/>
          <a:p>
            <a:r>
              <a:rPr lang="en-US" altLang="ja-JP" sz="1400" dirty="0">
                <a:latin typeface="メイリオ" panose="020B0604030504040204" pitchFamily="50" charset="-128"/>
                <a:ea typeface="メイリオ" panose="020B0604030504040204" pitchFamily="50" charset="-128"/>
                <a:cs typeface="メイリオ"/>
              </a:rPr>
              <a:t>※1</a:t>
            </a:r>
            <a:r>
              <a:rPr lang="ja-JP" altLang="en-US" sz="1400" dirty="0">
                <a:latin typeface="メイリオ" panose="020B0604030504040204" pitchFamily="50" charset="-128"/>
                <a:ea typeface="メイリオ" panose="020B0604030504040204" pitchFamily="50" charset="-128"/>
                <a:cs typeface="メイリオ"/>
              </a:rPr>
              <a:t>　新パッケージ</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2" name="Google Shape;152;p7">
            <a:extLst>
              <a:ext uri="{FF2B5EF4-FFF2-40B4-BE49-F238E27FC236}">
                <a16:creationId xmlns:a16="http://schemas.microsoft.com/office/drawing/2014/main" id="{1303EE1A-1A6B-3181-12C8-F4BEB49B20A2}"/>
              </a:ext>
            </a:extLst>
          </p:cNvPr>
          <p:cNvSpPr txBox="1">
            <a:spLocks noGrp="1"/>
          </p:cNvSpPr>
          <p:nvPr>
            <p:ph type="title"/>
          </p:nvPr>
        </p:nvSpPr>
        <p:spPr>
          <a:xfrm>
            <a:off x="835852" y="142852"/>
            <a:ext cx="8915400" cy="582594"/>
          </a:xfrm>
          <a:prstGeom prst="rect">
            <a:avLst/>
          </a:prstGeom>
          <a:noFill/>
          <a:ln>
            <a:noFill/>
          </a:ln>
        </p:spPr>
        <p:txBody>
          <a:bodyPr spcFirstLastPara="1" wrap="square" lIns="91425" tIns="45700" rIns="91425" bIns="45700" anchor="b" anchorCtr="0">
            <a:noAutofit/>
          </a:bodyPr>
          <a:lstStyle/>
          <a:p>
            <a:pPr>
              <a:lnSpc>
                <a:spcPct val="130000"/>
              </a:lnSpc>
            </a:pPr>
            <a:r>
              <a:rPr lang="en-US" altLang="ja-JP" sz="2000" dirty="0">
                <a:latin typeface="メイリオ" pitchFamily="50" charset="-128"/>
                <a:ea typeface="メイリオ" pitchFamily="50" charset="-128"/>
                <a:cs typeface="メイリオ" pitchFamily="50" charset="-128"/>
              </a:rPr>
              <a:t>2.</a:t>
            </a:r>
            <a:r>
              <a:rPr lang="ja-JP" altLang="en-US" sz="2000" dirty="0"/>
              <a:t>既存顧客について　その１</a:t>
            </a:r>
            <a:endParaRPr lang="ja-JP" altLang="en-US" sz="2000" dirty="0">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2600741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9DB09-19AC-698E-A16A-C2BB9AF76732}"/>
            </a:ext>
          </a:extLst>
        </p:cNvPr>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CE48986E-2ED6-FEA5-B0B9-6A25560518A5}"/>
              </a:ext>
            </a:extLst>
          </p:cNvPr>
          <p:cNvGraphicFramePr>
            <a:graphicFrameLocks noGrp="1"/>
          </p:cNvGraphicFramePr>
          <p:nvPr>
            <p:extLst>
              <p:ext uri="{D42A27DB-BD31-4B8C-83A1-F6EECF244321}">
                <p14:modId xmlns:p14="http://schemas.microsoft.com/office/powerpoint/2010/main" val="3458039437"/>
              </p:ext>
            </p:extLst>
          </p:nvPr>
        </p:nvGraphicFramePr>
        <p:xfrm>
          <a:off x="922194" y="1362510"/>
          <a:ext cx="5614982" cy="2966720"/>
        </p:xfrm>
        <a:graphic>
          <a:graphicData uri="http://schemas.openxmlformats.org/drawingml/2006/table">
            <a:tbl>
              <a:tblPr firstRow="1" bandRow="1">
                <a:tableStyleId>{5C22544A-7EE6-4342-B048-85BDC9FD1C3A}</a:tableStyleId>
              </a:tblPr>
              <a:tblGrid>
                <a:gridCol w="430406">
                  <a:extLst>
                    <a:ext uri="{9D8B030D-6E8A-4147-A177-3AD203B41FA5}">
                      <a16:colId xmlns:a16="http://schemas.microsoft.com/office/drawing/2014/main" val="2034357534"/>
                    </a:ext>
                  </a:extLst>
                </a:gridCol>
                <a:gridCol w="3600400">
                  <a:extLst>
                    <a:ext uri="{9D8B030D-6E8A-4147-A177-3AD203B41FA5}">
                      <a16:colId xmlns:a16="http://schemas.microsoft.com/office/drawing/2014/main" val="879950940"/>
                    </a:ext>
                  </a:extLst>
                </a:gridCol>
                <a:gridCol w="1584176">
                  <a:extLst>
                    <a:ext uri="{9D8B030D-6E8A-4147-A177-3AD203B41FA5}">
                      <a16:colId xmlns:a16="http://schemas.microsoft.com/office/drawing/2014/main" val="2019269337"/>
                    </a:ext>
                  </a:extLst>
                </a:gridCol>
              </a:tblGrid>
              <a:tr h="370840">
                <a:tc>
                  <a:txBody>
                    <a:bodyPr/>
                    <a:lstStyle/>
                    <a:p>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pPr algn="ctr"/>
                      <a:r>
                        <a:rPr kumimoji="1" lang="ja-JP" altLang="en-US" sz="1400" dirty="0">
                          <a:latin typeface="メイリオ" panose="020B0604030504040204" pitchFamily="50" charset="-128"/>
                          <a:ea typeface="メイリオ" panose="020B0604030504040204" pitchFamily="50" charset="-128"/>
                        </a:rPr>
                        <a:t>顧客名</a:t>
                      </a:r>
                    </a:p>
                  </a:txBody>
                  <a:tcPr/>
                </a:tc>
                <a:tc>
                  <a:txBody>
                    <a:bodyPr/>
                    <a:lstStyle/>
                    <a:p>
                      <a:r>
                        <a:rPr kumimoji="1" lang="ja-JP" altLang="en-US" sz="1400" dirty="0">
                          <a:latin typeface="メイリオ" panose="020B0604030504040204" pitchFamily="50" charset="-128"/>
                          <a:ea typeface="メイリオ" panose="020B0604030504040204" pitchFamily="50" charset="-128"/>
                        </a:rPr>
                        <a:t>保守時間</a:t>
                      </a:r>
                      <a:r>
                        <a:rPr kumimoji="1" lang="en-US" altLang="ja-JP" sz="1400" dirty="0">
                          <a:latin typeface="メイリオ" panose="020B0604030504040204" pitchFamily="50" charset="-128"/>
                          <a:ea typeface="メイリオ" panose="020B0604030504040204" pitchFamily="50" charset="-128"/>
                        </a:rPr>
                        <a:t>(</a:t>
                      </a:r>
                      <a:r>
                        <a:rPr kumimoji="1" lang="ja-JP" altLang="en-US" sz="1400" dirty="0">
                          <a:latin typeface="メイリオ" panose="020B0604030504040204" pitchFamily="50" charset="-128"/>
                          <a:ea typeface="メイリオ" panose="020B0604030504040204" pitchFamily="50" charset="-128"/>
                        </a:rPr>
                        <a:t>月</a:t>
                      </a:r>
                      <a:r>
                        <a:rPr kumimoji="1" lang="en-US" altLang="ja-JP" sz="1400" dirty="0">
                          <a:latin typeface="メイリオ" panose="020B0604030504040204" pitchFamily="50" charset="-128"/>
                          <a:ea typeface="メイリオ" panose="020B0604030504040204" pitchFamily="50" charset="-128"/>
                        </a:rPr>
                        <a:t>)</a:t>
                      </a:r>
                      <a:endParaRPr kumimoji="1" lang="ja-JP" altLang="en-US" sz="1400" dirty="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4210059274"/>
                  </a:ext>
                </a:extLst>
              </a:tr>
              <a:tr h="370840">
                <a:tc>
                  <a:txBody>
                    <a:bodyPr/>
                    <a:lstStyle/>
                    <a:p>
                      <a:pPr algn="r"/>
                      <a:r>
                        <a:rPr kumimoji="1" lang="en-US" altLang="ja-JP" sz="1400" dirty="0">
                          <a:latin typeface="メイリオ" panose="020B0604030504040204" pitchFamily="50" charset="-128"/>
                          <a:ea typeface="メイリオ" panose="020B0604030504040204" pitchFamily="50" charset="-128"/>
                        </a:rPr>
                        <a:t>1</a:t>
                      </a:r>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r>
                        <a:rPr kumimoji="1" lang="ja-JP" altLang="en-US" sz="1400" dirty="0">
                          <a:latin typeface="メイリオ" panose="020B0604030504040204" pitchFamily="50" charset="-128"/>
                          <a:ea typeface="メイリオ" panose="020B0604030504040204" pitchFamily="50" charset="-128"/>
                        </a:rPr>
                        <a:t>ジャクソン・ラボラトリー・ジャパン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latin typeface="メイリオ" panose="020B0604030504040204" pitchFamily="50" charset="-128"/>
                          <a:ea typeface="メイリオ" panose="020B0604030504040204" pitchFamily="50" charset="-128"/>
                        </a:rPr>
                        <a:t>16</a:t>
                      </a:r>
                      <a:r>
                        <a:rPr kumimoji="1" lang="ja-JP" altLang="en-US" sz="1400" dirty="0">
                          <a:solidFill>
                            <a:schemeClr val="tx1"/>
                          </a:solidFill>
                          <a:latin typeface="メイリオ" panose="020B0604030504040204" pitchFamily="50" charset="-128"/>
                          <a:ea typeface="メイリオ" panose="020B0604030504040204" pitchFamily="50" charset="-128"/>
                        </a:rPr>
                        <a:t>時間</a:t>
                      </a:r>
                    </a:p>
                  </a:txBody>
                  <a:tcPr/>
                </a:tc>
                <a:extLst>
                  <a:ext uri="{0D108BD9-81ED-4DB2-BD59-A6C34878D82A}">
                    <a16:rowId xmlns:a16="http://schemas.microsoft.com/office/drawing/2014/main" val="842568075"/>
                  </a:ext>
                </a:extLst>
              </a:tr>
              <a:tr h="370840">
                <a:tc>
                  <a:txBody>
                    <a:bodyPr/>
                    <a:lstStyle/>
                    <a:p>
                      <a:pPr algn="r"/>
                      <a:r>
                        <a:rPr kumimoji="1" lang="en-US" altLang="ja-JP" sz="1400" dirty="0">
                          <a:latin typeface="メイリオ" panose="020B0604030504040204" pitchFamily="50" charset="-128"/>
                          <a:ea typeface="メイリオ" panose="020B0604030504040204" pitchFamily="50" charset="-128"/>
                        </a:rPr>
                        <a:t>2</a:t>
                      </a:r>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r>
                        <a:rPr kumimoji="1" lang="ja-JP" altLang="en-US" sz="1400" dirty="0">
                          <a:latin typeface="メイリオ" panose="020B0604030504040204" pitchFamily="50" charset="-128"/>
                          <a:ea typeface="メイリオ" panose="020B0604030504040204" pitchFamily="50" charset="-128"/>
                        </a:rPr>
                        <a:t>日本ウエイン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latin typeface="メイリオ" panose="020B0604030504040204" pitchFamily="50" charset="-128"/>
                          <a:ea typeface="メイリオ" panose="020B0604030504040204" pitchFamily="50" charset="-128"/>
                        </a:rPr>
                        <a:t>5</a:t>
                      </a:r>
                      <a:r>
                        <a:rPr kumimoji="1" lang="ja-JP" altLang="en-US" sz="1400" dirty="0">
                          <a:solidFill>
                            <a:schemeClr val="tx1"/>
                          </a:solidFill>
                          <a:latin typeface="メイリオ" panose="020B0604030504040204" pitchFamily="50" charset="-128"/>
                          <a:ea typeface="メイリオ" panose="020B0604030504040204" pitchFamily="50" charset="-128"/>
                        </a:rPr>
                        <a:t>時間</a:t>
                      </a:r>
                    </a:p>
                  </a:txBody>
                  <a:tcPr/>
                </a:tc>
                <a:extLst>
                  <a:ext uri="{0D108BD9-81ED-4DB2-BD59-A6C34878D82A}">
                    <a16:rowId xmlns:a16="http://schemas.microsoft.com/office/drawing/2014/main" val="2129140566"/>
                  </a:ext>
                </a:extLst>
              </a:tr>
              <a:tr h="370840">
                <a:tc>
                  <a:txBody>
                    <a:bodyPr/>
                    <a:lstStyle/>
                    <a:p>
                      <a:pPr algn="r"/>
                      <a:r>
                        <a:rPr kumimoji="1" lang="en-US" altLang="ja-JP" sz="1400" dirty="0">
                          <a:latin typeface="メイリオ" panose="020B0604030504040204" pitchFamily="50" charset="-128"/>
                          <a:ea typeface="メイリオ" panose="020B0604030504040204" pitchFamily="50" charset="-128"/>
                        </a:rPr>
                        <a:t>3</a:t>
                      </a:r>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r>
                        <a:rPr kumimoji="1" lang="ja-JP" altLang="en-US" sz="1400" dirty="0">
                          <a:latin typeface="メイリオ" panose="020B0604030504040204" pitchFamily="50" charset="-128"/>
                          <a:ea typeface="メイリオ" panose="020B0604030504040204" pitchFamily="50" charset="-128"/>
                        </a:rPr>
                        <a:t>日東電工</a:t>
                      </a:r>
                      <a:r>
                        <a:rPr kumimoji="1" lang="en-US" altLang="ja-JP" sz="1400" dirty="0">
                          <a:latin typeface="メイリオ" panose="020B0604030504040204" pitchFamily="50" charset="-128"/>
                          <a:ea typeface="メイリオ" panose="020B0604030504040204" pitchFamily="50" charset="-128"/>
                        </a:rPr>
                        <a:t>BM</a:t>
                      </a:r>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latin typeface="メイリオ" panose="020B0604030504040204" pitchFamily="50" charset="-128"/>
                          <a:ea typeface="メイリオ" panose="020B0604030504040204" pitchFamily="50" charset="-128"/>
                        </a:rPr>
                        <a:t>57</a:t>
                      </a:r>
                      <a:r>
                        <a:rPr kumimoji="1" lang="ja-JP" altLang="en-US" sz="1400" dirty="0">
                          <a:solidFill>
                            <a:schemeClr val="tx1"/>
                          </a:solidFill>
                          <a:latin typeface="メイリオ" panose="020B0604030504040204" pitchFamily="50" charset="-128"/>
                          <a:ea typeface="メイリオ" panose="020B0604030504040204" pitchFamily="50" charset="-128"/>
                        </a:rPr>
                        <a:t>時間</a:t>
                      </a:r>
                    </a:p>
                  </a:txBody>
                  <a:tcPr/>
                </a:tc>
                <a:extLst>
                  <a:ext uri="{0D108BD9-81ED-4DB2-BD59-A6C34878D82A}">
                    <a16:rowId xmlns:a16="http://schemas.microsoft.com/office/drawing/2014/main" val="2125371019"/>
                  </a:ext>
                </a:extLst>
              </a:tr>
              <a:tr h="370840">
                <a:tc>
                  <a:txBody>
                    <a:bodyPr/>
                    <a:lstStyle/>
                    <a:p>
                      <a:pPr algn="r"/>
                      <a:r>
                        <a:rPr kumimoji="1" lang="en-US" altLang="ja-JP" sz="1400" dirty="0">
                          <a:latin typeface="メイリオ" panose="020B0604030504040204" pitchFamily="50" charset="-128"/>
                          <a:ea typeface="メイリオ" panose="020B0604030504040204" pitchFamily="50" charset="-128"/>
                        </a:rPr>
                        <a:t>4</a:t>
                      </a:r>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r>
                        <a:rPr kumimoji="1" lang="ja-JP" altLang="en-US" sz="1400" dirty="0">
                          <a:latin typeface="メイリオ" panose="020B0604030504040204" pitchFamily="50" charset="-128"/>
                          <a:ea typeface="メイリオ" panose="020B0604030504040204" pitchFamily="50" charset="-128"/>
                        </a:rPr>
                        <a:t>ティーガイア</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latin typeface="メイリオ" panose="020B0604030504040204" pitchFamily="50" charset="-128"/>
                          <a:ea typeface="メイリオ" panose="020B0604030504040204" pitchFamily="50" charset="-128"/>
                        </a:rPr>
                        <a:t>16</a:t>
                      </a:r>
                      <a:r>
                        <a:rPr kumimoji="1" lang="ja-JP" altLang="en-US" sz="1400" dirty="0">
                          <a:solidFill>
                            <a:schemeClr val="tx1"/>
                          </a:solidFill>
                          <a:latin typeface="メイリオ" panose="020B0604030504040204" pitchFamily="50" charset="-128"/>
                          <a:ea typeface="メイリオ" panose="020B0604030504040204" pitchFamily="50" charset="-128"/>
                        </a:rPr>
                        <a:t>時間</a:t>
                      </a:r>
                    </a:p>
                  </a:txBody>
                  <a:tcPr/>
                </a:tc>
                <a:extLst>
                  <a:ext uri="{0D108BD9-81ED-4DB2-BD59-A6C34878D82A}">
                    <a16:rowId xmlns:a16="http://schemas.microsoft.com/office/drawing/2014/main" val="3140885341"/>
                  </a:ext>
                </a:extLst>
              </a:tr>
              <a:tr h="370840">
                <a:tc>
                  <a:txBody>
                    <a:bodyPr/>
                    <a:lstStyle/>
                    <a:p>
                      <a:pPr algn="r"/>
                      <a:r>
                        <a:rPr kumimoji="1" lang="en-US" altLang="ja-JP" sz="1400" dirty="0">
                          <a:latin typeface="メイリオ" panose="020B0604030504040204" pitchFamily="50" charset="-128"/>
                          <a:ea typeface="メイリオ" panose="020B0604030504040204" pitchFamily="50" charset="-128"/>
                        </a:rPr>
                        <a:t>5</a:t>
                      </a:r>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メイリオ" panose="020B0604030504040204" pitchFamily="50" charset="-128"/>
                          <a:ea typeface="メイリオ" panose="020B0604030504040204" pitchFamily="50" charset="-128"/>
                        </a:rPr>
                        <a:t>キャンドゥ</a:t>
                      </a:r>
                      <a:endParaRPr kumimoji="1" lang="ja-JP" altLang="en-US" sz="1400" dirty="0">
                        <a:solidFill>
                          <a:srgbClr val="FF0000"/>
                        </a:solidFill>
                        <a:latin typeface="メイリオ" panose="020B0604030504040204" pitchFamily="50" charset="-128"/>
                        <a:ea typeface="メイリオ"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latin typeface="メイリオ" panose="020B0604030504040204" pitchFamily="50" charset="-128"/>
                          <a:ea typeface="メイリオ" panose="020B0604030504040204" pitchFamily="50" charset="-128"/>
                        </a:rPr>
                        <a:t>3</a:t>
                      </a:r>
                      <a:r>
                        <a:rPr kumimoji="1" lang="ja-JP" altLang="en-US" sz="1400" dirty="0">
                          <a:solidFill>
                            <a:schemeClr val="tx1"/>
                          </a:solidFill>
                          <a:latin typeface="メイリオ" panose="020B0604030504040204" pitchFamily="50" charset="-128"/>
                          <a:ea typeface="メイリオ" panose="020B0604030504040204" pitchFamily="50" charset="-128"/>
                        </a:rPr>
                        <a:t>時間</a:t>
                      </a:r>
                    </a:p>
                  </a:txBody>
                  <a:tcPr/>
                </a:tc>
                <a:extLst>
                  <a:ext uri="{0D108BD9-81ED-4DB2-BD59-A6C34878D82A}">
                    <a16:rowId xmlns:a16="http://schemas.microsoft.com/office/drawing/2014/main" val="3574178380"/>
                  </a:ext>
                </a:extLst>
              </a:tr>
              <a:tr h="370840">
                <a:tc>
                  <a:txBody>
                    <a:bodyPr/>
                    <a:lstStyle/>
                    <a:p>
                      <a:pPr algn="r"/>
                      <a:r>
                        <a:rPr kumimoji="1" lang="en-US" altLang="ja-JP" sz="1400" dirty="0">
                          <a:latin typeface="メイリオ" panose="020B0604030504040204" pitchFamily="50" charset="-128"/>
                          <a:ea typeface="メイリオ" panose="020B0604030504040204" pitchFamily="50" charset="-128"/>
                        </a:rPr>
                        <a:t>6</a:t>
                      </a:r>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メイリオ" panose="020B0604030504040204" pitchFamily="50" charset="-128"/>
                          <a:ea typeface="メイリオ" panose="020B0604030504040204" pitchFamily="50" charset="-128"/>
                        </a:rPr>
                        <a:t>ポディウム</a:t>
                      </a:r>
                      <a:endParaRPr kumimoji="1" lang="ja-JP" altLang="en-US" sz="1400" dirty="0">
                        <a:solidFill>
                          <a:srgbClr val="FF0000"/>
                        </a:solidFill>
                        <a:latin typeface="メイリオ" panose="020B0604030504040204" pitchFamily="50" charset="-128"/>
                        <a:ea typeface="メイリオ" panose="020B0604030504040204" pitchFamily="50" charset="-128"/>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solidFill>
                            <a:schemeClr val="tx1"/>
                          </a:solidFill>
                          <a:latin typeface="メイリオ" panose="020B0604030504040204" pitchFamily="50" charset="-128"/>
                          <a:ea typeface="メイリオ" panose="020B0604030504040204" pitchFamily="50" charset="-128"/>
                        </a:rPr>
                        <a:t>10</a:t>
                      </a:r>
                      <a:r>
                        <a:rPr kumimoji="1" lang="ja-JP" altLang="en-US" sz="1400" dirty="0">
                          <a:solidFill>
                            <a:schemeClr val="tx1"/>
                          </a:solidFill>
                          <a:latin typeface="メイリオ" panose="020B0604030504040204" pitchFamily="50" charset="-128"/>
                          <a:ea typeface="メイリオ" panose="020B0604030504040204" pitchFamily="50" charset="-128"/>
                        </a:rPr>
                        <a:t>時間</a:t>
                      </a:r>
                    </a:p>
                  </a:txBody>
                  <a:tcPr/>
                </a:tc>
                <a:extLst>
                  <a:ext uri="{0D108BD9-81ED-4DB2-BD59-A6C34878D82A}">
                    <a16:rowId xmlns:a16="http://schemas.microsoft.com/office/drawing/2014/main" val="1990382075"/>
                  </a:ext>
                </a:extLst>
              </a:tr>
              <a:tr h="370840">
                <a:tc>
                  <a:txBody>
                    <a:bodyPr/>
                    <a:lstStyle/>
                    <a:p>
                      <a:pPr algn="r"/>
                      <a:r>
                        <a:rPr kumimoji="1" lang="en-US" altLang="ja-JP" sz="1400" dirty="0">
                          <a:latin typeface="メイリオ" panose="020B0604030504040204" pitchFamily="50" charset="-128"/>
                          <a:ea typeface="メイリオ" panose="020B0604030504040204" pitchFamily="50" charset="-128"/>
                        </a:rPr>
                        <a:t>7</a:t>
                      </a:r>
                      <a:endParaRPr kumimoji="1" lang="ja-JP" altLang="en-US" sz="1400" dirty="0">
                        <a:latin typeface="メイリオ" panose="020B0604030504040204" pitchFamily="50" charset="-128"/>
                        <a:ea typeface="メイリオ"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メイリオ" panose="020B0604030504040204" pitchFamily="50" charset="-128"/>
                          <a:ea typeface="メイリオ" panose="020B0604030504040204" pitchFamily="50" charset="-128"/>
                        </a:rPr>
                        <a:t>紀伊國屋書店</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メイリオ" panose="020B0604030504040204" pitchFamily="50" charset="-128"/>
                          <a:ea typeface="メイリオ" panose="020B0604030504040204" pitchFamily="50" charset="-128"/>
                        </a:rPr>
                        <a:t>80</a:t>
                      </a:r>
                      <a:r>
                        <a:rPr kumimoji="1" lang="ja-JP" altLang="en-US" sz="1400" dirty="0">
                          <a:latin typeface="メイリオ" panose="020B0604030504040204" pitchFamily="50" charset="-128"/>
                          <a:ea typeface="メイリオ" panose="020B0604030504040204" pitchFamily="50" charset="-128"/>
                        </a:rPr>
                        <a:t>時間</a:t>
                      </a:r>
                    </a:p>
                  </a:txBody>
                  <a:tcPr/>
                </a:tc>
                <a:extLst>
                  <a:ext uri="{0D108BD9-81ED-4DB2-BD59-A6C34878D82A}">
                    <a16:rowId xmlns:a16="http://schemas.microsoft.com/office/drawing/2014/main" val="964746408"/>
                  </a:ext>
                </a:extLst>
              </a:tr>
            </a:tbl>
          </a:graphicData>
        </a:graphic>
      </p:graphicFrame>
      <p:sp>
        <p:nvSpPr>
          <p:cNvPr id="5" name="テキスト ボックス 4">
            <a:extLst>
              <a:ext uri="{FF2B5EF4-FFF2-40B4-BE49-F238E27FC236}">
                <a16:creationId xmlns:a16="http://schemas.microsoft.com/office/drawing/2014/main" id="{3DAC4DB3-DA1C-A4AC-455A-D3AA22984F09}"/>
              </a:ext>
            </a:extLst>
          </p:cNvPr>
          <p:cNvSpPr txBox="1">
            <a:spLocks/>
          </p:cNvSpPr>
          <p:nvPr/>
        </p:nvSpPr>
        <p:spPr>
          <a:xfrm>
            <a:off x="776537" y="852838"/>
            <a:ext cx="8064895" cy="338554"/>
          </a:xfrm>
          <a:prstGeom prst="rect">
            <a:avLst/>
          </a:prstGeom>
          <a:noFill/>
        </p:spPr>
        <p:txBody>
          <a:bodyPr wrap="square" rtlCol="0">
            <a:spAutoFit/>
          </a:bodyPr>
          <a:lstStyle/>
          <a:p>
            <a:r>
              <a:rPr lang="ja-JP" altLang="en-US" sz="1600" dirty="0">
                <a:latin typeface="メイリオ"/>
                <a:ea typeface="メイリオ"/>
                <a:cs typeface="メイリオ"/>
              </a:rPr>
              <a:t>保守契約顧客</a:t>
            </a:r>
            <a:endParaRPr lang="en-US" altLang="ja-JP" sz="1600" dirty="0">
              <a:latin typeface="メイリオ"/>
              <a:ea typeface="メイリオ"/>
              <a:cs typeface="メイリオ"/>
            </a:endParaRPr>
          </a:p>
        </p:txBody>
      </p:sp>
      <p:sp>
        <p:nvSpPr>
          <p:cNvPr id="2" name="Google Shape;152;p7">
            <a:extLst>
              <a:ext uri="{FF2B5EF4-FFF2-40B4-BE49-F238E27FC236}">
                <a16:creationId xmlns:a16="http://schemas.microsoft.com/office/drawing/2014/main" id="{315DDB79-A39F-0F91-98AA-C929CF0894FD}"/>
              </a:ext>
            </a:extLst>
          </p:cNvPr>
          <p:cNvSpPr txBox="1">
            <a:spLocks noGrp="1"/>
          </p:cNvSpPr>
          <p:nvPr>
            <p:ph type="title"/>
          </p:nvPr>
        </p:nvSpPr>
        <p:spPr>
          <a:xfrm>
            <a:off x="835852" y="142852"/>
            <a:ext cx="8915400" cy="582594"/>
          </a:xfrm>
          <a:prstGeom prst="rect">
            <a:avLst/>
          </a:prstGeom>
          <a:noFill/>
          <a:ln>
            <a:noFill/>
          </a:ln>
        </p:spPr>
        <p:txBody>
          <a:bodyPr spcFirstLastPara="1" wrap="square" lIns="91425" tIns="45700" rIns="91425" bIns="45700" anchor="b" anchorCtr="0">
            <a:noAutofit/>
          </a:bodyPr>
          <a:lstStyle/>
          <a:p>
            <a:pPr>
              <a:lnSpc>
                <a:spcPct val="130000"/>
              </a:lnSpc>
            </a:pPr>
            <a:r>
              <a:rPr lang="en-US" altLang="ja-JP" sz="2000" dirty="0">
                <a:latin typeface="メイリオ" pitchFamily="50" charset="-128"/>
                <a:ea typeface="メイリオ" pitchFamily="50" charset="-128"/>
                <a:cs typeface="メイリオ" pitchFamily="50" charset="-128"/>
              </a:rPr>
              <a:t>2.</a:t>
            </a:r>
            <a:r>
              <a:rPr lang="ja-JP" altLang="en-US" sz="2000" dirty="0"/>
              <a:t>既存顧客について　その２</a:t>
            </a:r>
            <a:endParaRPr lang="ja-JP" altLang="en-US" sz="2000" dirty="0">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1873518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CF7DE-3ADB-F34D-4C4F-31F72A9C680F}"/>
            </a:ext>
          </a:extLst>
        </p:cNvPr>
        <p:cNvGrpSpPr/>
        <p:nvPr/>
      </p:nvGrpSpPr>
      <p:grpSpPr>
        <a:xfrm>
          <a:off x="0" y="0"/>
          <a:ext cx="0" cy="0"/>
          <a:chOff x="0" y="0"/>
          <a:chExt cx="0" cy="0"/>
        </a:xfrm>
      </p:grpSpPr>
      <p:sp>
        <p:nvSpPr>
          <p:cNvPr id="38" name="テキスト ボックス 37">
            <a:extLst>
              <a:ext uri="{FF2B5EF4-FFF2-40B4-BE49-F238E27FC236}">
                <a16:creationId xmlns:a16="http://schemas.microsoft.com/office/drawing/2014/main" id="{A2081E33-F9DC-92B8-0C57-538E8E82766F}"/>
              </a:ext>
            </a:extLst>
          </p:cNvPr>
          <p:cNvSpPr txBox="1">
            <a:spLocks/>
          </p:cNvSpPr>
          <p:nvPr/>
        </p:nvSpPr>
        <p:spPr>
          <a:xfrm>
            <a:off x="1064569" y="856357"/>
            <a:ext cx="8064895" cy="1815882"/>
          </a:xfrm>
          <a:prstGeom prst="rect">
            <a:avLst/>
          </a:prstGeom>
          <a:noFill/>
        </p:spPr>
        <p:txBody>
          <a:bodyPr wrap="square" rtlCol="0">
            <a:spAutoFit/>
          </a:bodyPr>
          <a:lstStyle/>
          <a:p>
            <a:r>
              <a:rPr lang="ja-JP" altLang="en-US" sz="1600" b="1" dirty="0">
                <a:latin typeface="メイリオ"/>
                <a:ea typeface="メイリオ"/>
                <a:cs typeface="メイリオ"/>
              </a:rPr>
              <a:t>現在進行している改修案件</a:t>
            </a:r>
            <a:endParaRPr lang="en-US" altLang="ja-JP" sz="1600" b="1" dirty="0">
              <a:latin typeface="メイリオ"/>
              <a:ea typeface="メイリオ"/>
              <a:cs typeface="メイリオ"/>
            </a:endParaRPr>
          </a:p>
          <a:p>
            <a:endParaRPr lang="en-US" altLang="ja-JP" sz="1600" dirty="0">
              <a:latin typeface="メイリオ"/>
              <a:ea typeface="メイリオ"/>
              <a:cs typeface="メイリオ"/>
            </a:endParaRPr>
          </a:p>
          <a:p>
            <a:r>
              <a:rPr lang="ja-JP" altLang="en-US" sz="1600" dirty="0">
                <a:latin typeface="メイリオ"/>
                <a:ea typeface="メイリオ"/>
                <a:cs typeface="メイリオ"/>
              </a:rPr>
              <a:t>　①：チャネルオリジナル</a:t>
            </a:r>
            <a:endParaRPr lang="en-US" altLang="ja-JP" sz="1600" dirty="0">
              <a:latin typeface="メイリオ"/>
              <a:ea typeface="メイリオ"/>
              <a:cs typeface="メイリオ"/>
            </a:endParaRPr>
          </a:p>
          <a:p>
            <a:r>
              <a:rPr lang="ja-JP" altLang="en-US" sz="1600" dirty="0">
                <a:latin typeface="メイリオ"/>
                <a:ea typeface="メイリオ"/>
                <a:cs typeface="メイリオ"/>
              </a:rPr>
              <a:t>　　　追加機能改修 ⇒ </a:t>
            </a:r>
            <a:r>
              <a:rPr lang="en-US" altLang="ja-JP" sz="1600" dirty="0">
                <a:latin typeface="メイリオ"/>
                <a:ea typeface="メイリオ"/>
                <a:cs typeface="メイリオ"/>
              </a:rPr>
              <a:t>2026</a:t>
            </a:r>
            <a:r>
              <a:rPr lang="ja-JP" altLang="en-US" sz="1600" dirty="0">
                <a:latin typeface="メイリオ"/>
                <a:ea typeface="メイリオ"/>
                <a:cs typeface="メイリオ"/>
              </a:rPr>
              <a:t>年</a:t>
            </a:r>
            <a:r>
              <a:rPr lang="en-US" altLang="ja-JP" sz="1600" dirty="0">
                <a:latin typeface="メイリオ"/>
                <a:ea typeface="メイリオ"/>
                <a:cs typeface="メイリオ"/>
              </a:rPr>
              <a:t>9</a:t>
            </a:r>
            <a:r>
              <a:rPr lang="ja-JP" altLang="en-US" sz="1600" dirty="0">
                <a:latin typeface="メイリオ"/>
                <a:ea typeface="メイリオ"/>
                <a:cs typeface="メイリオ"/>
              </a:rPr>
              <a:t>月リリース予定</a:t>
            </a:r>
            <a:endParaRPr lang="en-US" altLang="ja-JP" sz="1600" dirty="0">
              <a:latin typeface="メイリオ"/>
              <a:ea typeface="メイリオ"/>
              <a:cs typeface="メイリオ"/>
            </a:endParaRPr>
          </a:p>
          <a:p>
            <a:endParaRPr lang="ja-JP" altLang="en-US" sz="1600" dirty="0">
              <a:latin typeface="メイリオ"/>
              <a:ea typeface="メイリオ"/>
              <a:cs typeface="メイリオ"/>
            </a:endParaRPr>
          </a:p>
          <a:p>
            <a:r>
              <a:rPr lang="ja-JP" altLang="en-US" sz="1600" dirty="0">
                <a:latin typeface="メイリオ"/>
                <a:ea typeface="メイリオ"/>
                <a:cs typeface="メイリオ"/>
              </a:rPr>
              <a:t>　②：紀伊国屋書店</a:t>
            </a:r>
            <a:endParaRPr lang="en-US" altLang="ja-JP" sz="1600" dirty="0">
              <a:latin typeface="メイリオ"/>
              <a:ea typeface="メイリオ"/>
              <a:cs typeface="メイリオ"/>
            </a:endParaRPr>
          </a:p>
          <a:p>
            <a:r>
              <a:rPr lang="ja-JP" altLang="en-US" sz="1600" dirty="0">
                <a:latin typeface="メイリオ"/>
                <a:ea typeface="メイリオ"/>
                <a:cs typeface="メイリオ"/>
              </a:rPr>
              <a:t>　　　</a:t>
            </a:r>
            <a:r>
              <a:rPr lang="en-US" altLang="ja-JP" sz="1600" dirty="0">
                <a:latin typeface="メイリオ"/>
                <a:ea typeface="メイリオ"/>
                <a:cs typeface="メイリオ"/>
              </a:rPr>
              <a:t>AWS</a:t>
            </a:r>
            <a:r>
              <a:rPr lang="ja-JP" altLang="en-US" sz="1600" dirty="0">
                <a:latin typeface="メイリオ"/>
                <a:ea typeface="メイリオ"/>
                <a:cs typeface="メイリオ"/>
              </a:rPr>
              <a:t>への移行 ⇒ </a:t>
            </a:r>
            <a:r>
              <a:rPr lang="en-US" altLang="ja-JP" sz="1600" dirty="0">
                <a:latin typeface="メイリオ"/>
                <a:ea typeface="メイリオ"/>
                <a:cs typeface="メイリオ"/>
              </a:rPr>
              <a:t>2027</a:t>
            </a:r>
            <a:r>
              <a:rPr lang="ja-JP" altLang="en-US" sz="1600" dirty="0">
                <a:latin typeface="メイリオ"/>
                <a:ea typeface="メイリオ"/>
                <a:cs typeface="メイリオ"/>
              </a:rPr>
              <a:t>年</a:t>
            </a:r>
            <a:r>
              <a:rPr lang="en-US" altLang="ja-JP" sz="1600" dirty="0">
                <a:latin typeface="メイリオ"/>
                <a:ea typeface="メイリオ"/>
                <a:cs typeface="メイリオ"/>
              </a:rPr>
              <a:t>5</a:t>
            </a:r>
            <a:r>
              <a:rPr lang="ja-JP" altLang="en-US" sz="1600" dirty="0">
                <a:latin typeface="メイリオ"/>
                <a:ea typeface="メイリオ"/>
                <a:cs typeface="メイリオ"/>
              </a:rPr>
              <a:t>月</a:t>
            </a:r>
            <a:r>
              <a:rPr lang="en-US" altLang="ja-JP" sz="1600" dirty="0">
                <a:latin typeface="メイリオ"/>
                <a:ea typeface="メイリオ"/>
                <a:cs typeface="メイリオ"/>
              </a:rPr>
              <a:t>GW</a:t>
            </a:r>
            <a:r>
              <a:rPr lang="ja-JP" altLang="en-US" sz="1600" dirty="0">
                <a:latin typeface="メイリオ"/>
                <a:ea typeface="メイリオ"/>
                <a:cs typeface="メイリオ"/>
              </a:rPr>
              <a:t>リリース予定</a:t>
            </a:r>
            <a:endParaRPr lang="en-US" altLang="ja-JP" sz="1600" dirty="0">
              <a:latin typeface="メイリオ"/>
              <a:ea typeface="メイリオ"/>
              <a:cs typeface="メイリオ"/>
            </a:endParaRPr>
          </a:p>
        </p:txBody>
      </p:sp>
      <p:sp>
        <p:nvSpPr>
          <p:cNvPr id="2" name="Google Shape;152;p7">
            <a:extLst>
              <a:ext uri="{FF2B5EF4-FFF2-40B4-BE49-F238E27FC236}">
                <a16:creationId xmlns:a16="http://schemas.microsoft.com/office/drawing/2014/main" id="{2953DF41-F623-D979-22BB-69722FA8758C}"/>
              </a:ext>
            </a:extLst>
          </p:cNvPr>
          <p:cNvSpPr txBox="1">
            <a:spLocks noGrp="1"/>
          </p:cNvSpPr>
          <p:nvPr>
            <p:ph type="title"/>
          </p:nvPr>
        </p:nvSpPr>
        <p:spPr>
          <a:xfrm>
            <a:off x="835852" y="142852"/>
            <a:ext cx="8915400" cy="582594"/>
          </a:xfrm>
          <a:prstGeom prst="rect">
            <a:avLst/>
          </a:prstGeom>
          <a:noFill/>
          <a:ln>
            <a:noFill/>
          </a:ln>
        </p:spPr>
        <p:txBody>
          <a:bodyPr spcFirstLastPara="1" wrap="square" lIns="91425" tIns="45700" rIns="91425" bIns="45700" anchor="b" anchorCtr="0">
            <a:noAutofit/>
          </a:bodyPr>
          <a:lstStyle/>
          <a:p>
            <a:pPr>
              <a:lnSpc>
                <a:spcPct val="130000"/>
              </a:lnSpc>
            </a:pPr>
            <a:r>
              <a:rPr lang="en-US" altLang="ja-JP" sz="2000" dirty="0">
                <a:latin typeface="メイリオ" pitchFamily="50" charset="-128"/>
                <a:ea typeface="メイリオ" pitchFamily="50" charset="-128"/>
                <a:cs typeface="メイリオ" pitchFamily="50" charset="-128"/>
              </a:rPr>
              <a:t>3.</a:t>
            </a:r>
            <a:r>
              <a:rPr lang="ja-JP" altLang="en-US" sz="2000" dirty="0">
                <a:latin typeface="メイリオ" pitchFamily="50" charset="-128"/>
                <a:ea typeface="メイリオ" pitchFamily="50" charset="-128"/>
                <a:cs typeface="メイリオ" pitchFamily="50" charset="-128"/>
              </a:rPr>
              <a:t>旧パッケージの</a:t>
            </a:r>
            <a:r>
              <a:rPr lang="ja-JP" altLang="en-US" sz="2000" dirty="0"/>
              <a:t>開発案件について</a:t>
            </a:r>
            <a:endParaRPr lang="ja-JP" altLang="en-US" sz="2000" dirty="0">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140034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4FB47-12D9-8740-D24C-B81D4C15E475}"/>
            </a:ext>
          </a:extLst>
        </p:cNvPr>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7AA8A568-03B0-F1BD-BE30-EA555D9EBF38}"/>
              </a:ext>
            </a:extLst>
          </p:cNvPr>
          <p:cNvGraphicFramePr>
            <a:graphicFrameLocks noGrp="1"/>
          </p:cNvGraphicFramePr>
          <p:nvPr>
            <p:extLst>
              <p:ext uri="{D42A27DB-BD31-4B8C-83A1-F6EECF244321}">
                <p14:modId xmlns:p14="http://schemas.microsoft.com/office/powerpoint/2010/main" val="3180151754"/>
              </p:ext>
            </p:extLst>
          </p:nvPr>
        </p:nvGraphicFramePr>
        <p:xfrm>
          <a:off x="922194" y="1342609"/>
          <a:ext cx="4174822" cy="4054048"/>
        </p:xfrm>
        <a:graphic>
          <a:graphicData uri="http://schemas.openxmlformats.org/drawingml/2006/table">
            <a:tbl>
              <a:tblPr firstRow="1" bandRow="1">
                <a:tableStyleId>{5C22544A-7EE6-4342-B048-85BDC9FD1C3A}</a:tableStyleId>
              </a:tblPr>
              <a:tblGrid>
                <a:gridCol w="430406">
                  <a:extLst>
                    <a:ext uri="{9D8B030D-6E8A-4147-A177-3AD203B41FA5}">
                      <a16:colId xmlns:a16="http://schemas.microsoft.com/office/drawing/2014/main" val="2034357534"/>
                    </a:ext>
                  </a:extLst>
                </a:gridCol>
                <a:gridCol w="2664296">
                  <a:extLst>
                    <a:ext uri="{9D8B030D-6E8A-4147-A177-3AD203B41FA5}">
                      <a16:colId xmlns:a16="http://schemas.microsoft.com/office/drawing/2014/main" val="879950940"/>
                    </a:ext>
                  </a:extLst>
                </a:gridCol>
                <a:gridCol w="1080120">
                  <a:extLst>
                    <a:ext uri="{9D8B030D-6E8A-4147-A177-3AD203B41FA5}">
                      <a16:colId xmlns:a16="http://schemas.microsoft.com/office/drawing/2014/main" val="1327638901"/>
                    </a:ext>
                  </a:extLst>
                </a:gridCol>
              </a:tblGrid>
              <a:tr h="370840">
                <a:tc>
                  <a:txBody>
                    <a:bodyPr/>
                    <a:lstStyle/>
                    <a:p>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対象ユーザ</a:t>
                      </a: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対応状況</a:t>
                      </a:r>
                    </a:p>
                  </a:txBody>
                  <a:tcPr anchor="ctr"/>
                </a:tc>
                <a:extLst>
                  <a:ext uri="{0D108BD9-81ED-4DB2-BD59-A6C34878D82A}">
                    <a16:rowId xmlns:a16="http://schemas.microsoft.com/office/drawing/2014/main" val="4210059274"/>
                  </a:ext>
                </a:extLst>
              </a:tr>
              <a:tr h="370840">
                <a:tc>
                  <a:txBody>
                    <a:bodyPr/>
                    <a:lstStyle/>
                    <a:p>
                      <a:pPr algn="r"/>
                      <a:r>
                        <a:rPr kumimoji="1" lang="en-US" altLang="ja-JP" sz="1100" dirty="0">
                          <a:latin typeface="メイリオ" panose="020B0604030504040204" pitchFamily="50" charset="-128"/>
                          <a:ea typeface="メイリオ" panose="020B0604030504040204" pitchFamily="50" charset="-128"/>
                        </a:rPr>
                        <a:t>1</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ナイガイ</a:t>
                      </a: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完了</a:t>
                      </a:r>
                    </a:p>
                  </a:txBody>
                  <a:tcPr anchor="ctr"/>
                </a:tc>
                <a:extLst>
                  <a:ext uri="{0D108BD9-81ED-4DB2-BD59-A6C34878D82A}">
                    <a16:rowId xmlns:a16="http://schemas.microsoft.com/office/drawing/2014/main" val="842568075"/>
                  </a:ext>
                </a:extLst>
              </a:tr>
              <a:tr h="370840">
                <a:tc>
                  <a:txBody>
                    <a:bodyPr/>
                    <a:lstStyle/>
                    <a:p>
                      <a:pPr algn="r"/>
                      <a:r>
                        <a:rPr kumimoji="1" lang="en-US" altLang="ja-JP" sz="1100" dirty="0">
                          <a:latin typeface="メイリオ" panose="020B0604030504040204" pitchFamily="50" charset="-128"/>
                          <a:ea typeface="メイリオ" panose="020B0604030504040204" pitchFamily="50" charset="-128"/>
                        </a:rPr>
                        <a:t>2</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ジャクソン・ラボラトリー・ジャパン</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完了</a:t>
                      </a:r>
                    </a:p>
                  </a:txBody>
                  <a:tcPr anchor="ctr"/>
                </a:tc>
                <a:extLst>
                  <a:ext uri="{0D108BD9-81ED-4DB2-BD59-A6C34878D82A}">
                    <a16:rowId xmlns:a16="http://schemas.microsoft.com/office/drawing/2014/main" val="2129140566"/>
                  </a:ext>
                </a:extLst>
              </a:tr>
              <a:tr h="370840">
                <a:tc>
                  <a:txBody>
                    <a:bodyPr/>
                    <a:lstStyle/>
                    <a:p>
                      <a:pPr algn="r"/>
                      <a:r>
                        <a:rPr kumimoji="1" lang="en-US" altLang="ja-JP" sz="1100" dirty="0">
                          <a:latin typeface="メイリオ" panose="020B0604030504040204" pitchFamily="50" charset="-128"/>
                          <a:ea typeface="メイリオ" panose="020B0604030504040204" pitchFamily="50" charset="-128"/>
                        </a:rPr>
                        <a:t>3</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タイロテック</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完了</a:t>
                      </a:r>
                    </a:p>
                  </a:txBody>
                  <a:tcPr anchor="ctr"/>
                </a:tc>
                <a:extLst>
                  <a:ext uri="{0D108BD9-81ED-4DB2-BD59-A6C34878D82A}">
                    <a16:rowId xmlns:a16="http://schemas.microsoft.com/office/drawing/2014/main" val="2125371019"/>
                  </a:ext>
                </a:extLst>
              </a:tr>
              <a:tr h="370840">
                <a:tc>
                  <a:txBody>
                    <a:bodyPr/>
                    <a:lstStyle/>
                    <a:p>
                      <a:pPr algn="r"/>
                      <a:r>
                        <a:rPr kumimoji="1" lang="en-US" altLang="ja-JP" sz="1100" dirty="0">
                          <a:latin typeface="メイリオ" panose="020B0604030504040204" pitchFamily="50" charset="-128"/>
                          <a:ea typeface="メイリオ" panose="020B0604030504040204" pitchFamily="50" charset="-128"/>
                        </a:rPr>
                        <a:t>4</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カーコンビニ倶楽部</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調整中</a:t>
                      </a:r>
                    </a:p>
                  </a:txBody>
                  <a:tcPr anchor="ctr"/>
                </a:tc>
                <a:extLst>
                  <a:ext uri="{0D108BD9-81ED-4DB2-BD59-A6C34878D82A}">
                    <a16:rowId xmlns:a16="http://schemas.microsoft.com/office/drawing/2014/main" val="3140885341"/>
                  </a:ext>
                </a:extLst>
              </a:tr>
              <a:tr h="370840">
                <a:tc>
                  <a:txBody>
                    <a:bodyPr/>
                    <a:lstStyle/>
                    <a:p>
                      <a:pPr algn="r"/>
                      <a:r>
                        <a:rPr kumimoji="1" lang="en-US" altLang="ja-JP" sz="1100" dirty="0">
                          <a:latin typeface="メイリオ" panose="020B0604030504040204" pitchFamily="50" charset="-128"/>
                          <a:ea typeface="メイリオ" panose="020B0604030504040204" pitchFamily="50" charset="-128"/>
                        </a:rPr>
                        <a:t>5</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フジキ工芸産業</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完了</a:t>
                      </a:r>
                    </a:p>
                  </a:txBody>
                  <a:tcPr anchor="ctr"/>
                </a:tc>
                <a:extLst>
                  <a:ext uri="{0D108BD9-81ED-4DB2-BD59-A6C34878D82A}">
                    <a16:rowId xmlns:a16="http://schemas.microsoft.com/office/drawing/2014/main" val="3048989387"/>
                  </a:ext>
                </a:extLst>
              </a:tr>
              <a:tr h="370840">
                <a:tc>
                  <a:txBody>
                    <a:bodyPr/>
                    <a:lstStyle/>
                    <a:p>
                      <a:pPr algn="r"/>
                      <a:r>
                        <a:rPr kumimoji="1" lang="en-US" altLang="ja-JP" sz="1100" dirty="0">
                          <a:latin typeface="メイリオ" panose="020B0604030504040204" pitchFamily="50" charset="-128"/>
                          <a:ea typeface="メイリオ" panose="020B0604030504040204" pitchFamily="50" charset="-128"/>
                        </a:rPr>
                        <a:t>6</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加納コーポレーション</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調整中</a:t>
                      </a:r>
                    </a:p>
                  </a:txBody>
                  <a:tcPr anchor="ctr"/>
                </a:tc>
                <a:extLst>
                  <a:ext uri="{0D108BD9-81ED-4DB2-BD59-A6C34878D82A}">
                    <a16:rowId xmlns:a16="http://schemas.microsoft.com/office/drawing/2014/main" val="3574178380"/>
                  </a:ext>
                </a:extLst>
              </a:tr>
              <a:tr h="370840">
                <a:tc>
                  <a:txBody>
                    <a:bodyPr/>
                    <a:lstStyle/>
                    <a:p>
                      <a:pPr algn="r"/>
                      <a:r>
                        <a:rPr kumimoji="1" lang="en-US" altLang="ja-JP" sz="1100" dirty="0">
                          <a:latin typeface="メイリオ" panose="020B0604030504040204" pitchFamily="50" charset="-128"/>
                          <a:ea typeface="メイリオ" panose="020B0604030504040204" pitchFamily="50" charset="-128"/>
                        </a:rPr>
                        <a:t>7</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日本ウエイン</a:t>
                      </a: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完了</a:t>
                      </a:r>
                    </a:p>
                  </a:txBody>
                  <a:tcPr anchor="ctr"/>
                </a:tc>
                <a:extLst>
                  <a:ext uri="{0D108BD9-81ED-4DB2-BD59-A6C34878D82A}">
                    <a16:rowId xmlns:a16="http://schemas.microsoft.com/office/drawing/2014/main" val="1990382075"/>
                  </a:ext>
                </a:extLst>
              </a:tr>
              <a:tr h="345648">
                <a:tc>
                  <a:txBody>
                    <a:bodyPr/>
                    <a:lstStyle/>
                    <a:p>
                      <a:pPr algn="r"/>
                      <a:r>
                        <a:rPr kumimoji="1" lang="en-US" altLang="ja-JP" sz="1100" dirty="0">
                          <a:latin typeface="メイリオ" panose="020B0604030504040204" pitchFamily="50" charset="-128"/>
                          <a:ea typeface="メイリオ" panose="020B0604030504040204" pitchFamily="50" charset="-128"/>
                        </a:rPr>
                        <a:t>8</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日東電工</a:t>
                      </a:r>
                      <a:r>
                        <a:rPr kumimoji="1" lang="en-US" altLang="ja-JP" sz="1100" dirty="0">
                          <a:latin typeface="メイリオ" panose="020B0604030504040204" pitchFamily="50" charset="-128"/>
                          <a:ea typeface="メイリオ" panose="020B0604030504040204" pitchFamily="50" charset="-128"/>
                        </a:rPr>
                        <a:t>BM</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完了</a:t>
                      </a:r>
                    </a:p>
                  </a:txBody>
                  <a:tcPr anchor="ctr"/>
                </a:tc>
                <a:extLst>
                  <a:ext uri="{0D108BD9-81ED-4DB2-BD59-A6C34878D82A}">
                    <a16:rowId xmlns:a16="http://schemas.microsoft.com/office/drawing/2014/main" val="4187584493"/>
                  </a:ext>
                </a:extLst>
              </a:tr>
              <a:tr h="370840">
                <a:tc>
                  <a:txBody>
                    <a:bodyPr/>
                    <a:lstStyle/>
                    <a:p>
                      <a:pPr algn="r"/>
                      <a:r>
                        <a:rPr kumimoji="1" lang="en-US" altLang="ja-JP" sz="1100" dirty="0">
                          <a:latin typeface="メイリオ" panose="020B0604030504040204" pitchFamily="50" charset="-128"/>
                          <a:ea typeface="メイリオ" panose="020B0604030504040204" pitchFamily="50" charset="-128"/>
                        </a:rPr>
                        <a:t>9</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貴和製作所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完了</a:t>
                      </a:r>
                    </a:p>
                  </a:txBody>
                  <a:tcPr anchor="ctr"/>
                </a:tc>
                <a:extLst>
                  <a:ext uri="{0D108BD9-81ED-4DB2-BD59-A6C34878D82A}">
                    <a16:rowId xmlns:a16="http://schemas.microsoft.com/office/drawing/2014/main" val="3341462380"/>
                  </a:ext>
                </a:extLst>
              </a:tr>
              <a:tr h="370840">
                <a:tc>
                  <a:txBody>
                    <a:bodyPr/>
                    <a:lstStyle/>
                    <a:p>
                      <a:pPr algn="r"/>
                      <a:r>
                        <a:rPr kumimoji="1" lang="en-US" altLang="ja-JP" sz="1100" dirty="0">
                          <a:latin typeface="メイリオ" panose="020B0604030504040204" pitchFamily="50" charset="-128"/>
                          <a:ea typeface="メイリオ" panose="020B0604030504040204" pitchFamily="50" charset="-128"/>
                        </a:rPr>
                        <a:t>10</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マルサン</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完了</a:t>
                      </a:r>
                    </a:p>
                  </a:txBody>
                  <a:tcPr anchor="ctr"/>
                </a:tc>
                <a:extLst>
                  <a:ext uri="{0D108BD9-81ED-4DB2-BD59-A6C34878D82A}">
                    <a16:rowId xmlns:a16="http://schemas.microsoft.com/office/drawing/2014/main" val="211615461"/>
                  </a:ext>
                </a:extLst>
              </a:tr>
            </a:tbl>
          </a:graphicData>
        </a:graphic>
      </p:graphicFrame>
      <p:graphicFrame>
        <p:nvGraphicFramePr>
          <p:cNvPr id="4" name="表 3">
            <a:extLst>
              <a:ext uri="{FF2B5EF4-FFF2-40B4-BE49-F238E27FC236}">
                <a16:creationId xmlns:a16="http://schemas.microsoft.com/office/drawing/2014/main" id="{4B4B4911-DB28-124D-F55B-4D14A9C314F4}"/>
              </a:ext>
            </a:extLst>
          </p:cNvPr>
          <p:cNvGraphicFramePr>
            <a:graphicFrameLocks noGrp="1"/>
          </p:cNvGraphicFramePr>
          <p:nvPr>
            <p:extLst>
              <p:ext uri="{D42A27DB-BD31-4B8C-83A1-F6EECF244321}">
                <p14:modId xmlns:p14="http://schemas.microsoft.com/office/powerpoint/2010/main" val="2402957185"/>
              </p:ext>
            </p:extLst>
          </p:nvPr>
        </p:nvGraphicFramePr>
        <p:xfrm>
          <a:off x="5385048" y="1342609"/>
          <a:ext cx="4174822" cy="3337560"/>
        </p:xfrm>
        <a:graphic>
          <a:graphicData uri="http://schemas.openxmlformats.org/drawingml/2006/table">
            <a:tbl>
              <a:tblPr firstRow="1" bandRow="1">
                <a:tableStyleId>{5C22544A-7EE6-4342-B048-85BDC9FD1C3A}</a:tableStyleId>
              </a:tblPr>
              <a:tblGrid>
                <a:gridCol w="430406">
                  <a:extLst>
                    <a:ext uri="{9D8B030D-6E8A-4147-A177-3AD203B41FA5}">
                      <a16:colId xmlns:a16="http://schemas.microsoft.com/office/drawing/2014/main" val="2034357534"/>
                    </a:ext>
                  </a:extLst>
                </a:gridCol>
                <a:gridCol w="2664296">
                  <a:extLst>
                    <a:ext uri="{9D8B030D-6E8A-4147-A177-3AD203B41FA5}">
                      <a16:colId xmlns:a16="http://schemas.microsoft.com/office/drawing/2014/main" val="879950940"/>
                    </a:ext>
                  </a:extLst>
                </a:gridCol>
                <a:gridCol w="1080120">
                  <a:extLst>
                    <a:ext uri="{9D8B030D-6E8A-4147-A177-3AD203B41FA5}">
                      <a16:colId xmlns:a16="http://schemas.microsoft.com/office/drawing/2014/main" val="1896623911"/>
                    </a:ext>
                  </a:extLst>
                </a:gridCol>
              </a:tblGrid>
              <a:tr h="370840">
                <a:tc>
                  <a:txBody>
                    <a:bodyPr/>
                    <a:lstStyle/>
                    <a:p>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対象ユーザ</a:t>
                      </a: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対応状況</a:t>
                      </a:r>
                    </a:p>
                  </a:txBody>
                  <a:tcPr anchor="ctr"/>
                </a:tc>
                <a:extLst>
                  <a:ext uri="{0D108BD9-81ED-4DB2-BD59-A6C34878D82A}">
                    <a16:rowId xmlns:a16="http://schemas.microsoft.com/office/drawing/2014/main" val="4210059274"/>
                  </a:ext>
                </a:extLst>
              </a:tr>
              <a:tr h="370840">
                <a:tc>
                  <a:txBody>
                    <a:bodyPr/>
                    <a:lstStyle/>
                    <a:p>
                      <a:pPr algn="r"/>
                      <a:r>
                        <a:rPr kumimoji="1" lang="en-US" altLang="ja-JP" sz="1100" dirty="0">
                          <a:latin typeface="メイリオ" panose="020B0604030504040204" pitchFamily="50" charset="-128"/>
                          <a:ea typeface="メイリオ" panose="020B0604030504040204" pitchFamily="50" charset="-128"/>
                        </a:rPr>
                        <a:t>11</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en-US" altLang="ja-JP" sz="1100" dirty="0">
                          <a:latin typeface="メイリオ" panose="020B0604030504040204" pitchFamily="50" charset="-128"/>
                          <a:ea typeface="メイリオ" panose="020B0604030504040204" pitchFamily="50" charset="-128"/>
                        </a:rPr>
                        <a:t>EM</a:t>
                      </a:r>
                      <a:r>
                        <a:rPr kumimoji="1" lang="ja-JP" altLang="en-US" sz="1100" dirty="0">
                          <a:latin typeface="メイリオ" panose="020B0604030504040204" pitchFamily="50" charset="-128"/>
                          <a:ea typeface="メイリオ" panose="020B0604030504040204" pitchFamily="50" charset="-128"/>
                        </a:rPr>
                        <a:t>システムズ</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完了</a:t>
                      </a:r>
                    </a:p>
                  </a:txBody>
                  <a:tcPr anchor="ctr"/>
                </a:tc>
                <a:extLst>
                  <a:ext uri="{0D108BD9-81ED-4DB2-BD59-A6C34878D82A}">
                    <a16:rowId xmlns:a16="http://schemas.microsoft.com/office/drawing/2014/main" val="842568075"/>
                  </a:ext>
                </a:extLst>
              </a:tr>
              <a:tr h="370840">
                <a:tc>
                  <a:txBody>
                    <a:bodyPr/>
                    <a:lstStyle/>
                    <a:p>
                      <a:pPr algn="r"/>
                      <a:r>
                        <a:rPr kumimoji="1" lang="en-US" altLang="ja-JP" sz="1100" dirty="0">
                          <a:latin typeface="メイリオ" panose="020B0604030504040204" pitchFamily="50" charset="-128"/>
                          <a:ea typeface="メイリオ" panose="020B0604030504040204" pitchFamily="50" charset="-128"/>
                        </a:rPr>
                        <a:t>12</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zh-TW" altLang="en-US" sz="1100" dirty="0">
                          <a:latin typeface="メイリオ" panose="020B0604030504040204" pitchFamily="50" charset="-128"/>
                          <a:ea typeface="メイリオ" panose="020B0604030504040204" pitchFamily="50" charset="-128"/>
                        </a:rPr>
                        <a:t>日本漢字能力検定協会</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完了</a:t>
                      </a:r>
                    </a:p>
                  </a:txBody>
                  <a:tcPr anchor="ctr"/>
                </a:tc>
                <a:extLst>
                  <a:ext uri="{0D108BD9-81ED-4DB2-BD59-A6C34878D82A}">
                    <a16:rowId xmlns:a16="http://schemas.microsoft.com/office/drawing/2014/main" val="1305478778"/>
                  </a:ext>
                </a:extLst>
              </a:tr>
              <a:tr h="370840">
                <a:tc>
                  <a:txBody>
                    <a:bodyPr/>
                    <a:lstStyle/>
                    <a:p>
                      <a:pPr algn="r"/>
                      <a:r>
                        <a:rPr kumimoji="1" lang="en-US" altLang="ja-JP" sz="1100" dirty="0">
                          <a:latin typeface="メイリオ" panose="020B0604030504040204" pitchFamily="50" charset="-128"/>
                          <a:ea typeface="メイリオ" panose="020B0604030504040204" pitchFamily="50" charset="-128"/>
                        </a:rPr>
                        <a:t>13</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ヤーマン</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完了</a:t>
                      </a:r>
                    </a:p>
                  </a:txBody>
                  <a:tcPr anchor="ctr"/>
                </a:tc>
                <a:extLst>
                  <a:ext uri="{0D108BD9-81ED-4DB2-BD59-A6C34878D82A}">
                    <a16:rowId xmlns:a16="http://schemas.microsoft.com/office/drawing/2014/main" val="922887887"/>
                  </a:ext>
                </a:extLst>
              </a:tr>
              <a:tr h="370840">
                <a:tc>
                  <a:txBody>
                    <a:bodyPr/>
                    <a:lstStyle/>
                    <a:p>
                      <a:r>
                        <a:rPr kumimoji="1" lang="en-US" altLang="ja-JP" sz="1100" dirty="0">
                          <a:latin typeface="メイリオ" panose="020B0604030504040204" pitchFamily="50" charset="-128"/>
                          <a:ea typeface="メイリオ" panose="020B0604030504040204" pitchFamily="50" charset="-128"/>
                        </a:rPr>
                        <a:t>14</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ニトムズ</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完了</a:t>
                      </a:r>
                    </a:p>
                  </a:txBody>
                  <a:tcPr anchor="ctr"/>
                </a:tc>
                <a:extLst>
                  <a:ext uri="{0D108BD9-81ED-4DB2-BD59-A6C34878D82A}">
                    <a16:rowId xmlns:a16="http://schemas.microsoft.com/office/drawing/2014/main" val="2916555616"/>
                  </a:ext>
                </a:extLst>
              </a:tr>
              <a:tr h="370840">
                <a:tc>
                  <a:txBody>
                    <a:bodyPr/>
                    <a:lstStyle/>
                    <a:p>
                      <a:r>
                        <a:rPr kumimoji="1" lang="en-US" altLang="ja-JP" sz="1100" dirty="0">
                          <a:latin typeface="メイリオ" panose="020B0604030504040204" pitchFamily="50" charset="-128"/>
                          <a:ea typeface="メイリオ" panose="020B0604030504040204" pitchFamily="50" charset="-128"/>
                        </a:rPr>
                        <a:t>15</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ティーガイア</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完了</a:t>
                      </a:r>
                    </a:p>
                  </a:txBody>
                  <a:tcPr anchor="ctr"/>
                </a:tc>
                <a:extLst>
                  <a:ext uri="{0D108BD9-81ED-4DB2-BD59-A6C34878D82A}">
                    <a16:rowId xmlns:a16="http://schemas.microsoft.com/office/drawing/2014/main" val="2129140566"/>
                  </a:ext>
                </a:extLst>
              </a:tr>
              <a:tr h="370840">
                <a:tc>
                  <a:txBody>
                    <a:bodyPr/>
                    <a:lstStyle/>
                    <a:p>
                      <a:r>
                        <a:rPr kumimoji="1" lang="en-US" altLang="ja-JP" sz="1100" dirty="0">
                          <a:latin typeface="メイリオ" panose="020B0604030504040204" pitchFamily="50" charset="-128"/>
                          <a:ea typeface="メイリオ" panose="020B0604030504040204" pitchFamily="50" charset="-128"/>
                        </a:rPr>
                        <a:t>16</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アシックス商事</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完了</a:t>
                      </a:r>
                    </a:p>
                  </a:txBody>
                  <a:tcPr anchor="ctr"/>
                </a:tc>
                <a:extLst>
                  <a:ext uri="{0D108BD9-81ED-4DB2-BD59-A6C34878D82A}">
                    <a16:rowId xmlns:a16="http://schemas.microsoft.com/office/drawing/2014/main" val="2125371019"/>
                  </a:ext>
                </a:extLst>
              </a:tr>
              <a:tr h="370840">
                <a:tc>
                  <a:txBody>
                    <a:bodyPr/>
                    <a:lstStyle/>
                    <a:p>
                      <a:r>
                        <a:rPr kumimoji="1" lang="en-US" altLang="ja-JP" sz="1100" dirty="0">
                          <a:latin typeface="メイリオ" panose="020B0604030504040204" pitchFamily="50" charset="-128"/>
                          <a:ea typeface="メイリオ" panose="020B0604030504040204" pitchFamily="50" charset="-128"/>
                        </a:rPr>
                        <a:t>17</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パシフィックプロダクツ</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完了</a:t>
                      </a:r>
                    </a:p>
                  </a:txBody>
                  <a:tcPr anchor="ctr"/>
                </a:tc>
                <a:extLst>
                  <a:ext uri="{0D108BD9-81ED-4DB2-BD59-A6C34878D82A}">
                    <a16:rowId xmlns:a16="http://schemas.microsoft.com/office/drawing/2014/main" val="3140885341"/>
                  </a:ext>
                </a:extLst>
              </a:tr>
              <a:tr h="370840">
                <a:tc>
                  <a:txBody>
                    <a:bodyPr/>
                    <a:lstStyle/>
                    <a:p>
                      <a:r>
                        <a:rPr kumimoji="1" lang="en-US" altLang="ja-JP" sz="1100" dirty="0">
                          <a:latin typeface="メイリオ" panose="020B0604030504040204" pitchFamily="50" charset="-128"/>
                          <a:ea typeface="メイリオ" panose="020B0604030504040204" pitchFamily="50" charset="-128"/>
                        </a:rPr>
                        <a:t>18</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紀伊國屋書店</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対象外</a:t>
                      </a:r>
                    </a:p>
                  </a:txBody>
                  <a:tcPr anchor="ctr"/>
                </a:tc>
                <a:extLst>
                  <a:ext uri="{0D108BD9-81ED-4DB2-BD59-A6C34878D82A}">
                    <a16:rowId xmlns:a16="http://schemas.microsoft.com/office/drawing/2014/main" val="3048989387"/>
                  </a:ext>
                </a:extLst>
              </a:tr>
            </a:tbl>
          </a:graphicData>
        </a:graphic>
      </p:graphicFrame>
      <p:sp>
        <p:nvSpPr>
          <p:cNvPr id="5" name="テキスト ボックス 4">
            <a:extLst>
              <a:ext uri="{FF2B5EF4-FFF2-40B4-BE49-F238E27FC236}">
                <a16:creationId xmlns:a16="http://schemas.microsoft.com/office/drawing/2014/main" id="{16AA44DF-D0F6-E501-8BEF-DA30EFC7150A}"/>
              </a:ext>
            </a:extLst>
          </p:cNvPr>
          <p:cNvSpPr txBox="1">
            <a:spLocks/>
          </p:cNvSpPr>
          <p:nvPr/>
        </p:nvSpPr>
        <p:spPr>
          <a:xfrm>
            <a:off x="776537" y="831027"/>
            <a:ext cx="8064895" cy="338554"/>
          </a:xfrm>
          <a:prstGeom prst="rect">
            <a:avLst/>
          </a:prstGeom>
          <a:noFill/>
        </p:spPr>
        <p:txBody>
          <a:bodyPr wrap="square" rtlCol="0">
            <a:spAutoFit/>
          </a:bodyPr>
          <a:lstStyle/>
          <a:p>
            <a:r>
              <a:rPr lang="ja-JP" altLang="en-US" sz="1600" dirty="0">
                <a:latin typeface="メイリオ"/>
                <a:ea typeface="メイリオ"/>
                <a:cs typeface="メイリオ"/>
              </a:rPr>
              <a:t>セキュリティ強化対応の実施状況（</a:t>
            </a:r>
            <a:r>
              <a:rPr lang="en-US" altLang="ja-JP" sz="1600" dirty="0">
                <a:latin typeface="メイリオ"/>
                <a:ea typeface="メイリオ"/>
                <a:cs typeface="メイリオ"/>
              </a:rPr>
              <a:t>WAF</a:t>
            </a:r>
            <a:r>
              <a:rPr lang="ja-JP" altLang="en-US" sz="1600" dirty="0">
                <a:latin typeface="メイリオ"/>
                <a:ea typeface="メイリオ"/>
                <a:cs typeface="メイリオ"/>
              </a:rPr>
              <a:t>導入）</a:t>
            </a:r>
            <a:endParaRPr lang="en-US" altLang="ja-JP" sz="1600" dirty="0">
              <a:latin typeface="メイリオ"/>
              <a:ea typeface="メイリオ"/>
              <a:cs typeface="メイリオ"/>
            </a:endParaRPr>
          </a:p>
        </p:txBody>
      </p:sp>
      <p:sp>
        <p:nvSpPr>
          <p:cNvPr id="2" name="テキスト ボックス 1">
            <a:extLst>
              <a:ext uri="{FF2B5EF4-FFF2-40B4-BE49-F238E27FC236}">
                <a16:creationId xmlns:a16="http://schemas.microsoft.com/office/drawing/2014/main" id="{C3CDA7F9-B7E0-3A6E-2FB4-14A6C0691239}"/>
              </a:ext>
            </a:extLst>
          </p:cNvPr>
          <p:cNvSpPr txBox="1">
            <a:spLocks/>
          </p:cNvSpPr>
          <p:nvPr/>
        </p:nvSpPr>
        <p:spPr>
          <a:xfrm>
            <a:off x="6105128" y="4869160"/>
            <a:ext cx="1980681" cy="600164"/>
          </a:xfrm>
          <a:prstGeom prst="rect">
            <a:avLst/>
          </a:prstGeom>
          <a:noFill/>
        </p:spPr>
        <p:txBody>
          <a:bodyPr wrap="square" rtlCol="0">
            <a:spAutoFit/>
          </a:bodyPr>
          <a:lstStyle/>
          <a:p>
            <a:r>
              <a:rPr lang="ja-JP" altLang="en-US" sz="1100" dirty="0">
                <a:latin typeface="メイリオ"/>
                <a:ea typeface="メイリオ"/>
                <a:cs typeface="メイリオ"/>
              </a:rPr>
              <a:t>完了：</a:t>
            </a:r>
            <a:r>
              <a:rPr lang="en-US" altLang="ja-JP" sz="1100" dirty="0">
                <a:latin typeface="メイリオ"/>
                <a:ea typeface="メイリオ"/>
                <a:cs typeface="メイリオ"/>
              </a:rPr>
              <a:t>15</a:t>
            </a:r>
          </a:p>
          <a:p>
            <a:r>
              <a:rPr lang="ja-JP" altLang="en-US" sz="1100" dirty="0">
                <a:latin typeface="メイリオ"/>
                <a:ea typeface="メイリオ"/>
                <a:cs typeface="メイリオ"/>
              </a:rPr>
              <a:t>調整中：</a:t>
            </a:r>
            <a:r>
              <a:rPr lang="en-US" altLang="ja-JP" sz="1100" dirty="0">
                <a:latin typeface="メイリオ"/>
                <a:ea typeface="メイリオ"/>
                <a:cs typeface="メイリオ"/>
              </a:rPr>
              <a:t>2</a:t>
            </a:r>
          </a:p>
          <a:p>
            <a:r>
              <a:rPr lang="ja-JP" altLang="en-US" sz="1100" dirty="0">
                <a:latin typeface="メイリオ"/>
                <a:ea typeface="メイリオ"/>
                <a:cs typeface="メイリオ"/>
              </a:rPr>
              <a:t>対象外：１</a:t>
            </a:r>
            <a:endParaRPr lang="en-US" altLang="ja-JP" sz="1100" dirty="0">
              <a:latin typeface="メイリオ"/>
              <a:ea typeface="メイリオ"/>
              <a:cs typeface="メイリオ"/>
            </a:endParaRPr>
          </a:p>
        </p:txBody>
      </p:sp>
      <p:sp>
        <p:nvSpPr>
          <p:cNvPr id="7" name="Google Shape;152;p7">
            <a:extLst>
              <a:ext uri="{FF2B5EF4-FFF2-40B4-BE49-F238E27FC236}">
                <a16:creationId xmlns:a16="http://schemas.microsoft.com/office/drawing/2014/main" id="{34F5A43A-D169-5D57-69C7-93F7F758B161}"/>
              </a:ext>
            </a:extLst>
          </p:cNvPr>
          <p:cNvSpPr txBox="1">
            <a:spLocks noGrp="1"/>
          </p:cNvSpPr>
          <p:nvPr>
            <p:ph type="title"/>
          </p:nvPr>
        </p:nvSpPr>
        <p:spPr>
          <a:xfrm>
            <a:off x="835852" y="142852"/>
            <a:ext cx="8915400" cy="582594"/>
          </a:xfrm>
          <a:prstGeom prst="rect">
            <a:avLst/>
          </a:prstGeom>
          <a:noFill/>
          <a:ln>
            <a:noFill/>
          </a:ln>
        </p:spPr>
        <p:txBody>
          <a:bodyPr spcFirstLastPara="1" wrap="square" lIns="91425" tIns="45700" rIns="91425" bIns="45700" anchor="b" anchorCtr="0">
            <a:noAutofit/>
          </a:bodyPr>
          <a:lstStyle/>
          <a:p>
            <a:pPr>
              <a:lnSpc>
                <a:spcPct val="130000"/>
              </a:lnSpc>
            </a:pPr>
            <a:r>
              <a:rPr lang="en-US" altLang="ja-JP" sz="2000" dirty="0">
                <a:latin typeface="メイリオ" pitchFamily="50" charset="-128"/>
                <a:ea typeface="メイリオ" pitchFamily="50" charset="-128"/>
                <a:cs typeface="メイリオ" pitchFamily="50" charset="-128"/>
              </a:rPr>
              <a:t>4.</a:t>
            </a:r>
            <a:r>
              <a:rPr lang="ja-JP" altLang="en-US" sz="2000" dirty="0"/>
              <a:t>セキュリティ強化対応状況について　その１</a:t>
            </a:r>
            <a:endParaRPr lang="ja-JP" altLang="en-US" sz="2000" dirty="0">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3818649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922D2-754A-3C5C-A239-0C9D168F3B53}"/>
            </a:ext>
          </a:extLst>
        </p:cNvPr>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092567FE-29B2-287D-5EFB-3B1AD5A8DE0F}"/>
              </a:ext>
            </a:extLst>
          </p:cNvPr>
          <p:cNvGraphicFramePr>
            <a:graphicFrameLocks noGrp="1"/>
          </p:cNvGraphicFramePr>
          <p:nvPr>
            <p:extLst>
              <p:ext uri="{D42A27DB-BD31-4B8C-83A1-F6EECF244321}">
                <p14:modId xmlns:p14="http://schemas.microsoft.com/office/powerpoint/2010/main" val="1724449993"/>
              </p:ext>
            </p:extLst>
          </p:nvPr>
        </p:nvGraphicFramePr>
        <p:xfrm>
          <a:off x="922194" y="1342609"/>
          <a:ext cx="4174822" cy="4054048"/>
        </p:xfrm>
        <a:graphic>
          <a:graphicData uri="http://schemas.openxmlformats.org/drawingml/2006/table">
            <a:tbl>
              <a:tblPr firstRow="1" bandRow="1">
                <a:tableStyleId>{5C22544A-7EE6-4342-B048-85BDC9FD1C3A}</a:tableStyleId>
              </a:tblPr>
              <a:tblGrid>
                <a:gridCol w="430406">
                  <a:extLst>
                    <a:ext uri="{9D8B030D-6E8A-4147-A177-3AD203B41FA5}">
                      <a16:colId xmlns:a16="http://schemas.microsoft.com/office/drawing/2014/main" val="2034357534"/>
                    </a:ext>
                  </a:extLst>
                </a:gridCol>
                <a:gridCol w="2664296">
                  <a:extLst>
                    <a:ext uri="{9D8B030D-6E8A-4147-A177-3AD203B41FA5}">
                      <a16:colId xmlns:a16="http://schemas.microsoft.com/office/drawing/2014/main" val="879950940"/>
                    </a:ext>
                  </a:extLst>
                </a:gridCol>
                <a:gridCol w="1080120">
                  <a:extLst>
                    <a:ext uri="{9D8B030D-6E8A-4147-A177-3AD203B41FA5}">
                      <a16:colId xmlns:a16="http://schemas.microsoft.com/office/drawing/2014/main" val="1327638901"/>
                    </a:ext>
                  </a:extLst>
                </a:gridCol>
              </a:tblGrid>
              <a:tr h="370840">
                <a:tc>
                  <a:txBody>
                    <a:bodyPr/>
                    <a:lstStyle/>
                    <a:p>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対象ユーザ</a:t>
                      </a: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対応状況</a:t>
                      </a:r>
                    </a:p>
                  </a:txBody>
                  <a:tcPr anchor="ctr"/>
                </a:tc>
                <a:extLst>
                  <a:ext uri="{0D108BD9-81ED-4DB2-BD59-A6C34878D82A}">
                    <a16:rowId xmlns:a16="http://schemas.microsoft.com/office/drawing/2014/main" val="4210059274"/>
                  </a:ext>
                </a:extLst>
              </a:tr>
              <a:tr h="370840">
                <a:tc>
                  <a:txBody>
                    <a:bodyPr/>
                    <a:lstStyle/>
                    <a:p>
                      <a:pPr algn="r"/>
                      <a:r>
                        <a:rPr kumimoji="1" lang="en-US" altLang="ja-JP" sz="1100" dirty="0">
                          <a:latin typeface="メイリオ" panose="020B0604030504040204" pitchFamily="50" charset="-128"/>
                          <a:ea typeface="メイリオ" panose="020B0604030504040204" pitchFamily="50" charset="-128"/>
                        </a:rPr>
                        <a:t>1</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ナイガイ</a:t>
                      </a: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完了</a:t>
                      </a:r>
                    </a:p>
                  </a:txBody>
                  <a:tcPr anchor="ctr"/>
                </a:tc>
                <a:extLst>
                  <a:ext uri="{0D108BD9-81ED-4DB2-BD59-A6C34878D82A}">
                    <a16:rowId xmlns:a16="http://schemas.microsoft.com/office/drawing/2014/main" val="842568075"/>
                  </a:ext>
                </a:extLst>
              </a:tr>
              <a:tr h="370840">
                <a:tc>
                  <a:txBody>
                    <a:bodyPr/>
                    <a:lstStyle/>
                    <a:p>
                      <a:pPr algn="r"/>
                      <a:r>
                        <a:rPr kumimoji="1" lang="en-US" altLang="ja-JP" sz="1100" dirty="0">
                          <a:latin typeface="メイリオ" panose="020B0604030504040204" pitchFamily="50" charset="-128"/>
                          <a:ea typeface="メイリオ" panose="020B0604030504040204" pitchFamily="50" charset="-128"/>
                        </a:rPr>
                        <a:t>2</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ジャクソン・ラボラトリー・ジャパン</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完了</a:t>
                      </a:r>
                    </a:p>
                  </a:txBody>
                  <a:tcPr anchor="ctr"/>
                </a:tc>
                <a:extLst>
                  <a:ext uri="{0D108BD9-81ED-4DB2-BD59-A6C34878D82A}">
                    <a16:rowId xmlns:a16="http://schemas.microsoft.com/office/drawing/2014/main" val="2129140566"/>
                  </a:ext>
                </a:extLst>
              </a:tr>
              <a:tr h="370840">
                <a:tc>
                  <a:txBody>
                    <a:bodyPr/>
                    <a:lstStyle/>
                    <a:p>
                      <a:pPr algn="r"/>
                      <a:r>
                        <a:rPr kumimoji="1" lang="en-US" altLang="ja-JP" sz="1100" dirty="0">
                          <a:latin typeface="メイリオ" panose="020B0604030504040204" pitchFamily="50" charset="-128"/>
                          <a:ea typeface="メイリオ" panose="020B0604030504040204" pitchFamily="50" charset="-128"/>
                        </a:rPr>
                        <a:t>3</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タイロテック</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完了</a:t>
                      </a:r>
                    </a:p>
                  </a:txBody>
                  <a:tcPr anchor="ctr"/>
                </a:tc>
                <a:extLst>
                  <a:ext uri="{0D108BD9-81ED-4DB2-BD59-A6C34878D82A}">
                    <a16:rowId xmlns:a16="http://schemas.microsoft.com/office/drawing/2014/main" val="2125371019"/>
                  </a:ext>
                </a:extLst>
              </a:tr>
              <a:tr h="370840">
                <a:tc>
                  <a:txBody>
                    <a:bodyPr/>
                    <a:lstStyle/>
                    <a:p>
                      <a:pPr algn="r"/>
                      <a:r>
                        <a:rPr kumimoji="1" lang="en-US" altLang="ja-JP" sz="1100" dirty="0">
                          <a:latin typeface="メイリオ" panose="020B0604030504040204" pitchFamily="50" charset="-128"/>
                          <a:ea typeface="メイリオ" panose="020B0604030504040204" pitchFamily="50" charset="-128"/>
                        </a:rPr>
                        <a:t>4</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カーコンビニ倶楽部</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対応中</a:t>
                      </a:r>
                    </a:p>
                  </a:txBody>
                  <a:tcPr anchor="ctr"/>
                </a:tc>
                <a:extLst>
                  <a:ext uri="{0D108BD9-81ED-4DB2-BD59-A6C34878D82A}">
                    <a16:rowId xmlns:a16="http://schemas.microsoft.com/office/drawing/2014/main" val="3140885341"/>
                  </a:ext>
                </a:extLst>
              </a:tr>
              <a:tr h="370840">
                <a:tc>
                  <a:txBody>
                    <a:bodyPr/>
                    <a:lstStyle/>
                    <a:p>
                      <a:pPr algn="r"/>
                      <a:r>
                        <a:rPr kumimoji="1" lang="en-US" altLang="ja-JP" sz="1100" dirty="0">
                          <a:latin typeface="メイリオ" panose="020B0604030504040204" pitchFamily="50" charset="-128"/>
                          <a:ea typeface="メイリオ" panose="020B0604030504040204" pitchFamily="50" charset="-128"/>
                        </a:rPr>
                        <a:t>5</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フジキ工芸産業</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対象外</a:t>
                      </a:r>
                    </a:p>
                  </a:txBody>
                  <a:tcPr anchor="ctr"/>
                </a:tc>
                <a:extLst>
                  <a:ext uri="{0D108BD9-81ED-4DB2-BD59-A6C34878D82A}">
                    <a16:rowId xmlns:a16="http://schemas.microsoft.com/office/drawing/2014/main" val="3048989387"/>
                  </a:ext>
                </a:extLst>
              </a:tr>
              <a:tr h="370840">
                <a:tc>
                  <a:txBody>
                    <a:bodyPr/>
                    <a:lstStyle/>
                    <a:p>
                      <a:pPr algn="r"/>
                      <a:r>
                        <a:rPr kumimoji="1" lang="en-US" altLang="ja-JP" sz="1100" dirty="0">
                          <a:latin typeface="メイリオ" panose="020B0604030504040204" pitchFamily="50" charset="-128"/>
                          <a:ea typeface="メイリオ" panose="020B0604030504040204" pitchFamily="50" charset="-128"/>
                        </a:rPr>
                        <a:t>6</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加納コーポレーション</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完了</a:t>
                      </a:r>
                    </a:p>
                  </a:txBody>
                  <a:tcPr anchor="ctr"/>
                </a:tc>
                <a:extLst>
                  <a:ext uri="{0D108BD9-81ED-4DB2-BD59-A6C34878D82A}">
                    <a16:rowId xmlns:a16="http://schemas.microsoft.com/office/drawing/2014/main" val="3574178380"/>
                  </a:ext>
                </a:extLst>
              </a:tr>
              <a:tr h="370840">
                <a:tc>
                  <a:txBody>
                    <a:bodyPr/>
                    <a:lstStyle/>
                    <a:p>
                      <a:pPr algn="r"/>
                      <a:r>
                        <a:rPr kumimoji="1" lang="en-US" altLang="ja-JP" sz="1100" dirty="0">
                          <a:latin typeface="メイリオ" panose="020B0604030504040204" pitchFamily="50" charset="-128"/>
                          <a:ea typeface="メイリオ" panose="020B0604030504040204" pitchFamily="50" charset="-128"/>
                        </a:rPr>
                        <a:t>7</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日本ウエイン</a:t>
                      </a: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完了</a:t>
                      </a:r>
                    </a:p>
                  </a:txBody>
                  <a:tcPr anchor="ctr"/>
                </a:tc>
                <a:extLst>
                  <a:ext uri="{0D108BD9-81ED-4DB2-BD59-A6C34878D82A}">
                    <a16:rowId xmlns:a16="http://schemas.microsoft.com/office/drawing/2014/main" val="1990382075"/>
                  </a:ext>
                </a:extLst>
              </a:tr>
              <a:tr h="345648">
                <a:tc>
                  <a:txBody>
                    <a:bodyPr/>
                    <a:lstStyle/>
                    <a:p>
                      <a:pPr algn="r"/>
                      <a:r>
                        <a:rPr kumimoji="1" lang="en-US" altLang="ja-JP" sz="1100" dirty="0">
                          <a:latin typeface="メイリオ" panose="020B0604030504040204" pitchFamily="50" charset="-128"/>
                          <a:ea typeface="メイリオ" panose="020B0604030504040204" pitchFamily="50" charset="-128"/>
                        </a:rPr>
                        <a:t>8</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日東電工</a:t>
                      </a:r>
                      <a:r>
                        <a:rPr kumimoji="1" lang="en-US" altLang="ja-JP" sz="1100" dirty="0">
                          <a:latin typeface="メイリオ" panose="020B0604030504040204" pitchFamily="50" charset="-128"/>
                          <a:ea typeface="メイリオ" panose="020B0604030504040204" pitchFamily="50" charset="-128"/>
                        </a:rPr>
                        <a:t>BM</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dirty="0">
                          <a:latin typeface="メイリオ" panose="020B0604030504040204" pitchFamily="50" charset="-128"/>
                          <a:ea typeface="メイリオ" panose="020B0604030504040204" pitchFamily="50" charset="-128"/>
                        </a:rPr>
                        <a:t>8/19</a:t>
                      </a:r>
                      <a:r>
                        <a:rPr kumimoji="1" lang="ja-JP" altLang="en-US" sz="1100" dirty="0">
                          <a:latin typeface="メイリオ" panose="020B0604030504040204" pitchFamily="50" charset="-128"/>
                          <a:ea typeface="メイリオ" panose="020B0604030504040204" pitchFamily="50" charset="-128"/>
                        </a:rPr>
                        <a:t>反映予定</a:t>
                      </a:r>
                    </a:p>
                  </a:txBody>
                  <a:tcPr anchor="ctr"/>
                </a:tc>
                <a:extLst>
                  <a:ext uri="{0D108BD9-81ED-4DB2-BD59-A6C34878D82A}">
                    <a16:rowId xmlns:a16="http://schemas.microsoft.com/office/drawing/2014/main" val="4187584493"/>
                  </a:ext>
                </a:extLst>
              </a:tr>
              <a:tr h="370840">
                <a:tc>
                  <a:txBody>
                    <a:bodyPr/>
                    <a:lstStyle/>
                    <a:p>
                      <a:pPr algn="r"/>
                      <a:r>
                        <a:rPr kumimoji="1" lang="en-US" altLang="ja-JP" sz="1100" dirty="0">
                          <a:latin typeface="メイリオ" panose="020B0604030504040204" pitchFamily="50" charset="-128"/>
                          <a:ea typeface="メイリオ" panose="020B0604030504040204" pitchFamily="50" charset="-128"/>
                        </a:rPr>
                        <a:t>9</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貴和製作所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完了</a:t>
                      </a:r>
                    </a:p>
                  </a:txBody>
                  <a:tcPr anchor="ctr"/>
                </a:tc>
                <a:extLst>
                  <a:ext uri="{0D108BD9-81ED-4DB2-BD59-A6C34878D82A}">
                    <a16:rowId xmlns:a16="http://schemas.microsoft.com/office/drawing/2014/main" val="3341462380"/>
                  </a:ext>
                </a:extLst>
              </a:tr>
              <a:tr h="370840">
                <a:tc>
                  <a:txBody>
                    <a:bodyPr/>
                    <a:lstStyle/>
                    <a:p>
                      <a:pPr algn="r"/>
                      <a:r>
                        <a:rPr kumimoji="1" lang="en-US" altLang="ja-JP" sz="1100" dirty="0">
                          <a:latin typeface="メイリオ" panose="020B0604030504040204" pitchFamily="50" charset="-128"/>
                          <a:ea typeface="メイリオ" panose="020B0604030504040204" pitchFamily="50" charset="-128"/>
                        </a:rPr>
                        <a:t>10</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マルサン</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完了</a:t>
                      </a:r>
                    </a:p>
                  </a:txBody>
                  <a:tcPr anchor="ctr"/>
                </a:tc>
                <a:extLst>
                  <a:ext uri="{0D108BD9-81ED-4DB2-BD59-A6C34878D82A}">
                    <a16:rowId xmlns:a16="http://schemas.microsoft.com/office/drawing/2014/main" val="211615461"/>
                  </a:ext>
                </a:extLst>
              </a:tr>
            </a:tbl>
          </a:graphicData>
        </a:graphic>
      </p:graphicFrame>
      <p:graphicFrame>
        <p:nvGraphicFramePr>
          <p:cNvPr id="4" name="表 3">
            <a:extLst>
              <a:ext uri="{FF2B5EF4-FFF2-40B4-BE49-F238E27FC236}">
                <a16:creationId xmlns:a16="http://schemas.microsoft.com/office/drawing/2014/main" id="{F65BA1EC-C35C-05EB-1F75-94D91F32EEBE}"/>
              </a:ext>
            </a:extLst>
          </p:cNvPr>
          <p:cNvGraphicFramePr>
            <a:graphicFrameLocks noGrp="1"/>
          </p:cNvGraphicFramePr>
          <p:nvPr>
            <p:extLst>
              <p:ext uri="{D42A27DB-BD31-4B8C-83A1-F6EECF244321}">
                <p14:modId xmlns:p14="http://schemas.microsoft.com/office/powerpoint/2010/main" val="1899502486"/>
              </p:ext>
            </p:extLst>
          </p:nvPr>
        </p:nvGraphicFramePr>
        <p:xfrm>
          <a:off x="5385048" y="1342609"/>
          <a:ext cx="4174822" cy="3337560"/>
        </p:xfrm>
        <a:graphic>
          <a:graphicData uri="http://schemas.openxmlformats.org/drawingml/2006/table">
            <a:tbl>
              <a:tblPr firstRow="1" bandRow="1">
                <a:tableStyleId>{5C22544A-7EE6-4342-B048-85BDC9FD1C3A}</a:tableStyleId>
              </a:tblPr>
              <a:tblGrid>
                <a:gridCol w="430406">
                  <a:extLst>
                    <a:ext uri="{9D8B030D-6E8A-4147-A177-3AD203B41FA5}">
                      <a16:colId xmlns:a16="http://schemas.microsoft.com/office/drawing/2014/main" val="2034357534"/>
                    </a:ext>
                  </a:extLst>
                </a:gridCol>
                <a:gridCol w="2664296">
                  <a:extLst>
                    <a:ext uri="{9D8B030D-6E8A-4147-A177-3AD203B41FA5}">
                      <a16:colId xmlns:a16="http://schemas.microsoft.com/office/drawing/2014/main" val="879950940"/>
                    </a:ext>
                  </a:extLst>
                </a:gridCol>
                <a:gridCol w="1080120">
                  <a:extLst>
                    <a:ext uri="{9D8B030D-6E8A-4147-A177-3AD203B41FA5}">
                      <a16:colId xmlns:a16="http://schemas.microsoft.com/office/drawing/2014/main" val="1896623911"/>
                    </a:ext>
                  </a:extLst>
                </a:gridCol>
              </a:tblGrid>
              <a:tr h="370840">
                <a:tc>
                  <a:txBody>
                    <a:bodyPr/>
                    <a:lstStyle/>
                    <a:p>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対象ユーザ</a:t>
                      </a: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対応状況</a:t>
                      </a:r>
                    </a:p>
                  </a:txBody>
                  <a:tcPr anchor="ctr"/>
                </a:tc>
                <a:extLst>
                  <a:ext uri="{0D108BD9-81ED-4DB2-BD59-A6C34878D82A}">
                    <a16:rowId xmlns:a16="http://schemas.microsoft.com/office/drawing/2014/main" val="4210059274"/>
                  </a:ext>
                </a:extLst>
              </a:tr>
              <a:tr h="370840">
                <a:tc>
                  <a:txBody>
                    <a:bodyPr/>
                    <a:lstStyle/>
                    <a:p>
                      <a:pPr algn="r"/>
                      <a:r>
                        <a:rPr kumimoji="1" lang="en-US" altLang="ja-JP" sz="1100" dirty="0">
                          <a:latin typeface="メイリオ" panose="020B0604030504040204" pitchFamily="50" charset="-128"/>
                          <a:ea typeface="メイリオ" panose="020B0604030504040204" pitchFamily="50" charset="-128"/>
                        </a:rPr>
                        <a:t>11</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en-US" altLang="ja-JP" sz="1100" dirty="0">
                          <a:latin typeface="メイリオ" panose="020B0604030504040204" pitchFamily="50" charset="-128"/>
                          <a:ea typeface="メイリオ" panose="020B0604030504040204" pitchFamily="50" charset="-128"/>
                        </a:rPr>
                        <a:t>EM</a:t>
                      </a:r>
                      <a:r>
                        <a:rPr kumimoji="1" lang="ja-JP" altLang="en-US" sz="1100" dirty="0">
                          <a:latin typeface="メイリオ" panose="020B0604030504040204" pitchFamily="50" charset="-128"/>
                          <a:ea typeface="メイリオ" panose="020B0604030504040204" pitchFamily="50" charset="-128"/>
                        </a:rPr>
                        <a:t>システムズ</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対応中</a:t>
                      </a:r>
                    </a:p>
                  </a:txBody>
                  <a:tcPr anchor="ctr"/>
                </a:tc>
                <a:extLst>
                  <a:ext uri="{0D108BD9-81ED-4DB2-BD59-A6C34878D82A}">
                    <a16:rowId xmlns:a16="http://schemas.microsoft.com/office/drawing/2014/main" val="842568075"/>
                  </a:ext>
                </a:extLst>
              </a:tr>
              <a:tr h="370840">
                <a:tc>
                  <a:txBody>
                    <a:bodyPr/>
                    <a:lstStyle/>
                    <a:p>
                      <a:pPr algn="r"/>
                      <a:r>
                        <a:rPr kumimoji="1" lang="en-US" altLang="ja-JP" sz="1100" dirty="0">
                          <a:latin typeface="メイリオ" panose="020B0604030504040204" pitchFamily="50" charset="-128"/>
                          <a:ea typeface="メイリオ" panose="020B0604030504040204" pitchFamily="50" charset="-128"/>
                        </a:rPr>
                        <a:t>12</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zh-TW" altLang="en-US" sz="1100" dirty="0">
                          <a:latin typeface="メイリオ" panose="020B0604030504040204" pitchFamily="50" charset="-128"/>
                          <a:ea typeface="メイリオ" panose="020B0604030504040204" pitchFamily="50" charset="-128"/>
                        </a:rPr>
                        <a:t>日本漢字能力検定協会</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完了</a:t>
                      </a:r>
                    </a:p>
                  </a:txBody>
                  <a:tcPr anchor="ctr"/>
                </a:tc>
                <a:extLst>
                  <a:ext uri="{0D108BD9-81ED-4DB2-BD59-A6C34878D82A}">
                    <a16:rowId xmlns:a16="http://schemas.microsoft.com/office/drawing/2014/main" val="1305478778"/>
                  </a:ext>
                </a:extLst>
              </a:tr>
              <a:tr h="370840">
                <a:tc>
                  <a:txBody>
                    <a:bodyPr/>
                    <a:lstStyle/>
                    <a:p>
                      <a:pPr algn="r"/>
                      <a:r>
                        <a:rPr kumimoji="1" lang="en-US" altLang="ja-JP" sz="1100" dirty="0">
                          <a:latin typeface="メイリオ" panose="020B0604030504040204" pitchFamily="50" charset="-128"/>
                          <a:ea typeface="メイリオ" panose="020B0604030504040204" pitchFamily="50" charset="-128"/>
                        </a:rPr>
                        <a:t>13</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ヤーマン</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dirty="0">
                          <a:latin typeface="メイリオ" panose="020B0604030504040204" pitchFamily="50" charset="-128"/>
                          <a:ea typeface="メイリオ" panose="020B0604030504040204" pitchFamily="50" charset="-128"/>
                        </a:rPr>
                        <a:t>7/29</a:t>
                      </a:r>
                      <a:r>
                        <a:rPr kumimoji="1" lang="ja-JP" altLang="en-US" sz="1100" dirty="0">
                          <a:latin typeface="メイリオ" panose="020B0604030504040204" pitchFamily="50" charset="-128"/>
                          <a:ea typeface="メイリオ" panose="020B0604030504040204" pitchFamily="50" charset="-128"/>
                        </a:rPr>
                        <a:t>反映予定</a:t>
                      </a:r>
                    </a:p>
                  </a:txBody>
                  <a:tcPr anchor="ctr"/>
                </a:tc>
                <a:extLst>
                  <a:ext uri="{0D108BD9-81ED-4DB2-BD59-A6C34878D82A}">
                    <a16:rowId xmlns:a16="http://schemas.microsoft.com/office/drawing/2014/main" val="922887887"/>
                  </a:ext>
                </a:extLst>
              </a:tr>
              <a:tr h="370840">
                <a:tc>
                  <a:txBody>
                    <a:bodyPr/>
                    <a:lstStyle/>
                    <a:p>
                      <a:r>
                        <a:rPr kumimoji="1" lang="en-US" altLang="ja-JP" sz="1100" dirty="0">
                          <a:latin typeface="メイリオ" panose="020B0604030504040204" pitchFamily="50" charset="-128"/>
                          <a:ea typeface="メイリオ" panose="020B0604030504040204" pitchFamily="50" charset="-128"/>
                        </a:rPr>
                        <a:t>14</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ニトムズ</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完了</a:t>
                      </a:r>
                    </a:p>
                  </a:txBody>
                  <a:tcPr anchor="ctr"/>
                </a:tc>
                <a:extLst>
                  <a:ext uri="{0D108BD9-81ED-4DB2-BD59-A6C34878D82A}">
                    <a16:rowId xmlns:a16="http://schemas.microsoft.com/office/drawing/2014/main" val="2916555616"/>
                  </a:ext>
                </a:extLst>
              </a:tr>
              <a:tr h="370840">
                <a:tc>
                  <a:txBody>
                    <a:bodyPr/>
                    <a:lstStyle/>
                    <a:p>
                      <a:r>
                        <a:rPr kumimoji="1" lang="en-US" altLang="ja-JP" sz="1100" dirty="0">
                          <a:latin typeface="メイリオ" panose="020B0604030504040204" pitchFamily="50" charset="-128"/>
                          <a:ea typeface="メイリオ" panose="020B0604030504040204" pitchFamily="50" charset="-128"/>
                        </a:rPr>
                        <a:t>15</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ティーガイア</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完了</a:t>
                      </a:r>
                    </a:p>
                  </a:txBody>
                  <a:tcPr anchor="ctr"/>
                </a:tc>
                <a:extLst>
                  <a:ext uri="{0D108BD9-81ED-4DB2-BD59-A6C34878D82A}">
                    <a16:rowId xmlns:a16="http://schemas.microsoft.com/office/drawing/2014/main" val="2129140566"/>
                  </a:ext>
                </a:extLst>
              </a:tr>
              <a:tr h="370840">
                <a:tc>
                  <a:txBody>
                    <a:bodyPr/>
                    <a:lstStyle/>
                    <a:p>
                      <a:r>
                        <a:rPr kumimoji="1" lang="en-US" altLang="ja-JP" sz="1100" dirty="0">
                          <a:latin typeface="メイリオ" panose="020B0604030504040204" pitchFamily="50" charset="-128"/>
                          <a:ea typeface="メイリオ" panose="020B0604030504040204" pitchFamily="50" charset="-128"/>
                        </a:rPr>
                        <a:t>16</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r>
                        <a:rPr kumimoji="1" lang="ja-JP" altLang="en-US" sz="1100" dirty="0">
                          <a:latin typeface="メイリオ" panose="020B0604030504040204" pitchFamily="50" charset="-128"/>
                          <a:ea typeface="メイリオ" panose="020B0604030504040204" pitchFamily="50" charset="-128"/>
                        </a:rPr>
                        <a:t>アシックス商事</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対象外</a:t>
                      </a:r>
                    </a:p>
                  </a:txBody>
                  <a:tcPr anchor="ctr"/>
                </a:tc>
                <a:extLst>
                  <a:ext uri="{0D108BD9-81ED-4DB2-BD59-A6C34878D82A}">
                    <a16:rowId xmlns:a16="http://schemas.microsoft.com/office/drawing/2014/main" val="2125371019"/>
                  </a:ext>
                </a:extLst>
              </a:tr>
              <a:tr h="370840">
                <a:tc>
                  <a:txBody>
                    <a:bodyPr/>
                    <a:lstStyle/>
                    <a:p>
                      <a:r>
                        <a:rPr kumimoji="1" lang="en-US" altLang="ja-JP" sz="1100" dirty="0">
                          <a:latin typeface="メイリオ" panose="020B0604030504040204" pitchFamily="50" charset="-128"/>
                          <a:ea typeface="メイリオ" panose="020B0604030504040204" pitchFamily="50" charset="-128"/>
                        </a:rPr>
                        <a:t>17</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パシフィックプロダクツ</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完了</a:t>
                      </a:r>
                    </a:p>
                  </a:txBody>
                  <a:tcPr anchor="ctr"/>
                </a:tc>
                <a:extLst>
                  <a:ext uri="{0D108BD9-81ED-4DB2-BD59-A6C34878D82A}">
                    <a16:rowId xmlns:a16="http://schemas.microsoft.com/office/drawing/2014/main" val="3140885341"/>
                  </a:ext>
                </a:extLst>
              </a:tr>
              <a:tr h="370840">
                <a:tc>
                  <a:txBody>
                    <a:bodyPr/>
                    <a:lstStyle/>
                    <a:p>
                      <a:r>
                        <a:rPr kumimoji="1" lang="en-US" altLang="ja-JP" sz="1100" dirty="0">
                          <a:latin typeface="メイリオ" panose="020B0604030504040204" pitchFamily="50" charset="-128"/>
                          <a:ea typeface="メイリオ" panose="020B0604030504040204" pitchFamily="50" charset="-128"/>
                        </a:rPr>
                        <a:t>18</a:t>
                      </a:r>
                      <a:endParaRPr kumimoji="1" lang="ja-JP" altLang="en-US" sz="1100" dirty="0">
                        <a:latin typeface="メイリオ" panose="020B0604030504040204" pitchFamily="50" charset="-128"/>
                        <a:ea typeface="メイリオ" panose="020B0604030504040204" pitchFamily="50" charset="-128"/>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紀伊國屋書店</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dirty="0">
                          <a:latin typeface="メイリオ" panose="020B0604030504040204" pitchFamily="50" charset="-128"/>
                          <a:ea typeface="メイリオ" panose="020B0604030504040204" pitchFamily="50" charset="-128"/>
                        </a:rPr>
                        <a:t>対象外</a:t>
                      </a:r>
                    </a:p>
                  </a:txBody>
                  <a:tcPr anchor="ctr"/>
                </a:tc>
                <a:extLst>
                  <a:ext uri="{0D108BD9-81ED-4DB2-BD59-A6C34878D82A}">
                    <a16:rowId xmlns:a16="http://schemas.microsoft.com/office/drawing/2014/main" val="3048989387"/>
                  </a:ext>
                </a:extLst>
              </a:tr>
            </a:tbl>
          </a:graphicData>
        </a:graphic>
      </p:graphicFrame>
      <p:sp>
        <p:nvSpPr>
          <p:cNvPr id="5" name="テキスト ボックス 4">
            <a:extLst>
              <a:ext uri="{FF2B5EF4-FFF2-40B4-BE49-F238E27FC236}">
                <a16:creationId xmlns:a16="http://schemas.microsoft.com/office/drawing/2014/main" id="{DDAD40B5-F7DA-D101-7610-5AE597CC5E0B}"/>
              </a:ext>
            </a:extLst>
          </p:cNvPr>
          <p:cNvSpPr txBox="1">
            <a:spLocks/>
          </p:cNvSpPr>
          <p:nvPr/>
        </p:nvSpPr>
        <p:spPr>
          <a:xfrm>
            <a:off x="776537" y="831027"/>
            <a:ext cx="8064895" cy="338554"/>
          </a:xfrm>
          <a:prstGeom prst="rect">
            <a:avLst/>
          </a:prstGeom>
          <a:noFill/>
        </p:spPr>
        <p:txBody>
          <a:bodyPr wrap="square" rtlCol="0">
            <a:spAutoFit/>
          </a:bodyPr>
          <a:lstStyle/>
          <a:p>
            <a:r>
              <a:rPr lang="ja-JP" altLang="en-US" sz="1600" dirty="0">
                <a:latin typeface="メイリオ"/>
                <a:ea typeface="メイリオ"/>
                <a:cs typeface="メイリオ"/>
              </a:rPr>
              <a:t>脆弱性診断（</a:t>
            </a:r>
            <a:r>
              <a:rPr lang="en-US" altLang="ja-JP" sz="1600" dirty="0">
                <a:latin typeface="メイリオ"/>
                <a:ea typeface="メイリオ"/>
                <a:cs typeface="メイリオ"/>
              </a:rPr>
              <a:t>NESSUS</a:t>
            </a:r>
            <a:r>
              <a:rPr lang="ja-JP" altLang="en-US" sz="1600" dirty="0">
                <a:latin typeface="メイリオ"/>
                <a:ea typeface="メイリオ"/>
                <a:cs typeface="メイリオ"/>
              </a:rPr>
              <a:t>スキャン）の実施状況</a:t>
            </a:r>
            <a:endParaRPr lang="en-US" altLang="ja-JP" sz="1600" dirty="0">
              <a:latin typeface="メイリオ"/>
              <a:ea typeface="メイリオ"/>
              <a:cs typeface="メイリオ"/>
            </a:endParaRPr>
          </a:p>
        </p:txBody>
      </p:sp>
      <p:sp>
        <p:nvSpPr>
          <p:cNvPr id="2" name="テキスト ボックス 1">
            <a:extLst>
              <a:ext uri="{FF2B5EF4-FFF2-40B4-BE49-F238E27FC236}">
                <a16:creationId xmlns:a16="http://schemas.microsoft.com/office/drawing/2014/main" id="{73A95CFA-7E65-2A30-28F9-1CA97D705816}"/>
              </a:ext>
            </a:extLst>
          </p:cNvPr>
          <p:cNvSpPr txBox="1">
            <a:spLocks/>
          </p:cNvSpPr>
          <p:nvPr/>
        </p:nvSpPr>
        <p:spPr>
          <a:xfrm>
            <a:off x="6105128" y="4869160"/>
            <a:ext cx="1980681" cy="600164"/>
          </a:xfrm>
          <a:prstGeom prst="rect">
            <a:avLst/>
          </a:prstGeom>
          <a:noFill/>
        </p:spPr>
        <p:txBody>
          <a:bodyPr wrap="square" rtlCol="0">
            <a:spAutoFit/>
          </a:bodyPr>
          <a:lstStyle/>
          <a:p>
            <a:r>
              <a:rPr lang="ja-JP" altLang="en-US" sz="1100" dirty="0">
                <a:latin typeface="メイリオ"/>
                <a:ea typeface="メイリオ"/>
                <a:cs typeface="メイリオ"/>
              </a:rPr>
              <a:t>完了：</a:t>
            </a:r>
            <a:r>
              <a:rPr lang="en-US" altLang="ja-JP" sz="1100" dirty="0">
                <a:latin typeface="メイリオ"/>
                <a:ea typeface="メイリオ"/>
                <a:cs typeface="メイリオ"/>
              </a:rPr>
              <a:t>12</a:t>
            </a:r>
          </a:p>
          <a:p>
            <a:r>
              <a:rPr lang="ja-JP" altLang="en-US" sz="1100" dirty="0">
                <a:latin typeface="メイリオ"/>
                <a:ea typeface="メイリオ"/>
                <a:cs typeface="メイリオ"/>
              </a:rPr>
              <a:t>対応中：</a:t>
            </a:r>
            <a:r>
              <a:rPr lang="en-US" altLang="ja-JP" sz="1100" dirty="0">
                <a:latin typeface="メイリオ"/>
                <a:ea typeface="メイリオ"/>
                <a:cs typeface="メイリオ"/>
              </a:rPr>
              <a:t>3</a:t>
            </a:r>
          </a:p>
          <a:p>
            <a:r>
              <a:rPr lang="ja-JP" altLang="en-US" sz="1100" dirty="0">
                <a:latin typeface="メイリオ"/>
                <a:ea typeface="メイリオ"/>
                <a:cs typeface="メイリオ"/>
              </a:rPr>
              <a:t>対象外：</a:t>
            </a:r>
            <a:r>
              <a:rPr lang="en-US" altLang="ja-JP" sz="1100" dirty="0">
                <a:latin typeface="メイリオ"/>
                <a:ea typeface="メイリオ"/>
                <a:cs typeface="メイリオ"/>
              </a:rPr>
              <a:t>3</a:t>
            </a:r>
          </a:p>
        </p:txBody>
      </p:sp>
      <p:sp>
        <p:nvSpPr>
          <p:cNvPr id="7" name="Google Shape;152;p7">
            <a:extLst>
              <a:ext uri="{FF2B5EF4-FFF2-40B4-BE49-F238E27FC236}">
                <a16:creationId xmlns:a16="http://schemas.microsoft.com/office/drawing/2014/main" id="{5FD6DEAD-52C6-22CA-FEBF-FF9AC669B77C}"/>
              </a:ext>
            </a:extLst>
          </p:cNvPr>
          <p:cNvSpPr txBox="1">
            <a:spLocks noGrp="1"/>
          </p:cNvSpPr>
          <p:nvPr>
            <p:ph type="title"/>
          </p:nvPr>
        </p:nvSpPr>
        <p:spPr>
          <a:xfrm>
            <a:off x="835852" y="142852"/>
            <a:ext cx="8915400" cy="582594"/>
          </a:xfrm>
          <a:prstGeom prst="rect">
            <a:avLst/>
          </a:prstGeom>
          <a:noFill/>
          <a:ln>
            <a:noFill/>
          </a:ln>
        </p:spPr>
        <p:txBody>
          <a:bodyPr spcFirstLastPara="1" wrap="square" lIns="91425" tIns="45700" rIns="91425" bIns="45700" anchor="b" anchorCtr="0">
            <a:noAutofit/>
          </a:bodyPr>
          <a:lstStyle/>
          <a:p>
            <a:pPr>
              <a:lnSpc>
                <a:spcPct val="130000"/>
              </a:lnSpc>
            </a:pPr>
            <a:r>
              <a:rPr lang="en-US" altLang="ja-JP" sz="2000" dirty="0">
                <a:latin typeface="メイリオ" pitchFamily="50" charset="-128"/>
                <a:ea typeface="メイリオ" pitchFamily="50" charset="-128"/>
                <a:cs typeface="メイリオ" pitchFamily="50" charset="-128"/>
              </a:rPr>
              <a:t>4.</a:t>
            </a:r>
            <a:r>
              <a:rPr lang="ja-JP" altLang="en-US" sz="2000" dirty="0"/>
              <a:t>セキュリティ強化対応状況について　その２</a:t>
            </a:r>
            <a:endParaRPr lang="ja-JP" altLang="en-US" sz="2000" dirty="0">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1324928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5BF10-DFBA-2993-EA5F-D3E696CD5C7E}"/>
            </a:ext>
          </a:extLst>
        </p:cNvPr>
        <p:cNvGrpSpPr/>
        <p:nvPr/>
      </p:nvGrpSpPr>
      <p:grpSpPr>
        <a:xfrm>
          <a:off x="0" y="0"/>
          <a:ext cx="0" cy="0"/>
          <a:chOff x="0" y="0"/>
          <a:chExt cx="0" cy="0"/>
        </a:xfrm>
      </p:grpSpPr>
      <p:sp>
        <p:nvSpPr>
          <p:cNvPr id="2" name="Google Shape;152;p7">
            <a:extLst>
              <a:ext uri="{FF2B5EF4-FFF2-40B4-BE49-F238E27FC236}">
                <a16:creationId xmlns:a16="http://schemas.microsoft.com/office/drawing/2014/main" id="{7C0885C2-88AC-DAC0-C4FE-135C29624CDD}"/>
              </a:ext>
            </a:extLst>
          </p:cNvPr>
          <p:cNvSpPr txBox="1">
            <a:spLocks noGrp="1"/>
          </p:cNvSpPr>
          <p:nvPr>
            <p:ph type="title"/>
          </p:nvPr>
        </p:nvSpPr>
        <p:spPr>
          <a:xfrm>
            <a:off x="835852" y="142852"/>
            <a:ext cx="8915400" cy="582594"/>
          </a:xfrm>
          <a:prstGeom prst="rect">
            <a:avLst/>
          </a:prstGeom>
          <a:noFill/>
          <a:ln>
            <a:noFill/>
          </a:ln>
        </p:spPr>
        <p:txBody>
          <a:bodyPr spcFirstLastPara="1" wrap="square" lIns="91425" tIns="45700" rIns="91425" bIns="45700" anchor="b" anchorCtr="0">
            <a:noAutofit/>
          </a:bodyPr>
          <a:lstStyle/>
          <a:p>
            <a:pPr>
              <a:lnSpc>
                <a:spcPct val="130000"/>
              </a:lnSpc>
            </a:pPr>
            <a:r>
              <a:rPr lang="en-US" altLang="ja-JP" sz="2000" dirty="0">
                <a:latin typeface="メイリオ" pitchFamily="50" charset="-128"/>
                <a:ea typeface="メイリオ" pitchFamily="50" charset="-128"/>
                <a:cs typeface="メイリオ" pitchFamily="50" charset="-128"/>
              </a:rPr>
              <a:t>5.</a:t>
            </a:r>
            <a:r>
              <a:rPr lang="ja-JP" altLang="en-US" sz="2000" dirty="0">
                <a:latin typeface="メイリオ" pitchFamily="50" charset="-128"/>
                <a:ea typeface="メイリオ" pitchFamily="50" charset="-128"/>
                <a:cs typeface="メイリオ" pitchFamily="50" charset="-128"/>
              </a:rPr>
              <a:t>新パッケージの</a:t>
            </a:r>
            <a:r>
              <a:rPr lang="ja-JP" altLang="en-US" sz="2000" dirty="0"/>
              <a:t>バージョンアップ状況について（</a:t>
            </a:r>
            <a:r>
              <a:rPr lang="en-US" altLang="ja-JP" sz="2000" dirty="0"/>
              <a:t>1/2</a:t>
            </a:r>
            <a:r>
              <a:rPr lang="ja-JP" altLang="en-US" sz="2000" dirty="0"/>
              <a:t>）</a:t>
            </a:r>
            <a:endParaRPr lang="ja-JP" altLang="en-US" sz="2000" dirty="0">
              <a:latin typeface="メイリオ" pitchFamily="50" charset="-128"/>
              <a:ea typeface="メイリオ" pitchFamily="50" charset="-128"/>
              <a:cs typeface="メイリオ" pitchFamily="50" charset="-128"/>
            </a:endParaRPr>
          </a:p>
        </p:txBody>
      </p:sp>
      <p:sp>
        <p:nvSpPr>
          <p:cNvPr id="3" name="TextBox 2"/>
          <p:cNvSpPr txBox="1"/>
          <p:nvPr/>
        </p:nvSpPr>
        <p:spPr>
          <a:xfrm>
            <a:off x="560512" y="870956"/>
            <a:ext cx="9000000" cy="260000"/>
          </a:xfrm>
          <a:prstGeom prst="rect">
            <a:avLst/>
          </a:prstGeom>
          <a:noFill/>
        </p:spPr>
        <p:txBody>
          <a:bodyPr wrap="square">
            <a:spAutoFit/>
          </a:bodyPr>
          <a:lstStyle/>
          <a:p>
            <a:pPr>
              <a:spcBef>
                <a:spcPts val="0"/>
              </a:spcBef>
              <a:spcAft>
                <a:spcPts val="100"/>
              </a:spcAft>
            </a:pPr>
            <a:r>
              <a:rPr sz="1300" b="1">
                <a:solidFill>
                  <a:srgbClr val="333333"/>
                </a:solidFill>
                <a:latin typeface="メイリオ"/>
                <a:ea typeface="メイリオ"/>
              </a:rPr>
              <a:t>EC-RiderB2B Primo（B2BⅡ）　バージョンアップ状況（リリース済み）</a:t>
            </a:r>
          </a:p>
        </p:txBody>
      </p:sp>
      <p:graphicFrame>
        <p:nvGraphicFramePr>
          <p:cNvPr id="4" name="Table 3"/>
          <p:cNvGraphicFramePr>
            <a:graphicFrameLocks noGrp="1"/>
          </p:cNvGraphicFramePr>
          <p:nvPr>
            <p:extLst>
              <p:ext uri="{D42A27DB-BD31-4B8C-83A1-F6EECF244321}">
                <p14:modId xmlns:p14="http://schemas.microsoft.com/office/powerpoint/2010/main" val="417785577"/>
              </p:ext>
            </p:extLst>
          </p:nvPr>
        </p:nvGraphicFramePr>
        <p:xfrm>
          <a:off x="560512" y="1170956"/>
          <a:ext cx="8600000" cy="1400000"/>
        </p:xfrm>
        <a:graphic>
          <a:graphicData uri="http://schemas.openxmlformats.org/drawingml/2006/table">
            <a:tbl>
              <a:tblPr firstRow="1" bandRow="1">
                <a:tableStyleId>{5C22544A-7EE6-4342-B048-85BDC9FD1C3A}</a:tableStyleId>
              </a:tblPr>
              <a:tblGrid>
                <a:gridCol w="2150000">
                  <a:extLst>
                    <a:ext uri="{9D8B030D-6E8A-4147-A177-3AD203B41FA5}">
                      <a16:colId xmlns:a16="http://schemas.microsoft.com/office/drawing/2014/main" val="20000"/>
                    </a:ext>
                  </a:extLst>
                </a:gridCol>
                <a:gridCol w="2150000">
                  <a:extLst>
                    <a:ext uri="{9D8B030D-6E8A-4147-A177-3AD203B41FA5}">
                      <a16:colId xmlns:a16="http://schemas.microsoft.com/office/drawing/2014/main" val="20001"/>
                    </a:ext>
                  </a:extLst>
                </a:gridCol>
                <a:gridCol w="2150000">
                  <a:extLst>
                    <a:ext uri="{9D8B030D-6E8A-4147-A177-3AD203B41FA5}">
                      <a16:colId xmlns:a16="http://schemas.microsoft.com/office/drawing/2014/main" val="20002"/>
                    </a:ext>
                  </a:extLst>
                </a:gridCol>
                <a:gridCol w="2150000">
                  <a:extLst>
                    <a:ext uri="{9D8B030D-6E8A-4147-A177-3AD203B41FA5}">
                      <a16:colId xmlns:a16="http://schemas.microsoft.com/office/drawing/2014/main" val="20003"/>
                    </a:ext>
                  </a:extLst>
                </a:gridCol>
              </a:tblGrid>
              <a:tr h="350000">
                <a:tc>
                  <a:txBody>
                    <a:bodyPr/>
                    <a:lstStyle/>
                    <a:p>
                      <a:pPr algn="ctr"/>
                      <a:r>
                        <a:rPr sz="1100" b="1">
                          <a:solidFill>
                            <a:srgbClr val="FFFFFF"/>
                          </a:solidFill>
                          <a:latin typeface="メイリオ"/>
                          <a:ea typeface="メイリオ"/>
                        </a:rPr>
                        <a:t>コンポーネント</a:t>
                      </a:r>
                    </a:p>
                  </a:txBody>
                  <a:tcPr anchor="ctr">
                    <a:solidFill>
                      <a:srgbClr val="1F4E79"/>
                    </a:solidFill>
                  </a:tcPr>
                </a:tc>
                <a:tc>
                  <a:txBody>
                    <a:bodyPr/>
                    <a:lstStyle/>
                    <a:p>
                      <a:pPr algn="ctr"/>
                      <a:r>
                        <a:rPr sz="1100" b="1">
                          <a:solidFill>
                            <a:srgbClr val="FFFFFF"/>
                          </a:solidFill>
                          <a:latin typeface="メイリオ"/>
                          <a:ea typeface="メイリオ"/>
                        </a:rPr>
                        <a:t>Before</a:t>
                      </a:r>
                    </a:p>
                  </a:txBody>
                  <a:tcPr anchor="ctr">
                    <a:solidFill>
                      <a:srgbClr val="1F4E79"/>
                    </a:solidFill>
                  </a:tcPr>
                </a:tc>
                <a:tc>
                  <a:txBody>
                    <a:bodyPr/>
                    <a:lstStyle/>
                    <a:p>
                      <a:pPr algn="ctr"/>
                      <a:r>
                        <a:rPr sz="1100" b="1">
                          <a:solidFill>
                            <a:srgbClr val="FFFFFF"/>
                          </a:solidFill>
                          <a:latin typeface="メイリオ"/>
                          <a:ea typeface="メイリオ"/>
                        </a:rPr>
                        <a:t>After</a:t>
                      </a:r>
                    </a:p>
                  </a:txBody>
                  <a:tcPr anchor="ctr">
                    <a:solidFill>
                      <a:srgbClr val="1F4E79"/>
                    </a:solidFill>
                  </a:tcPr>
                </a:tc>
                <a:tc>
                  <a:txBody>
                    <a:bodyPr/>
                    <a:lstStyle/>
                    <a:p>
                      <a:pPr algn="ctr"/>
                      <a:r>
                        <a:rPr sz="1100" b="1">
                          <a:solidFill>
                            <a:srgbClr val="FFFFFF"/>
                          </a:solidFill>
                          <a:latin typeface="メイリオ"/>
                          <a:ea typeface="メイリオ"/>
                        </a:rPr>
                        <a:t>サポート期限</a:t>
                      </a:r>
                    </a:p>
                  </a:txBody>
                  <a:tcPr anchor="ctr">
                    <a:solidFill>
                      <a:srgbClr val="1F4E79"/>
                    </a:solidFill>
                  </a:tcPr>
                </a:tc>
                <a:extLst>
                  <a:ext uri="{0D108BD9-81ED-4DB2-BD59-A6C34878D82A}">
                    <a16:rowId xmlns:a16="http://schemas.microsoft.com/office/drawing/2014/main" val="10000"/>
                  </a:ext>
                </a:extLst>
              </a:tr>
              <a:tr h="350000">
                <a:tc>
                  <a:txBody>
                    <a:bodyPr/>
                    <a:lstStyle/>
                    <a:p>
                      <a:pPr algn="l"/>
                      <a:r>
                        <a:rPr sz="1200" b="0" dirty="0">
                          <a:solidFill>
                            <a:srgbClr val="333333"/>
                          </a:solidFill>
                          <a:latin typeface="メイリオ"/>
                          <a:ea typeface="メイリオ"/>
                        </a:rPr>
                        <a:t>Ruby</a:t>
                      </a:r>
                    </a:p>
                  </a:txBody>
                  <a:tcPr anchor="ctr"/>
                </a:tc>
                <a:tc>
                  <a:txBody>
                    <a:bodyPr/>
                    <a:lstStyle/>
                    <a:p>
                      <a:pPr algn="ctr"/>
                      <a:r>
                        <a:rPr sz="1200" b="0">
                          <a:solidFill>
                            <a:srgbClr val="333333"/>
                          </a:solidFill>
                          <a:latin typeface="メイリオ"/>
                          <a:ea typeface="メイリオ"/>
                        </a:rPr>
                        <a:t>3.2.2</a:t>
                      </a:r>
                    </a:p>
                  </a:txBody>
                  <a:tcPr anchor="ctr"/>
                </a:tc>
                <a:tc>
                  <a:txBody>
                    <a:bodyPr/>
                    <a:lstStyle/>
                    <a:p>
                      <a:pPr algn="ctr"/>
                      <a:r>
                        <a:rPr sz="1200" b="1">
                          <a:solidFill>
                            <a:srgbClr val="333333"/>
                          </a:solidFill>
                          <a:latin typeface="メイリオ"/>
                          <a:ea typeface="メイリオ"/>
                        </a:rPr>
                        <a:t>3.4.9</a:t>
                      </a:r>
                    </a:p>
                  </a:txBody>
                  <a:tcPr anchor="ctr"/>
                </a:tc>
                <a:tc>
                  <a:txBody>
                    <a:bodyPr/>
                    <a:lstStyle/>
                    <a:p>
                      <a:pPr algn="ctr"/>
                      <a:r>
                        <a:rPr sz="1200" b="0">
                          <a:solidFill>
                            <a:srgbClr val="333333"/>
                          </a:solidFill>
                          <a:latin typeface="メイリオ"/>
                          <a:ea typeface="メイリオ"/>
                        </a:rPr>
                        <a:t>2028/3/31</a:t>
                      </a:r>
                    </a:p>
                  </a:txBody>
                  <a:tcPr anchor="ctr"/>
                </a:tc>
                <a:extLst>
                  <a:ext uri="{0D108BD9-81ED-4DB2-BD59-A6C34878D82A}">
                    <a16:rowId xmlns:a16="http://schemas.microsoft.com/office/drawing/2014/main" val="10001"/>
                  </a:ext>
                </a:extLst>
              </a:tr>
              <a:tr h="350000">
                <a:tc>
                  <a:txBody>
                    <a:bodyPr/>
                    <a:lstStyle/>
                    <a:p>
                      <a:pPr algn="l"/>
                      <a:r>
                        <a:rPr sz="1200" b="0">
                          <a:solidFill>
                            <a:srgbClr val="333333"/>
                          </a:solidFill>
                          <a:latin typeface="メイリオ"/>
                          <a:ea typeface="メイリオ"/>
                        </a:rPr>
                        <a:t>Rails</a:t>
                      </a:r>
                    </a:p>
                  </a:txBody>
                  <a:tcPr anchor="ctr">
                    <a:solidFill>
                      <a:srgbClr val="D6E3F0"/>
                    </a:solidFill>
                  </a:tcPr>
                </a:tc>
                <a:tc>
                  <a:txBody>
                    <a:bodyPr/>
                    <a:lstStyle/>
                    <a:p>
                      <a:pPr algn="ctr"/>
                      <a:r>
                        <a:rPr sz="1200" b="0">
                          <a:solidFill>
                            <a:srgbClr val="333333"/>
                          </a:solidFill>
                          <a:latin typeface="メイリオ"/>
                          <a:ea typeface="メイリオ"/>
                        </a:rPr>
                        <a:t>7.2.2</a:t>
                      </a:r>
                    </a:p>
                  </a:txBody>
                  <a:tcPr anchor="ctr">
                    <a:solidFill>
                      <a:srgbClr val="D6E3F0"/>
                    </a:solidFill>
                  </a:tcPr>
                </a:tc>
                <a:tc>
                  <a:txBody>
                    <a:bodyPr/>
                    <a:lstStyle/>
                    <a:p>
                      <a:pPr algn="ctr"/>
                      <a:r>
                        <a:rPr sz="1200" b="1">
                          <a:solidFill>
                            <a:srgbClr val="333333"/>
                          </a:solidFill>
                          <a:latin typeface="メイリオ"/>
                          <a:ea typeface="メイリオ"/>
                        </a:rPr>
                        <a:t>8.1</a:t>
                      </a:r>
                    </a:p>
                  </a:txBody>
                  <a:tcPr anchor="ctr">
                    <a:solidFill>
                      <a:srgbClr val="D6E3F0"/>
                    </a:solidFill>
                  </a:tcPr>
                </a:tc>
                <a:tc>
                  <a:txBody>
                    <a:bodyPr/>
                    <a:lstStyle/>
                    <a:p>
                      <a:pPr algn="ctr"/>
                      <a:r>
                        <a:rPr sz="1200" b="0">
                          <a:solidFill>
                            <a:srgbClr val="333333"/>
                          </a:solidFill>
                          <a:latin typeface="メイリオ"/>
                          <a:ea typeface="メイリオ"/>
                        </a:rPr>
                        <a:t>2027/10/10</a:t>
                      </a:r>
                    </a:p>
                  </a:txBody>
                  <a:tcPr anchor="ctr">
                    <a:solidFill>
                      <a:srgbClr val="D6E3F0"/>
                    </a:solidFill>
                  </a:tcPr>
                </a:tc>
                <a:extLst>
                  <a:ext uri="{0D108BD9-81ED-4DB2-BD59-A6C34878D82A}">
                    <a16:rowId xmlns:a16="http://schemas.microsoft.com/office/drawing/2014/main" val="10002"/>
                  </a:ext>
                </a:extLst>
              </a:tr>
              <a:tr h="350000">
                <a:tc>
                  <a:txBody>
                    <a:bodyPr/>
                    <a:lstStyle/>
                    <a:p>
                      <a:pPr algn="l"/>
                      <a:r>
                        <a:rPr sz="1200" b="0">
                          <a:solidFill>
                            <a:srgbClr val="333333"/>
                          </a:solidFill>
                          <a:latin typeface="メイリオ"/>
                          <a:ea typeface="メイリオ"/>
                        </a:rPr>
                        <a:t>MariaDB</a:t>
                      </a:r>
                    </a:p>
                  </a:txBody>
                  <a:tcPr anchor="ctr"/>
                </a:tc>
                <a:tc>
                  <a:txBody>
                    <a:bodyPr/>
                    <a:lstStyle/>
                    <a:p>
                      <a:pPr algn="ctr"/>
                      <a:r>
                        <a:rPr sz="1200" b="0">
                          <a:solidFill>
                            <a:srgbClr val="333333"/>
                          </a:solidFill>
                          <a:latin typeface="メイリオ"/>
                          <a:ea typeface="メイリオ"/>
                        </a:rPr>
                        <a:t>10.6.22</a:t>
                      </a:r>
                    </a:p>
                  </a:txBody>
                  <a:tcPr anchor="ctr"/>
                </a:tc>
                <a:tc>
                  <a:txBody>
                    <a:bodyPr/>
                    <a:lstStyle/>
                    <a:p>
                      <a:pPr algn="ctr"/>
                      <a:r>
                        <a:rPr sz="1200" b="1">
                          <a:solidFill>
                            <a:srgbClr val="333333"/>
                          </a:solidFill>
                          <a:latin typeface="メイリオ"/>
                          <a:ea typeface="メイリオ"/>
                        </a:rPr>
                        <a:t>10.11 LTS</a:t>
                      </a:r>
                    </a:p>
                  </a:txBody>
                  <a:tcPr anchor="ctr"/>
                </a:tc>
                <a:tc>
                  <a:txBody>
                    <a:bodyPr/>
                    <a:lstStyle/>
                    <a:p>
                      <a:pPr algn="ctr"/>
                      <a:r>
                        <a:rPr sz="1200" b="0" dirty="0">
                          <a:solidFill>
                            <a:srgbClr val="333333"/>
                          </a:solidFill>
                          <a:latin typeface="メイリオ"/>
                          <a:ea typeface="メイリオ"/>
                        </a:rPr>
                        <a:t>2028/2/16</a:t>
                      </a:r>
                    </a:p>
                  </a:txBody>
                  <a:tcPr anchor="ctr"/>
                </a:tc>
                <a:extLst>
                  <a:ext uri="{0D108BD9-81ED-4DB2-BD59-A6C34878D82A}">
                    <a16:rowId xmlns:a16="http://schemas.microsoft.com/office/drawing/2014/main" val="10003"/>
                  </a:ext>
                </a:extLst>
              </a:tr>
            </a:tbl>
          </a:graphicData>
        </a:graphic>
      </p:graphicFrame>
      <p:sp>
        <p:nvSpPr>
          <p:cNvPr id="5" name="TextBox 4"/>
          <p:cNvSpPr txBox="1"/>
          <p:nvPr/>
        </p:nvSpPr>
        <p:spPr>
          <a:xfrm>
            <a:off x="560512" y="2770956"/>
            <a:ext cx="9000000" cy="2026196"/>
          </a:xfrm>
          <a:prstGeom prst="rect">
            <a:avLst/>
          </a:prstGeom>
          <a:noFill/>
        </p:spPr>
        <p:txBody>
          <a:bodyPr wrap="square">
            <a:spAutoFit/>
          </a:bodyPr>
          <a:lstStyle/>
          <a:p>
            <a:pPr>
              <a:spcBef>
                <a:spcPts val="0"/>
              </a:spcBef>
              <a:spcAft>
                <a:spcPts val="100"/>
              </a:spcAft>
            </a:pPr>
            <a:r>
              <a:rPr sz="1400" b="1" dirty="0">
                <a:solidFill>
                  <a:srgbClr val="333333"/>
                </a:solidFill>
                <a:latin typeface="メイリオ"/>
                <a:ea typeface="メイリオ"/>
              </a:rPr>
              <a:t>■ 顧客適用状況</a:t>
            </a:r>
          </a:p>
          <a:p>
            <a:pPr>
              <a:spcBef>
                <a:spcPts val="0"/>
              </a:spcBef>
              <a:spcAft>
                <a:spcPts val="100"/>
              </a:spcAft>
            </a:pPr>
            <a:r>
              <a:rPr sz="1300" b="0" dirty="0">
                <a:solidFill>
                  <a:srgbClr val="333333"/>
                </a:solidFill>
                <a:latin typeface="メイリオ"/>
                <a:ea typeface="メイリオ"/>
              </a:rPr>
              <a:t>・リリース済み</a:t>
            </a:r>
          </a:p>
          <a:p>
            <a:pPr>
              <a:spcBef>
                <a:spcPts val="0"/>
              </a:spcBef>
              <a:spcAft>
                <a:spcPts val="100"/>
              </a:spcAft>
            </a:pPr>
            <a:r>
              <a:rPr sz="1300" b="0" dirty="0">
                <a:solidFill>
                  <a:srgbClr val="333333"/>
                </a:solidFill>
                <a:latin typeface="メイリオ"/>
                <a:ea typeface="メイリオ"/>
              </a:rPr>
              <a:t>・キャンドゥ／ポディウム：提供準備完了、</a:t>
            </a:r>
            <a:r>
              <a:rPr lang="ja-JP" altLang="en-US" sz="1300" b="0" dirty="0">
                <a:solidFill>
                  <a:srgbClr val="333333"/>
                </a:solidFill>
                <a:latin typeface="メイリオ"/>
                <a:ea typeface="メイリオ"/>
              </a:rPr>
              <a:t>提供</a:t>
            </a:r>
            <a:r>
              <a:rPr sz="1300" b="0" dirty="0">
                <a:solidFill>
                  <a:srgbClr val="333333"/>
                </a:solidFill>
                <a:latin typeface="メイリオ"/>
                <a:ea typeface="メイリオ"/>
              </a:rPr>
              <a:t>待ち</a:t>
            </a:r>
          </a:p>
          <a:p>
            <a:pPr>
              <a:spcBef>
                <a:spcPts val="0"/>
              </a:spcBef>
              <a:spcAft>
                <a:spcPts val="100"/>
              </a:spcAft>
            </a:pPr>
            <a:endParaRPr sz="1300" b="0" dirty="0">
              <a:solidFill>
                <a:srgbClr val="333333"/>
              </a:solidFill>
              <a:latin typeface="メイリオ"/>
              <a:ea typeface="メイリオ"/>
            </a:endParaRPr>
          </a:p>
          <a:p>
            <a:pPr>
              <a:spcBef>
                <a:spcPts val="0"/>
              </a:spcBef>
              <a:spcAft>
                <a:spcPts val="100"/>
              </a:spcAft>
            </a:pPr>
            <a:r>
              <a:rPr sz="1400" b="1" dirty="0">
                <a:solidFill>
                  <a:srgbClr val="333333"/>
                </a:solidFill>
                <a:latin typeface="メイリオ"/>
                <a:ea typeface="メイリオ"/>
              </a:rPr>
              <a:t>■ 今後（OS）</a:t>
            </a:r>
          </a:p>
          <a:p>
            <a:pPr>
              <a:spcBef>
                <a:spcPts val="0"/>
              </a:spcBef>
              <a:spcAft>
                <a:spcPts val="100"/>
              </a:spcAft>
            </a:pPr>
            <a:r>
              <a:rPr sz="1300" b="0" dirty="0">
                <a:solidFill>
                  <a:srgbClr val="333333"/>
                </a:solidFill>
                <a:latin typeface="メイリオ"/>
                <a:ea typeface="メイリオ"/>
              </a:rPr>
              <a:t>・Ubuntu 22.04 → 24.04 を実施中</a:t>
            </a:r>
          </a:p>
          <a:p>
            <a:pPr>
              <a:spcBef>
                <a:spcPts val="0"/>
              </a:spcBef>
              <a:spcAft>
                <a:spcPts val="100"/>
              </a:spcAft>
            </a:pPr>
            <a:r>
              <a:rPr sz="1300" b="0" dirty="0">
                <a:solidFill>
                  <a:srgbClr val="C00000"/>
                </a:solidFill>
                <a:latin typeface="メイリオ"/>
                <a:ea typeface="メイリオ"/>
              </a:rPr>
              <a:t>・8月末までにサーバー含め完了見込み</a:t>
            </a:r>
          </a:p>
          <a:p>
            <a:pPr>
              <a:spcBef>
                <a:spcPts val="0"/>
              </a:spcBef>
              <a:spcAft>
                <a:spcPts val="100"/>
              </a:spcAft>
            </a:pPr>
            <a:endParaRPr sz="1300" b="0" dirty="0">
              <a:solidFill>
                <a:srgbClr val="C00000"/>
              </a:solidFill>
              <a:latin typeface="メイリオ"/>
              <a:ea typeface="メイリオ"/>
            </a:endParaRPr>
          </a:p>
          <a:p>
            <a:pPr>
              <a:spcBef>
                <a:spcPts val="0"/>
              </a:spcBef>
              <a:spcAft>
                <a:spcPts val="100"/>
              </a:spcAft>
            </a:pPr>
            <a:r>
              <a:rPr sz="1300" b="0" dirty="0">
                <a:solidFill>
                  <a:srgbClr val="C00000"/>
                </a:solidFill>
                <a:latin typeface="メイリオ"/>
                <a:ea typeface="メイリオ"/>
              </a:rPr>
              <a:t>→ 次ページ：どのアップデートで何ができて、今後どう使えるか</a:t>
            </a:r>
          </a:p>
        </p:txBody>
      </p:sp>
    </p:spTree>
    <p:extLst>
      <p:ext uri="{BB962C8B-B14F-4D97-AF65-F5344CB8AC3E}">
        <p14:creationId xmlns:p14="http://schemas.microsoft.com/office/powerpoint/2010/main" val="27362097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16E8C-3A5A-5673-1F6C-E2675D786C93}"/>
            </a:ext>
          </a:extLst>
        </p:cNvPr>
        <p:cNvGrpSpPr/>
        <p:nvPr/>
      </p:nvGrpSpPr>
      <p:grpSpPr>
        <a:xfrm>
          <a:off x="0" y="0"/>
          <a:ext cx="0" cy="0"/>
          <a:chOff x="0" y="0"/>
          <a:chExt cx="0" cy="0"/>
        </a:xfrm>
      </p:grpSpPr>
      <p:sp>
        <p:nvSpPr>
          <p:cNvPr id="2" name="Google Shape;152;p7">
            <a:extLst>
              <a:ext uri="{FF2B5EF4-FFF2-40B4-BE49-F238E27FC236}">
                <a16:creationId xmlns:a16="http://schemas.microsoft.com/office/drawing/2014/main" id="{D921DF44-EF51-FC7C-8257-9CEEE25DB1EF}"/>
              </a:ext>
            </a:extLst>
          </p:cNvPr>
          <p:cNvSpPr txBox="1">
            <a:spLocks noGrp="1"/>
          </p:cNvSpPr>
          <p:nvPr>
            <p:ph type="title"/>
          </p:nvPr>
        </p:nvSpPr>
        <p:spPr>
          <a:xfrm>
            <a:off x="835852" y="142852"/>
            <a:ext cx="8915400" cy="582594"/>
          </a:xfrm>
          <a:prstGeom prst="rect">
            <a:avLst/>
          </a:prstGeom>
          <a:noFill/>
          <a:ln>
            <a:noFill/>
          </a:ln>
        </p:spPr>
        <p:txBody>
          <a:bodyPr spcFirstLastPara="1" wrap="square" lIns="91425" tIns="45700" rIns="91425" bIns="45700" anchor="b" anchorCtr="0">
            <a:noAutofit/>
          </a:bodyPr>
          <a:lstStyle/>
          <a:p>
            <a:pPr>
              <a:lnSpc>
                <a:spcPct val="130000"/>
              </a:lnSpc>
            </a:pPr>
            <a:r>
              <a:rPr lang="en-US" altLang="ja-JP" sz="2000" dirty="0">
                <a:latin typeface="メイリオ" pitchFamily="50" charset="-128"/>
                <a:ea typeface="メイリオ" pitchFamily="50" charset="-128"/>
                <a:cs typeface="メイリオ" pitchFamily="50" charset="-128"/>
              </a:rPr>
              <a:t>5.</a:t>
            </a:r>
            <a:r>
              <a:rPr lang="ja-JP" altLang="en-US" sz="2000" dirty="0">
                <a:latin typeface="メイリオ" pitchFamily="50" charset="-128"/>
                <a:ea typeface="メイリオ" pitchFamily="50" charset="-128"/>
                <a:cs typeface="メイリオ" pitchFamily="50" charset="-128"/>
              </a:rPr>
              <a:t>新パッケージの</a:t>
            </a:r>
            <a:r>
              <a:rPr lang="ja-JP" altLang="en-US" sz="2000" dirty="0"/>
              <a:t>バージョンアップ状況について（</a:t>
            </a:r>
            <a:r>
              <a:rPr lang="en-US" altLang="ja-JP" sz="2000" dirty="0"/>
              <a:t>2/2</a:t>
            </a:r>
            <a:r>
              <a:rPr lang="ja-JP" altLang="en-US" sz="2000" dirty="0"/>
              <a:t>）</a:t>
            </a:r>
            <a:endParaRPr lang="ja-JP" altLang="en-US" sz="2000" dirty="0">
              <a:latin typeface="メイリオ" pitchFamily="50" charset="-128"/>
              <a:ea typeface="メイリオ" pitchFamily="50" charset="-128"/>
              <a:cs typeface="メイリオ" pitchFamily="50" charset="-128"/>
            </a:endParaRPr>
          </a:p>
        </p:txBody>
      </p:sp>
      <p:sp>
        <p:nvSpPr>
          <p:cNvPr id="7" name="TextBox 2">
            <a:extLst>
              <a:ext uri="{FF2B5EF4-FFF2-40B4-BE49-F238E27FC236}">
                <a16:creationId xmlns:a16="http://schemas.microsoft.com/office/drawing/2014/main" id="{1CF6705B-6939-4690-AEC2-AB6284C25D6E}"/>
              </a:ext>
            </a:extLst>
          </p:cNvPr>
          <p:cNvSpPr txBox="1"/>
          <p:nvPr/>
        </p:nvSpPr>
        <p:spPr>
          <a:xfrm>
            <a:off x="400000" y="795746"/>
            <a:ext cx="9200000" cy="260000"/>
          </a:xfrm>
          <a:prstGeom prst="rect">
            <a:avLst/>
          </a:prstGeom>
          <a:noFill/>
        </p:spPr>
        <p:txBody>
          <a:bodyPr wrap="square">
            <a:spAutoFit/>
          </a:bodyPr>
          <a:lstStyle/>
          <a:p>
            <a:pPr>
              <a:spcBef>
                <a:spcPts val="0"/>
              </a:spcBef>
              <a:spcAft>
                <a:spcPts val="100"/>
              </a:spcAft>
            </a:pPr>
            <a:r>
              <a:rPr sz="1200" b="1">
                <a:solidFill>
                  <a:srgbClr val="C00000"/>
                </a:solidFill>
                <a:latin typeface="メイリオ"/>
                <a:ea typeface="メイリオ"/>
              </a:rPr>
              <a:t>どのアップデートで → 何ができて → 今後どう使えるか</a:t>
            </a:r>
          </a:p>
        </p:txBody>
      </p:sp>
      <p:graphicFrame>
        <p:nvGraphicFramePr>
          <p:cNvPr id="9" name="Table 3">
            <a:extLst>
              <a:ext uri="{FF2B5EF4-FFF2-40B4-BE49-F238E27FC236}">
                <a16:creationId xmlns:a16="http://schemas.microsoft.com/office/drawing/2014/main" id="{E72E2576-55D4-2C00-185D-F661F1C9A4D6}"/>
              </a:ext>
            </a:extLst>
          </p:cNvPr>
          <p:cNvGraphicFramePr>
            <a:graphicFrameLocks noGrp="1"/>
          </p:cNvGraphicFramePr>
          <p:nvPr>
            <p:extLst>
              <p:ext uri="{D42A27DB-BD31-4B8C-83A1-F6EECF244321}">
                <p14:modId xmlns:p14="http://schemas.microsoft.com/office/powerpoint/2010/main" val="2186101153"/>
              </p:ext>
            </p:extLst>
          </p:nvPr>
        </p:nvGraphicFramePr>
        <p:xfrm>
          <a:off x="400000" y="1118664"/>
          <a:ext cx="8764148" cy="3800000"/>
        </p:xfrm>
        <a:graphic>
          <a:graphicData uri="http://schemas.openxmlformats.org/drawingml/2006/table">
            <a:tbl>
              <a:tblPr firstRow="1" bandRow="1">
                <a:tableStyleId>{5C22544A-7EE6-4342-B048-85BDC9FD1C3A}</a:tableStyleId>
              </a:tblPr>
              <a:tblGrid>
                <a:gridCol w="1452852">
                  <a:extLst>
                    <a:ext uri="{9D8B030D-6E8A-4147-A177-3AD203B41FA5}">
                      <a16:colId xmlns:a16="http://schemas.microsoft.com/office/drawing/2014/main" val="20000"/>
                    </a:ext>
                  </a:extLst>
                </a:gridCol>
                <a:gridCol w="1872208">
                  <a:extLst>
                    <a:ext uri="{9D8B030D-6E8A-4147-A177-3AD203B41FA5}">
                      <a16:colId xmlns:a16="http://schemas.microsoft.com/office/drawing/2014/main" val="20001"/>
                    </a:ext>
                  </a:extLst>
                </a:gridCol>
                <a:gridCol w="2988896">
                  <a:extLst>
                    <a:ext uri="{9D8B030D-6E8A-4147-A177-3AD203B41FA5}">
                      <a16:colId xmlns:a16="http://schemas.microsoft.com/office/drawing/2014/main" val="20002"/>
                    </a:ext>
                  </a:extLst>
                </a:gridCol>
                <a:gridCol w="2450192">
                  <a:extLst>
                    <a:ext uri="{9D8B030D-6E8A-4147-A177-3AD203B41FA5}">
                      <a16:colId xmlns:a16="http://schemas.microsoft.com/office/drawing/2014/main" val="20003"/>
                    </a:ext>
                  </a:extLst>
                </a:gridCol>
              </a:tblGrid>
              <a:tr h="450000">
                <a:tc>
                  <a:txBody>
                    <a:bodyPr/>
                    <a:lstStyle/>
                    <a:p>
                      <a:pPr algn="ctr"/>
                      <a:r>
                        <a:rPr sz="1000" b="1">
                          <a:solidFill>
                            <a:srgbClr val="FFFFFF"/>
                          </a:solidFill>
                          <a:latin typeface="メイリオ"/>
                          <a:ea typeface="メイリオ"/>
                        </a:rPr>
                        <a:t>アップデート</a:t>
                      </a:r>
                    </a:p>
                  </a:txBody>
                  <a:tcPr anchor="ctr">
                    <a:solidFill>
                      <a:srgbClr val="1F4E79"/>
                    </a:solidFill>
                  </a:tcPr>
                </a:tc>
                <a:tc>
                  <a:txBody>
                    <a:bodyPr/>
                    <a:lstStyle/>
                    <a:p>
                      <a:pPr algn="ctr"/>
                      <a:r>
                        <a:rPr sz="1000" b="1">
                          <a:solidFill>
                            <a:srgbClr val="FFFFFF"/>
                          </a:solidFill>
                          <a:latin typeface="メイリオ"/>
                          <a:ea typeface="メイリオ"/>
                        </a:rPr>
                        <a:t>新機能</a:t>
                      </a:r>
                    </a:p>
                  </a:txBody>
                  <a:tcPr anchor="ctr">
                    <a:solidFill>
                      <a:srgbClr val="1F4E79"/>
                    </a:solidFill>
                  </a:tcPr>
                </a:tc>
                <a:tc>
                  <a:txBody>
                    <a:bodyPr/>
                    <a:lstStyle/>
                    <a:p>
                      <a:pPr algn="ctr"/>
                      <a:r>
                        <a:rPr sz="1000" b="1">
                          <a:solidFill>
                            <a:srgbClr val="FFFFFF"/>
                          </a:solidFill>
                          <a:latin typeface="メイリオ"/>
                          <a:ea typeface="メイリオ"/>
                        </a:rPr>
                        <a:t>できるようになること</a:t>
                      </a:r>
                    </a:p>
                  </a:txBody>
                  <a:tcPr anchor="ctr">
                    <a:solidFill>
                      <a:srgbClr val="1F4E79"/>
                    </a:solidFill>
                  </a:tcPr>
                </a:tc>
                <a:tc>
                  <a:txBody>
                    <a:bodyPr/>
                    <a:lstStyle/>
                    <a:p>
                      <a:pPr algn="ctr"/>
                      <a:r>
                        <a:rPr sz="1000" b="1">
                          <a:solidFill>
                            <a:srgbClr val="FFFFFF"/>
                          </a:solidFill>
                          <a:latin typeface="メイリオ"/>
                          <a:ea typeface="メイリオ"/>
                        </a:rPr>
                        <a:t>今後の活用イメージ</a:t>
                      </a:r>
                    </a:p>
                  </a:txBody>
                  <a:tcPr anchor="ctr">
                    <a:solidFill>
                      <a:srgbClr val="1F4E79"/>
                    </a:solidFill>
                  </a:tcPr>
                </a:tc>
                <a:extLst>
                  <a:ext uri="{0D108BD9-81ED-4DB2-BD59-A6C34878D82A}">
                    <a16:rowId xmlns:a16="http://schemas.microsoft.com/office/drawing/2014/main" val="10000"/>
                  </a:ext>
                </a:extLst>
              </a:tr>
              <a:tr h="720000">
                <a:tc>
                  <a:txBody>
                    <a:bodyPr/>
                    <a:lstStyle/>
                    <a:p>
                      <a:pPr algn="l"/>
                      <a:r>
                        <a:rPr sz="900" b="1" dirty="0">
                          <a:solidFill>
                            <a:srgbClr val="333333"/>
                          </a:solidFill>
                          <a:latin typeface="メイリオ"/>
                          <a:ea typeface="メイリオ"/>
                        </a:rPr>
                        <a:t>Ruby
3.2→3.4</a:t>
                      </a:r>
                    </a:p>
                  </a:txBody>
                  <a:tcPr anchor="ctr"/>
                </a:tc>
                <a:tc>
                  <a:txBody>
                    <a:bodyPr/>
                    <a:lstStyle/>
                    <a:p>
                      <a:pPr algn="l"/>
                      <a:r>
                        <a:rPr sz="900" b="0">
                          <a:solidFill>
                            <a:srgbClr val="333333"/>
                          </a:solidFill>
                          <a:latin typeface="メイリオ"/>
                          <a:ea typeface="メイリオ"/>
                        </a:rPr>
                        <a:t>外部接続の改善
(Happy Eyeballs v2)</a:t>
                      </a:r>
                    </a:p>
                  </a:txBody>
                  <a:tcPr anchor="ctr"/>
                </a:tc>
                <a:tc>
                  <a:txBody>
                    <a:bodyPr/>
                    <a:lstStyle/>
                    <a:p>
                      <a:pPr algn="l"/>
                      <a:r>
                        <a:rPr sz="900" b="0">
                          <a:solidFill>
                            <a:srgbClr val="333333"/>
                          </a:solidFill>
                          <a:latin typeface="メイリオ"/>
                          <a:ea typeface="メイリオ"/>
                        </a:rPr>
                        <a:t>IPv4/IPv6を並行して接続試行し、
外部通信の確立をより確実にできる</a:t>
                      </a:r>
                    </a:p>
                  </a:txBody>
                  <a:tcPr anchor="ctr"/>
                </a:tc>
                <a:tc>
                  <a:txBody>
                    <a:bodyPr/>
                    <a:lstStyle/>
                    <a:p>
                      <a:pPr algn="l"/>
                      <a:r>
                        <a:rPr sz="900" b="0">
                          <a:solidFill>
                            <a:srgbClr val="333333"/>
                          </a:solidFill>
                          <a:latin typeface="メイリオ"/>
                          <a:ea typeface="メイリオ"/>
                        </a:rPr>
                        <a:t>基幹・決済・配送など外部API連携の
接続まわりを安定させやすい</a:t>
                      </a:r>
                    </a:p>
                  </a:txBody>
                  <a:tcPr anchor="ctr"/>
                </a:tc>
                <a:extLst>
                  <a:ext uri="{0D108BD9-81ED-4DB2-BD59-A6C34878D82A}">
                    <a16:rowId xmlns:a16="http://schemas.microsoft.com/office/drawing/2014/main" val="10001"/>
                  </a:ext>
                </a:extLst>
              </a:tr>
              <a:tr h="720000">
                <a:tc>
                  <a:txBody>
                    <a:bodyPr/>
                    <a:lstStyle/>
                    <a:p>
                      <a:pPr algn="l"/>
                      <a:r>
                        <a:rPr sz="900" b="1">
                          <a:solidFill>
                            <a:srgbClr val="333333"/>
                          </a:solidFill>
                          <a:latin typeface="メイリオ"/>
                          <a:ea typeface="メイリオ"/>
                        </a:rPr>
                        <a:t>Rails
7.2→8.1</a:t>
                      </a:r>
                    </a:p>
                  </a:txBody>
                  <a:tcPr anchor="ctr">
                    <a:solidFill>
                      <a:srgbClr val="D6E3F0"/>
                    </a:solidFill>
                  </a:tcPr>
                </a:tc>
                <a:tc>
                  <a:txBody>
                    <a:bodyPr/>
                    <a:lstStyle/>
                    <a:p>
                      <a:pPr algn="l"/>
                      <a:r>
                        <a:rPr sz="900" b="0" dirty="0">
                          <a:solidFill>
                            <a:srgbClr val="333333"/>
                          </a:solidFill>
                          <a:latin typeface="メイリオ"/>
                          <a:ea typeface="メイリオ"/>
                        </a:rPr>
                        <a:t>同じジョブの途中再開
(Active Job Continuations)</a:t>
                      </a:r>
                    </a:p>
                  </a:txBody>
                  <a:tcPr anchor="ctr">
                    <a:solidFill>
                      <a:srgbClr val="D6E3F0"/>
                    </a:solidFill>
                  </a:tcPr>
                </a:tc>
                <a:tc>
                  <a:txBody>
                    <a:bodyPr/>
                    <a:lstStyle/>
                    <a:p>
                      <a:pPr algn="l"/>
                      <a:r>
                        <a:rPr sz="900" b="0">
                          <a:solidFill>
                            <a:srgbClr val="333333"/>
                          </a:solidFill>
                          <a:latin typeface="メイリオ"/>
                          <a:ea typeface="メイリオ"/>
                        </a:rPr>
                        <a:t>長時間ジョブが途中停止しても、
同じ実行を続きから再開しやすい
※再実行（新規ジョブ）とは別物</a:t>
                      </a:r>
                    </a:p>
                  </a:txBody>
                  <a:tcPr anchor="ctr">
                    <a:solidFill>
                      <a:srgbClr val="D6E3F0"/>
                    </a:solidFill>
                  </a:tcPr>
                </a:tc>
                <a:tc>
                  <a:txBody>
                    <a:bodyPr/>
                    <a:lstStyle/>
                    <a:p>
                      <a:pPr algn="l"/>
                      <a:r>
                        <a:rPr sz="900" b="0">
                          <a:solidFill>
                            <a:srgbClr val="333333"/>
                          </a:solidFill>
                          <a:latin typeface="メイリオ"/>
                          <a:ea typeface="メイリオ"/>
                        </a:rPr>
                        <a:t>CSV取込／出力など
長時間ジョブの安定運用に使える</a:t>
                      </a:r>
                    </a:p>
                  </a:txBody>
                  <a:tcPr anchor="ctr">
                    <a:solidFill>
                      <a:srgbClr val="D6E3F0"/>
                    </a:solidFill>
                  </a:tcPr>
                </a:tc>
                <a:extLst>
                  <a:ext uri="{0D108BD9-81ED-4DB2-BD59-A6C34878D82A}">
                    <a16:rowId xmlns:a16="http://schemas.microsoft.com/office/drawing/2014/main" val="10002"/>
                  </a:ext>
                </a:extLst>
              </a:tr>
              <a:tr h="720000">
                <a:tc>
                  <a:txBody>
                    <a:bodyPr/>
                    <a:lstStyle/>
                    <a:p>
                      <a:pPr algn="l"/>
                      <a:r>
                        <a:rPr sz="900" b="1">
                          <a:solidFill>
                            <a:srgbClr val="333333"/>
                          </a:solidFill>
                          <a:latin typeface="メイリオ"/>
                          <a:ea typeface="メイリオ"/>
                        </a:rPr>
                        <a:t>Rails
7.2→8.1</a:t>
                      </a:r>
                    </a:p>
                  </a:txBody>
                  <a:tcPr anchor="ctr"/>
                </a:tc>
                <a:tc>
                  <a:txBody>
                    <a:bodyPr/>
                    <a:lstStyle/>
                    <a:p>
                      <a:pPr algn="l"/>
                      <a:r>
                        <a:rPr sz="900" b="0" dirty="0">
                          <a:solidFill>
                            <a:srgbClr val="333333"/>
                          </a:solidFill>
                          <a:latin typeface="メイリオ"/>
                          <a:ea typeface="メイリオ"/>
                        </a:rPr>
                        <a:t>構造化イベント通知
(Rails.event)</a:t>
                      </a:r>
                    </a:p>
                  </a:txBody>
                  <a:tcPr anchor="ctr"/>
                </a:tc>
                <a:tc>
                  <a:txBody>
                    <a:bodyPr/>
                    <a:lstStyle/>
                    <a:p>
                      <a:pPr algn="l"/>
                      <a:r>
                        <a:rPr sz="800" b="0" dirty="0">
                          <a:solidFill>
                            <a:srgbClr val="333333"/>
                          </a:solidFill>
                          <a:latin typeface="メイリオ"/>
                          <a:ea typeface="メイリオ"/>
                        </a:rPr>
                        <a:t>以前は logger（人が読むログ）と
Notifications（内部計測）が中心。
それらを継続しつつ、業務イベント
（受注確定・価格変更・CSV取込完了など）を
同じ形式で出せるようになった</a:t>
                      </a:r>
                    </a:p>
                  </a:txBody>
                  <a:tcPr anchor="ctr"/>
                </a:tc>
                <a:tc>
                  <a:txBody>
                    <a:bodyPr/>
                    <a:lstStyle/>
                    <a:p>
                      <a:pPr algn="l"/>
                      <a:r>
                        <a:rPr sz="800" b="0">
                          <a:solidFill>
                            <a:srgbClr val="333333"/>
                          </a:solidFill>
                          <a:latin typeface="メイリオ"/>
                          <a:ea typeface="メイリオ"/>
                        </a:rPr>
                        <a:t>「いつ・誰が・何をした」を
横断検索しやすくなり、
障害調査・監査・監視連携がやりやすい</a:t>
                      </a:r>
                    </a:p>
                  </a:txBody>
                  <a:tcPr anchor="ctr"/>
                </a:tc>
                <a:extLst>
                  <a:ext uri="{0D108BD9-81ED-4DB2-BD59-A6C34878D82A}">
                    <a16:rowId xmlns:a16="http://schemas.microsoft.com/office/drawing/2014/main" val="10003"/>
                  </a:ext>
                </a:extLst>
              </a:tr>
              <a:tr h="720000">
                <a:tc>
                  <a:txBody>
                    <a:bodyPr/>
                    <a:lstStyle/>
                    <a:p>
                      <a:pPr algn="l"/>
                      <a:r>
                        <a:rPr sz="900" b="1">
                          <a:solidFill>
                            <a:srgbClr val="333333"/>
                          </a:solidFill>
                          <a:latin typeface="メイリオ"/>
                          <a:ea typeface="メイリオ"/>
                        </a:rPr>
                        <a:t>Rails
7.2→8.1</a:t>
                      </a:r>
                    </a:p>
                  </a:txBody>
                  <a:tcPr anchor="ctr">
                    <a:solidFill>
                      <a:srgbClr val="D6E3F0"/>
                    </a:solidFill>
                  </a:tcPr>
                </a:tc>
                <a:tc>
                  <a:txBody>
                    <a:bodyPr/>
                    <a:lstStyle/>
                    <a:p>
                      <a:pPr algn="l"/>
                      <a:r>
                        <a:rPr sz="900" b="0">
                          <a:solidFill>
                            <a:srgbClr val="333333"/>
                          </a:solidFill>
                          <a:latin typeface="メイリオ"/>
                          <a:ea typeface="メイリオ"/>
                        </a:rPr>
                        <a:t>Markdown標準描画</a:t>
                      </a:r>
                    </a:p>
                  </a:txBody>
                  <a:tcPr anchor="ctr">
                    <a:solidFill>
                      <a:srgbClr val="D6E3F0"/>
                    </a:solidFill>
                  </a:tcPr>
                </a:tc>
                <a:tc>
                  <a:txBody>
                    <a:bodyPr/>
                    <a:lstStyle/>
                    <a:p>
                      <a:pPr algn="l"/>
                      <a:r>
                        <a:rPr sz="900" b="0" dirty="0">
                          <a:solidFill>
                            <a:srgbClr val="333333"/>
                          </a:solidFill>
                          <a:latin typeface="メイリオ"/>
                          <a:ea typeface="メイリオ"/>
                        </a:rPr>
                        <a:t>Markdownをそのまま
画面やAPI応答に使える</a:t>
                      </a:r>
                    </a:p>
                  </a:txBody>
                  <a:tcPr anchor="ctr">
                    <a:solidFill>
                      <a:srgbClr val="D6E3F0"/>
                    </a:solidFill>
                  </a:tcPr>
                </a:tc>
                <a:tc>
                  <a:txBody>
                    <a:bodyPr/>
                    <a:lstStyle/>
                    <a:p>
                      <a:pPr algn="l"/>
                      <a:r>
                        <a:rPr sz="900" b="0">
                          <a:solidFill>
                            <a:srgbClr val="333333"/>
                          </a:solidFill>
                          <a:latin typeface="メイリオ"/>
                          <a:ea typeface="メイリオ"/>
                        </a:rPr>
                        <a:t>ヘルプ・提案資料・AI出力の表示基盤
（伴走支援の説明にも応用可）</a:t>
                      </a:r>
                    </a:p>
                  </a:txBody>
                  <a:tcPr anchor="ctr">
                    <a:solidFill>
                      <a:srgbClr val="D6E3F0"/>
                    </a:solidFill>
                  </a:tcPr>
                </a:tc>
                <a:extLst>
                  <a:ext uri="{0D108BD9-81ED-4DB2-BD59-A6C34878D82A}">
                    <a16:rowId xmlns:a16="http://schemas.microsoft.com/office/drawing/2014/main" val="10004"/>
                  </a:ext>
                </a:extLst>
              </a:tr>
              <a:tr h="720000">
                <a:tc>
                  <a:txBody>
                    <a:bodyPr/>
                    <a:lstStyle/>
                    <a:p>
                      <a:pPr algn="l"/>
                      <a:r>
                        <a:rPr sz="900" b="1">
                          <a:solidFill>
                            <a:srgbClr val="333333"/>
                          </a:solidFill>
                          <a:latin typeface="メイリオ"/>
                          <a:ea typeface="メイリオ"/>
                        </a:rPr>
                        <a:t>MariaDB
10.6→10.11</a:t>
                      </a:r>
                    </a:p>
                  </a:txBody>
                  <a:tcPr anchor="ctr"/>
                </a:tc>
                <a:tc>
                  <a:txBody>
                    <a:bodyPr/>
                    <a:lstStyle/>
                    <a:p>
                      <a:pPr algn="l"/>
                      <a:r>
                        <a:rPr sz="900" b="0">
                          <a:solidFill>
                            <a:srgbClr val="333333"/>
                          </a:solidFill>
                          <a:latin typeface="メイリオ"/>
                          <a:ea typeface="メイリオ"/>
                        </a:rPr>
                        <a:t>UUID型
／設定の動的変更</a:t>
                      </a:r>
                    </a:p>
                  </a:txBody>
                  <a:tcPr anchor="ctr"/>
                </a:tc>
                <a:tc>
                  <a:txBody>
                    <a:bodyPr/>
                    <a:lstStyle/>
                    <a:p>
                      <a:pPr algn="l"/>
                      <a:r>
                        <a:rPr sz="900" b="0">
                          <a:solidFill>
                            <a:srgbClr val="333333"/>
                          </a:solidFill>
                          <a:latin typeface="メイリオ"/>
                          <a:ea typeface="メイリオ"/>
                        </a:rPr>
                        <a:t>UUIDをDB型で持てる
一部設定を再起動なしで変更できる</a:t>
                      </a:r>
                    </a:p>
                  </a:txBody>
                  <a:tcPr anchor="ctr"/>
                </a:tc>
                <a:tc>
                  <a:txBody>
                    <a:bodyPr/>
                    <a:lstStyle/>
                    <a:p>
                      <a:pPr algn="l"/>
                      <a:r>
                        <a:rPr sz="900" b="0" dirty="0">
                          <a:solidFill>
                            <a:srgbClr val="333333"/>
                          </a:solidFill>
                          <a:latin typeface="メイリオ"/>
                          <a:ea typeface="メイリオ"/>
                        </a:rPr>
                        <a:t>基幹連携IDの整備や、ピーク時の
運用チューニングに使える</a:t>
                      </a:r>
                    </a:p>
                  </a:txBody>
                  <a:tcPr anchor="ctr"/>
                </a:tc>
                <a:extLst>
                  <a:ext uri="{0D108BD9-81ED-4DB2-BD59-A6C34878D82A}">
                    <a16:rowId xmlns:a16="http://schemas.microsoft.com/office/drawing/2014/main" val="10005"/>
                  </a:ext>
                </a:extLst>
              </a:tr>
            </a:tbl>
          </a:graphicData>
        </a:graphic>
      </p:graphicFrame>
      <p:sp>
        <p:nvSpPr>
          <p:cNvPr id="11" name="TextBox 4">
            <a:extLst>
              <a:ext uri="{FF2B5EF4-FFF2-40B4-BE49-F238E27FC236}">
                <a16:creationId xmlns:a16="http://schemas.microsoft.com/office/drawing/2014/main" id="{C5728ED3-7EFE-C12A-178B-4F7F392B7C8F}"/>
              </a:ext>
            </a:extLst>
          </p:cNvPr>
          <p:cNvSpPr txBox="1"/>
          <p:nvPr/>
        </p:nvSpPr>
        <p:spPr>
          <a:xfrm>
            <a:off x="353000" y="5000000"/>
            <a:ext cx="9200000" cy="900000"/>
          </a:xfrm>
          <a:prstGeom prst="rect">
            <a:avLst/>
          </a:prstGeom>
          <a:noFill/>
        </p:spPr>
        <p:txBody>
          <a:bodyPr wrap="square">
            <a:spAutoFit/>
          </a:bodyPr>
          <a:lstStyle/>
          <a:p>
            <a:pPr>
              <a:spcBef>
                <a:spcPts val="0"/>
              </a:spcBef>
              <a:spcAft>
                <a:spcPts val="200"/>
              </a:spcAft>
            </a:pPr>
            <a:r>
              <a:rPr sz="1300" b="1">
                <a:solidFill>
                  <a:srgbClr val="C00000"/>
                </a:solidFill>
                <a:latin typeface="メイリオ"/>
                <a:ea typeface="メイリオ"/>
              </a:rPr>
              <a:t>■ みんなにお願いしたいこと</a:t>
            </a:r>
          </a:p>
          <a:p>
            <a:pPr>
              <a:spcBef>
                <a:spcPts val="0"/>
              </a:spcBef>
              <a:spcAft>
                <a:spcPts val="200"/>
              </a:spcAft>
            </a:pPr>
            <a:r>
              <a:rPr sz="1100" b="0">
                <a:solidFill>
                  <a:srgbClr val="333333"/>
                </a:solidFill>
                <a:latin typeface="メイリオ"/>
                <a:ea typeface="メイリオ"/>
              </a:rPr>
              <a:t>・他社に負けない製品にするため、普段使っているサービスで</a:t>
            </a:r>
          </a:p>
          <a:p>
            <a:pPr>
              <a:spcBef>
                <a:spcPts val="0"/>
              </a:spcBef>
              <a:spcAft>
                <a:spcPts val="200"/>
              </a:spcAft>
            </a:pPr>
            <a:r>
              <a:rPr sz="1100" b="0">
                <a:solidFill>
                  <a:srgbClr val="333333"/>
                </a:solidFill>
                <a:latin typeface="メイリオ"/>
                <a:ea typeface="メイリオ"/>
              </a:rPr>
              <a:t>　「Primoに取り入れたい」と思ったものがあれば、ぜひ教えてほしい</a:t>
            </a:r>
          </a:p>
          <a:p>
            <a:pPr>
              <a:spcBef>
                <a:spcPts val="0"/>
              </a:spcBef>
              <a:spcAft>
                <a:spcPts val="200"/>
              </a:spcAft>
            </a:pPr>
            <a:r>
              <a:rPr sz="1100" b="0">
                <a:solidFill>
                  <a:srgbClr val="333333"/>
                </a:solidFill>
                <a:latin typeface="メイリオ"/>
                <a:ea typeface="メイリオ"/>
              </a:rPr>
              <a:t>・今回のVUで“使える選択肢”は増えた。みんなの知恵を最大限活かして、</a:t>
            </a:r>
          </a:p>
          <a:p>
            <a:pPr>
              <a:spcBef>
                <a:spcPts val="0"/>
              </a:spcBef>
              <a:spcAft>
                <a:spcPts val="200"/>
              </a:spcAft>
            </a:pPr>
            <a:r>
              <a:rPr sz="1100" b="0">
                <a:solidFill>
                  <a:srgbClr val="333333"/>
                </a:solidFill>
                <a:latin typeface="メイリオ"/>
                <a:ea typeface="メイリオ"/>
              </a:rPr>
              <a:t>　より良い製品にしていきたい</a:t>
            </a:r>
          </a:p>
        </p:txBody>
      </p:sp>
    </p:spTree>
    <p:extLst>
      <p:ext uri="{BB962C8B-B14F-4D97-AF65-F5344CB8AC3E}">
        <p14:creationId xmlns:p14="http://schemas.microsoft.com/office/powerpoint/2010/main" val="161047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CE522-746C-B6B9-4D3C-98598EBA5421}"/>
            </a:ext>
          </a:extLst>
        </p:cNvPr>
        <p:cNvGrpSpPr/>
        <p:nvPr/>
      </p:nvGrpSpPr>
      <p:grpSpPr>
        <a:xfrm>
          <a:off x="0" y="0"/>
          <a:ext cx="0" cy="0"/>
          <a:chOff x="0" y="0"/>
          <a:chExt cx="0" cy="0"/>
        </a:xfrm>
      </p:grpSpPr>
      <p:sp>
        <p:nvSpPr>
          <p:cNvPr id="2" name="Google Shape;152;p7">
            <a:extLst>
              <a:ext uri="{FF2B5EF4-FFF2-40B4-BE49-F238E27FC236}">
                <a16:creationId xmlns:a16="http://schemas.microsoft.com/office/drawing/2014/main" id="{EE7237AC-A677-D180-1F83-8C11890F3936}"/>
              </a:ext>
            </a:extLst>
          </p:cNvPr>
          <p:cNvSpPr txBox="1">
            <a:spLocks noGrp="1"/>
          </p:cNvSpPr>
          <p:nvPr>
            <p:ph type="title"/>
          </p:nvPr>
        </p:nvSpPr>
        <p:spPr>
          <a:xfrm>
            <a:off x="835852" y="142852"/>
            <a:ext cx="8915400" cy="582594"/>
          </a:xfrm>
          <a:prstGeom prst="rect">
            <a:avLst/>
          </a:prstGeom>
          <a:noFill/>
          <a:ln>
            <a:noFill/>
          </a:ln>
        </p:spPr>
        <p:txBody>
          <a:bodyPr spcFirstLastPara="1" wrap="square" lIns="91425" tIns="45700" rIns="91425" bIns="45700" anchor="b" anchorCtr="0">
            <a:noAutofit/>
          </a:bodyPr>
          <a:lstStyle/>
          <a:p>
            <a:pPr>
              <a:lnSpc>
                <a:spcPct val="130000"/>
              </a:lnSpc>
            </a:pPr>
            <a:r>
              <a:rPr lang="en-US" altLang="ja-JP" sz="2000" dirty="0">
                <a:latin typeface="メイリオ" pitchFamily="50" charset="-128"/>
                <a:ea typeface="メイリオ" pitchFamily="50" charset="-128"/>
                <a:cs typeface="メイリオ" pitchFamily="50" charset="-128"/>
              </a:rPr>
              <a:t>6.</a:t>
            </a:r>
            <a:r>
              <a:rPr lang="en-US" altLang="ja-JP" sz="2000" dirty="0"/>
              <a:t>ECRider</a:t>
            </a:r>
            <a:r>
              <a:rPr lang="ja-JP" altLang="en-US" sz="2000" dirty="0"/>
              <a:t> </a:t>
            </a:r>
            <a:r>
              <a:rPr lang="en-US" altLang="ja-JP" sz="2000" dirty="0"/>
              <a:t>Primo</a:t>
            </a:r>
            <a:r>
              <a:rPr lang="ja-JP" altLang="en-US" sz="2000" dirty="0"/>
              <a:t>の受注状況について</a:t>
            </a:r>
            <a:endParaRPr lang="ja-JP" altLang="en-US" sz="2000" dirty="0">
              <a:latin typeface="メイリオ" pitchFamily="50" charset="-128"/>
              <a:ea typeface="メイリオ" pitchFamily="50" charset="-128"/>
              <a:cs typeface="メイリオ" pitchFamily="50" charset="-128"/>
            </a:endParaRPr>
          </a:p>
        </p:txBody>
      </p:sp>
      <p:sp>
        <p:nvSpPr>
          <p:cNvPr id="3" name="TextBox 2"/>
          <p:cNvSpPr txBox="1"/>
          <p:nvPr/>
        </p:nvSpPr>
        <p:spPr>
          <a:xfrm>
            <a:off x="776537" y="760000"/>
            <a:ext cx="8500000" cy="380000"/>
          </a:xfrm>
          <a:prstGeom prst="rect">
            <a:avLst/>
          </a:prstGeom>
          <a:noFill/>
        </p:spPr>
        <p:txBody>
          <a:bodyPr wrap="square">
            <a:spAutoFit/>
          </a:bodyPr>
          <a:lstStyle/>
          <a:p>
            <a:pPr>
              <a:spcBef>
                <a:spcPts val="0"/>
              </a:spcBef>
              <a:spcAft>
                <a:spcPts val="200"/>
              </a:spcAft>
            </a:pPr>
            <a:r>
              <a:rPr sz="1400" b="1">
                <a:solidFill>
                  <a:srgbClr val="333333"/>
                </a:solidFill>
                <a:latin typeface="メイリオ"/>
                <a:ea typeface="メイリオ"/>
              </a:rPr>
              <a:t>① 現在の状況</a:t>
            </a:r>
          </a:p>
        </p:txBody>
      </p:sp>
      <p:graphicFrame>
        <p:nvGraphicFramePr>
          <p:cNvPr id="4" name="Table 3"/>
          <p:cNvGraphicFramePr>
            <a:graphicFrameLocks noGrp="1"/>
          </p:cNvGraphicFramePr>
          <p:nvPr/>
        </p:nvGraphicFramePr>
        <p:xfrm>
          <a:off x="776537" y="1150000"/>
          <a:ext cx="8350000" cy="1700000"/>
        </p:xfrm>
        <a:graphic>
          <a:graphicData uri="http://schemas.openxmlformats.org/drawingml/2006/table">
            <a:tbl>
              <a:tblPr firstRow="1" bandRow="1">
                <a:tableStyleId>{5C22544A-7EE6-4342-B048-85BDC9FD1C3A}</a:tableStyleId>
              </a:tblPr>
              <a:tblGrid>
                <a:gridCol w="3200000">
                  <a:extLst>
                    <a:ext uri="{9D8B030D-6E8A-4147-A177-3AD203B41FA5}">
                      <a16:colId xmlns:a16="http://schemas.microsoft.com/office/drawing/2014/main" val="20000"/>
                    </a:ext>
                  </a:extLst>
                </a:gridCol>
                <a:gridCol w="5150000">
                  <a:extLst>
                    <a:ext uri="{9D8B030D-6E8A-4147-A177-3AD203B41FA5}">
                      <a16:colId xmlns:a16="http://schemas.microsoft.com/office/drawing/2014/main" val="20001"/>
                    </a:ext>
                  </a:extLst>
                </a:gridCol>
              </a:tblGrid>
              <a:tr h="340000">
                <a:tc>
                  <a:txBody>
                    <a:bodyPr/>
                    <a:lstStyle/>
                    <a:p>
                      <a:pPr algn="ctr"/>
                      <a:r>
                        <a:rPr sz="1200" b="1">
                          <a:solidFill>
                            <a:srgbClr val="FFFFFF"/>
                          </a:solidFill>
                          <a:latin typeface="メイリオ"/>
                          <a:ea typeface="メイリオ"/>
                        </a:rPr>
                        <a:t>区分</a:t>
                      </a:r>
                    </a:p>
                  </a:txBody>
                  <a:tcPr anchor="ctr">
                    <a:solidFill>
                      <a:srgbClr val="1F4E79"/>
                    </a:solidFill>
                  </a:tcPr>
                </a:tc>
                <a:tc>
                  <a:txBody>
                    <a:bodyPr/>
                    <a:lstStyle/>
                    <a:p>
                      <a:pPr algn="ctr"/>
                      <a:r>
                        <a:rPr sz="1200" b="1">
                          <a:solidFill>
                            <a:srgbClr val="FFFFFF"/>
                          </a:solidFill>
                          <a:latin typeface="メイリオ"/>
                          <a:ea typeface="メイリオ"/>
                        </a:rPr>
                        <a:t>状況</a:t>
                      </a:r>
                    </a:p>
                  </a:txBody>
                  <a:tcPr anchor="ctr">
                    <a:solidFill>
                      <a:srgbClr val="1F4E79"/>
                    </a:solidFill>
                  </a:tcPr>
                </a:tc>
                <a:extLst>
                  <a:ext uri="{0D108BD9-81ED-4DB2-BD59-A6C34878D82A}">
                    <a16:rowId xmlns:a16="http://schemas.microsoft.com/office/drawing/2014/main" val="10000"/>
                  </a:ext>
                </a:extLst>
              </a:tr>
              <a:tr h="340000">
                <a:tc>
                  <a:txBody>
                    <a:bodyPr/>
                    <a:lstStyle/>
                    <a:p>
                      <a:pPr algn="l"/>
                      <a:r>
                        <a:rPr sz="1200" b="0">
                          <a:solidFill>
                            <a:srgbClr val="333333"/>
                          </a:solidFill>
                          <a:latin typeface="メイリオ"/>
                          <a:ea typeface="メイリオ"/>
                        </a:rPr>
                        <a:t>無料トライアル中</a:t>
                      </a:r>
                    </a:p>
                  </a:txBody>
                  <a:tcPr anchor="ctr"/>
                </a:tc>
                <a:tc>
                  <a:txBody>
                    <a:bodyPr/>
                    <a:lstStyle/>
                    <a:p>
                      <a:pPr algn="l"/>
                      <a:r>
                        <a:rPr sz="1200" b="0">
                          <a:solidFill>
                            <a:srgbClr val="333333"/>
                          </a:solidFill>
                          <a:latin typeface="メイリオ"/>
                          <a:ea typeface="メイリオ"/>
                        </a:rPr>
                        <a:t>豊商事株式会社</a:t>
                      </a:r>
                    </a:p>
                  </a:txBody>
                  <a:tcPr anchor="ctr"/>
                </a:tc>
                <a:extLst>
                  <a:ext uri="{0D108BD9-81ED-4DB2-BD59-A6C34878D82A}">
                    <a16:rowId xmlns:a16="http://schemas.microsoft.com/office/drawing/2014/main" val="10001"/>
                  </a:ext>
                </a:extLst>
              </a:tr>
              <a:tr h="340000">
                <a:tc>
                  <a:txBody>
                    <a:bodyPr/>
                    <a:lstStyle/>
                    <a:p>
                      <a:pPr algn="l"/>
                      <a:r>
                        <a:rPr sz="1200" b="0">
                          <a:solidFill>
                            <a:srgbClr val="333333"/>
                          </a:solidFill>
                          <a:latin typeface="メイリオ"/>
                          <a:ea typeface="メイリオ"/>
                        </a:rPr>
                        <a:t>無料トライアル開始待ち</a:t>
                      </a:r>
                    </a:p>
                  </a:txBody>
                  <a:tcPr anchor="ctr">
                    <a:solidFill>
                      <a:srgbClr val="D6E3F0"/>
                    </a:solidFill>
                  </a:tcPr>
                </a:tc>
                <a:tc>
                  <a:txBody>
                    <a:bodyPr/>
                    <a:lstStyle/>
                    <a:p>
                      <a:pPr algn="l"/>
                      <a:r>
                        <a:rPr sz="1200" b="0">
                          <a:solidFill>
                            <a:srgbClr val="333333"/>
                          </a:solidFill>
                          <a:latin typeface="メイリオ"/>
                          <a:ea typeface="メイリオ"/>
                        </a:rPr>
                        <a:t>神鋼商事株式会社</a:t>
                      </a:r>
                    </a:p>
                  </a:txBody>
                  <a:tcPr anchor="ctr">
                    <a:solidFill>
                      <a:srgbClr val="D6E3F0"/>
                    </a:solidFill>
                  </a:tcPr>
                </a:tc>
                <a:extLst>
                  <a:ext uri="{0D108BD9-81ED-4DB2-BD59-A6C34878D82A}">
                    <a16:rowId xmlns:a16="http://schemas.microsoft.com/office/drawing/2014/main" val="10002"/>
                  </a:ext>
                </a:extLst>
              </a:tr>
              <a:tr h="340000">
                <a:tc>
                  <a:txBody>
                    <a:bodyPr/>
                    <a:lstStyle/>
                    <a:p>
                      <a:pPr algn="l"/>
                      <a:r>
                        <a:rPr sz="1200" b="0">
                          <a:solidFill>
                            <a:srgbClr val="333333"/>
                          </a:solidFill>
                          <a:latin typeface="メイリオ"/>
                          <a:ea typeface="メイリオ"/>
                        </a:rPr>
                        <a:t>クイックビジネス</a:t>
                      </a:r>
                    </a:p>
                  </a:txBody>
                  <a:tcPr anchor="ctr"/>
                </a:tc>
                <a:tc>
                  <a:txBody>
                    <a:bodyPr/>
                    <a:lstStyle/>
                    <a:p>
                      <a:pPr algn="l"/>
                      <a:r>
                        <a:rPr sz="1200" b="0">
                          <a:solidFill>
                            <a:srgbClr val="333333"/>
                          </a:solidFill>
                          <a:latin typeface="メイリオ"/>
                          <a:ea typeface="メイリオ"/>
                        </a:rPr>
                        <a:t>なし</a:t>
                      </a:r>
                    </a:p>
                  </a:txBody>
                  <a:tcPr anchor="ctr"/>
                </a:tc>
                <a:extLst>
                  <a:ext uri="{0D108BD9-81ED-4DB2-BD59-A6C34878D82A}">
                    <a16:rowId xmlns:a16="http://schemas.microsoft.com/office/drawing/2014/main" val="10003"/>
                  </a:ext>
                </a:extLst>
              </a:tr>
              <a:tr h="340000">
                <a:tc>
                  <a:txBody>
                    <a:bodyPr/>
                    <a:lstStyle/>
                    <a:p>
                      <a:pPr algn="l"/>
                      <a:r>
                        <a:rPr sz="1200" b="0">
                          <a:solidFill>
                            <a:srgbClr val="333333"/>
                          </a:solidFill>
                          <a:latin typeface="メイリオ"/>
                          <a:ea typeface="メイリオ"/>
                        </a:rPr>
                        <a:t>ビジネス Pro</a:t>
                      </a:r>
                    </a:p>
                  </a:txBody>
                  <a:tcPr anchor="ctr">
                    <a:solidFill>
                      <a:srgbClr val="D6E3F0"/>
                    </a:solidFill>
                  </a:tcPr>
                </a:tc>
                <a:tc>
                  <a:txBody>
                    <a:bodyPr/>
                    <a:lstStyle/>
                    <a:p>
                      <a:pPr algn="l"/>
                      <a:r>
                        <a:rPr sz="1200" b="0">
                          <a:solidFill>
                            <a:srgbClr val="333333"/>
                          </a:solidFill>
                          <a:latin typeface="メイリオ"/>
                          <a:ea typeface="メイリオ"/>
                        </a:rPr>
                        <a:t>なし</a:t>
                      </a:r>
                    </a:p>
                  </a:txBody>
                  <a:tcPr anchor="ctr">
                    <a:solidFill>
                      <a:srgbClr val="D6E3F0"/>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776537" y="3000000"/>
            <a:ext cx="8500000" cy="1990288"/>
          </a:xfrm>
          <a:prstGeom prst="rect">
            <a:avLst/>
          </a:prstGeom>
          <a:noFill/>
        </p:spPr>
        <p:txBody>
          <a:bodyPr wrap="square">
            <a:spAutoFit/>
          </a:bodyPr>
          <a:lstStyle/>
          <a:p>
            <a:pPr>
              <a:spcBef>
                <a:spcPts val="0"/>
              </a:spcBef>
              <a:spcAft>
                <a:spcPts val="200"/>
              </a:spcAft>
            </a:pPr>
            <a:r>
              <a:rPr sz="1300" b="1">
                <a:solidFill>
                  <a:srgbClr val="333333"/>
                </a:solidFill>
                <a:latin typeface="メイリオ"/>
                <a:ea typeface="メイリオ"/>
              </a:rPr>
              <a:t>② トライアルから見えた論点（豊商事様）</a:t>
            </a:r>
          </a:p>
          <a:p>
            <a:pPr>
              <a:spcBef>
                <a:spcPts val="0"/>
              </a:spcBef>
              <a:spcAft>
                <a:spcPts val="200"/>
              </a:spcAft>
            </a:pPr>
            <a:r>
              <a:rPr sz="1200" b="0">
                <a:solidFill>
                  <a:srgbClr val="333333"/>
                </a:solidFill>
                <a:latin typeface="メイリオ"/>
                <a:ea typeface="メイリオ"/>
              </a:rPr>
              <a:t>・マスタ登録などの初期設定がうまく進められていない様子</a:t>
            </a:r>
          </a:p>
          <a:p>
            <a:pPr>
              <a:spcBef>
                <a:spcPts val="0"/>
              </a:spcBef>
              <a:spcAft>
                <a:spcPts val="200"/>
              </a:spcAft>
            </a:pPr>
            <a:r>
              <a:rPr sz="1200" b="0">
                <a:solidFill>
                  <a:srgbClr val="333333"/>
                </a:solidFill>
                <a:latin typeface="メイリオ"/>
                <a:ea typeface="メイリオ"/>
              </a:rPr>
              <a:t>・トライアル初期データ提供を含むフォロー体制の検討が必要</a:t>
            </a:r>
          </a:p>
          <a:p>
            <a:pPr>
              <a:spcBef>
                <a:spcPts val="0"/>
              </a:spcBef>
              <a:spcAft>
                <a:spcPts val="200"/>
              </a:spcAft>
            </a:pPr>
            <a:r>
              <a:rPr sz="600" b="0">
                <a:solidFill>
                  <a:srgbClr val="333333"/>
                </a:solidFill>
                <a:latin typeface="メイリオ"/>
                <a:ea typeface="メイリオ"/>
              </a:rPr>
              <a:t/>
            </a:r>
          </a:p>
          <a:p>
            <a:pPr>
              <a:spcBef>
                <a:spcPts val="0"/>
              </a:spcBef>
              <a:spcAft>
                <a:spcPts val="200"/>
              </a:spcAft>
            </a:pPr>
            <a:r>
              <a:rPr sz="1300" b="1">
                <a:solidFill>
                  <a:srgbClr val="333333"/>
                </a:solidFill>
                <a:latin typeface="メイリオ"/>
                <a:ea typeface="メイリオ"/>
              </a:rPr>
              <a:t>③ 見通し・今後</a:t>
            </a:r>
          </a:p>
          <a:p>
            <a:pPr>
              <a:spcBef>
                <a:spcPts val="0"/>
              </a:spcBef>
              <a:spcAft>
                <a:spcPts val="200"/>
              </a:spcAft>
            </a:pPr>
            <a:r>
              <a:rPr sz="1200" b="0">
                <a:solidFill>
                  <a:srgbClr val="333333"/>
                </a:solidFill>
                <a:latin typeface="メイリオ"/>
                <a:ea typeface="メイリオ"/>
              </a:rPr>
              <a:t>・引き合い傾向より、ターゲットはビジネス Pro が有力</a:t>
            </a:r>
          </a:p>
          <a:p>
            <a:pPr>
              <a:spcBef>
                <a:spcPts val="0"/>
              </a:spcBef>
              <a:spcAft>
                <a:spcPts val="200"/>
              </a:spcAft>
            </a:pPr>
            <a:r>
              <a:rPr sz="1200" b="0">
                <a:solidFill>
                  <a:srgbClr val="C00000"/>
                </a:solidFill>
                <a:latin typeface="メイリオ"/>
                <a:ea typeface="メイリオ"/>
              </a:rPr>
              <a:t>・Coming Soon：伴走支援をサービスメニュー化して販売</a:t>
            </a:r>
          </a:p>
          <a:p>
            <a:pPr>
              <a:spcBef>
                <a:spcPts val="0"/>
              </a:spcBef>
              <a:spcAft>
                <a:spcPts val="200"/>
              </a:spcAft>
            </a:pPr>
            <a:r>
              <a:rPr sz="1200" b="0">
                <a:solidFill>
                  <a:srgbClr val="333333"/>
                </a:solidFill>
                <a:latin typeface="メイリオ"/>
                <a:ea typeface="メイリオ"/>
              </a:rPr>
              <a:t>　（初期設定／運用伴走／なんでも相談）</a:t>
            </a:r>
          </a:p>
          <a:p>
            <a:pPr>
              <a:spcBef>
                <a:spcPts val="0"/>
              </a:spcBef>
              <a:spcAft>
                <a:spcPts val="200"/>
              </a:spcAft>
            </a:pPr>
            <a:r>
              <a:rPr sz="1200" b="0">
                <a:solidFill>
                  <a:srgbClr val="333333"/>
                </a:solidFill>
                <a:latin typeface="メイリオ"/>
                <a:ea typeface="メイリオ"/>
              </a:rPr>
              <a:t>・立ち上げ期は無償でも寄り添い事例化 → 製品強化へ還流</a:t>
            </a:r>
          </a:p>
          <a:p>
            <a:pPr>
              <a:spcBef>
                <a:spcPts val="0"/>
              </a:spcBef>
              <a:spcAft>
                <a:spcPts val="200"/>
              </a:spcAft>
            </a:pPr>
            <a:r>
              <a:rPr sz="600" b="0">
                <a:solidFill>
                  <a:srgbClr val="333333"/>
                </a:solidFill>
                <a:latin typeface="メイリオ"/>
                <a:ea typeface="メイリオ"/>
              </a:rPr>
              <a:t/>
            </a:r>
          </a:p>
          <a:p>
            <a:pPr>
              <a:spcBef>
                <a:spcPts val="0"/>
              </a:spcBef>
              <a:spcAft>
                <a:spcPts val="200"/>
              </a:spcAft>
            </a:pPr>
            <a:r>
              <a:rPr sz="1300" b="1">
                <a:solidFill>
                  <a:srgbClr val="C00000"/>
                </a:solidFill>
                <a:latin typeface="メイリオ"/>
                <a:ea typeface="メイリオ"/>
              </a:rPr>
              <a:t>④ 伴走支援・提案検討会へのお願い</a:t>
            </a:r>
          </a:p>
          <a:p>
            <a:pPr>
              <a:spcBef>
                <a:spcPts val="0"/>
              </a:spcBef>
              <a:spcAft>
                <a:spcPts val="200"/>
              </a:spcAft>
            </a:pPr>
            <a:r>
              <a:rPr sz="1200" b="0">
                <a:solidFill>
                  <a:srgbClr val="333333"/>
                </a:solidFill>
                <a:latin typeface="メイリオ"/>
                <a:ea typeface="メイリオ"/>
              </a:rPr>
              <a:t>・伴走支援を本格化していく。提案検討会も継続する</a:t>
            </a:r>
          </a:p>
          <a:p>
            <a:pPr>
              <a:spcBef>
                <a:spcPts val="0"/>
              </a:spcBef>
              <a:spcAft>
                <a:spcPts val="200"/>
              </a:spcAft>
            </a:pPr>
            <a:r>
              <a:rPr sz="1200" b="0">
                <a:solidFill>
                  <a:srgbClr val="333333"/>
                </a:solidFill>
                <a:latin typeface="メイリオ"/>
                <a:ea typeface="メイリオ"/>
              </a:rPr>
              <a:t>・ぜひ参加して、みんなの知見・経験を活かして力になってほしい</a:t>
            </a:r>
          </a:p>
        </p:txBody>
      </p:sp>
    </p:spTree>
    <p:extLst>
      <p:ext uri="{BB962C8B-B14F-4D97-AF65-F5344CB8AC3E}">
        <p14:creationId xmlns:p14="http://schemas.microsoft.com/office/powerpoint/2010/main" val="2470121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3DF84-25FD-BF12-FB7A-D9C218723920}"/>
            </a:ext>
          </a:extLst>
        </p:cNvPr>
        <p:cNvGrpSpPr/>
        <p:nvPr/>
      </p:nvGrpSpPr>
      <p:grpSpPr>
        <a:xfrm>
          <a:off x="0" y="0"/>
          <a:ext cx="0" cy="0"/>
          <a:chOff x="0" y="0"/>
          <a:chExt cx="0" cy="0"/>
        </a:xfrm>
      </p:grpSpPr>
      <p:sp>
        <p:nvSpPr>
          <p:cNvPr id="38" name="テキスト ボックス 37">
            <a:extLst>
              <a:ext uri="{FF2B5EF4-FFF2-40B4-BE49-F238E27FC236}">
                <a16:creationId xmlns:a16="http://schemas.microsoft.com/office/drawing/2014/main" id="{476C43A5-F8EB-9A9D-70B6-5694FC5F54E4}"/>
              </a:ext>
            </a:extLst>
          </p:cNvPr>
          <p:cNvSpPr txBox="1">
            <a:spLocks/>
          </p:cNvSpPr>
          <p:nvPr/>
        </p:nvSpPr>
        <p:spPr>
          <a:xfrm>
            <a:off x="1064569" y="856357"/>
            <a:ext cx="8352927" cy="3785652"/>
          </a:xfrm>
          <a:prstGeom prst="rect">
            <a:avLst/>
          </a:prstGeom>
          <a:noFill/>
        </p:spPr>
        <p:txBody>
          <a:bodyPr wrap="square" rtlCol="0">
            <a:spAutoFit/>
          </a:bodyPr>
          <a:lstStyle/>
          <a:p>
            <a:r>
              <a:rPr lang="ja-JP" altLang="en-US" sz="1600" b="1" dirty="0">
                <a:latin typeface="メイリオ"/>
                <a:ea typeface="メイリオ"/>
                <a:cs typeface="メイリオ"/>
              </a:rPr>
              <a:t>現在営業中</a:t>
            </a:r>
            <a:r>
              <a:rPr lang="en-US" altLang="ja-JP" sz="1600" b="1" dirty="0">
                <a:latin typeface="メイリオ"/>
                <a:ea typeface="メイリオ"/>
                <a:cs typeface="メイリオ"/>
              </a:rPr>
              <a:t>(</a:t>
            </a:r>
            <a:r>
              <a:rPr lang="ja-JP" altLang="en-US" sz="1600" b="1" dirty="0">
                <a:latin typeface="メイリオ"/>
                <a:ea typeface="メイリオ"/>
                <a:cs typeface="メイリオ"/>
              </a:rPr>
              <a:t>提案中</a:t>
            </a:r>
            <a:r>
              <a:rPr lang="en-US" altLang="ja-JP" sz="1600" b="1" dirty="0">
                <a:latin typeface="メイリオ"/>
                <a:ea typeface="メイリオ"/>
                <a:cs typeface="メイリオ"/>
              </a:rPr>
              <a:t>)</a:t>
            </a:r>
            <a:r>
              <a:rPr lang="ja-JP" altLang="en-US" sz="1600" b="1" dirty="0">
                <a:latin typeface="メイリオ"/>
                <a:ea typeface="メイリオ"/>
                <a:cs typeface="メイリオ"/>
              </a:rPr>
              <a:t>の顧客状況</a:t>
            </a:r>
            <a:endParaRPr lang="en-US" altLang="ja-JP" sz="1600" b="1" dirty="0">
              <a:latin typeface="メイリオ"/>
              <a:ea typeface="メイリオ"/>
              <a:cs typeface="メイリオ"/>
            </a:endParaRPr>
          </a:p>
          <a:p>
            <a:endParaRPr lang="en-US" altLang="ja-JP" sz="1600" dirty="0">
              <a:latin typeface="メイリオ"/>
              <a:ea typeface="メイリオ"/>
              <a:cs typeface="メイリオ"/>
            </a:endParaRPr>
          </a:p>
          <a:p>
            <a:r>
              <a:rPr lang="ja-JP" altLang="en-US" sz="1600" dirty="0">
                <a:latin typeface="メイリオ"/>
                <a:ea typeface="メイリオ"/>
                <a:cs typeface="メイリオ"/>
              </a:rPr>
              <a:t>　①：株式会社</a:t>
            </a:r>
            <a:r>
              <a:rPr lang="ja-JP" altLang="en-US" sz="1600" dirty="0">
                <a:solidFill>
                  <a:srgbClr val="000000"/>
                </a:solidFill>
                <a:latin typeface="Meiryo"/>
                <a:ea typeface="Meiryo"/>
                <a:cs typeface="Meiryo"/>
                <a:sym typeface="Meiryo"/>
              </a:rPr>
              <a:t>イシダ（製品選定から再スタートで、新メンバーへの製品説明を実施）</a:t>
            </a:r>
            <a:endParaRPr lang="en-US" altLang="ja-JP" sz="1600" dirty="0">
              <a:solidFill>
                <a:srgbClr val="000000"/>
              </a:solidFill>
              <a:latin typeface="Meiryo"/>
              <a:ea typeface="Meiryo"/>
              <a:cs typeface="Meiryo"/>
              <a:sym typeface="Meiryo"/>
            </a:endParaRPr>
          </a:p>
          <a:p>
            <a:r>
              <a:rPr lang="ja-JP" altLang="en-US" sz="1600" dirty="0">
                <a:latin typeface="メイリオ"/>
                <a:ea typeface="メイリオ"/>
                <a:cs typeface="メイリオ"/>
              </a:rPr>
              <a:t>　②：</a:t>
            </a:r>
            <a:r>
              <a:rPr lang="ja-JP" altLang="en-US" sz="1600" dirty="0">
                <a:solidFill>
                  <a:srgbClr val="000000"/>
                </a:solidFill>
                <a:latin typeface="Meiryo"/>
                <a:ea typeface="Meiryo"/>
                <a:cs typeface="Meiryo"/>
                <a:sym typeface="Meiryo"/>
              </a:rPr>
              <a:t>高圧ガス工業株式会社（見積書提示済み）</a:t>
            </a:r>
            <a:endParaRPr lang="en-US" altLang="ja-JP" sz="1600" dirty="0">
              <a:solidFill>
                <a:srgbClr val="000000"/>
              </a:solidFill>
              <a:latin typeface="Meiryo"/>
              <a:ea typeface="Meiryo"/>
              <a:cs typeface="Meiryo"/>
              <a:sym typeface="Meiryo"/>
            </a:endParaRPr>
          </a:p>
          <a:p>
            <a:r>
              <a:rPr lang="ja-JP" altLang="en-US" sz="1600" dirty="0">
                <a:solidFill>
                  <a:srgbClr val="000000"/>
                </a:solidFill>
                <a:latin typeface="Meiryo"/>
                <a:ea typeface="Meiryo"/>
                <a:cs typeface="Meiryo"/>
                <a:sym typeface="Meiryo"/>
              </a:rPr>
              <a:t>　③：日東電工</a:t>
            </a:r>
            <a:r>
              <a:rPr lang="en-US" altLang="ja-JP" sz="1600" dirty="0">
                <a:solidFill>
                  <a:srgbClr val="000000"/>
                </a:solidFill>
                <a:latin typeface="Meiryo"/>
                <a:ea typeface="Meiryo"/>
                <a:cs typeface="Meiryo"/>
                <a:sym typeface="Meiryo"/>
              </a:rPr>
              <a:t>BM</a:t>
            </a:r>
            <a:r>
              <a:rPr lang="ja-JP" altLang="en-US" sz="1600" dirty="0">
                <a:solidFill>
                  <a:srgbClr val="000000"/>
                </a:solidFill>
                <a:latin typeface="Meiryo"/>
                <a:ea typeface="Meiryo"/>
                <a:cs typeface="Meiryo"/>
                <a:sym typeface="Meiryo"/>
              </a:rPr>
              <a:t>株式会社（見積書提示済み）</a:t>
            </a:r>
            <a:endParaRPr lang="en-US" altLang="ja-JP" sz="1600" dirty="0">
              <a:solidFill>
                <a:srgbClr val="000000"/>
              </a:solidFill>
              <a:latin typeface="Meiryo"/>
              <a:ea typeface="Meiryo"/>
              <a:cs typeface="Meiryo"/>
              <a:sym typeface="Meiryo"/>
            </a:endParaRPr>
          </a:p>
          <a:p>
            <a:r>
              <a:rPr lang="ja-JP" altLang="en-US" sz="1600" dirty="0">
                <a:solidFill>
                  <a:srgbClr val="000000"/>
                </a:solidFill>
                <a:latin typeface="Meiryo"/>
                <a:ea typeface="Meiryo"/>
                <a:cs typeface="Meiryo"/>
                <a:sym typeface="Meiryo"/>
              </a:rPr>
              <a:t>　④：アーク株式会社（イラン情勢のため延期）</a:t>
            </a:r>
            <a:endParaRPr lang="en-US" altLang="ja-JP" sz="1600" dirty="0">
              <a:solidFill>
                <a:srgbClr val="000000"/>
              </a:solidFill>
              <a:latin typeface="Meiryo"/>
              <a:ea typeface="Meiryo"/>
              <a:cs typeface="Meiryo"/>
              <a:sym typeface="Meiryo"/>
            </a:endParaRPr>
          </a:p>
          <a:p>
            <a:r>
              <a:rPr lang="ja-JP" altLang="en-US" sz="1600" dirty="0">
                <a:solidFill>
                  <a:srgbClr val="000000"/>
                </a:solidFill>
                <a:latin typeface="Meiryo"/>
                <a:ea typeface="Meiryo"/>
                <a:cs typeface="Meiryo"/>
                <a:sym typeface="Meiryo"/>
              </a:rPr>
              <a:t>　⑤：株式会社ニトムズ（見積書提示済み）</a:t>
            </a:r>
            <a:endParaRPr lang="en-US" altLang="ja-JP" sz="1600" dirty="0">
              <a:solidFill>
                <a:srgbClr val="000000"/>
              </a:solidFill>
              <a:latin typeface="Meiryo"/>
              <a:ea typeface="Meiryo"/>
              <a:cs typeface="Meiryo"/>
              <a:sym typeface="Meiryo"/>
            </a:endParaRPr>
          </a:p>
          <a:p>
            <a:r>
              <a:rPr lang="ja-JP" altLang="en-US" sz="1600" dirty="0">
                <a:solidFill>
                  <a:srgbClr val="000000"/>
                </a:solidFill>
                <a:latin typeface="Meiryo"/>
                <a:ea typeface="Meiryo"/>
                <a:cs typeface="Meiryo"/>
                <a:sym typeface="Meiryo"/>
              </a:rPr>
              <a:t>　⑥：株式会社ティーガイア（見積書提示済み）</a:t>
            </a:r>
            <a:endParaRPr lang="en-US" altLang="ja-JP" sz="1600" dirty="0">
              <a:solidFill>
                <a:srgbClr val="000000"/>
              </a:solidFill>
              <a:latin typeface="Meiryo"/>
              <a:ea typeface="Meiryo"/>
              <a:cs typeface="Meiryo"/>
              <a:sym typeface="Meiryo"/>
            </a:endParaRPr>
          </a:p>
          <a:p>
            <a:r>
              <a:rPr lang="ja-JP" altLang="en-US" sz="1600" dirty="0">
                <a:solidFill>
                  <a:srgbClr val="000000"/>
                </a:solidFill>
                <a:latin typeface="Meiryo"/>
                <a:ea typeface="Meiryo"/>
                <a:cs typeface="Meiryo"/>
                <a:sym typeface="Meiryo"/>
              </a:rPr>
              <a:t>　⑦：神鋼商事株式会社（顧客連絡待ち）</a:t>
            </a:r>
            <a:endParaRPr lang="en-US" altLang="ja-JP" sz="1600" dirty="0">
              <a:solidFill>
                <a:srgbClr val="000000"/>
              </a:solidFill>
              <a:latin typeface="Meiryo"/>
              <a:ea typeface="Meiryo"/>
              <a:cs typeface="Meiryo"/>
              <a:sym typeface="Meiryo"/>
            </a:endParaRPr>
          </a:p>
          <a:p>
            <a:r>
              <a:rPr lang="ja-JP" altLang="en-US" sz="1600" dirty="0">
                <a:solidFill>
                  <a:srgbClr val="000000"/>
                </a:solidFill>
                <a:latin typeface="Meiryo"/>
                <a:ea typeface="Meiryo"/>
                <a:cs typeface="Meiryo"/>
                <a:sym typeface="Meiryo"/>
              </a:rPr>
              <a:t>　⑧：三菱重工コンプレッサ株式会社（引き合いあり）</a:t>
            </a:r>
            <a:endParaRPr lang="en-US" altLang="ja-JP" sz="1600" dirty="0">
              <a:solidFill>
                <a:srgbClr val="000000"/>
              </a:solidFill>
              <a:latin typeface="Meiryo"/>
              <a:ea typeface="Meiryo"/>
              <a:cs typeface="Meiryo"/>
              <a:sym typeface="Meiryo"/>
            </a:endParaRPr>
          </a:p>
          <a:p>
            <a:r>
              <a:rPr lang="ja-JP" altLang="en-US" sz="1600" dirty="0">
                <a:solidFill>
                  <a:srgbClr val="000000"/>
                </a:solidFill>
                <a:latin typeface="Meiryo"/>
                <a:ea typeface="Meiryo"/>
                <a:cs typeface="Meiryo"/>
                <a:sym typeface="Meiryo"/>
              </a:rPr>
              <a:t>　⑨：ティー・エー・エス（</a:t>
            </a:r>
            <a:r>
              <a:rPr lang="zh-TW" altLang="en-US" sz="1600" dirty="0">
                <a:solidFill>
                  <a:srgbClr val="000000"/>
                </a:solidFill>
                <a:latin typeface="Meiryo"/>
                <a:ea typeface="Meiryo"/>
                <a:cs typeface="Meiryo"/>
                <a:sym typeface="Meiryo"/>
              </a:rPr>
              <a:t>提案書作成中</a:t>
            </a:r>
            <a:r>
              <a:rPr lang="ja-JP" altLang="en-US" sz="1600" dirty="0">
                <a:solidFill>
                  <a:srgbClr val="000000"/>
                </a:solidFill>
                <a:latin typeface="Meiryo"/>
                <a:ea typeface="Meiryo"/>
                <a:cs typeface="Meiryo"/>
                <a:sym typeface="Meiryo"/>
              </a:rPr>
              <a:t>）</a:t>
            </a:r>
            <a:endParaRPr lang="en-US" altLang="ja-JP" sz="1600" dirty="0">
              <a:solidFill>
                <a:srgbClr val="000000"/>
              </a:solidFill>
              <a:latin typeface="Meiryo"/>
              <a:ea typeface="Meiryo"/>
              <a:cs typeface="Meiryo"/>
              <a:sym typeface="Meiryo"/>
            </a:endParaRPr>
          </a:p>
          <a:p>
            <a:r>
              <a:rPr lang="ja-JP" altLang="en-US" sz="1600" dirty="0">
                <a:solidFill>
                  <a:srgbClr val="000000"/>
                </a:solidFill>
                <a:latin typeface="Meiryo"/>
                <a:ea typeface="Meiryo"/>
                <a:cs typeface="Meiryo"/>
                <a:sym typeface="Meiryo"/>
              </a:rPr>
              <a:t>　⑩：株式会社東洋捺染（</a:t>
            </a:r>
            <a:r>
              <a:rPr lang="en-US" altLang="zh-TW" sz="1600" dirty="0">
                <a:solidFill>
                  <a:srgbClr val="000000"/>
                </a:solidFill>
                <a:latin typeface="Meiryo"/>
                <a:ea typeface="Meiryo"/>
                <a:cs typeface="Meiryo"/>
                <a:sym typeface="Meiryo"/>
              </a:rPr>
              <a:t>RFP</a:t>
            </a:r>
            <a:r>
              <a:rPr lang="zh-TW" altLang="en-US" sz="1600" dirty="0">
                <a:solidFill>
                  <a:srgbClr val="000000"/>
                </a:solidFill>
                <a:latin typeface="Meiryo"/>
                <a:ea typeface="Meiryo"/>
                <a:cs typeface="Meiryo"/>
                <a:sym typeface="Meiryo"/>
              </a:rPr>
              <a:t>受領待</a:t>
            </a:r>
            <a:r>
              <a:rPr lang="ja-JP" altLang="en-US" sz="1600" dirty="0">
                <a:solidFill>
                  <a:srgbClr val="000000"/>
                </a:solidFill>
                <a:latin typeface="Meiryo"/>
                <a:ea typeface="Meiryo"/>
                <a:cs typeface="Meiryo"/>
                <a:sym typeface="Meiryo"/>
              </a:rPr>
              <a:t>ち）</a:t>
            </a:r>
            <a:endParaRPr lang="en-US" altLang="ja-JP" sz="1600" dirty="0">
              <a:solidFill>
                <a:srgbClr val="000000"/>
              </a:solidFill>
              <a:latin typeface="Meiryo"/>
              <a:ea typeface="Meiryo"/>
              <a:cs typeface="Meiryo"/>
              <a:sym typeface="Meiryo"/>
            </a:endParaRPr>
          </a:p>
          <a:p>
            <a:r>
              <a:rPr lang="ja-JP" altLang="en-US" sz="1600" dirty="0">
                <a:solidFill>
                  <a:srgbClr val="000000"/>
                </a:solidFill>
                <a:latin typeface="Meiryo"/>
                <a:ea typeface="Meiryo"/>
                <a:cs typeface="Meiryo"/>
                <a:sym typeface="Meiryo"/>
              </a:rPr>
              <a:t>　⑪：株式会社アムリード（提案書提示待ち）</a:t>
            </a:r>
            <a:endParaRPr lang="en-US" altLang="ja-JP" sz="1600" dirty="0">
              <a:solidFill>
                <a:srgbClr val="000000"/>
              </a:solidFill>
              <a:latin typeface="Meiryo"/>
              <a:ea typeface="Meiryo"/>
              <a:cs typeface="Meiryo"/>
              <a:sym typeface="Meiryo"/>
            </a:endParaRPr>
          </a:p>
          <a:p>
            <a:r>
              <a:rPr lang="ja-JP" altLang="en-US" sz="1600" dirty="0">
                <a:solidFill>
                  <a:srgbClr val="000000"/>
                </a:solidFill>
                <a:latin typeface="Meiryo"/>
                <a:ea typeface="Meiryo"/>
                <a:cs typeface="Meiryo"/>
                <a:sym typeface="Meiryo"/>
              </a:rPr>
              <a:t>　⑫：イワタニ・ケンボロー株式会社（提案書再提示待ち）</a:t>
            </a:r>
            <a:endParaRPr lang="en-US" altLang="ja-JP" sz="1600" dirty="0">
              <a:solidFill>
                <a:srgbClr val="000000"/>
              </a:solidFill>
              <a:latin typeface="Meiryo"/>
              <a:ea typeface="Meiryo"/>
              <a:cs typeface="Meiryo"/>
              <a:sym typeface="Meiryo"/>
            </a:endParaRPr>
          </a:p>
          <a:p>
            <a:r>
              <a:rPr lang="ja-JP" altLang="en-US" sz="1600" dirty="0">
                <a:solidFill>
                  <a:srgbClr val="000000"/>
                </a:solidFill>
                <a:latin typeface="Meiryo"/>
                <a:ea typeface="Meiryo"/>
                <a:cs typeface="Meiryo"/>
                <a:sym typeface="Meiryo"/>
              </a:rPr>
              <a:t>　⑬：ローリングスジャパン合同会社（引き合いあり）</a:t>
            </a:r>
            <a:endParaRPr lang="en-US" altLang="ja-JP" sz="1600" dirty="0">
              <a:solidFill>
                <a:srgbClr val="000000"/>
              </a:solidFill>
              <a:latin typeface="Meiryo"/>
              <a:ea typeface="Meiryo"/>
              <a:cs typeface="Meiryo"/>
              <a:sym typeface="Meiryo"/>
            </a:endParaRPr>
          </a:p>
        </p:txBody>
      </p:sp>
      <p:sp>
        <p:nvSpPr>
          <p:cNvPr id="2" name="Google Shape;152;p7">
            <a:extLst>
              <a:ext uri="{FF2B5EF4-FFF2-40B4-BE49-F238E27FC236}">
                <a16:creationId xmlns:a16="http://schemas.microsoft.com/office/drawing/2014/main" id="{A514C191-29EA-BD56-6B57-2E52F289F280}"/>
              </a:ext>
            </a:extLst>
          </p:cNvPr>
          <p:cNvSpPr txBox="1">
            <a:spLocks noGrp="1"/>
          </p:cNvSpPr>
          <p:nvPr>
            <p:ph type="title"/>
          </p:nvPr>
        </p:nvSpPr>
        <p:spPr>
          <a:xfrm>
            <a:off x="835852" y="142852"/>
            <a:ext cx="8915400" cy="582594"/>
          </a:xfrm>
          <a:prstGeom prst="rect">
            <a:avLst/>
          </a:prstGeom>
          <a:noFill/>
          <a:ln>
            <a:noFill/>
          </a:ln>
        </p:spPr>
        <p:txBody>
          <a:bodyPr spcFirstLastPara="1" wrap="square" lIns="91425" tIns="45700" rIns="91425" bIns="45700" anchor="b" anchorCtr="0">
            <a:noAutofit/>
          </a:bodyPr>
          <a:lstStyle/>
          <a:p>
            <a:pPr>
              <a:lnSpc>
                <a:spcPct val="130000"/>
              </a:lnSpc>
            </a:pPr>
            <a:r>
              <a:rPr lang="en-US" altLang="ja-JP" sz="2000" dirty="0">
                <a:latin typeface="メイリオ" pitchFamily="50" charset="-128"/>
                <a:ea typeface="メイリオ" pitchFamily="50" charset="-128"/>
                <a:cs typeface="メイリオ" pitchFamily="50" charset="-128"/>
              </a:rPr>
              <a:t>7.</a:t>
            </a:r>
            <a:r>
              <a:rPr lang="ja-JP" altLang="en-US" sz="2000" dirty="0"/>
              <a:t>営業案件について</a:t>
            </a:r>
            <a:endParaRPr lang="ja-JP" altLang="en-US" sz="2000" dirty="0">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14791165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575BF-1924-52BC-9ED9-E9E35E2610D1}"/>
            </a:ext>
          </a:extLst>
        </p:cNvPr>
        <p:cNvGrpSpPr/>
        <p:nvPr/>
      </p:nvGrpSpPr>
      <p:grpSpPr>
        <a:xfrm>
          <a:off x="0" y="0"/>
          <a:ext cx="0" cy="0"/>
          <a:chOff x="0" y="0"/>
          <a:chExt cx="0" cy="0"/>
        </a:xfrm>
      </p:grpSpPr>
      <p:sp>
        <p:nvSpPr>
          <p:cNvPr id="38" name="テキスト ボックス 37">
            <a:extLst>
              <a:ext uri="{FF2B5EF4-FFF2-40B4-BE49-F238E27FC236}">
                <a16:creationId xmlns:a16="http://schemas.microsoft.com/office/drawing/2014/main" id="{64194162-DEB4-07C1-25C0-3E3EAA7D2FD0}"/>
              </a:ext>
            </a:extLst>
          </p:cNvPr>
          <p:cNvSpPr txBox="1">
            <a:spLocks/>
          </p:cNvSpPr>
          <p:nvPr/>
        </p:nvSpPr>
        <p:spPr>
          <a:xfrm>
            <a:off x="1064569" y="856357"/>
            <a:ext cx="8064895" cy="830997"/>
          </a:xfrm>
          <a:prstGeom prst="rect">
            <a:avLst/>
          </a:prstGeom>
          <a:noFill/>
        </p:spPr>
        <p:txBody>
          <a:bodyPr wrap="square" rtlCol="0">
            <a:spAutoFit/>
          </a:bodyPr>
          <a:lstStyle/>
          <a:p>
            <a:r>
              <a:rPr lang="en-US" altLang="ja-JP" sz="1600" dirty="0">
                <a:latin typeface="メイリオ" panose="020B0604030504040204" pitchFamily="50" charset="-128"/>
                <a:ea typeface="メイリオ" panose="020B0604030504040204" pitchFamily="50" charset="-128"/>
              </a:rPr>
              <a:t>AI</a:t>
            </a:r>
            <a:r>
              <a:rPr lang="ja-JP" altLang="en-US" sz="1600" dirty="0">
                <a:latin typeface="メイリオ" panose="020B0604030504040204" pitchFamily="50" charset="-128"/>
                <a:ea typeface="メイリオ" panose="020B0604030504040204" pitchFamily="50" charset="-128"/>
              </a:rPr>
              <a:t>エージェント「</a:t>
            </a:r>
            <a:r>
              <a:rPr lang="en-US" altLang="ja-JP" sz="1600" dirty="0">
                <a:latin typeface="メイリオ" panose="020B0604030504040204" pitchFamily="50" charset="-128"/>
                <a:ea typeface="メイリオ" panose="020B0604030504040204" pitchFamily="50" charset="-128"/>
              </a:rPr>
              <a:t>Kiro</a:t>
            </a:r>
            <a:r>
              <a:rPr lang="ja-JP" altLang="en-US" sz="1600" dirty="0">
                <a:latin typeface="メイリオ" panose="020B0604030504040204" pitchFamily="50" charset="-128"/>
                <a:ea typeface="メイリオ" panose="020B0604030504040204" pitchFamily="50" charset="-128"/>
              </a:rPr>
              <a:t>」セミナー受講報告と社内活用について</a:t>
            </a:r>
            <a:endParaRPr lang="en-US" altLang="ja-JP" sz="1600" dirty="0">
              <a:latin typeface="メイリオ" panose="020B0604030504040204" pitchFamily="50" charset="-128"/>
              <a:ea typeface="メイリオ" panose="020B0604030504040204" pitchFamily="50" charset="-128"/>
            </a:endParaRPr>
          </a:p>
          <a:p>
            <a:endParaRPr lang="en-US" altLang="ja-JP" sz="1600" dirty="0">
              <a:latin typeface="メイリオ" panose="020B0604030504040204" pitchFamily="50" charset="-128"/>
              <a:ea typeface="メイリオ" panose="020B0604030504040204" pitchFamily="50" charset="-128"/>
              <a:cs typeface="メイリオ"/>
            </a:endParaRPr>
          </a:p>
          <a:p>
            <a:r>
              <a:rPr lang="ja-JP" altLang="en-US" sz="1600" dirty="0">
                <a:latin typeface="メイリオ"/>
                <a:ea typeface="メイリオ"/>
                <a:cs typeface="メイリオ"/>
              </a:rPr>
              <a:t>　①：</a:t>
            </a:r>
            <a:r>
              <a:rPr lang="ja-JP" altLang="en-US" sz="1600" dirty="0">
                <a:solidFill>
                  <a:srgbClr val="000000"/>
                </a:solidFill>
                <a:latin typeface="Meiryo"/>
                <a:ea typeface="Meiryo"/>
                <a:cs typeface="Meiryo"/>
                <a:sym typeface="Meiryo"/>
              </a:rPr>
              <a:t>浦上さんから報告</a:t>
            </a:r>
            <a:endParaRPr lang="en-US" altLang="ja-JP" sz="1600" dirty="0">
              <a:solidFill>
                <a:srgbClr val="000000"/>
              </a:solidFill>
              <a:latin typeface="Meiryo"/>
              <a:ea typeface="Meiryo"/>
              <a:cs typeface="Meiryo"/>
              <a:sym typeface="Meiryo"/>
            </a:endParaRPr>
          </a:p>
        </p:txBody>
      </p:sp>
      <p:sp>
        <p:nvSpPr>
          <p:cNvPr id="2" name="Google Shape;152;p7">
            <a:extLst>
              <a:ext uri="{FF2B5EF4-FFF2-40B4-BE49-F238E27FC236}">
                <a16:creationId xmlns:a16="http://schemas.microsoft.com/office/drawing/2014/main" id="{313209E7-CD19-4819-9904-943DB6600C48}"/>
              </a:ext>
            </a:extLst>
          </p:cNvPr>
          <p:cNvSpPr txBox="1">
            <a:spLocks noGrp="1"/>
          </p:cNvSpPr>
          <p:nvPr>
            <p:ph type="title"/>
          </p:nvPr>
        </p:nvSpPr>
        <p:spPr>
          <a:xfrm>
            <a:off x="835852" y="142852"/>
            <a:ext cx="8915400" cy="582594"/>
          </a:xfrm>
          <a:prstGeom prst="rect">
            <a:avLst/>
          </a:prstGeom>
          <a:noFill/>
          <a:ln>
            <a:noFill/>
          </a:ln>
        </p:spPr>
        <p:txBody>
          <a:bodyPr spcFirstLastPara="1" wrap="square" lIns="91425" tIns="45700" rIns="91425" bIns="45700" anchor="b" anchorCtr="0">
            <a:noAutofit/>
          </a:bodyPr>
          <a:lstStyle/>
          <a:p>
            <a:pPr>
              <a:lnSpc>
                <a:spcPct val="130000"/>
              </a:lnSpc>
            </a:pPr>
            <a:r>
              <a:rPr lang="en-US" altLang="ja-JP" sz="2000" dirty="0">
                <a:latin typeface="メイリオ" pitchFamily="50" charset="-128"/>
                <a:ea typeface="メイリオ" pitchFamily="50" charset="-128"/>
                <a:cs typeface="メイリオ" pitchFamily="50" charset="-128"/>
              </a:rPr>
              <a:t>8.</a:t>
            </a:r>
            <a:r>
              <a:rPr lang="en-US" altLang="ja-JP" sz="2000" dirty="0"/>
              <a:t> AI</a:t>
            </a:r>
            <a:r>
              <a:rPr lang="ja-JP" altLang="en-US" sz="2000" dirty="0"/>
              <a:t>エージェント「</a:t>
            </a:r>
            <a:r>
              <a:rPr lang="en-US" altLang="ja-JP" sz="2000" dirty="0"/>
              <a:t>Kiro</a:t>
            </a:r>
            <a:r>
              <a:rPr lang="ja-JP" altLang="en-US" sz="2000" dirty="0"/>
              <a:t>」セミナー受講報告と社内活用について</a:t>
            </a:r>
            <a:endParaRPr lang="ja-JP" altLang="en-US" sz="2000" dirty="0">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931758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66AF3-2218-87DD-AB45-B370552A3372}"/>
            </a:ext>
          </a:extLst>
        </p:cNvPr>
        <p:cNvGrpSpPr/>
        <p:nvPr/>
      </p:nvGrpSpPr>
      <p:grpSpPr>
        <a:xfrm>
          <a:off x="0" y="0"/>
          <a:ext cx="0" cy="0"/>
          <a:chOff x="0" y="0"/>
          <a:chExt cx="0" cy="0"/>
        </a:xfrm>
      </p:grpSpPr>
      <p:sp>
        <p:nvSpPr>
          <p:cNvPr id="2" name="Google Shape;152;p7">
            <a:extLst>
              <a:ext uri="{FF2B5EF4-FFF2-40B4-BE49-F238E27FC236}">
                <a16:creationId xmlns:a16="http://schemas.microsoft.com/office/drawing/2014/main" id="{1AFE031F-7AB4-8AF0-7761-452F8A5F8172}"/>
              </a:ext>
            </a:extLst>
          </p:cNvPr>
          <p:cNvSpPr txBox="1">
            <a:spLocks noGrp="1"/>
          </p:cNvSpPr>
          <p:nvPr>
            <p:ph type="title"/>
          </p:nvPr>
        </p:nvSpPr>
        <p:spPr>
          <a:xfrm>
            <a:off x="835852" y="142852"/>
            <a:ext cx="8915400" cy="582594"/>
          </a:xfrm>
          <a:prstGeom prst="rect">
            <a:avLst/>
          </a:prstGeom>
          <a:noFill/>
          <a:ln>
            <a:noFill/>
          </a:ln>
        </p:spPr>
        <p:txBody>
          <a:bodyPr spcFirstLastPara="1" wrap="square" lIns="91425" tIns="45700" rIns="91425" bIns="45700" anchor="b" anchorCtr="0">
            <a:noAutofit/>
          </a:bodyPr>
          <a:lstStyle/>
          <a:p>
            <a:pPr>
              <a:lnSpc>
                <a:spcPct val="130000"/>
              </a:lnSpc>
            </a:pPr>
            <a:r>
              <a:rPr lang="en-US" altLang="ja-JP" sz="2000" dirty="0">
                <a:latin typeface="メイリオ" pitchFamily="50" charset="-128"/>
                <a:ea typeface="メイリオ" pitchFamily="50" charset="-128"/>
                <a:cs typeface="メイリオ" pitchFamily="50" charset="-128"/>
              </a:rPr>
              <a:t>9.</a:t>
            </a:r>
            <a:r>
              <a:rPr lang="en-US" altLang="ja-JP" sz="2000" dirty="0"/>
              <a:t> AI</a:t>
            </a:r>
            <a:r>
              <a:rPr lang="ja-JP" altLang="en-US" sz="2000" dirty="0"/>
              <a:t>活用・業務効率化についての共有（</a:t>
            </a:r>
            <a:r>
              <a:rPr lang="en-US" altLang="ja-JP" sz="2000" dirty="0"/>
              <a:t>1/2</a:t>
            </a:r>
            <a:r>
              <a:rPr lang="ja-JP" altLang="en-US" sz="2000" dirty="0"/>
              <a:t>）</a:t>
            </a:r>
            <a:endParaRPr lang="ja-JP" altLang="en-US" sz="2000" dirty="0">
              <a:latin typeface="メイリオ" pitchFamily="50" charset="-128"/>
              <a:ea typeface="メイリオ" pitchFamily="50" charset="-128"/>
              <a:cs typeface="メイリオ" pitchFamily="50" charset="-128"/>
            </a:endParaRPr>
          </a:p>
        </p:txBody>
      </p:sp>
      <p:sp>
        <p:nvSpPr>
          <p:cNvPr id="3" name="TextBox 2"/>
          <p:cNvSpPr txBox="1"/>
          <p:nvPr/>
        </p:nvSpPr>
        <p:spPr>
          <a:xfrm>
            <a:off x="703000" y="836712"/>
            <a:ext cx="8500000" cy="4401205"/>
          </a:xfrm>
          <a:prstGeom prst="rect">
            <a:avLst/>
          </a:prstGeom>
          <a:noFill/>
        </p:spPr>
        <p:txBody>
          <a:bodyPr wrap="square">
            <a:spAutoFit/>
          </a:bodyPr>
          <a:lstStyle/>
          <a:p>
            <a:pPr>
              <a:spcBef>
                <a:spcPts val="0"/>
              </a:spcBef>
              <a:spcAft>
                <a:spcPts val="200"/>
              </a:spcAft>
            </a:pPr>
            <a:r>
              <a:rPr sz="1400" b="1">
                <a:solidFill>
                  <a:srgbClr val="333333"/>
                </a:solidFill>
                <a:latin typeface="メイリオ"/>
                <a:ea typeface="メイリオ"/>
              </a:rPr>
              <a:t>① ツール方針（ASIS → TOBE）</a:t>
            </a:r>
          </a:p>
          <a:p>
            <a:pPr>
              <a:spcBef>
                <a:spcPts val="0"/>
              </a:spcBef>
              <a:spcAft>
                <a:spcPts val="200"/>
              </a:spcAft>
            </a:pPr>
            <a:r>
              <a:rPr sz="1200" b="0">
                <a:solidFill>
                  <a:srgbClr val="333333"/>
                </a:solidFill>
                <a:latin typeface="メイリオ"/>
                <a:ea typeface="メイリオ"/>
              </a:rPr>
              <a:t>【開発】ASIS：Copilot　→　TOBE：Cursor + Claude</a:t>
            </a:r>
          </a:p>
          <a:p>
            <a:pPr>
              <a:spcBef>
                <a:spcPts val="0"/>
              </a:spcBef>
              <a:spcAft>
                <a:spcPts val="200"/>
              </a:spcAft>
            </a:pPr>
            <a:r>
              <a:rPr sz="1200" b="0">
                <a:solidFill>
                  <a:srgbClr val="333333"/>
                </a:solidFill>
                <a:latin typeface="メイリオ"/>
                <a:ea typeface="メイリオ"/>
              </a:rPr>
              <a:t>【業務】ASIS：ChatGPT／Gemini　→　TOBE：Claude</a:t>
            </a:r>
          </a:p>
          <a:p>
            <a:pPr>
              <a:spcBef>
                <a:spcPts val="0"/>
              </a:spcBef>
              <a:spcAft>
                <a:spcPts val="200"/>
              </a:spcAft>
            </a:pPr>
            <a:r>
              <a:rPr sz="600" b="0">
                <a:solidFill>
                  <a:srgbClr val="333333"/>
                </a:solidFill>
                <a:latin typeface="メイリオ"/>
                <a:ea typeface="メイリオ"/>
              </a:rPr>
              <a:t/>
            </a:r>
          </a:p>
          <a:p>
            <a:pPr>
              <a:spcBef>
                <a:spcPts val="0"/>
              </a:spcBef>
              <a:spcAft>
                <a:spcPts val="200"/>
              </a:spcAft>
            </a:pPr>
            <a:r>
              <a:rPr sz="1400" b="1">
                <a:solidFill>
                  <a:srgbClr val="C00000"/>
                </a:solidFill>
                <a:latin typeface="メイリオ"/>
                <a:ea typeface="メイリオ"/>
              </a:rPr>
              <a:t>② ここまでできるようになりたい（目標）</a:t>
            </a:r>
          </a:p>
          <a:p>
            <a:pPr>
              <a:spcBef>
                <a:spcPts val="0"/>
              </a:spcBef>
              <a:spcAft>
                <a:spcPts val="200"/>
              </a:spcAft>
            </a:pPr>
            <a:r>
              <a:rPr sz="1200" b="0">
                <a:solidFill>
                  <a:srgbClr val="333333"/>
                </a:solidFill>
                <a:latin typeface="メイリオ"/>
                <a:ea typeface="メイリオ"/>
              </a:rPr>
              <a:t>【要件定義】モック最速作成 → お客様がイメージしやすく</a:t>
            </a:r>
          </a:p>
          <a:p>
            <a:pPr>
              <a:spcBef>
                <a:spcPts val="0"/>
              </a:spcBef>
              <a:spcAft>
                <a:spcPts val="200"/>
              </a:spcAft>
            </a:pPr>
            <a:r>
              <a:rPr sz="1200" b="0">
                <a:solidFill>
                  <a:srgbClr val="333333"/>
                </a:solidFill>
                <a:latin typeface="メイリオ"/>
                <a:ea typeface="メイリオ"/>
              </a:rPr>
              <a:t>【設計】的確な指示で設計書への追記を自動化</a:t>
            </a:r>
          </a:p>
          <a:p>
            <a:pPr>
              <a:spcBef>
                <a:spcPts val="0"/>
              </a:spcBef>
              <a:spcAft>
                <a:spcPts val="200"/>
              </a:spcAft>
            </a:pPr>
            <a:r>
              <a:rPr sz="1200" b="0">
                <a:solidFill>
                  <a:srgbClr val="333333"/>
                </a:solidFill>
                <a:latin typeface="メイリオ"/>
                <a:ea typeface="メイリオ"/>
              </a:rPr>
              <a:t>【開発】設計書ベースでAIと詳細を詰め、ほぼノーコーディング</a:t>
            </a:r>
          </a:p>
          <a:p>
            <a:pPr>
              <a:spcBef>
                <a:spcPts val="0"/>
              </a:spcBef>
              <a:spcAft>
                <a:spcPts val="200"/>
              </a:spcAft>
            </a:pPr>
            <a:r>
              <a:rPr sz="1200" b="0">
                <a:solidFill>
                  <a:srgbClr val="333333"/>
                </a:solidFill>
                <a:latin typeface="メイリオ"/>
                <a:ea typeface="メイリオ"/>
              </a:rPr>
              <a:t>【テスト】スペックテスト自動化／人手テストの仕様書作成も自動化</a:t>
            </a:r>
          </a:p>
          <a:p>
            <a:pPr>
              <a:spcBef>
                <a:spcPts val="0"/>
              </a:spcBef>
              <a:spcAft>
                <a:spcPts val="200"/>
              </a:spcAft>
            </a:pPr>
            <a:r>
              <a:rPr sz="1200" b="0">
                <a:solidFill>
                  <a:srgbClr val="333333"/>
                </a:solidFill>
                <a:latin typeface="メイリオ"/>
                <a:ea typeface="メイリオ"/>
              </a:rPr>
              <a:t>　　　　 ブラウザ上のテスト自動化ツールも活用</a:t>
            </a:r>
          </a:p>
          <a:p>
            <a:pPr>
              <a:spcBef>
                <a:spcPts val="0"/>
              </a:spcBef>
              <a:spcAft>
                <a:spcPts val="200"/>
              </a:spcAft>
            </a:pPr>
            <a:r>
              <a:rPr sz="600" b="0">
                <a:solidFill>
                  <a:srgbClr val="333333"/>
                </a:solidFill>
                <a:latin typeface="メイリオ"/>
                <a:ea typeface="メイリオ"/>
              </a:rPr>
              <a:t/>
            </a:r>
          </a:p>
          <a:p>
            <a:pPr>
              <a:spcBef>
                <a:spcPts val="0"/>
              </a:spcBef>
              <a:spcAft>
                <a:spcPts val="200"/>
              </a:spcAft>
            </a:pPr>
            <a:r>
              <a:rPr sz="1400" b="1">
                <a:solidFill>
                  <a:srgbClr val="333333"/>
                </a:solidFill>
                <a:latin typeface="メイリオ"/>
                <a:ea typeface="メイリオ"/>
              </a:rPr>
              <a:t>③ いま進めている取り組み</a:t>
            </a:r>
          </a:p>
          <a:p>
            <a:pPr>
              <a:spcBef>
                <a:spcPts val="0"/>
              </a:spcBef>
              <a:spcAft>
                <a:spcPts val="200"/>
              </a:spcAft>
            </a:pPr>
            <a:r>
              <a:rPr sz="1200" b="0">
                <a:solidFill>
                  <a:srgbClr val="333333"/>
                </a:solidFill>
                <a:latin typeface="メイリオ"/>
                <a:ea typeface="メイリオ"/>
              </a:rPr>
              <a:t>・EC-Rider AI（プロンプト／実装ガイド読込）構築中</a:t>
            </a:r>
          </a:p>
          <a:p>
            <a:pPr>
              <a:spcBef>
                <a:spcPts val="0"/>
              </a:spcBef>
              <a:spcAft>
                <a:spcPts val="200"/>
              </a:spcAft>
            </a:pPr>
            <a:r>
              <a:rPr sz="1200" b="0">
                <a:solidFill>
                  <a:srgbClr val="333333"/>
                </a:solidFill>
                <a:latin typeface="メイリオ"/>
                <a:ea typeface="メイリオ"/>
              </a:rPr>
              <a:t>・提案用モックベース整備</a:t>
            </a:r>
          </a:p>
          <a:p>
            <a:pPr>
              <a:spcBef>
                <a:spcPts val="0"/>
              </a:spcBef>
              <a:spcAft>
                <a:spcPts val="200"/>
              </a:spcAft>
            </a:pPr>
            <a:r>
              <a:rPr sz="600" b="0">
                <a:solidFill>
                  <a:srgbClr val="333333"/>
                </a:solidFill>
                <a:latin typeface="メイリオ"/>
                <a:ea typeface="メイリオ"/>
              </a:rPr>
              <a:t/>
            </a:r>
          </a:p>
          <a:p>
            <a:pPr>
              <a:spcBef>
                <a:spcPts val="0"/>
              </a:spcBef>
              <a:spcAft>
                <a:spcPts val="200"/>
              </a:spcAft>
            </a:pPr>
            <a:r>
              <a:rPr sz="1200" b="0">
                <a:solidFill>
                  <a:srgbClr val="C00000"/>
                </a:solidFill>
                <a:latin typeface="メイリオ"/>
                <a:ea typeface="メイリオ"/>
              </a:rPr>
              <a:t>→ 次ページ：比較表／最終判断の線引き</a:t>
            </a:r>
          </a:p>
        </p:txBody>
      </p:sp>
    </p:spTree>
    <p:extLst>
      <p:ext uri="{BB962C8B-B14F-4D97-AF65-F5344CB8AC3E}">
        <p14:creationId xmlns:p14="http://schemas.microsoft.com/office/powerpoint/2010/main" val="32169465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4E053-B35F-FA92-EB03-8BB1B56A1353}"/>
            </a:ext>
          </a:extLst>
        </p:cNvPr>
        <p:cNvGrpSpPr/>
        <p:nvPr/>
      </p:nvGrpSpPr>
      <p:grpSpPr>
        <a:xfrm>
          <a:off x="0" y="0"/>
          <a:ext cx="0" cy="0"/>
          <a:chOff x="0" y="0"/>
          <a:chExt cx="0" cy="0"/>
        </a:xfrm>
      </p:grpSpPr>
      <p:sp>
        <p:nvSpPr>
          <p:cNvPr id="2" name="Google Shape;152;p7">
            <a:extLst>
              <a:ext uri="{FF2B5EF4-FFF2-40B4-BE49-F238E27FC236}">
                <a16:creationId xmlns:a16="http://schemas.microsoft.com/office/drawing/2014/main" id="{55589BCD-DCD2-B661-9E2D-CDF5DC531B03}"/>
              </a:ext>
            </a:extLst>
          </p:cNvPr>
          <p:cNvSpPr txBox="1">
            <a:spLocks noGrp="1"/>
          </p:cNvSpPr>
          <p:nvPr>
            <p:ph type="title"/>
          </p:nvPr>
        </p:nvSpPr>
        <p:spPr>
          <a:xfrm>
            <a:off x="835852" y="142852"/>
            <a:ext cx="8915400" cy="582594"/>
          </a:xfrm>
          <a:prstGeom prst="rect">
            <a:avLst/>
          </a:prstGeom>
          <a:noFill/>
          <a:ln>
            <a:noFill/>
          </a:ln>
        </p:spPr>
        <p:txBody>
          <a:bodyPr spcFirstLastPara="1" wrap="square" lIns="91425" tIns="45700" rIns="91425" bIns="45700" anchor="b" anchorCtr="0">
            <a:noAutofit/>
          </a:bodyPr>
          <a:lstStyle/>
          <a:p>
            <a:pPr>
              <a:lnSpc>
                <a:spcPct val="130000"/>
              </a:lnSpc>
            </a:pPr>
            <a:r>
              <a:rPr lang="en-US" altLang="ja-JP" sz="2000" dirty="0">
                <a:latin typeface="メイリオ" pitchFamily="50" charset="-128"/>
                <a:ea typeface="メイリオ" pitchFamily="50" charset="-128"/>
                <a:cs typeface="メイリオ" pitchFamily="50" charset="-128"/>
              </a:rPr>
              <a:t>9.</a:t>
            </a:r>
            <a:r>
              <a:rPr lang="en-US" altLang="ja-JP" sz="2000" dirty="0"/>
              <a:t> AI</a:t>
            </a:r>
            <a:r>
              <a:rPr lang="ja-JP" altLang="en-US" sz="2000" dirty="0"/>
              <a:t>活用・業務効率化についての共有</a:t>
            </a:r>
            <a:endParaRPr lang="ja-JP" altLang="en-US" sz="2000" dirty="0">
              <a:latin typeface="メイリオ" pitchFamily="50" charset="-128"/>
              <a:ea typeface="メイリオ" pitchFamily="50" charset="-128"/>
              <a:cs typeface="メイリオ" pitchFamily="50" charset="-128"/>
            </a:endParaRPr>
          </a:p>
        </p:txBody>
      </p:sp>
      <p:sp>
        <p:nvSpPr>
          <p:cNvPr id="5" name="TextBox 2">
            <a:extLst>
              <a:ext uri="{FF2B5EF4-FFF2-40B4-BE49-F238E27FC236}">
                <a16:creationId xmlns:a16="http://schemas.microsoft.com/office/drawing/2014/main" id="{CE3ECE54-AD4C-DCAA-6777-B659EE2E165E}"/>
              </a:ext>
            </a:extLst>
          </p:cNvPr>
          <p:cNvSpPr txBox="1"/>
          <p:nvPr/>
        </p:nvSpPr>
        <p:spPr>
          <a:xfrm>
            <a:off x="560512" y="843381"/>
            <a:ext cx="9000000" cy="280000"/>
          </a:xfrm>
          <a:prstGeom prst="rect">
            <a:avLst/>
          </a:prstGeom>
          <a:noFill/>
        </p:spPr>
        <p:txBody>
          <a:bodyPr wrap="square">
            <a:spAutoFit/>
          </a:bodyPr>
          <a:lstStyle/>
          <a:p>
            <a:pPr>
              <a:spcBef>
                <a:spcPts val="0"/>
              </a:spcBef>
              <a:spcAft>
                <a:spcPts val="200"/>
              </a:spcAft>
            </a:pPr>
            <a:r>
              <a:rPr sz="1200" b="1">
                <a:solidFill>
                  <a:srgbClr val="333333"/>
                </a:solidFill>
                <a:latin typeface="メイリオ"/>
                <a:ea typeface="メイリオ"/>
              </a:rPr>
              <a:t>④ 比較（ビジネス業務観点）：ASIS → TOBE</a:t>
            </a:r>
          </a:p>
        </p:txBody>
      </p:sp>
      <p:graphicFrame>
        <p:nvGraphicFramePr>
          <p:cNvPr id="7" name="Table 3">
            <a:extLst>
              <a:ext uri="{FF2B5EF4-FFF2-40B4-BE49-F238E27FC236}">
                <a16:creationId xmlns:a16="http://schemas.microsoft.com/office/drawing/2014/main" id="{AC23D497-251A-B4AD-265E-525FD35FB889}"/>
              </a:ext>
            </a:extLst>
          </p:cNvPr>
          <p:cNvGraphicFramePr>
            <a:graphicFrameLocks noGrp="1"/>
          </p:cNvGraphicFramePr>
          <p:nvPr>
            <p:extLst>
              <p:ext uri="{D42A27DB-BD31-4B8C-83A1-F6EECF244321}">
                <p14:modId xmlns:p14="http://schemas.microsoft.com/office/powerpoint/2010/main" val="2195794075"/>
              </p:ext>
            </p:extLst>
          </p:nvPr>
        </p:nvGraphicFramePr>
        <p:xfrm>
          <a:off x="560512" y="2972461"/>
          <a:ext cx="8700000" cy="1320000"/>
        </p:xfrm>
        <a:graphic>
          <a:graphicData uri="http://schemas.openxmlformats.org/drawingml/2006/table">
            <a:tbl>
              <a:tblPr firstRow="1" bandRow="1">
                <a:tableStyleId>{5C22544A-7EE6-4342-B048-85BDC9FD1C3A}</a:tableStyleId>
              </a:tblPr>
              <a:tblGrid>
                <a:gridCol w="1400000">
                  <a:extLst>
                    <a:ext uri="{9D8B030D-6E8A-4147-A177-3AD203B41FA5}">
                      <a16:colId xmlns:a16="http://schemas.microsoft.com/office/drawing/2014/main" val="20000"/>
                    </a:ext>
                  </a:extLst>
                </a:gridCol>
                <a:gridCol w="3650000">
                  <a:extLst>
                    <a:ext uri="{9D8B030D-6E8A-4147-A177-3AD203B41FA5}">
                      <a16:colId xmlns:a16="http://schemas.microsoft.com/office/drawing/2014/main" val="20001"/>
                    </a:ext>
                  </a:extLst>
                </a:gridCol>
                <a:gridCol w="3650000">
                  <a:extLst>
                    <a:ext uri="{9D8B030D-6E8A-4147-A177-3AD203B41FA5}">
                      <a16:colId xmlns:a16="http://schemas.microsoft.com/office/drawing/2014/main" val="20002"/>
                    </a:ext>
                  </a:extLst>
                </a:gridCol>
              </a:tblGrid>
              <a:tr h="330000">
                <a:tc>
                  <a:txBody>
                    <a:bodyPr/>
                    <a:lstStyle/>
                    <a:p>
                      <a:pPr algn="ctr"/>
                      <a:r>
                        <a:rPr sz="1000" b="1">
                          <a:solidFill>
                            <a:srgbClr val="FFFFFF"/>
                          </a:solidFill>
                          <a:latin typeface="メイリオ"/>
                          <a:ea typeface="メイリオ"/>
                        </a:rPr>
                        <a:t>観点</a:t>
                      </a:r>
                    </a:p>
                  </a:txBody>
                  <a:tcPr anchor="ctr">
                    <a:solidFill>
                      <a:srgbClr val="1F4E79"/>
                    </a:solidFill>
                  </a:tcPr>
                </a:tc>
                <a:tc>
                  <a:txBody>
                    <a:bodyPr/>
                    <a:lstStyle/>
                    <a:p>
                      <a:pPr algn="ctr"/>
                      <a:r>
                        <a:rPr sz="1000" b="1">
                          <a:solidFill>
                            <a:srgbClr val="FFFFFF"/>
                          </a:solidFill>
                          <a:latin typeface="メイリオ"/>
                          <a:ea typeface="メイリオ"/>
                        </a:rPr>
                        <a:t>ASIS：VS Code + Copilot</a:t>
                      </a:r>
                    </a:p>
                  </a:txBody>
                  <a:tcPr anchor="ctr">
                    <a:solidFill>
                      <a:srgbClr val="1F4E79"/>
                    </a:solidFill>
                  </a:tcPr>
                </a:tc>
                <a:tc>
                  <a:txBody>
                    <a:bodyPr/>
                    <a:lstStyle/>
                    <a:p>
                      <a:pPr algn="ctr"/>
                      <a:r>
                        <a:rPr sz="1000" b="1">
                          <a:solidFill>
                            <a:srgbClr val="FFFFFF"/>
                          </a:solidFill>
                          <a:latin typeface="メイリオ"/>
                          <a:ea typeface="メイリオ"/>
                        </a:rPr>
                        <a:t>TOBE：Cursor + Claude</a:t>
                      </a:r>
                    </a:p>
                  </a:txBody>
                  <a:tcPr anchor="ctr">
                    <a:solidFill>
                      <a:srgbClr val="1F4E79"/>
                    </a:solidFill>
                  </a:tcPr>
                </a:tc>
                <a:extLst>
                  <a:ext uri="{0D108BD9-81ED-4DB2-BD59-A6C34878D82A}">
                    <a16:rowId xmlns:a16="http://schemas.microsoft.com/office/drawing/2014/main" val="10000"/>
                  </a:ext>
                </a:extLst>
              </a:tr>
              <a:tr h="330000">
                <a:tc>
                  <a:txBody>
                    <a:bodyPr/>
                    <a:lstStyle/>
                    <a:p>
                      <a:pPr algn="l"/>
                      <a:r>
                        <a:rPr sz="1000" b="0">
                          <a:solidFill>
                            <a:srgbClr val="333333"/>
                          </a:solidFill>
                          <a:latin typeface="メイリオ"/>
                          <a:ea typeface="メイリオ"/>
                        </a:rPr>
                        <a:t>得意</a:t>
                      </a:r>
                    </a:p>
                  </a:txBody>
                  <a:tcPr anchor="ctr"/>
                </a:tc>
                <a:tc>
                  <a:txBody>
                    <a:bodyPr/>
                    <a:lstStyle/>
                    <a:p>
                      <a:pPr algn="l"/>
                      <a:r>
                        <a:rPr sz="1000" b="0">
                          <a:solidFill>
                            <a:srgbClr val="333333"/>
                          </a:solidFill>
                          <a:latin typeface="メイリオ"/>
                          <a:ea typeface="メイリオ"/>
                        </a:rPr>
                        <a:t>行・関数単位の補完が速い</a:t>
                      </a:r>
                    </a:p>
                  </a:txBody>
                  <a:tcPr anchor="ctr"/>
                </a:tc>
                <a:tc>
                  <a:txBody>
                    <a:bodyPr/>
                    <a:lstStyle/>
                    <a:p>
                      <a:pPr algn="l"/>
                      <a:r>
                        <a:rPr sz="1000" b="0">
                          <a:solidFill>
                            <a:srgbClr val="333333"/>
                          </a:solidFill>
                          <a:latin typeface="メイリオ"/>
                          <a:ea typeface="メイリオ"/>
                        </a:rPr>
                        <a:t>複数ファイル横断の設計・実装・修正</a:t>
                      </a:r>
                    </a:p>
                  </a:txBody>
                  <a:tcPr anchor="ctr"/>
                </a:tc>
                <a:extLst>
                  <a:ext uri="{0D108BD9-81ED-4DB2-BD59-A6C34878D82A}">
                    <a16:rowId xmlns:a16="http://schemas.microsoft.com/office/drawing/2014/main" val="10001"/>
                  </a:ext>
                </a:extLst>
              </a:tr>
              <a:tr h="330000">
                <a:tc>
                  <a:txBody>
                    <a:bodyPr/>
                    <a:lstStyle/>
                    <a:p>
                      <a:pPr algn="l"/>
                      <a:r>
                        <a:rPr sz="1000" b="0">
                          <a:solidFill>
                            <a:srgbClr val="333333"/>
                          </a:solidFill>
                          <a:latin typeface="メイリオ"/>
                          <a:ea typeface="メイリオ"/>
                        </a:rPr>
                        <a:t>文脈</a:t>
                      </a:r>
                    </a:p>
                  </a:txBody>
                  <a:tcPr anchor="ctr">
                    <a:solidFill>
                      <a:srgbClr val="D6E3F0"/>
                    </a:solidFill>
                  </a:tcPr>
                </a:tc>
                <a:tc>
                  <a:txBody>
                    <a:bodyPr/>
                    <a:lstStyle/>
                    <a:p>
                      <a:pPr algn="l"/>
                      <a:r>
                        <a:rPr sz="1000" b="0">
                          <a:solidFill>
                            <a:srgbClr val="333333"/>
                          </a:solidFill>
                          <a:latin typeface="メイリオ"/>
                          <a:ea typeface="メイリオ"/>
                        </a:rPr>
                        <a:t>編集中の周辺が中心</a:t>
                      </a:r>
                    </a:p>
                  </a:txBody>
                  <a:tcPr anchor="ctr">
                    <a:solidFill>
                      <a:srgbClr val="D6E3F0"/>
                    </a:solidFill>
                  </a:tcPr>
                </a:tc>
                <a:tc>
                  <a:txBody>
                    <a:bodyPr/>
                    <a:lstStyle/>
                    <a:p>
                      <a:pPr algn="l"/>
                      <a:r>
                        <a:rPr sz="1000" b="0">
                          <a:solidFill>
                            <a:srgbClr val="333333"/>
                          </a:solidFill>
                          <a:latin typeface="メイリオ"/>
                          <a:ea typeface="メイリオ"/>
                        </a:rPr>
                        <a:t>リポジトリ／ガイドを広く読ませやすい</a:t>
                      </a:r>
                    </a:p>
                  </a:txBody>
                  <a:tcPr anchor="ctr">
                    <a:solidFill>
                      <a:srgbClr val="D6E3F0"/>
                    </a:solidFill>
                  </a:tcPr>
                </a:tc>
                <a:extLst>
                  <a:ext uri="{0D108BD9-81ED-4DB2-BD59-A6C34878D82A}">
                    <a16:rowId xmlns:a16="http://schemas.microsoft.com/office/drawing/2014/main" val="10002"/>
                  </a:ext>
                </a:extLst>
              </a:tr>
              <a:tr h="330000">
                <a:tc>
                  <a:txBody>
                    <a:bodyPr/>
                    <a:lstStyle/>
                    <a:p>
                      <a:pPr algn="l"/>
                      <a:r>
                        <a:rPr sz="1000" b="0">
                          <a:solidFill>
                            <a:srgbClr val="333333"/>
                          </a:solidFill>
                          <a:latin typeface="メイリオ"/>
                          <a:ea typeface="メイリオ"/>
                        </a:rPr>
                        <a:t>向く作業</a:t>
                      </a:r>
                    </a:p>
                  </a:txBody>
                  <a:tcPr anchor="ctr"/>
                </a:tc>
                <a:tc>
                  <a:txBody>
                    <a:bodyPr/>
                    <a:lstStyle/>
                    <a:p>
                      <a:pPr algn="l"/>
                      <a:r>
                        <a:rPr sz="1000" b="0">
                          <a:solidFill>
                            <a:srgbClr val="333333"/>
                          </a:solidFill>
                          <a:latin typeface="メイリオ"/>
                          <a:ea typeface="メイリオ"/>
                        </a:rPr>
                        <a:t>小改修・定型実装</a:t>
                      </a:r>
                    </a:p>
                  </a:txBody>
                  <a:tcPr anchor="ctr"/>
                </a:tc>
                <a:tc>
                  <a:txBody>
                    <a:bodyPr/>
                    <a:lstStyle/>
                    <a:p>
                      <a:pPr algn="l"/>
                      <a:r>
                        <a:rPr sz="1000" b="0">
                          <a:solidFill>
                            <a:srgbClr val="333333"/>
                          </a:solidFill>
                          <a:latin typeface="メイリオ"/>
                          <a:ea typeface="メイリオ"/>
                        </a:rPr>
                        <a:t>調査・横断改修・品質向上の伴走</a:t>
                      </a:r>
                    </a:p>
                  </a:txBody>
                  <a:tcPr anchor="ctr"/>
                </a:tc>
                <a:extLst>
                  <a:ext uri="{0D108BD9-81ED-4DB2-BD59-A6C34878D82A}">
                    <a16:rowId xmlns:a16="http://schemas.microsoft.com/office/drawing/2014/main" val="10003"/>
                  </a:ext>
                </a:extLst>
              </a:tr>
            </a:tbl>
          </a:graphicData>
        </a:graphic>
      </p:graphicFrame>
      <p:sp>
        <p:nvSpPr>
          <p:cNvPr id="9" name="TextBox 4">
            <a:extLst>
              <a:ext uri="{FF2B5EF4-FFF2-40B4-BE49-F238E27FC236}">
                <a16:creationId xmlns:a16="http://schemas.microsoft.com/office/drawing/2014/main" id="{1272A0DA-E735-8962-1ABC-9C796829947B}"/>
              </a:ext>
            </a:extLst>
          </p:cNvPr>
          <p:cNvSpPr txBox="1"/>
          <p:nvPr/>
        </p:nvSpPr>
        <p:spPr>
          <a:xfrm>
            <a:off x="560512" y="2712461"/>
            <a:ext cx="9000000" cy="260000"/>
          </a:xfrm>
          <a:prstGeom prst="rect">
            <a:avLst/>
          </a:prstGeom>
          <a:noFill/>
        </p:spPr>
        <p:txBody>
          <a:bodyPr wrap="square">
            <a:spAutoFit/>
          </a:bodyPr>
          <a:lstStyle/>
          <a:p>
            <a:pPr>
              <a:spcBef>
                <a:spcPts val="0"/>
              </a:spcBef>
              <a:spcAft>
                <a:spcPts val="200"/>
              </a:spcAft>
            </a:pPr>
            <a:r>
              <a:rPr sz="1200" b="1">
                <a:solidFill>
                  <a:srgbClr val="333333"/>
                </a:solidFill>
                <a:latin typeface="メイリオ"/>
                <a:ea typeface="メイリオ"/>
              </a:rPr>
              <a:t>④’ 比較（プログラム観点）：ASIS → TOBE</a:t>
            </a:r>
          </a:p>
        </p:txBody>
      </p:sp>
      <p:graphicFrame>
        <p:nvGraphicFramePr>
          <p:cNvPr id="11" name="Table 5">
            <a:extLst>
              <a:ext uri="{FF2B5EF4-FFF2-40B4-BE49-F238E27FC236}">
                <a16:creationId xmlns:a16="http://schemas.microsoft.com/office/drawing/2014/main" id="{63694319-84BD-76EC-912C-F19AC7CEB965}"/>
              </a:ext>
            </a:extLst>
          </p:cNvPr>
          <p:cNvGraphicFramePr>
            <a:graphicFrameLocks noGrp="1"/>
          </p:cNvGraphicFramePr>
          <p:nvPr>
            <p:extLst>
              <p:ext uri="{D42A27DB-BD31-4B8C-83A1-F6EECF244321}">
                <p14:modId xmlns:p14="http://schemas.microsoft.com/office/powerpoint/2010/main" val="1250567402"/>
              </p:ext>
            </p:extLst>
          </p:nvPr>
        </p:nvGraphicFramePr>
        <p:xfrm>
          <a:off x="560512" y="1123381"/>
          <a:ext cx="8700000" cy="1518720"/>
        </p:xfrm>
        <a:graphic>
          <a:graphicData uri="http://schemas.openxmlformats.org/drawingml/2006/table">
            <a:tbl>
              <a:tblPr firstRow="1" bandRow="1">
                <a:tableStyleId>{5C22544A-7EE6-4342-B048-85BDC9FD1C3A}</a:tableStyleId>
              </a:tblPr>
              <a:tblGrid>
                <a:gridCol w="2175000">
                  <a:extLst>
                    <a:ext uri="{9D8B030D-6E8A-4147-A177-3AD203B41FA5}">
                      <a16:colId xmlns:a16="http://schemas.microsoft.com/office/drawing/2014/main" val="20000"/>
                    </a:ext>
                  </a:extLst>
                </a:gridCol>
                <a:gridCol w="2175000">
                  <a:extLst>
                    <a:ext uri="{9D8B030D-6E8A-4147-A177-3AD203B41FA5}">
                      <a16:colId xmlns:a16="http://schemas.microsoft.com/office/drawing/2014/main" val="20001"/>
                    </a:ext>
                  </a:extLst>
                </a:gridCol>
                <a:gridCol w="2175000">
                  <a:extLst>
                    <a:ext uri="{9D8B030D-6E8A-4147-A177-3AD203B41FA5}">
                      <a16:colId xmlns:a16="http://schemas.microsoft.com/office/drawing/2014/main" val="20002"/>
                    </a:ext>
                  </a:extLst>
                </a:gridCol>
                <a:gridCol w="2175000">
                  <a:extLst>
                    <a:ext uri="{9D8B030D-6E8A-4147-A177-3AD203B41FA5}">
                      <a16:colId xmlns:a16="http://schemas.microsoft.com/office/drawing/2014/main" val="20003"/>
                    </a:ext>
                  </a:extLst>
                </a:gridCol>
              </a:tblGrid>
              <a:tr h="330000">
                <a:tc>
                  <a:txBody>
                    <a:bodyPr/>
                    <a:lstStyle/>
                    <a:p>
                      <a:pPr algn="ctr"/>
                      <a:r>
                        <a:rPr sz="1000" b="1">
                          <a:solidFill>
                            <a:srgbClr val="FFFFFF"/>
                          </a:solidFill>
                          <a:latin typeface="メイリオ"/>
                          <a:ea typeface="メイリオ"/>
                        </a:rPr>
                        <a:t>観点</a:t>
                      </a:r>
                    </a:p>
                  </a:txBody>
                  <a:tcPr anchor="ctr">
                    <a:solidFill>
                      <a:srgbClr val="1F4E79"/>
                    </a:solidFill>
                  </a:tcPr>
                </a:tc>
                <a:tc>
                  <a:txBody>
                    <a:bodyPr/>
                    <a:lstStyle/>
                    <a:p>
                      <a:pPr algn="ctr"/>
                      <a:r>
                        <a:rPr sz="1000" b="1">
                          <a:solidFill>
                            <a:srgbClr val="FFFFFF"/>
                          </a:solidFill>
                          <a:latin typeface="メイリオ"/>
                          <a:ea typeface="メイリオ"/>
                        </a:rPr>
                        <a:t>ASIS：ChatGPT</a:t>
                      </a:r>
                    </a:p>
                  </a:txBody>
                  <a:tcPr anchor="ctr">
                    <a:solidFill>
                      <a:srgbClr val="1F4E79"/>
                    </a:solidFill>
                  </a:tcPr>
                </a:tc>
                <a:tc>
                  <a:txBody>
                    <a:bodyPr/>
                    <a:lstStyle/>
                    <a:p>
                      <a:pPr algn="ctr"/>
                      <a:r>
                        <a:rPr sz="1000" b="1">
                          <a:solidFill>
                            <a:srgbClr val="FFFFFF"/>
                          </a:solidFill>
                          <a:latin typeface="メイリオ"/>
                          <a:ea typeface="メイリオ"/>
                        </a:rPr>
                        <a:t>ASIS：Gemini</a:t>
                      </a:r>
                    </a:p>
                  </a:txBody>
                  <a:tcPr anchor="ctr">
                    <a:solidFill>
                      <a:srgbClr val="1F4E79"/>
                    </a:solidFill>
                  </a:tcPr>
                </a:tc>
                <a:tc>
                  <a:txBody>
                    <a:bodyPr/>
                    <a:lstStyle/>
                    <a:p>
                      <a:pPr algn="ctr"/>
                      <a:r>
                        <a:rPr sz="1000" b="1">
                          <a:solidFill>
                            <a:srgbClr val="FFFFFF"/>
                          </a:solidFill>
                          <a:latin typeface="メイリオ"/>
                          <a:ea typeface="メイリオ"/>
                        </a:rPr>
                        <a:t>TOBE：Claude</a:t>
                      </a:r>
                    </a:p>
                  </a:txBody>
                  <a:tcPr anchor="ctr">
                    <a:solidFill>
                      <a:srgbClr val="1F4E79"/>
                    </a:solidFill>
                  </a:tcPr>
                </a:tc>
                <a:extLst>
                  <a:ext uri="{0D108BD9-81ED-4DB2-BD59-A6C34878D82A}">
                    <a16:rowId xmlns:a16="http://schemas.microsoft.com/office/drawing/2014/main" val="10000"/>
                  </a:ext>
                </a:extLst>
              </a:tr>
              <a:tr h="330000">
                <a:tc>
                  <a:txBody>
                    <a:bodyPr/>
                    <a:lstStyle/>
                    <a:p>
                      <a:pPr algn="l"/>
                      <a:r>
                        <a:rPr sz="1000" b="0" dirty="0" err="1">
                          <a:solidFill>
                            <a:srgbClr val="333333"/>
                          </a:solidFill>
                          <a:latin typeface="メイリオ"/>
                          <a:ea typeface="メイリオ"/>
                        </a:rPr>
                        <a:t>思考の深さ</a:t>
                      </a:r>
                      <a:endParaRPr sz="1000" b="0" dirty="0">
                        <a:solidFill>
                          <a:srgbClr val="333333"/>
                        </a:solidFill>
                        <a:latin typeface="メイリオ"/>
                        <a:ea typeface="メイリオ"/>
                      </a:endParaRPr>
                    </a:p>
                  </a:txBody>
                  <a:tcPr anchor="ctr"/>
                </a:tc>
                <a:tc>
                  <a:txBody>
                    <a:bodyPr/>
                    <a:lstStyle/>
                    <a:p>
                      <a:pPr algn="l"/>
                      <a:r>
                        <a:rPr sz="1000" b="0">
                          <a:solidFill>
                            <a:srgbClr val="333333"/>
                          </a:solidFill>
                          <a:latin typeface="メイリオ"/>
                          <a:ea typeface="メイリオ"/>
                        </a:rPr>
                        <a:t>幅広いアイデア出しや</a:t>
                      </a:r>
                    </a:p>
                    <a:p>
                      <a:pPr algn="l"/>
                      <a:r>
                        <a:rPr sz="1000" b="0">
                          <a:solidFill>
                            <a:srgbClr val="333333"/>
                          </a:solidFill>
                          <a:latin typeface="メイリオ"/>
                          <a:ea typeface="メイリオ"/>
                        </a:rPr>
                        <a:t>壁打ちが得意</a:t>
                      </a:r>
                    </a:p>
                  </a:txBody>
                  <a:tcPr anchor="ctr"/>
                </a:tc>
                <a:tc>
                  <a:txBody>
                    <a:bodyPr/>
                    <a:lstStyle/>
                    <a:p>
                      <a:pPr algn="l"/>
                      <a:r>
                        <a:rPr sz="1000" b="0">
                          <a:solidFill>
                            <a:srgbClr val="333333"/>
                          </a:solidFill>
                          <a:latin typeface="メイリオ"/>
                          <a:ea typeface="メイリオ"/>
                        </a:rPr>
                        <a:t>広く拾う・素早い概観が得意</a:t>
                      </a:r>
                    </a:p>
                    <a:p>
                      <a:pPr algn="l"/>
                      <a:r>
                        <a:rPr sz="1000" b="0">
                          <a:solidFill>
                            <a:srgbClr val="333333"/>
                          </a:solidFill>
                          <a:latin typeface="メイリオ"/>
                          <a:ea typeface="メイリオ"/>
                        </a:rPr>
                        <a:t>（深さは用途次第）</a:t>
                      </a:r>
                    </a:p>
                  </a:txBody>
                  <a:tcPr anchor="ctr"/>
                </a:tc>
                <a:tc>
                  <a:txBody>
                    <a:bodyPr/>
                    <a:lstStyle/>
                    <a:p>
                      <a:pPr algn="l"/>
                      <a:r>
                        <a:rPr sz="1000" b="0">
                          <a:solidFill>
                            <a:srgbClr val="333333"/>
                          </a:solidFill>
                          <a:latin typeface="メイリオ"/>
                          <a:ea typeface="メイリオ"/>
                        </a:rPr>
                        <a:t>前提・理由まで踏み込む</a:t>
                      </a:r>
                    </a:p>
                    <a:p>
                      <a:pPr algn="l"/>
                      <a:r>
                        <a:rPr sz="1000" b="0">
                          <a:solidFill>
                            <a:srgbClr val="333333"/>
                          </a:solidFill>
                          <a:latin typeface="メイリオ"/>
                          <a:ea typeface="メイリオ"/>
                        </a:rPr>
                        <a:t>丁寧な深掘りが強い</a:t>
                      </a:r>
                    </a:p>
                  </a:txBody>
                  <a:tcPr anchor="ctr"/>
                </a:tc>
                <a:extLst>
                  <a:ext uri="{0D108BD9-81ED-4DB2-BD59-A6C34878D82A}">
                    <a16:rowId xmlns:a16="http://schemas.microsoft.com/office/drawing/2014/main" val="10001"/>
                  </a:ext>
                </a:extLst>
              </a:tr>
              <a:tr h="330000">
                <a:tc>
                  <a:txBody>
                    <a:bodyPr/>
                    <a:lstStyle/>
                    <a:p>
                      <a:pPr algn="l"/>
                      <a:r>
                        <a:rPr sz="1000" b="0">
                          <a:solidFill>
                            <a:srgbClr val="333333"/>
                          </a:solidFill>
                          <a:latin typeface="メイリオ"/>
                          <a:ea typeface="メイリオ"/>
                        </a:rPr>
                        <a:t>資料作成</a:t>
                      </a:r>
                    </a:p>
                  </a:txBody>
                  <a:tcPr anchor="ctr">
                    <a:solidFill>
                      <a:srgbClr val="D6E3F0"/>
                    </a:solidFill>
                  </a:tcPr>
                </a:tc>
                <a:tc>
                  <a:txBody>
                    <a:bodyPr/>
                    <a:lstStyle/>
                    <a:p>
                      <a:pPr algn="l"/>
                      <a:r>
                        <a:rPr sz="1000" b="0">
                          <a:solidFill>
                            <a:srgbClr val="333333"/>
                          </a:solidFill>
                          <a:latin typeface="メイリオ"/>
                          <a:ea typeface="メイリオ"/>
                        </a:rPr>
                        <a:t>たたき台作成が速く</a:t>
                      </a:r>
                    </a:p>
                    <a:p>
                      <a:pPr algn="l"/>
                      <a:r>
                        <a:rPr sz="1000" b="0">
                          <a:solidFill>
                            <a:srgbClr val="333333"/>
                          </a:solidFill>
                          <a:latin typeface="メイリオ"/>
                          <a:ea typeface="メイリオ"/>
                        </a:rPr>
                        <a:t>表現のバリエーションも豊富</a:t>
                      </a:r>
                    </a:p>
                  </a:txBody>
                  <a:tcPr anchor="ctr">
                    <a:solidFill>
                      <a:srgbClr val="D6E3F0"/>
                    </a:solidFill>
                  </a:tcPr>
                </a:tc>
                <a:tc>
                  <a:txBody>
                    <a:bodyPr/>
                    <a:lstStyle/>
                    <a:p>
                      <a:pPr algn="l"/>
                      <a:r>
                        <a:rPr sz="1000" b="0">
                          <a:solidFill>
                            <a:srgbClr val="333333"/>
                          </a:solidFill>
                          <a:latin typeface="メイリオ"/>
                          <a:ea typeface="メイリオ"/>
                        </a:rPr>
                        <a:t>草案づくりや要約に強い</a:t>
                      </a:r>
                    </a:p>
                    <a:p>
                      <a:pPr algn="l"/>
                      <a:r>
                        <a:rPr sz="1000" b="0">
                          <a:solidFill>
                            <a:srgbClr val="333333"/>
                          </a:solidFill>
                          <a:latin typeface="メイリオ"/>
                          <a:ea typeface="メイリオ"/>
                        </a:rPr>
                        <a:t>Google系資料との相性あり</a:t>
                      </a:r>
                    </a:p>
                  </a:txBody>
                  <a:tcPr anchor="ctr">
                    <a:solidFill>
                      <a:srgbClr val="D6E3F0"/>
                    </a:solidFill>
                  </a:tcPr>
                </a:tc>
                <a:tc>
                  <a:txBody>
                    <a:bodyPr/>
                    <a:lstStyle/>
                    <a:p>
                      <a:pPr algn="l"/>
                      <a:r>
                        <a:rPr sz="1000" b="0">
                          <a:solidFill>
                            <a:srgbClr val="333333"/>
                          </a:solidFill>
                          <a:latin typeface="メイリオ"/>
                          <a:ea typeface="メイリオ"/>
                        </a:rPr>
                        <a:t>構成・論点が整理されやすい</a:t>
                      </a:r>
                    </a:p>
                    <a:p>
                      <a:pPr algn="l"/>
                      <a:r>
                        <a:rPr sz="1000" b="0">
                          <a:solidFill>
                            <a:srgbClr val="333333"/>
                          </a:solidFill>
                          <a:latin typeface="メイリオ"/>
                          <a:ea typeface="メイリオ"/>
                        </a:rPr>
                        <a:t>長文でも一貫しやすい</a:t>
                      </a:r>
                    </a:p>
                  </a:txBody>
                  <a:tcPr anchor="ctr">
                    <a:solidFill>
                      <a:srgbClr val="D6E3F0"/>
                    </a:solidFill>
                  </a:tcPr>
                </a:tc>
                <a:extLst>
                  <a:ext uri="{0D108BD9-81ED-4DB2-BD59-A6C34878D82A}">
                    <a16:rowId xmlns:a16="http://schemas.microsoft.com/office/drawing/2014/main" val="10002"/>
                  </a:ext>
                </a:extLst>
              </a:tr>
              <a:tr h="330000">
                <a:tc>
                  <a:txBody>
                    <a:bodyPr/>
                    <a:lstStyle/>
                    <a:p>
                      <a:pPr algn="l"/>
                      <a:r>
                        <a:rPr sz="1000" b="0">
                          <a:solidFill>
                            <a:srgbClr val="333333"/>
                          </a:solidFill>
                          <a:latin typeface="メイリオ"/>
                          <a:ea typeface="メイリオ"/>
                        </a:rPr>
                        <a:t>業界分析</a:t>
                      </a:r>
                    </a:p>
                  </a:txBody>
                  <a:tcPr anchor="ctr"/>
                </a:tc>
                <a:tc>
                  <a:txBody>
                    <a:bodyPr/>
                    <a:lstStyle/>
                    <a:p>
                      <a:pPr algn="l"/>
                      <a:r>
                        <a:rPr sz="1000" b="0">
                          <a:solidFill>
                            <a:srgbClr val="333333"/>
                          </a:solidFill>
                          <a:latin typeface="メイリオ"/>
                          <a:ea typeface="メイリオ"/>
                        </a:rPr>
                        <a:t>多面的な切り口の洗い出し</a:t>
                      </a:r>
                    </a:p>
                    <a:p>
                      <a:pPr algn="l"/>
                      <a:r>
                        <a:rPr sz="1000" b="0">
                          <a:solidFill>
                            <a:srgbClr val="333333"/>
                          </a:solidFill>
                          <a:latin typeface="メイリオ"/>
                          <a:ea typeface="メイリオ"/>
                        </a:rPr>
                        <a:t>ブレインストーム向き</a:t>
                      </a:r>
                    </a:p>
                  </a:txBody>
                  <a:tcPr anchor="ctr"/>
                </a:tc>
                <a:tc>
                  <a:txBody>
                    <a:bodyPr/>
                    <a:lstStyle/>
                    <a:p>
                      <a:pPr algn="l"/>
                      <a:r>
                        <a:rPr sz="1000" b="0">
                          <a:solidFill>
                            <a:srgbClr val="333333"/>
                          </a:solidFill>
                          <a:latin typeface="メイリオ"/>
                          <a:ea typeface="メイリオ"/>
                        </a:rPr>
                        <a:t>最新情報の拾い上げや</a:t>
                      </a:r>
                    </a:p>
                    <a:p>
                      <a:pPr algn="l"/>
                      <a:r>
                        <a:rPr sz="1000" b="0">
                          <a:solidFill>
                            <a:srgbClr val="333333"/>
                          </a:solidFill>
                          <a:latin typeface="メイリオ"/>
                          <a:ea typeface="メイリオ"/>
                        </a:rPr>
                        <a:t>俯瞰整理の入口に向く</a:t>
                      </a:r>
                    </a:p>
                  </a:txBody>
                  <a:tcPr anchor="ctr"/>
                </a:tc>
                <a:tc>
                  <a:txBody>
                    <a:bodyPr/>
                    <a:lstStyle/>
                    <a:p>
                      <a:pPr algn="l"/>
                      <a:r>
                        <a:rPr sz="1000" b="0" dirty="0" err="1">
                          <a:solidFill>
                            <a:srgbClr val="333333"/>
                          </a:solidFill>
                          <a:latin typeface="メイリオ"/>
                          <a:ea typeface="メイリオ"/>
                        </a:rPr>
                        <a:t>仮説→根拠→示唆まで</a:t>
                      </a:r>
                      <a:endParaRPr sz="1000" b="0" dirty="0">
                        <a:solidFill>
                          <a:srgbClr val="333333"/>
                        </a:solidFill>
                        <a:latin typeface="メイリオ"/>
                        <a:ea typeface="メイリオ"/>
                      </a:endParaRPr>
                    </a:p>
                    <a:p>
                      <a:pPr algn="l"/>
                      <a:r>
                        <a:rPr sz="1000" b="0" dirty="0" err="1">
                          <a:solidFill>
                            <a:srgbClr val="333333"/>
                          </a:solidFill>
                          <a:latin typeface="メイリオ"/>
                          <a:ea typeface="メイリオ"/>
                        </a:rPr>
                        <a:t>一段深く組み立てやすい</a:t>
                      </a:r>
                      <a:endParaRPr sz="1000" b="0" dirty="0">
                        <a:solidFill>
                          <a:srgbClr val="333333"/>
                        </a:solidFill>
                        <a:latin typeface="メイリオ"/>
                        <a:ea typeface="メイリオ"/>
                      </a:endParaRPr>
                    </a:p>
                  </a:txBody>
                  <a:tcPr anchor="ctr"/>
                </a:tc>
                <a:extLst>
                  <a:ext uri="{0D108BD9-81ED-4DB2-BD59-A6C34878D82A}">
                    <a16:rowId xmlns:a16="http://schemas.microsoft.com/office/drawing/2014/main" val="10003"/>
                  </a:ext>
                </a:extLst>
              </a:tr>
            </a:tbl>
          </a:graphicData>
        </a:graphic>
      </p:graphicFrame>
      <p:sp>
        <p:nvSpPr>
          <p:cNvPr id="13" name="TextBox 6">
            <a:extLst>
              <a:ext uri="{FF2B5EF4-FFF2-40B4-BE49-F238E27FC236}">
                <a16:creationId xmlns:a16="http://schemas.microsoft.com/office/drawing/2014/main" id="{72F9CF1D-BF36-806F-4CC1-0FA05A4D5E6F}"/>
              </a:ext>
            </a:extLst>
          </p:cNvPr>
          <p:cNvSpPr txBox="1"/>
          <p:nvPr/>
        </p:nvSpPr>
        <p:spPr>
          <a:xfrm>
            <a:off x="560512" y="4384749"/>
            <a:ext cx="9000000" cy="1564531"/>
          </a:xfrm>
          <a:prstGeom prst="rect">
            <a:avLst/>
          </a:prstGeom>
          <a:noFill/>
        </p:spPr>
        <p:txBody>
          <a:bodyPr wrap="square">
            <a:spAutoFit/>
          </a:bodyPr>
          <a:lstStyle/>
          <a:p>
            <a:pPr>
              <a:spcBef>
                <a:spcPts val="0"/>
              </a:spcBef>
              <a:spcAft>
                <a:spcPts val="200"/>
              </a:spcAft>
            </a:pPr>
            <a:r>
              <a:rPr sz="1300" b="1">
                <a:solidFill>
                  <a:srgbClr val="C00000"/>
                </a:solidFill>
                <a:latin typeface="メイリオ"/>
                <a:ea typeface="メイリオ"/>
              </a:rPr>
              <a:t>⑤ 最終的にどこまで人が判断するか（大切）</a:t>
            </a:r>
          </a:p>
          <a:p>
            <a:pPr>
              <a:spcBef>
                <a:spcPts val="0"/>
              </a:spcBef>
              <a:spcAft>
                <a:spcPts val="200"/>
              </a:spcAft>
            </a:pPr>
            <a:r>
              <a:rPr sz="1100" b="0">
                <a:solidFill>
                  <a:srgbClr val="333333"/>
                </a:solidFill>
                <a:latin typeface="メイリオ"/>
                <a:ea typeface="メイリオ"/>
              </a:rPr>
              <a:t>・楽できるところは楽にしていく。ただし「AIがやってくれたはず」は言い訳にならない</a:t>
            </a:r>
          </a:p>
          <a:p>
            <a:pPr>
              <a:spcBef>
                <a:spcPts val="0"/>
              </a:spcBef>
              <a:spcAft>
                <a:spcPts val="200"/>
              </a:spcAft>
            </a:pPr>
            <a:r>
              <a:rPr sz="1100" b="0">
                <a:solidFill>
                  <a:srgbClr val="333333"/>
                </a:solidFill>
                <a:latin typeface="メイリオ"/>
                <a:ea typeface="メイリオ"/>
              </a:rPr>
              <a:t>・コミット前・リリース前に、人が見る範囲をチームで決めよう</a:t>
            </a:r>
          </a:p>
          <a:p>
            <a:pPr>
              <a:spcBef>
                <a:spcPts val="0"/>
              </a:spcBef>
              <a:spcAft>
                <a:spcPts val="200"/>
              </a:spcAft>
            </a:pPr>
            <a:r>
              <a:rPr sz="400" b="0">
                <a:solidFill>
                  <a:srgbClr val="333333"/>
                </a:solidFill>
                <a:latin typeface="メイリオ"/>
                <a:ea typeface="メイリオ"/>
              </a:rPr>
              <a:t/>
            </a:r>
          </a:p>
          <a:p>
            <a:pPr>
              <a:spcBef>
                <a:spcPts val="0"/>
              </a:spcBef>
              <a:spcAft>
                <a:spcPts val="200"/>
              </a:spcAft>
            </a:pPr>
            <a:r>
              <a:rPr sz="1300" b="1">
                <a:solidFill>
                  <a:srgbClr val="333333"/>
                </a:solidFill>
                <a:latin typeface="メイリオ"/>
                <a:ea typeface="メイリオ"/>
              </a:rPr>
              <a:t>⑥ リスク・注意事項</a:t>
            </a:r>
          </a:p>
          <a:p>
            <a:pPr>
              <a:spcBef>
                <a:spcPts val="0"/>
              </a:spcBef>
              <a:spcAft>
                <a:spcPts val="200"/>
              </a:spcAft>
            </a:pPr>
            <a:r>
              <a:rPr sz="1000" b="0">
                <a:solidFill>
                  <a:srgbClr val="333333"/>
                </a:solidFill>
                <a:latin typeface="メイリオ"/>
                <a:ea typeface="メイリオ"/>
              </a:rPr>
              <a:t>・機密情報はできるだけ載せない／誤情報・根拠確認不足に注意</a:t>
            </a:r>
          </a:p>
          <a:p>
            <a:pPr>
              <a:spcBef>
                <a:spcPts val="0"/>
              </a:spcBef>
              <a:spcAft>
                <a:spcPts val="200"/>
              </a:spcAft>
            </a:pPr>
            <a:r>
              <a:rPr sz="1000" b="0">
                <a:solidFill>
                  <a:srgbClr val="333333"/>
                </a:solidFill>
                <a:latin typeface="メイリオ"/>
                <a:ea typeface="メイリオ"/>
              </a:rPr>
              <a:t>・チャット残存・属人化にも注意</a:t>
            </a:r>
          </a:p>
          <a:p>
            <a:pPr>
              <a:spcBef>
                <a:spcPts val="0"/>
              </a:spcBef>
              <a:spcAft>
                <a:spcPts val="200"/>
              </a:spcAft>
            </a:pPr>
            <a:r>
              <a:rPr sz="400" b="0">
                <a:solidFill>
                  <a:srgbClr val="333333"/>
                </a:solidFill>
                <a:latin typeface="メイリオ"/>
                <a:ea typeface="メイリオ"/>
              </a:rPr>
              <a:t/>
            </a:r>
          </a:p>
          <a:p>
            <a:pPr>
              <a:spcBef>
                <a:spcPts val="0"/>
              </a:spcBef>
              <a:spcAft>
                <a:spcPts val="200"/>
              </a:spcAft>
            </a:pPr>
            <a:r>
              <a:rPr sz="1300" b="1">
                <a:solidFill>
                  <a:srgbClr val="333333"/>
                </a:solidFill>
                <a:latin typeface="メイリオ"/>
                <a:ea typeface="メイリオ"/>
              </a:rPr>
              <a:t>⑦ 加速のために</a:t>
            </a:r>
          </a:p>
          <a:p>
            <a:pPr>
              <a:spcBef>
                <a:spcPts val="0"/>
              </a:spcBef>
              <a:spcAft>
                <a:spcPts val="200"/>
              </a:spcAft>
            </a:pPr>
            <a:r>
              <a:rPr sz="1000" b="0">
                <a:solidFill>
                  <a:srgbClr val="333333"/>
                </a:solidFill>
                <a:latin typeface="メイリオ"/>
                <a:ea typeface="メイリオ"/>
              </a:rPr>
              <a:t>・EC-Rider AI（ガイド／プロンプト）の標準化</a:t>
            </a:r>
          </a:p>
          <a:p>
            <a:pPr>
              <a:spcBef>
                <a:spcPts val="0"/>
              </a:spcBef>
              <a:spcAft>
                <a:spcPts val="200"/>
              </a:spcAft>
            </a:pPr>
            <a:r>
              <a:rPr sz="1000" b="0">
                <a:solidFill>
                  <a:srgbClr val="333333"/>
                </a:solidFill>
                <a:latin typeface="メイリオ"/>
                <a:ea typeface="メイリオ"/>
              </a:rPr>
              <a:t>・AI範囲と人の確認観点の明確化／成功プロンプト・失敗事例の部内共有</a:t>
            </a:r>
          </a:p>
        </p:txBody>
      </p:sp>
    </p:spTree>
    <p:extLst>
      <p:ext uri="{BB962C8B-B14F-4D97-AF65-F5344CB8AC3E}">
        <p14:creationId xmlns:p14="http://schemas.microsoft.com/office/powerpoint/2010/main" val="935210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2C2A1-05BE-C052-31C6-6F3C18A4B314}"/>
            </a:ext>
          </a:extLst>
        </p:cNvPr>
        <p:cNvGrpSpPr/>
        <p:nvPr/>
      </p:nvGrpSpPr>
      <p:grpSpPr>
        <a:xfrm>
          <a:off x="0" y="0"/>
          <a:ext cx="0" cy="0"/>
          <a:chOff x="0" y="0"/>
          <a:chExt cx="0" cy="0"/>
        </a:xfrm>
      </p:grpSpPr>
      <p:sp>
        <p:nvSpPr>
          <p:cNvPr id="38" name="テキスト ボックス 37">
            <a:extLst>
              <a:ext uri="{FF2B5EF4-FFF2-40B4-BE49-F238E27FC236}">
                <a16:creationId xmlns:a16="http://schemas.microsoft.com/office/drawing/2014/main" id="{2ABDFF54-FFF8-62BA-9BBC-2B75271DCDBC}"/>
              </a:ext>
            </a:extLst>
          </p:cNvPr>
          <p:cNvSpPr txBox="1">
            <a:spLocks/>
          </p:cNvSpPr>
          <p:nvPr/>
        </p:nvSpPr>
        <p:spPr>
          <a:xfrm>
            <a:off x="1064569" y="856357"/>
            <a:ext cx="8064895" cy="2062103"/>
          </a:xfrm>
          <a:prstGeom prst="rect">
            <a:avLst/>
          </a:prstGeom>
          <a:noFill/>
        </p:spPr>
        <p:txBody>
          <a:bodyPr wrap="square" rtlCol="0">
            <a:spAutoFit/>
          </a:bodyPr>
          <a:lstStyle/>
          <a:p>
            <a:r>
              <a:rPr lang="ja-JP" altLang="en-US" sz="1600" b="1" dirty="0">
                <a:latin typeface="メイリオ"/>
                <a:ea typeface="メイリオ"/>
                <a:cs typeface="メイリオ"/>
              </a:rPr>
              <a:t>ＥＣサービス部会の今後の予定</a:t>
            </a:r>
            <a:endParaRPr lang="en-US" altLang="ja-JP" sz="1600" b="1" dirty="0">
              <a:latin typeface="メイリオ"/>
              <a:ea typeface="メイリオ"/>
              <a:cs typeface="メイリオ"/>
            </a:endParaRPr>
          </a:p>
          <a:p>
            <a:endParaRPr lang="en-US" altLang="ja-JP" sz="1600" dirty="0">
              <a:latin typeface="メイリオ"/>
              <a:ea typeface="メイリオ"/>
              <a:cs typeface="メイリオ"/>
            </a:endParaRPr>
          </a:p>
          <a:p>
            <a:r>
              <a:rPr lang="ja-JP" altLang="en-US" sz="1600" dirty="0">
                <a:latin typeface="メイリオ"/>
                <a:ea typeface="メイリオ"/>
                <a:cs typeface="メイリオ"/>
              </a:rPr>
              <a:t>　①：</a:t>
            </a:r>
            <a:r>
              <a:rPr lang="en-US" altLang="ja-JP" sz="1600" dirty="0">
                <a:latin typeface="メイリオ"/>
                <a:ea typeface="メイリオ"/>
                <a:cs typeface="メイリオ"/>
              </a:rPr>
              <a:t>AI</a:t>
            </a:r>
            <a:r>
              <a:rPr lang="ja-JP" altLang="en-US" sz="1600" dirty="0">
                <a:latin typeface="メイリオ"/>
                <a:ea typeface="メイリオ"/>
                <a:cs typeface="メイリオ"/>
              </a:rPr>
              <a:t>に関するアップデートの共有</a:t>
            </a:r>
            <a:endParaRPr lang="en-US" altLang="ja-JP" sz="1600" dirty="0">
              <a:latin typeface="メイリオ"/>
              <a:ea typeface="メイリオ"/>
              <a:cs typeface="メイリオ"/>
            </a:endParaRPr>
          </a:p>
          <a:p>
            <a:endParaRPr lang="en-US" altLang="ja-JP" sz="1600" dirty="0">
              <a:latin typeface="メイリオ"/>
              <a:ea typeface="メイリオ"/>
              <a:cs typeface="メイリオ"/>
            </a:endParaRPr>
          </a:p>
          <a:p>
            <a:r>
              <a:rPr lang="ja-JP" altLang="en-US" sz="1600" dirty="0">
                <a:latin typeface="メイリオ"/>
                <a:ea typeface="メイリオ"/>
                <a:cs typeface="メイリオ"/>
              </a:rPr>
              <a:t>　②：セミナー等に参加された場合は、その内容報告</a:t>
            </a:r>
            <a:endParaRPr lang="en-US" altLang="ja-JP" sz="1600" dirty="0">
              <a:latin typeface="メイリオ"/>
              <a:ea typeface="メイリオ"/>
              <a:cs typeface="メイリオ"/>
            </a:endParaRPr>
          </a:p>
          <a:p>
            <a:endParaRPr lang="en-US" altLang="ja-JP" sz="1600" dirty="0">
              <a:solidFill>
                <a:srgbClr val="000000"/>
              </a:solidFill>
              <a:latin typeface="メイリオ"/>
              <a:ea typeface="メイリオ"/>
              <a:cs typeface="Meiryo"/>
              <a:sym typeface="Meiryo"/>
            </a:endParaRPr>
          </a:p>
          <a:p>
            <a:r>
              <a:rPr lang="ja-JP" altLang="en-US" sz="1600" dirty="0">
                <a:solidFill>
                  <a:srgbClr val="000000"/>
                </a:solidFill>
                <a:latin typeface="メイリオ"/>
                <a:ea typeface="メイリオ"/>
                <a:cs typeface="Meiryo"/>
                <a:sym typeface="Meiryo"/>
              </a:rPr>
              <a:t>　②：実施日時　</a:t>
            </a:r>
            <a:r>
              <a:rPr lang="en-US" altLang="ja-JP" sz="1600" dirty="0">
                <a:solidFill>
                  <a:srgbClr val="000000"/>
                </a:solidFill>
                <a:latin typeface="メイリオ"/>
                <a:ea typeface="メイリオ"/>
                <a:cs typeface="Meiryo"/>
                <a:sym typeface="Meiryo"/>
              </a:rPr>
              <a:t>2026</a:t>
            </a:r>
            <a:r>
              <a:rPr lang="ja-JP" altLang="en-US" sz="1600" dirty="0">
                <a:solidFill>
                  <a:srgbClr val="000000"/>
                </a:solidFill>
                <a:latin typeface="メイリオ"/>
                <a:ea typeface="メイリオ"/>
                <a:cs typeface="Meiryo"/>
                <a:sym typeface="Meiryo"/>
              </a:rPr>
              <a:t>年</a:t>
            </a:r>
            <a:r>
              <a:rPr lang="en-US" altLang="ja-JP" sz="1600" dirty="0">
                <a:solidFill>
                  <a:srgbClr val="000000"/>
                </a:solidFill>
                <a:latin typeface="メイリオ"/>
                <a:ea typeface="メイリオ"/>
                <a:cs typeface="Meiryo"/>
                <a:sym typeface="Meiryo"/>
              </a:rPr>
              <a:t>10</a:t>
            </a:r>
            <a:r>
              <a:rPr lang="ja-JP" altLang="en-US" sz="1600" dirty="0">
                <a:solidFill>
                  <a:srgbClr val="000000"/>
                </a:solidFill>
                <a:latin typeface="メイリオ"/>
                <a:ea typeface="メイリオ"/>
                <a:cs typeface="Meiryo"/>
                <a:sym typeface="Meiryo"/>
              </a:rPr>
              <a:t>月を予定</a:t>
            </a:r>
            <a:endParaRPr lang="en-US" altLang="ja-JP" sz="1600" dirty="0">
              <a:solidFill>
                <a:srgbClr val="000000"/>
              </a:solidFill>
              <a:latin typeface="メイリオ"/>
              <a:ea typeface="メイリオ"/>
              <a:cs typeface="Meiryo"/>
              <a:sym typeface="Meiryo"/>
            </a:endParaRPr>
          </a:p>
          <a:p>
            <a:r>
              <a:rPr lang="ja-JP" altLang="en-US" sz="1600" dirty="0">
                <a:solidFill>
                  <a:srgbClr val="000000"/>
                </a:solidFill>
                <a:latin typeface="メイリオ"/>
                <a:ea typeface="メイリオ"/>
                <a:cs typeface="Meiryo"/>
                <a:sym typeface="Meiryo"/>
              </a:rPr>
              <a:t>　　　</a:t>
            </a:r>
            <a:endParaRPr lang="en-US" altLang="ja-JP" sz="1600" dirty="0">
              <a:solidFill>
                <a:srgbClr val="000000"/>
              </a:solidFill>
              <a:latin typeface="Meiryo"/>
              <a:ea typeface="Meiryo"/>
              <a:cs typeface="Meiryo"/>
              <a:sym typeface="Meiryo"/>
            </a:endParaRPr>
          </a:p>
        </p:txBody>
      </p:sp>
      <p:sp>
        <p:nvSpPr>
          <p:cNvPr id="2" name="Google Shape;152;p7">
            <a:extLst>
              <a:ext uri="{FF2B5EF4-FFF2-40B4-BE49-F238E27FC236}">
                <a16:creationId xmlns:a16="http://schemas.microsoft.com/office/drawing/2014/main" id="{3BB4F0F8-C2E9-27CA-AC89-FD7A88A4ADC4}"/>
              </a:ext>
            </a:extLst>
          </p:cNvPr>
          <p:cNvSpPr txBox="1">
            <a:spLocks noGrp="1"/>
          </p:cNvSpPr>
          <p:nvPr>
            <p:ph type="title"/>
          </p:nvPr>
        </p:nvSpPr>
        <p:spPr>
          <a:xfrm>
            <a:off x="835852" y="142852"/>
            <a:ext cx="8915400" cy="582594"/>
          </a:xfrm>
          <a:prstGeom prst="rect">
            <a:avLst/>
          </a:prstGeom>
          <a:noFill/>
          <a:ln>
            <a:noFill/>
          </a:ln>
        </p:spPr>
        <p:txBody>
          <a:bodyPr spcFirstLastPara="1" wrap="square" lIns="91425" tIns="45700" rIns="91425" bIns="45700" anchor="b" anchorCtr="0">
            <a:noAutofit/>
          </a:bodyPr>
          <a:lstStyle/>
          <a:p>
            <a:pPr>
              <a:lnSpc>
                <a:spcPct val="130000"/>
              </a:lnSpc>
            </a:pPr>
            <a:r>
              <a:rPr lang="en-US" altLang="ja-JP" sz="2000" dirty="0">
                <a:latin typeface="メイリオ" pitchFamily="50" charset="-128"/>
                <a:ea typeface="メイリオ" pitchFamily="50" charset="-128"/>
                <a:cs typeface="メイリオ" pitchFamily="50" charset="-128"/>
              </a:rPr>
              <a:t>10.</a:t>
            </a:r>
            <a:r>
              <a:rPr lang="ja-JP" altLang="en-US" sz="2000" dirty="0"/>
              <a:t>ＥＣサービス部部会の今後の予定</a:t>
            </a:r>
            <a:endParaRPr lang="ja-JP" altLang="en-US" sz="2000" dirty="0">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30682144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descr="マーク600.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3398" y="1124744"/>
            <a:ext cx="3657600" cy="2895600"/>
          </a:xfrm>
          <a:prstGeom prst="rect">
            <a:avLst/>
          </a:prstGeom>
        </p:spPr>
      </p:pic>
      <p:grpSp>
        <p:nvGrpSpPr>
          <p:cNvPr id="15" name="図形グループ 14"/>
          <p:cNvGrpSpPr/>
          <p:nvPr/>
        </p:nvGrpSpPr>
        <p:grpSpPr>
          <a:xfrm>
            <a:off x="1052567" y="5888286"/>
            <a:ext cx="3653745" cy="349026"/>
            <a:chOff x="1539968" y="5509105"/>
            <a:chExt cx="3372688" cy="349026"/>
          </a:xfrm>
        </p:grpSpPr>
        <p:sp>
          <p:nvSpPr>
            <p:cNvPr id="7" name="テキスト ボックス 6"/>
            <p:cNvSpPr txBox="1"/>
            <p:nvPr/>
          </p:nvSpPr>
          <p:spPr>
            <a:xfrm>
              <a:off x="1853391" y="5581132"/>
              <a:ext cx="3059265" cy="276999"/>
            </a:xfrm>
            <a:prstGeom prst="rect">
              <a:avLst/>
            </a:prstGeom>
            <a:noFill/>
          </p:spPr>
          <p:txBody>
            <a:bodyPr wrap="none" rtlCol="0">
              <a:spAutoFit/>
            </a:bodyPr>
            <a:lstStyle/>
            <a:p>
              <a:r>
                <a:rPr kumimoji="1" lang="ja-JP" altLang="en-US" sz="1200" dirty="0">
                  <a:solidFill>
                    <a:srgbClr val="00A592"/>
                  </a:solidFill>
                  <a:latin typeface="メイリオ"/>
                  <a:ea typeface="メイリオ"/>
                  <a:cs typeface="メイリオ"/>
                </a:rPr>
                <a:t>東京都渋谷区恵比寿</a:t>
              </a:r>
              <a:r>
                <a:rPr kumimoji="1" lang="en-US" altLang="ja-JP" sz="1200" dirty="0">
                  <a:solidFill>
                    <a:srgbClr val="00A592"/>
                  </a:solidFill>
                  <a:latin typeface="メイリオ"/>
                  <a:ea typeface="メイリオ"/>
                  <a:cs typeface="メイリオ"/>
                </a:rPr>
                <a:t>4-6-1</a:t>
              </a:r>
              <a:r>
                <a:rPr kumimoji="1" lang="ja-JP" altLang="en-US" sz="1200" dirty="0">
                  <a:solidFill>
                    <a:srgbClr val="00A592"/>
                  </a:solidFill>
                  <a:latin typeface="メイリオ"/>
                  <a:ea typeface="メイリオ"/>
                  <a:cs typeface="メイリオ"/>
                </a:rPr>
                <a:t>　恵比寿</a:t>
              </a:r>
              <a:r>
                <a:rPr kumimoji="1" lang="en-US" altLang="ja-JP" sz="1200" dirty="0">
                  <a:solidFill>
                    <a:srgbClr val="00A592"/>
                  </a:solidFill>
                  <a:latin typeface="メイリオ"/>
                  <a:ea typeface="メイリオ"/>
                  <a:cs typeface="メイリオ"/>
                </a:rPr>
                <a:t>MF</a:t>
              </a:r>
              <a:r>
                <a:rPr kumimoji="1" lang="ja-JP" altLang="en-US" sz="1200" dirty="0">
                  <a:solidFill>
                    <a:srgbClr val="00A592"/>
                  </a:solidFill>
                  <a:latin typeface="メイリオ"/>
                  <a:ea typeface="メイリオ"/>
                  <a:cs typeface="メイリオ"/>
                </a:rPr>
                <a:t>ビル</a:t>
              </a:r>
              <a:r>
                <a:rPr kumimoji="1" lang="en-US" altLang="ja-JP" sz="1200" dirty="0">
                  <a:solidFill>
                    <a:srgbClr val="00A592"/>
                  </a:solidFill>
                  <a:latin typeface="メイリオ"/>
                  <a:ea typeface="メイリオ"/>
                  <a:cs typeface="メイリオ"/>
                </a:rPr>
                <a:t>3F</a:t>
              </a:r>
            </a:p>
          </p:txBody>
        </p:sp>
        <p:pic>
          <p:nvPicPr>
            <p:cNvPr id="8" name="図 7" descr="目的地アイコン4.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9968" y="5509105"/>
              <a:ext cx="325120" cy="325120"/>
            </a:xfrm>
            <a:prstGeom prst="rect">
              <a:avLst/>
            </a:prstGeom>
          </p:spPr>
        </p:pic>
      </p:grpSp>
      <p:grpSp>
        <p:nvGrpSpPr>
          <p:cNvPr id="16" name="図形グループ 15"/>
          <p:cNvGrpSpPr/>
          <p:nvPr/>
        </p:nvGrpSpPr>
        <p:grpSpPr>
          <a:xfrm>
            <a:off x="5064141" y="5896414"/>
            <a:ext cx="3759355" cy="340899"/>
            <a:chOff x="1446613" y="5805264"/>
            <a:chExt cx="3470174" cy="340899"/>
          </a:xfrm>
        </p:grpSpPr>
        <p:pic>
          <p:nvPicPr>
            <p:cNvPr id="9" name="図 8" descr="受話器の線画アイコン.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6613" y="5816707"/>
              <a:ext cx="329456" cy="329456"/>
            </a:xfrm>
            <a:prstGeom prst="rect">
              <a:avLst/>
            </a:prstGeom>
          </p:spPr>
        </p:pic>
        <p:pic>
          <p:nvPicPr>
            <p:cNvPr id="12" name="図 11" descr="FAXのアイコン3.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82784" y="5805264"/>
              <a:ext cx="325120" cy="325120"/>
            </a:xfrm>
            <a:prstGeom prst="rect">
              <a:avLst/>
            </a:prstGeom>
          </p:spPr>
        </p:pic>
        <p:sp>
          <p:nvSpPr>
            <p:cNvPr id="13" name="テキスト ボックス 12"/>
            <p:cNvSpPr txBox="1"/>
            <p:nvPr/>
          </p:nvSpPr>
          <p:spPr>
            <a:xfrm>
              <a:off x="1907704" y="5837906"/>
              <a:ext cx="1177578" cy="276999"/>
            </a:xfrm>
            <a:prstGeom prst="rect">
              <a:avLst/>
            </a:prstGeom>
            <a:noFill/>
          </p:spPr>
          <p:txBody>
            <a:bodyPr wrap="none" rtlCol="0">
              <a:spAutoFit/>
            </a:bodyPr>
            <a:lstStyle/>
            <a:p>
              <a:r>
                <a:rPr kumimoji="1" lang="en-US" altLang="ja-JP" sz="1200" dirty="0">
                  <a:solidFill>
                    <a:srgbClr val="00A592"/>
                  </a:solidFill>
                  <a:latin typeface="メイリオ"/>
                  <a:ea typeface="メイリオ"/>
                  <a:cs typeface="メイリオ"/>
                </a:rPr>
                <a:t>03-3440-6100</a:t>
              </a:r>
            </a:p>
          </p:txBody>
        </p:sp>
        <p:sp>
          <p:nvSpPr>
            <p:cNvPr id="14" name="テキスト ボックス 13"/>
            <p:cNvSpPr txBox="1"/>
            <p:nvPr/>
          </p:nvSpPr>
          <p:spPr>
            <a:xfrm>
              <a:off x="3739209" y="5858584"/>
              <a:ext cx="1177578" cy="276999"/>
            </a:xfrm>
            <a:prstGeom prst="rect">
              <a:avLst/>
            </a:prstGeom>
            <a:noFill/>
          </p:spPr>
          <p:txBody>
            <a:bodyPr wrap="none" rtlCol="0">
              <a:spAutoFit/>
            </a:bodyPr>
            <a:lstStyle/>
            <a:p>
              <a:r>
                <a:rPr kumimoji="1" lang="en-US" altLang="ja-JP" sz="1200" dirty="0">
                  <a:solidFill>
                    <a:srgbClr val="00A592"/>
                  </a:solidFill>
                  <a:latin typeface="メイリオ"/>
                  <a:ea typeface="メイリオ"/>
                  <a:cs typeface="メイリオ"/>
                </a:rPr>
                <a:t>03-5791-2241</a:t>
              </a:r>
            </a:p>
          </p:txBody>
        </p:sp>
      </p:grpSp>
      <p:sp>
        <p:nvSpPr>
          <p:cNvPr id="21" name="テキスト ボックス 20"/>
          <p:cNvSpPr txBox="1"/>
          <p:nvPr/>
        </p:nvSpPr>
        <p:spPr>
          <a:xfrm>
            <a:off x="2126370" y="3885436"/>
            <a:ext cx="5653262" cy="1415772"/>
          </a:xfrm>
          <a:prstGeom prst="rect">
            <a:avLst/>
          </a:prstGeom>
          <a:noFill/>
        </p:spPr>
        <p:txBody>
          <a:bodyPr wrap="none" rtlCol="0">
            <a:noAutofit/>
          </a:bodyPr>
          <a:lstStyle/>
          <a:p>
            <a:pPr algn="ctr"/>
            <a:r>
              <a:rPr kumimoji="1" lang="en-US" altLang="ja-JP" dirty="0">
                <a:solidFill>
                  <a:srgbClr val="00A592"/>
                </a:solidFill>
                <a:latin typeface="メイリオ"/>
                <a:ea typeface="メイリオ"/>
                <a:cs typeface="メイリオ"/>
              </a:rPr>
              <a:t>Technology</a:t>
            </a:r>
            <a:r>
              <a:rPr kumimoji="1" lang="ja-JP" altLang="en-US" dirty="0">
                <a:solidFill>
                  <a:srgbClr val="00A592"/>
                </a:solidFill>
                <a:latin typeface="メイリオ"/>
                <a:ea typeface="メイリオ"/>
                <a:cs typeface="メイリオ"/>
              </a:rPr>
              <a:t> </a:t>
            </a:r>
            <a:r>
              <a:rPr kumimoji="1" lang="en-US" altLang="ja-JP" dirty="0">
                <a:solidFill>
                  <a:srgbClr val="00A592"/>
                </a:solidFill>
                <a:latin typeface="メイリオ"/>
                <a:ea typeface="メイリオ"/>
                <a:cs typeface="メイリオ"/>
              </a:rPr>
              <a:t>changes</a:t>
            </a:r>
            <a:r>
              <a:rPr kumimoji="1" lang="ja-JP" altLang="en-US" dirty="0">
                <a:solidFill>
                  <a:srgbClr val="00A592"/>
                </a:solidFill>
                <a:latin typeface="メイリオ"/>
                <a:ea typeface="メイリオ"/>
                <a:cs typeface="メイリオ"/>
              </a:rPr>
              <a:t> </a:t>
            </a:r>
            <a:r>
              <a:rPr kumimoji="1" lang="en-US" altLang="ja-JP" dirty="0">
                <a:solidFill>
                  <a:srgbClr val="00A592"/>
                </a:solidFill>
                <a:latin typeface="メイリオ"/>
                <a:ea typeface="メイリオ"/>
                <a:cs typeface="メイリオ"/>
              </a:rPr>
              <a:t>the</a:t>
            </a:r>
            <a:r>
              <a:rPr kumimoji="1" lang="ja-JP" altLang="en-US" dirty="0">
                <a:solidFill>
                  <a:srgbClr val="00A592"/>
                </a:solidFill>
                <a:latin typeface="メイリオ"/>
                <a:ea typeface="メイリオ"/>
                <a:cs typeface="メイリオ"/>
              </a:rPr>
              <a:t> </a:t>
            </a:r>
            <a:r>
              <a:rPr kumimoji="1" lang="en-US" altLang="ja-JP" dirty="0">
                <a:solidFill>
                  <a:srgbClr val="00A592"/>
                </a:solidFill>
                <a:latin typeface="メイリオ"/>
                <a:ea typeface="メイリオ"/>
                <a:cs typeface="メイリオ"/>
              </a:rPr>
              <a:t>world</a:t>
            </a:r>
          </a:p>
          <a:p>
            <a:pPr algn="ctr"/>
            <a:r>
              <a:rPr lang="ja-JP" altLang="en-US" dirty="0">
                <a:solidFill>
                  <a:srgbClr val="00A592"/>
                </a:solidFill>
                <a:latin typeface="メイリオ"/>
                <a:ea typeface="メイリオ"/>
                <a:cs typeface="メイリオ"/>
              </a:rPr>
              <a:t>技術が世界を変える</a:t>
            </a:r>
            <a:endParaRPr lang="en-US" altLang="ja-JP" dirty="0">
              <a:solidFill>
                <a:srgbClr val="00A592"/>
              </a:solidFill>
              <a:latin typeface="メイリオ"/>
              <a:ea typeface="メイリオ"/>
              <a:cs typeface="メイリオ"/>
            </a:endParaRPr>
          </a:p>
          <a:p>
            <a:pPr algn="ctr"/>
            <a:endParaRPr lang="en-US" altLang="ja-JP" dirty="0">
              <a:solidFill>
                <a:srgbClr val="00A592"/>
              </a:solidFill>
              <a:latin typeface="メイリオ"/>
              <a:ea typeface="メイリオ"/>
              <a:cs typeface="メイリオ"/>
            </a:endParaRPr>
          </a:p>
          <a:p>
            <a:pPr algn="ctr"/>
            <a:r>
              <a:rPr kumimoji="1" lang="ja-JP" altLang="en-US" sz="1600" dirty="0">
                <a:solidFill>
                  <a:srgbClr val="00A592"/>
                </a:solidFill>
                <a:latin typeface="メイリオ"/>
                <a:ea typeface="メイリオ"/>
                <a:cs typeface="メイリオ"/>
              </a:rPr>
              <a:t>株式会社フライトソリューションズ</a:t>
            </a:r>
            <a:endParaRPr kumimoji="1" lang="en-US" altLang="ja-JP" sz="1600" dirty="0">
              <a:solidFill>
                <a:srgbClr val="00A592"/>
              </a:solidFill>
              <a:latin typeface="メイリオ"/>
              <a:ea typeface="メイリオ"/>
              <a:cs typeface="メイリオ"/>
            </a:endParaRPr>
          </a:p>
        </p:txBody>
      </p:sp>
      <p:sp>
        <p:nvSpPr>
          <p:cNvPr id="18" name="スライド番号プレースホルダ 17"/>
          <p:cNvSpPr>
            <a:spLocks noGrp="1"/>
          </p:cNvSpPr>
          <p:nvPr>
            <p:ph type="sldNum" sz="quarter" idx="10"/>
          </p:nvPr>
        </p:nvSpPr>
        <p:spPr/>
        <p:txBody>
          <a:bodyPr/>
          <a:lstStyle/>
          <a:p>
            <a:fld id="{AC0C640D-7A54-CA47-9B56-6FBADECDE454}" type="slidenum">
              <a:rPr kumimoji="1" lang="ja-JP" altLang="en-US" smtClean="0"/>
              <a:pPr/>
              <a:t>20</a:t>
            </a:fld>
            <a:endParaRPr kumimoji="1" lang="ja-JP" altLang="en-US"/>
          </a:p>
        </p:txBody>
      </p:sp>
    </p:spTree>
    <p:extLst>
      <p:ext uri="{BB962C8B-B14F-4D97-AF65-F5344CB8AC3E}">
        <p14:creationId xmlns:p14="http://schemas.microsoft.com/office/powerpoint/2010/main" val="1762072966"/>
      </p:ext>
    </p:extLst>
  </p:cSld>
  <p:clrMapOvr>
    <a:masterClrMapping/>
  </p:clrMapOvr>
  <p:transition>
    <p:fade/>
  </p:transition>
</p:sld>
</file>

<file path=ppt/theme/theme1.xml><?xml version="1.0" encoding="utf-8"?>
<a:theme xmlns:a="http://schemas.openxmlformats.org/drawingml/2006/main" name="flight テンプレー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フライト様">
      <a:majorFont>
        <a:latin typeface="Arial Black"/>
        <a:ea typeface="HG創英角ｺﾞｼｯｸUB"/>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rgbClr val="438086"/>
          </a:solidFill>
        </a:ln>
        <a:effectLst/>
      </a:spPr>
      <a:bodyPr rtlCol="0" anchor="ctr"/>
      <a:lstStyle>
        <a:defPPr algn="ctr">
          <a:defRPr kumimoji="1"/>
        </a:defPPr>
      </a:lstStyle>
      <a:style>
        <a:lnRef idx="1">
          <a:schemeClr val="accent1"/>
        </a:lnRef>
        <a:fillRef idx="3">
          <a:schemeClr val="accent1"/>
        </a:fillRef>
        <a:effectRef idx="2">
          <a:schemeClr val="accent1"/>
        </a:effectRef>
        <a:fontRef idx="minor">
          <a:schemeClr val="lt1"/>
        </a:fontRef>
      </a:style>
    </a:spDef>
    <a:lnDef>
      <a:spPr bwMode="auto">
        <a:solidFill>
          <a:srgbClr val="CCFFCC"/>
        </a:solidFill>
        <a:ln w="25400" cap="flat" cmpd="sng" algn="ctr">
          <a:solidFill>
            <a:srgbClr val="438086"/>
          </a:solidFill>
          <a:prstDash val="solid"/>
          <a:round/>
          <a:headEnd type="none" w="med" len="med"/>
          <a:tailEnd type="none"/>
        </a:ln>
        <a:effectLst/>
      </a:spPr>
      <a:bodyPr/>
      <a:lstStyle/>
    </a:lnDef>
  </a:objectDefaults>
  <a:extraClrSchemeLst>
    <a:extraClrScheme>
      <a:clrScheme name="フライト様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フライト様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フライト様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フライト様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フライト様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フライト様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フライト様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フライト様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フライト様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フライト様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フライト様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フライト様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D35DC5035CF21544854758570D244058" ma:contentTypeVersion="16" ma:contentTypeDescription="新しいドキュメントを作成します。" ma:contentTypeScope="" ma:versionID="3ad7ff9203f977c2019ce874e5898b03">
  <xsd:schema xmlns:xsd="http://www.w3.org/2001/XMLSchema" xmlns:xs="http://www.w3.org/2001/XMLSchema" xmlns:p="http://schemas.microsoft.com/office/2006/metadata/properties" xmlns:ns2="ef49d013-6fe6-434c-8d65-01c2536dc222" xmlns:ns3="fdb0f37b-23a4-4fc9-93ec-5a55c5240f41" targetNamespace="http://schemas.microsoft.com/office/2006/metadata/properties" ma:root="true" ma:fieldsID="a62f3f28b8bccccf368960a2c87b2f94" ns2:_="" ns3:_="">
    <xsd:import namespace="ef49d013-6fe6-434c-8d65-01c2536dc222"/>
    <xsd:import namespace="fdb0f37b-23a4-4fc9-93ec-5a55c5240f41"/>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49d013-6fe6-434c-8d65-01c2536dc2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画像タグ" ma:readOnly="false" ma:fieldId="{5cf76f15-5ced-4ddc-b409-7134ff3c332f}" ma:taxonomyMulti="true" ma:sspId="22188174-de2f-4bda-b67f-2d940e9e3791"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fdb0f37b-23a4-4fc9-93ec-5a55c5240f41" elementFormDefault="qualified">
    <xsd:import namespace="http://schemas.microsoft.com/office/2006/documentManagement/types"/>
    <xsd:import namespace="http://schemas.microsoft.com/office/infopath/2007/PartnerControls"/>
    <xsd:element name="SharedWithUsers" ma:index="1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有相手の詳細情報" ma:internalName="SharedWithDetails" ma:readOnly="true">
      <xsd:simpleType>
        <xsd:restriction base="dms:Note">
          <xsd:maxLength value="255"/>
        </xsd:restriction>
      </xsd:simpleType>
    </xsd:element>
    <xsd:element name="TaxCatchAll" ma:index="23" nillable="true" ma:displayName="Taxonomy Catch All Column" ma:hidden="true" ma:list="{f0825dd8-45d0-4a73-acf0-b255fef527f7}" ma:internalName="TaxCatchAll" ma:showField="CatchAllData" ma:web="fdb0f37b-23a4-4fc9-93ec-5a55c5240f4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f49d013-6fe6-434c-8d65-01c2536dc222">
      <Terms xmlns="http://schemas.microsoft.com/office/infopath/2007/PartnerControls"/>
    </lcf76f155ced4ddcb4097134ff3c332f>
    <TaxCatchAll xmlns="fdb0f37b-23a4-4fc9-93ec-5a55c5240f41" xsi:nil="true"/>
  </documentManagement>
</p:properties>
</file>

<file path=customXml/itemProps1.xml><?xml version="1.0" encoding="utf-8"?>
<ds:datastoreItem xmlns:ds="http://schemas.openxmlformats.org/officeDocument/2006/customXml" ds:itemID="{381AD40B-978E-4378-9E2F-27A32296A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f49d013-6fe6-434c-8d65-01c2536dc222"/>
    <ds:schemaRef ds:uri="fdb0f37b-23a4-4fc9-93ec-5a55c5240f4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42A590B-F7CA-4792-8F9C-1BA7FA4EC371}">
  <ds:schemaRefs>
    <ds:schemaRef ds:uri="http://schemas.microsoft.com/sharepoint/v3/contenttype/forms"/>
  </ds:schemaRefs>
</ds:datastoreItem>
</file>

<file path=customXml/itemProps3.xml><?xml version="1.0" encoding="utf-8"?>
<ds:datastoreItem xmlns:ds="http://schemas.openxmlformats.org/officeDocument/2006/customXml" ds:itemID="{2FD64F62-6086-48BA-8D8B-11E73CCD9ADB}">
  <ds:schemaRefs>
    <ds:schemaRef ds:uri="http://schemas.microsoft.com/office/2006/metadata/properties"/>
    <ds:schemaRef ds:uri="http://schemas.microsoft.com/office/infopath/2007/PartnerControls"/>
    <ds:schemaRef ds:uri="ef49d013-6fe6-434c-8d65-01c2536dc222"/>
    <ds:schemaRef ds:uri="fdb0f37b-23a4-4fc9-93ec-5a55c5240f41"/>
  </ds:schemaRefs>
</ds:datastoreItem>
</file>

<file path=docProps/app.xml><?xml version="1.0" encoding="utf-8"?>
<Properties xmlns="http://schemas.openxmlformats.org/officeDocument/2006/extended-properties" xmlns:vt="http://schemas.openxmlformats.org/officeDocument/2006/docPropsVTypes">
  <Template>flight テンプレート.thmx</Template>
  <TotalTime>35659</TotalTime>
  <Words>2261</Words>
  <Application>Microsoft Office PowerPoint</Application>
  <PresentationFormat>A4 210 x 297 mm</PresentationFormat>
  <Paragraphs>519</Paragraphs>
  <Slides>21</Slides>
  <Notes>20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21</vt:i4>
      </vt:variant>
    </vt:vector>
  </HeadingPairs>
  <TitlesOfParts>
    <vt:vector size="29" baseType="lpstr">
      <vt:lpstr>メイリオ</vt:lpstr>
      <vt:lpstr>メイリオ</vt:lpstr>
      <vt:lpstr>游ゴシック</vt:lpstr>
      <vt:lpstr>Arial</vt:lpstr>
      <vt:lpstr>Arial Black</vt:lpstr>
      <vt:lpstr>Calibri</vt:lpstr>
      <vt:lpstr>Wingdings</vt:lpstr>
      <vt:lpstr>flight テンプレート</vt:lpstr>
      <vt:lpstr>2026年7月度 ECサービス部部会</vt:lpstr>
      <vt:lpstr>PowerPoint プレゼンテーション</vt:lpstr>
      <vt:lpstr>1.ＥＣサービス部の現状と今後の展開について</vt:lpstr>
      <vt:lpstr>1.ＥＣサービス部の現状と今後の展開について</vt:lpstr>
      <vt:lpstr>1.ＥＣサービス部の現状と今後の展開について</vt:lpstr>
      <vt:lpstr>1.ＥＣサービス部の現状と今後の展開について</vt:lpstr>
      <vt:lpstr>1.ＥＣサービス部の現状と今後の展開について</vt:lpstr>
      <vt:lpstr>2.既存顧客について　その１</vt:lpstr>
      <vt:lpstr>2.既存顧客について　その２</vt:lpstr>
      <vt:lpstr>3.旧パッケージの開発案件について</vt:lpstr>
      <vt:lpstr>4.セキュリティ強化対応状況について　その１</vt:lpstr>
      <vt:lpstr>4.セキュリティ強化対応状況について　その２</vt:lpstr>
      <vt:lpstr>5.新パッケージのバージョンアップ状況について（1/2）</vt:lpstr>
      <vt:lpstr>5.新パッケージのバージョンアップ状況について（2/2）</vt:lpstr>
      <vt:lpstr>6.ECRider Primoの受注状況について</vt:lpstr>
      <vt:lpstr>7.営業案件について</vt:lpstr>
      <vt:lpstr>8. AIエージェント「Kiro」セミナー受講報告と社内活用について</vt:lpstr>
      <vt:lpstr>9. AI活用・業務効率化についての共有（1/2）</vt:lpstr>
      <vt:lpstr>9. AI活用・業務効率化についての共有</vt:lpstr>
      <vt:lpstr>10.ＥＣサービス部部会の今後の予定</vt:lpstr>
      <vt:lpstr>PowerPoint プレゼンテーション</vt:lpstr>
    </vt:vector>
  </TitlesOfParts>
  <Company>株式会社フライトシステムコンサルティング</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Tanaka Junichi</dc:creator>
  <cp:lastModifiedBy>靖之 木村</cp:lastModifiedBy>
  <cp:revision>567</cp:revision>
  <cp:lastPrinted>2019-06-14T08:12:49Z</cp:lastPrinted>
  <dcterms:created xsi:type="dcterms:W3CDTF">2016-05-26T06:32:05Z</dcterms:created>
  <dcterms:modified xsi:type="dcterms:W3CDTF">2026-07-16T05:12:33Z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0x010100D35DC5035CF21544854758570D244058</vt:lpwstr>
  </property>
  <property fmtid="{D5CDD505-2E9C-101B-9397-08002B2CF9AE}" pid="3" name="MediaServiceImageTags">
    <vt:lpwstr/>
  </property>
</Properties>
</file>