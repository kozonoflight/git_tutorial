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8.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5. </a:t>
            </a:r>
            <a:r>
              <a:rPr sz="18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50000" y="680000"/>
            <a:ext cx="9200000" cy="300000"/>
          </a:xfrm>
          <a:prstGeom prst="rect">
            <a:avLst/>
          </a:prstGeom>
          <a:noFill/>
        </p:spPr>
        <p:txBody>
          <a:bodyPr wrap="square">
            <a:spAutoFit/>
          </a:bodyPr>
          <a:lstStyle/>
          <a:p>
            <a:pPr>
              <a:spcBef>
                <a:spcPts val="0"/>
              </a:spcBef>
              <a:spcAft>
                <a:spcPts val="100"/>
              </a:spcAft>
            </a:pPr>
            <a:r>
              <a:rPr sz="13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50000" y="1000000"/>
          <a:ext cx="9200000" cy="5200000"/>
        </p:xfrm>
        <a:graphic>
          <a:graphicData uri="http://schemas.openxmlformats.org/drawingml/2006/table">
            <a:tbl>
              <a:tblPr firstRow="1" bandRow="1">
                <a:tableStyleId>{5C22544A-7EE6-4342-B048-85BDC9FD1C3A}</a:tableStyleId>
              </a:tblPr>
              <a:tblGrid>
                <a:gridCol w="1400000"/>
                <a:gridCol w="2300000"/>
                <a:gridCol w="2700000"/>
                <a:gridCol w="2800000"/>
              </a:tblGrid>
              <a:tr h="866666">
                <a:tc>
                  <a:txBody>
                    <a:bodyPr/>
                    <a:lstStyle/>
                    <a:p>
                      <a:pPr algn="ctr"/>
                      <a:r>
                        <a:rPr sz="1100" b="1">
                          <a:solidFill>
                            <a:srgbClr val="FFFFFF"/>
                          </a:solidFill>
                          <a:latin typeface="メイリオ"/>
                          <a:ea typeface="メイリオ"/>
                        </a:rPr>
                        <a:t>アップデート</a:t>
                      </a:r>
                    </a:p>
                  </a:txBody>
                  <a:tcPr anchor="ctr">
                    <a:solidFill>
                      <a:srgbClr val="1F4E79"/>
                    </a:solidFill>
                  </a:tcPr>
                </a:tc>
                <a:tc>
                  <a:txBody>
                    <a:bodyPr/>
                    <a:lstStyle/>
                    <a:p>
                      <a:pPr algn="ctr"/>
                      <a:r>
                        <a:rPr sz="1100" b="1">
                          <a:solidFill>
                            <a:srgbClr val="FFFFFF"/>
                          </a:solidFill>
                          <a:latin typeface="メイリオ"/>
                          <a:ea typeface="メイリオ"/>
                        </a:rPr>
                        <a:t>新機能</a:t>
                      </a:r>
                    </a:p>
                  </a:txBody>
                  <a:tcPr anchor="ctr">
                    <a:solidFill>
                      <a:srgbClr val="1F4E79"/>
                    </a:solidFill>
                  </a:tcPr>
                </a:tc>
                <a:tc>
                  <a:txBody>
                    <a:bodyPr/>
                    <a:lstStyle/>
                    <a:p>
                      <a:pPr algn="ctr"/>
                      <a:r>
                        <a:rPr sz="1100" b="1">
                          <a:solidFill>
                            <a:srgbClr val="FFFFFF"/>
                          </a:solidFill>
                          <a:latin typeface="メイリオ"/>
                          <a:ea typeface="メイリオ"/>
                        </a:rPr>
                        <a:t>できるようになること</a:t>
                      </a:r>
                    </a:p>
                  </a:txBody>
                  <a:tcPr anchor="ctr">
                    <a:solidFill>
                      <a:srgbClr val="1F4E79"/>
                    </a:solidFill>
                  </a:tcPr>
                </a:tc>
                <a:tc>
                  <a:txBody>
                    <a:bodyPr/>
                    <a:lstStyle/>
                    <a:p>
                      <a:pPr algn="ctr"/>
                      <a:r>
                        <a:rPr sz="1100" b="1">
                          <a:solidFill>
                            <a:srgbClr val="FFFFFF"/>
                          </a:solidFill>
                          <a:latin typeface="メイリオ"/>
                          <a:ea typeface="メイリオ"/>
                        </a:rPr>
                        <a:t>今後の活用イメージ</a:t>
                      </a:r>
                    </a:p>
                  </a:txBody>
                  <a:tcPr anchor="ctr">
                    <a:solidFill>
                      <a:srgbClr val="1F4E79"/>
                    </a:solidFill>
                  </a:tcPr>
                </a:tc>
              </a:tr>
              <a:tr h="866666">
                <a:tc>
                  <a:txBody>
                    <a:bodyPr/>
                    <a:lstStyle/>
                    <a:p>
                      <a:pPr algn="l"/>
                      <a:r>
                        <a:rPr sz="1000" b="1">
                          <a:solidFill>
                            <a:srgbClr val="333333"/>
                          </a:solidFill>
                          <a:latin typeface="メイリオ"/>
                          <a:ea typeface="メイリオ"/>
                        </a:rPr>
                        <a:t>Ruby
3.2→3.4</a:t>
                      </a:r>
                    </a:p>
                  </a:txBody>
                  <a:tcPr anchor="ctr"/>
                </a:tc>
                <a:tc>
                  <a:txBody>
                    <a:bodyPr/>
                    <a:lstStyle/>
                    <a:p>
                      <a:pPr algn="l"/>
                      <a:r>
                        <a:rPr sz="1000" b="0">
                          <a:solidFill>
                            <a:srgbClr val="333333"/>
                          </a:solidFill>
                          <a:latin typeface="メイリオ"/>
                          <a:ea typeface="メイリオ"/>
                        </a:rPr>
                        <a:t>外部接続の改善
(Happy Eyeballs v2)</a:t>
                      </a:r>
                    </a:p>
                  </a:txBody>
                  <a:tcPr anchor="ctr"/>
                </a:tc>
                <a:tc>
                  <a:txBody>
                    <a:bodyPr/>
                    <a:lstStyle/>
                    <a:p>
                      <a:pPr algn="l"/>
                      <a:r>
                        <a:rPr sz="10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1000" b="0">
                          <a:solidFill>
                            <a:srgbClr val="333333"/>
                          </a:solidFill>
                          <a:latin typeface="メイリオ"/>
                          <a:ea typeface="メイリオ"/>
                        </a:rPr>
                        <a:t>基幹・決済・配送など外部API連携の
接続まわりを安定させやすい</a:t>
                      </a:r>
                    </a:p>
                  </a:txBody>
                  <a:tcPr anchor="ctr"/>
                </a:tc>
              </a:tr>
              <a:tr h="866666">
                <a:tc>
                  <a:txBody>
                    <a:bodyPr/>
                    <a:lstStyle/>
                    <a:p>
                      <a:pPr algn="l"/>
                      <a:r>
                        <a:rPr sz="1000" b="1">
                          <a:solidFill>
                            <a:srgbClr val="333333"/>
                          </a:solidFill>
                          <a:latin typeface="メイリオ"/>
                          <a:ea typeface="メイリオ"/>
                        </a:rPr>
                        <a:t>Rails
7.2→8.1</a:t>
                      </a:r>
                    </a:p>
                  </a:txBody>
                  <a:tcPr anchor="ctr">
                    <a:solidFill>
                      <a:srgbClr val="D6E3F0"/>
                    </a:solidFill>
                  </a:tcPr>
                </a:tc>
                <a:tc>
                  <a:txBody>
                    <a:bodyPr/>
                    <a:lstStyle/>
                    <a:p>
                      <a:pPr algn="l"/>
                      <a:r>
                        <a:rPr sz="1000" b="0">
                          <a:solidFill>
                            <a:srgbClr val="333333"/>
                          </a:solidFill>
                          <a:latin typeface="メイリオ"/>
                          <a:ea typeface="メイリオ"/>
                        </a:rPr>
                        <a:t>ジョブ途中再開
(Active Job Continuations)</a:t>
                      </a:r>
                    </a:p>
                  </a:txBody>
                  <a:tcPr anchor="ctr">
                    <a:solidFill>
                      <a:srgbClr val="D6E3F0"/>
                    </a:solidFill>
                  </a:tcPr>
                </a:tc>
                <a:tc>
                  <a:txBody>
                    <a:bodyPr/>
                    <a:lstStyle/>
                    <a:p>
                      <a:pPr algn="l"/>
                      <a:r>
                        <a:rPr sz="1000" b="0">
                          <a:solidFill>
                            <a:srgbClr val="333333"/>
                          </a:solidFill>
                          <a:latin typeface="メイリオ"/>
                          <a:ea typeface="メイリオ"/>
                        </a:rPr>
                        <a:t>長いバッチを途中で止めても、
最初からやり直さず再開できる</a:t>
                      </a:r>
                    </a:p>
                  </a:txBody>
                  <a:tcPr anchor="ctr">
                    <a:solidFill>
                      <a:srgbClr val="D6E3F0"/>
                    </a:solidFill>
                  </a:tcPr>
                </a:tc>
                <a:tc>
                  <a:txBody>
                    <a:bodyPr/>
                    <a:lstStyle/>
                    <a:p>
                      <a:pPr algn="l"/>
                      <a:r>
                        <a:rPr sz="1000" b="0">
                          <a:solidFill>
                            <a:srgbClr val="333333"/>
                          </a:solidFill>
                          <a:latin typeface="メイリオ"/>
                          <a:ea typeface="メイリオ"/>
                        </a:rPr>
                        <a:t>受注取込・在庫同期・帳票一括など
夜間処理の安定運用に使える</a:t>
                      </a:r>
                    </a:p>
                  </a:txBody>
                  <a:tcPr anchor="ctr">
                    <a:solidFill>
                      <a:srgbClr val="D6E3F0"/>
                    </a:solidFill>
                  </a:tcPr>
                </a:tc>
              </a:tr>
              <a:tr h="866666">
                <a:tc>
                  <a:txBody>
                    <a:bodyPr/>
                    <a:lstStyle/>
                    <a:p>
                      <a:pPr algn="l"/>
                      <a:r>
                        <a:rPr sz="1000" b="1">
                          <a:solidFill>
                            <a:srgbClr val="333333"/>
                          </a:solidFill>
                          <a:latin typeface="メイリオ"/>
                          <a:ea typeface="メイリオ"/>
                        </a:rPr>
                        <a:t>Rails
7.2→8.1</a:t>
                      </a:r>
                    </a:p>
                  </a:txBody>
                  <a:tcPr anchor="ctr"/>
                </a:tc>
                <a:tc>
                  <a:txBody>
                    <a:bodyPr/>
                    <a:lstStyle/>
                    <a:p>
                      <a:pPr algn="l"/>
                      <a:r>
                        <a:rPr sz="1000" b="0">
                          <a:solidFill>
                            <a:srgbClr val="333333"/>
                          </a:solidFill>
                          <a:latin typeface="メイリオ"/>
                          <a:ea typeface="メイリオ"/>
                        </a:rPr>
                        <a:t>構造化イベント通知
(Event Reporter)</a:t>
                      </a:r>
                    </a:p>
                  </a:txBody>
                  <a:tcPr anchor="ctr"/>
                </a:tc>
                <a:tc>
                  <a:txBody>
                    <a:bodyPr/>
                    <a:lstStyle/>
                    <a:p>
                      <a:pPr algn="l"/>
                      <a:r>
                        <a:rPr sz="1000" b="0">
                          <a:solidFill>
                            <a:srgbClr val="333333"/>
                          </a:solidFill>
                          <a:latin typeface="メイリオ"/>
                          <a:ea typeface="メイリオ"/>
                        </a:rPr>
                        <a:t>「誰が・いつ・何をした」を
機械可読イベントとして出せる</a:t>
                      </a:r>
                    </a:p>
                  </a:txBody>
                  <a:tcPr anchor="ctr"/>
                </a:tc>
                <a:tc>
                  <a:txBody>
                    <a:bodyPr/>
                    <a:lstStyle/>
                    <a:p>
                      <a:pPr algn="l"/>
                      <a:r>
                        <a:rPr sz="1000" b="0">
                          <a:solidFill>
                            <a:srgbClr val="333333"/>
                          </a:solidFill>
                          <a:latin typeface="メイリオ"/>
                          <a:ea typeface="メイリオ"/>
                        </a:rPr>
                        <a:t>監査ログ／障害調査／監視連携で
運用品質と説明責任を強化できる</a:t>
                      </a:r>
                    </a:p>
                  </a:txBody>
                  <a:tcPr anchor="ctr"/>
                </a:tc>
              </a:tr>
              <a:tr h="866666">
                <a:tc>
                  <a:txBody>
                    <a:bodyPr/>
                    <a:lstStyle/>
                    <a:p>
                      <a:pPr algn="l"/>
                      <a:r>
                        <a:rPr sz="1000" b="1">
                          <a:solidFill>
                            <a:srgbClr val="333333"/>
                          </a:solidFill>
                          <a:latin typeface="メイリオ"/>
                          <a:ea typeface="メイリオ"/>
                        </a:rPr>
                        <a:t>Rails
7.2→8.1</a:t>
                      </a:r>
                    </a:p>
                  </a:txBody>
                  <a:tcPr anchor="ctr">
                    <a:solidFill>
                      <a:srgbClr val="D6E3F0"/>
                    </a:solidFill>
                  </a:tcPr>
                </a:tc>
                <a:tc>
                  <a:txBody>
                    <a:bodyPr/>
                    <a:lstStyle/>
                    <a:p>
                      <a:pPr algn="l"/>
                      <a:r>
                        <a:rPr sz="1000" b="0">
                          <a:solidFill>
                            <a:srgbClr val="333333"/>
                          </a:solidFill>
                          <a:latin typeface="メイリオ"/>
                          <a:ea typeface="メイリオ"/>
                        </a:rPr>
                        <a:t>Markdown標準描画</a:t>
                      </a:r>
                    </a:p>
                  </a:txBody>
                  <a:tcPr anchor="ctr">
                    <a:solidFill>
                      <a:srgbClr val="D6E3F0"/>
                    </a:solidFill>
                  </a:tcPr>
                </a:tc>
                <a:tc>
                  <a:txBody>
                    <a:bodyPr/>
                    <a:lstStyle/>
                    <a:p>
                      <a:pPr algn="l"/>
                      <a:r>
                        <a:rPr sz="10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1000" b="0">
                          <a:solidFill>
                            <a:srgbClr val="333333"/>
                          </a:solidFill>
                          <a:latin typeface="メイリオ"/>
                          <a:ea typeface="メイリオ"/>
                        </a:rPr>
                        <a:t>ヘルプ・提案資料・AI出力の表示基盤
（Primo伴走支援の説明にも応用可）</a:t>
                      </a:r>
                    </a:p>
                  </a:txBody>
                  <a:tcPr anchor="ctr">
                    <a:solidFill>
                      <a:srgbClr val="D6E3F0"/>
                    </a:solidFill>
                  </a:tcPr>
                </a:tc>
              </a:tr>
              <a:tr h="866670">
                <a:tc>
                  <a:txBody>
                    <a:bodyPr/>
                    <a:lstStyle/>
                    <a:p>
                      <a:pPr algn="l"/>
                      <a:r>
                        <a:rPr sz="1000" b="1">
                          <a:solidFill>
                            <a:srgbClr val="333333"/>
                          </a:solidFill>
                          <a:latin typeface="メイリオ"/>
                          <a:ea typeface="メイリオ"/>
                        </a:rPr>
                        <a:t>MariaDB
10.6→10.11</a:t>
                      </a:r>
                    </a:p>
                  </a:txBody>
                  <a:tcPr anchor="ctr"/>
                </a:tc>
                <a:tc>
                  <a:txBody>
                    <a:bodyPr/>
                    <a:lstStyle/>
                    <a:p>
                      <a:pPr algn="l"/>
                      <a:r>
                        <a:rPr sz="1000" b="0">
                          <a:solidFill>
                            <a:srgbClr val="333333"/>
                          </a:solidFill>
                          <a:latin typeface="メイリオ"/>
                          <a:ea typeface="メイリオ"/>
                        </a:rPr>
                        <a:t>UUID型
／設定の動的変更</a:t>
                      </a:r>
                    </a:p>
                  </a:txBody>
                  <a:tcPr anchor="ctr"/>
                </a:tc>
                <a:tc>
                  <a:txBody>
                    <a:bodyPr/>
                    <a:lstStyle/>
                    <a:p>
                      <a:pPr algn="l"/>
                      <a:r>
                        <a:rPr sz="1000" b="0">
                          <a:solidFill>
                            <a:srgbClr val="333333"/>
                          </a:solidFill>
                          <a:latin typeface="メイリオ"/>
                          <a:ea typeface="メイリオ"/>
                        </a:rPr>
                        <a:t>UUIDをDB型で持てる
一部設定を再起動なしで変更できる</a:t>
                      </a:r>
                    </a:p>
                  </a:txBody>
                  <a:tcPr anchor="ctr"/>
                </a:tc>
                <a:tc>
                  <a:txBody>
                    <a:bodyPr/>
                    <a:lstStyle/>
                    <a:p>
                      <a:pPr algn="l"/>
                      <a:r>
                        <a:rPr sz="10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50000" y="6300000"/>
            <a:ext cx="9200000" cy="4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