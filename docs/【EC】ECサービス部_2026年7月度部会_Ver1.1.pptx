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960000"/>
        </p:xfrm>
        <a:graphic>
          <a:graphicData uri="http://schemas.openxmlformats.org/drawingml/2006/table">
            <a:tbl>
              <a:tblPr firstRow="1" bandRow="1">
                <a:tableStyleId>{5C22544A-7EE6-4342-B048-85BDC9FD1C3A}</a:tableStyleId>
              </a:tblPr>
              <a:tblGrid>
                <a:gridCol w="1300000"/>
                <a:gridCol w="2200000"/>
                <a:gridCol w="3200000"/>
                <a:gridCol w="2600000"/>
              </a:tblGrid>
              <a:tr h="42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1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自由文ログに頼るのではなく、
解析に必要な項目を型（項目名）として決め、
その形で業務イベントを出せるようになった</a:t>
                      </a:r>
                    </a:p>
                  </a:txBody>
                  <a:tcPr anchor="ctr"/>
                </a:tc>
                <a:tc>
                  <a:txBody>
                    <a:bodyPr/>
                    <a:lstStyle/>
                    <a:p>
                      <a:pPr algn="l"/>
                      <a:r>
                        <a:rPr sz="800" b="0">
                          <a:solidFill>
                            <a:srgbClr val="333333"/>
                          </a:solidFill>
                          <a:latin typeface="メイリオ"/>
                          <a:ea typeface="メイリオ"/>
                        </a:rPr>
                        <a:t>受注確定・価格変更・CSV取込完了などについて
「いつ・誰が・何をした」を横断検索しやすく、
障害調査・監査・監視連携がやりやすい</a:t>
                      </a:r>
                    </a:p>
                  </a:txBody>
                  <a:tcPr anchor="ctr"/>
                </a:tc>
              </a:tr>
              <a:tr h="110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800" b="0">
                          <a:solidFill>
                            <a:srgbClr val="333333"/>
                          </a:solidFill>
                          <a:latin typeface="メイリオ"/>
                          <a:ea typeface="メイリオ"/>
                        </a:rPr>
                        <a:t>Markdown（.md）を、追加ライブラリなしで
画面表示やAPI応答に使えるようになった
例：#見出し・箇条書き・表などをそのまま描画</a:t>
                      </a:r>
                    </a:p>
                  </a:txBody>
                  <a:tcPr anchor="ctr">
                    <a:solidFill>
                      <a:srgbClr val="D6E3F0"/>
                    </a:solidFill>
                  </a:tcPr>
                </a:tc>
                <a:tc>
                  <a:txBody>
                    <a:bodyPr/>
                    <a:lstStyle/>
                    <a:p>
                      <a:pPr algn="l"/>
                      <a:r>
                        <a:rPr sz="800" b="0">
                          <a:solidFill>
                            <a:srgbClr val="333333"/>
                          </a:solidFill>
                          <a:latin typeface="メイリオ"/>
                          <a:ea typeface="メイリオ"/>
                        </a:rPr>
                        <a:t>ヘルプ／リリースノート／提案説明を
テキスト管理したまま画面表示できる
AI出力（Markdown）も変換なしで見せやすい</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8800000" cy="28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ツール方針（ASIS → TOBE）</a:t>
            </a:r>
          </a:p>
        </p:txBody>
      </p:sp>
      <p:graphicFrame>
        <p:nvGraphicFramePr>
          <p:cNvPr id="4" name="Table 3"/>
          <p:cNvGraphicFramePr>
            <a:graphicFrameLocks noGrp="1"/>
          </p:cNvGraphicFramePr>
          <p:nvPr/>
        </p:nvGraphicFramePr>
        <p:xfrm>
          <a:off x="650000" y="1000000"/>
          <a:ext cx="8600000" cy="1300000"/>
        </p:xfrm>
        <a:graphic>
          <a:graphicData uri="http://schemas.openxmlformats.org/drawingml/2006/table">
            <a:tbl>
              <a:tblPr firstRow="1" bandRow="1">
                <a:tableStyleId>{5C22544A-7EE6-4342-B048-85BDC9FD1C3A}</a:tableStyleId>
              </a:tblPr>
              <a:tblGrid>
                <a:gridCol w="2400000"/>
                <a:gridCol w="3000000"/>
                <a:gridCol w="3200000"/>
              </a:tblGrid>
              <a:tr h="433333">
                <a:tc>
                  <a:txBody>
                    <a:bodyPr/>
                    <a:lstStyle/>
                    <a:p>
                      <a:pPr algn="ctr"/>
                      <a:r>
                        <a:rPr sz="1100" b="1">
                          <a:solidFill>
                            <a:srgbClr val="FFFFFF"/>
                          </a:solidFill>
                          <a:latin typeface="メイリオ"/>
                          <a:ea typeface="メイリオ"/>
                        </a:rPr>
                        <a:t>領域</a:t>
                      </a:r>
                    </a:p>
                  </a:txBody>
                  <a:tcPr anchor="ctr">
                    <a:solidFill>
                      <a:srgbClr val="1F4E79"/>
                    </a:solidFill>
                  </a:tcPr>
                </a:tc>
                <a:tc>
                  <a:txBody>
                    <a:bodyPr/>
                    <a:lstStyle/>
                    <a:p>
                      <a:pPr algn="ctr"/>
                      <a:r>
                        <a:rPr sz="1100" b="1">
                          <a:solidFill>
                            <a:srgbClr val="FFFFFF"/>
                          </a:solidFill>
                          <a:latin typeface="メイリオ"/>
                          <a:ea typeface="メイリオ"/>
                        </a:rPr>
                        <a:t>ASIS（これまで）</a:t>
                      </a:r>
                    </a:p>
                  </a:txBody>
                  <a:tcPr anchor="ctr">
                    <a:solidFill>
                      <a:srgbClr val="1F4E79"/>
                    </a:solidFill>
                  </a:tcPr>
                </a:tc>
                <a:tc>
                  <a:txBody>
                    <a:bodyPr/>
                    <a:lstStyle/>
                    <a:p>
                      <a:pPr algn="ctr"/>
                      <a:r>
                        <a:rPr sz="1100" b="1">
                          <a:solidFill>
                            <a:srgbClr val="FFFFFF"/>
                          </a:solidFill>
                          <a:latin typeface="メイリオ"/>
                          <a:ea typeface="メイリオ"/>
                        </a:rPr>
                        <a:t>TOBE（これから）</a:t>
                      </a:r>
                    </a:p>
                  </a:txBody>
                  <a:tcPr anchor="ctr">
                    <a:solidFill>
                      <a:srgbClr val="1F4E79"/>
                    </a:solidFill>
                  </a:tcPr>
                </a:tc>
              </a:tr>
              <a:tr h="433333">
                <a:tc>
                  <a:txBody>
                    <a:bodyPr/>
                    <a:lstStyle/>
                    <a:p>
                      <a:pPr algn="l"/>
                      <a:r>
                        <a:rPr sz="1100" b="1">
                          <a:solidFill>
                            <a:srgbClr val="333333"/>
                          </a:solidFill>
                          <a:latin typeface="メイリオ"/>
                          <a:ea typeface="メイリオ"/>
                        </a:rPr>
                        <a:t>プログラム開発</a:t>
                      </a:r>
                    </a:p>
                  </a:txBody>
                  <a:tcPr anchor="ctr"/>
                </a:tc>
                <a:tc>
                  <a:txBody>
                    <a:bodyPr/>
                    <a:lstStyle/>
                    <a:p>
                      <a:pPr algn="l"/>
                      <a:r>
                        <a:rPr sz="1100" b="0">
                          <a:solidFill>
                            <a:srgbClr val="333333"/>
                          </a:solidFill>
                          <a:latin typeface="メイリオ"/>
                          <a:ea typeface="メイリオ"/>
                        </a:rPr>
                        <a:t>VS Code + GitHub Copilot</a:t>
                      </a:r>
                    </a:p>
                  </a:txBody>
                  <a:tcPr anchor="ctr"/>
                </a:tc>
                <a:tc>
                  <a:txBody>
                    <a:bodyPr/>
                    <a:lstStyle/>
                    <a:p>
                      <a:pPr algn="l"/>
                      <a:r>
                        <a:rPr sz="1100" b="0">
                          <a:solidFill>
                            <a:srgbClr val="333333"/>
                          </a:solidFill>
                          <a:latin typeface="メイリオ"/>
                          <a:ea typeface="メイリオ"/>
                        </a:rPr>
                        <a:t>Cursor + Claude
／ Claude Desktop + Claude Code</a:t>
                      </a:r>
                    </a:p>
                  </a:txBody>
                  <a:tcPr anchor="ctr"/>
                </a:tc>
              </a:tr>
              <a:tr h="433334">
                <a:tc>
                  <a:txBody>
                    <a:bodyPr/>
                    <a:lstStyle/>
                    <a:p>
                      <a:pPr algn="l"/>
                      <a:r>
                        <a:rPr sz="1100" b="1">
                          <a:solidFill>
                            <a:srgbClr val="333333"/>
                          </a:solidFill>
                          <a:latin typeface="メイリオ"/>
                          <a:ea typeface="メイリオ"/>
                        </a:rPr>
                        <a:t>ビジネス業務
（資料作成・業界分析など）</a:t>
                      </a:r>
                    </a:p>
                  </a:txBody>
                  <a:tcPr anchor="ctr">
                    <a:solidFill>
                      <a:srgbClr val="D6E3F0"/>
                    </a:solidFill>
                  </a:tcPr>
                </a:tc>
                <a:tc>
                  <a:txBody>
                    <a:bodyPr/>
                    <a:lstStyle/>
                    <a:p>
                      <a:pPr algn="l"/>
                      <a:r>
                        <a:rPr sz="1100" b="0">
                          <a:solidFill>
                            <a:srgbClr val="333333"/>
                          </a:solidFill>
                          <a:latin typeface="メイリオ"/>
                          <a:ea typeface="メイリオ"/>
                        </a:rPr>
                        <a:t>Gemini</a:t>
                      </a:r>
                    </a:p>
                  </a:txBody>
                  <a:tcPr anchor="ctr">
                    <a:solidFill>
                      <a:srgbClr val="D6E3F0"/>
                    </a:solidFill>
                  </a:tcPr>
                </a:tc>
                <a:tc>
                  <a:txBody>
                    <a:bodyPr/>
                    <a:lstStyle/>
                    <a:p>
                      <a:pPr algn="l"/>
                      <a:r>
                        <a:rPr sz="1100" b="0">
                          <a:solidFill>
                            <a:srgbClr val="333333"/>
                          </a:solidFill>
                          <a:latin typeface="メイリオ"/>
                          <a:ea typeface="メイリオ"/>
                        </a:rPr>
                        <a:t>Claude
（Claude Desktop 等）</a:t>
                      </a:r>
                    </a:p>
                  </a:txBody>
                  <a:tcPr anchor="ctr">
                    <a:solidFill>
                      <a:srgbClr val="D6E3F0"/>
                    </a:solidFill>
                  </a:tcPr>
                </a:tc>
              </a:tr>
            </a:tbl>
          </a:graphicData>
        </a:graphic>
      </p:graphicFrame>
      <p:sp>
        <p:nvSpPr>
          <p:cNvPr id="5" name="TextBox 4"/>
          <p:cNvSpPr txBox="1"/>
          <p:nvPr/>
        </p:nvSpPr>
        <p:spPr>
          <a:xfrm>
            <a:off x="650000" y="2500000"/>
            <a:ext cx="8800000" cy="38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② 1か月使ってみた所感（Claude）</a:t>
            </a:r>
          </a:p>
          <a:p>
            <a:pPr>
              <a:spcBef>
                <a:spcPts val="0"/>
              </a:spcBef>
              <a:spcAft>
                <a:spcPts val="100"/>
              </a:spcAft>
            </a:pPr>
            <a:r>
              <a:rPr sz="1200" b="0">
                <a:solidFill>
                  <a:srgbClr val="333333"/>
                </a:solidFill>
                <a:latin typeface="メイリオ"/>
                <a:ea typeface="メイリオ"/>
              </a:rPr>
              <a:t>・回答精度にかなり優秀さを感じる</a:t>
            </a:r>
          </a:p>
          <a:p>
            <a:pPr>
              <a:spcBef>
                <a:spcPts val="0"/>
              </a:spcBef>
              <a:spcAft>
                <a:spcPts val="100"/>
              </a:spcAft>
            </a:pPr>
            <a:r>
              <a:rPr sz="1200" b="0">
                <a:solidFill>
                  <a:srgbClr val="333333"/>
                </a:solidFill>
                <a:latin typeface="メイリオ"/>
                <a:ea typeface="メイリオ"/>
              </a:rPr>
              <a:t>・特に、表面的な答えではなく、前提や理由まで踏み込んだ深い思考の回答が多い印象</a:t>
            </a:r>
          </a:p>
          <a:p>
            <a:pPr>
              <a:spcBef>
                <a:spcPts val="0"/>
              </a:spcBef>
              <a:spcAft>
                <a:spcPts val="100"/>
              </a:spcAft>
            </a:pPr>
            <a:r>
              <a:rPr sz="1200" b="0">
                <a:solidFill>
                  <a:srgbClr val="333333"/>
                </a:solidFill>
                <a:latin typeface="メイリオ"/>
                <a:ea typeface="メイリオ"/>
              </a:rPr>
              <a:t>・開発：補完中心から、要件〜実装〜レビュー伴走へシフトできる</a:t>
            </a:r>
          </a:p>
          <a:p>
            <a:pPr>
              <a:spcBef>
                <a:spcPts val="0"/>
              </a:spcBef>
              <a:spcAft>
                <a:spcPts val="100"/>
              </a:spcAft>
            </a:pPr>
            <a:r>
              <a:rPr sz="1200" b="0">
                <a:solidFill>
                  <a:srgbClr val="333333"/>
                </a:solidFill>
                <a:latin typeface="メイリオ"/>
                <a:ea typeface="メイリオ"/>
              </a:rPr>
              <a:t>・業務：資料作成・分析でも、構成と論点を丁寧に組み立ててくれる感覚</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200" b="0">
                <a:solidFill>
                  <a:srgbClr val="333333"/>
                </a:solidFill>
                <a:latin typeface="メイリオ"/>
                <a:ea typeface="メイリオ"/>
              </a:rPr>
              <a:t>・EC-Rider用プロンプト／実装ガイドを読込 → EC-Rider AI を構築中</a:t>
            </a:r>
          </a:p>
          <a:p>
            <a:pPr>
              <a:spcBef>
                <a:spcPts val="0"/>
              </a:spcBef>
              <a:spcAft>
                <a:spcPts val="100"/>
              </a:spcAft>
            </a:pPr>
            <a:r>
              <a:rPr sz="12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200" b="0">
                <a:solidFill>
                  <a:srgbClr val="C00000"/>
                </a:solidFill>
                <a:latin typeface="メイリオ"/>
                <a:ea typeface="メイリオ"/>
              </a:rPr>
              <a:t>→ 次ページ：比較表／リスク／加速施策</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500000" y="680000"/>
            <a:ext cx="9000000" cy="25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④ 比較（ビジネス業務観点）：Claude vs ChatGPT vs Gemini</a:t>
            </a:r>
          </a:p>
        </p:txBody>
      </p:sp>
      <p:graphicFrame>
        <p:nvGraphicFramePr>
          <p:cNvPr id="4" name="Table 3"/>
          <p:cNvGraphicFramePr>
            <a:graphicFrameLocks noGrp="1"/>
          </p:cNvGraphicFramePr>
          <p:nvPr/>
        </p:nvGraphicFramePr>
        <p:xfrm>
          <a:off x="400000" y="960000"/>
          <a:ext cx="9100000" cy="2100000"/>
        </p:xfrm>
        <a:graphic>
          <a:graphicData uri="http://schemas.openxmlformats.org/drawingml/2006/table">
            <a:tbl>
              <a:tblPr firstRow="1" bandRow="1">
                <a:tableStyleId>{5C22544A-7EE6-4342-B048-85BDC9FD1C3A}</a:tableStyleId>
              </a:tblPr>
              <a:tblGrid>
                <a:gridCol w="1400000"/>
                <a:gridCol w="2600000"/>
                <a:gridCol w="2550000"/>
                <a:gridCol w="2550000"/>
              </a:tblGrid>
              <a:tr h="42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420000">
                <a:tc>
                  <a:txBody>
                    <a:bodyPr/>
                    <a:lstStyle/>
                    <a:p>
                      <a:pPr algn="l"/>
                      <a:r>
                        <a:rPr sz="800" b="1">
                          <a:solidFill>
                            <a:srgbClr val="333333"/>
                          </a:solidFill>
                          <a:latin typeface="メイリオ"/>
                          <a:ea typeface="メイリオ"/>
                        </a:rPr>
                        <a:t>思考の深さ</a:t>
                      </a:r>
                    </a:p>
                  </a:txBody>
                  <a:tcPr anchor="ctr"/>
                </a:tc>
                <a:tc>
                  <a:txBody>
                    <a:bodyPr/>
                    <a:lstStyle/>
                    <a:p>
                      <a:pPr algn="l"/>
                      <a:r>
                        <a:rPr sz="800" b="0">
                          <a:solidFill>
                            <a:srgbClr val="333333"/>
                          </a:solidFill>
                          <a:latin typeface="メイリオ"/>
                          <a:ea typeface="メイリオ"/>
                        </a:rPr>
                        <a:t>前提・理由まで踏み込む
丁寧な深掘りが強い</a:t>
                      </a:r>
                    </a:p>
                  </a:txBody>
                  <a:tcPr anchor="ctr"/>
                </a:tc>
                <a:tc>
                  <a:txBody>
                    <a:bodyPr/>
                    <a:lstStyle/>
                    <a:p>
                      <a:pPr algn="l"/>
                      <a:r>
                        <a:rPr sz="800" b="0">
                          <a:solidFill>
                            <a:srgbClr val="333333"/>
                          </a:solidFill>
                          <a:latin typeface="メイリオ"/>
                          <a:ea typeface="メイリオ"/>
                        </a:rPr>
                        <a:t>幅広いアイデア出しや
壁打ちが得意</a:t>
                      </a:r>
                    </a:p>
                  </a:txBody>
                  <a:tcPr anchor="ctr"/>
                </a:tc>
                <a:tc>
                  <a:txBody>
                    <a:bodyPr/>
                    <a:lstStyle/>
                    <a:p>
                      <a:pPr algn="l"/>
                      <a:r>
                        <a:rPr sz="800" b="0">
                          <a:solidFill>
                            <a:srgbClr val="333333"/>
                          </a:solidFill>
                          <a:latin typeface="メイリオ"/>
                          <a:ea typeface="メイリオ"/>
                        </a:rPr>
                        <a:t>広く拾う・素早い概観が得意
（深さは用途次第）</a:t>
                      </a:r>
                    </a:p>
                  </a:txBody>
                  <a:tcPr anchor="ctr"/>
                </a:tc>
              </a:tr>
              <a:tr h="420000">
                <a:tc>
                  <a:txBody>
                    <a:bodyPr/>
                    <a:lstStyle/>
                    <a:p>
                      <a:pPr algn="l"/>
                      <a:r>
                        <a:rPr sz="800" b="1">
                          <a:solidFill>
                            <a:srgbClr val="333333"/>
                          </a:solidFill>
                          <a:latin typeface="メイリオ"/>
                          <a:ea typeface="メイリオ"/>
                        </a:rPr>
                        <a:t>資料作成</a:t>
                      </a:r>
                    </a:p>
                  </a:txBody>
                  <a:tcPr anchor="ctr">
                    <a:solidFill>
                      <a:srgbClr val="D6E3F0"/>
                    </a:solidFill>
                  </a:tcPr>
                </a:tc>
                <a:tc>
                  <a:txBody>
                    <a:bodyPr/>
                    <a:lstStyle/>
                    <a:p>
                      <a:pPr algn="l"/>
                      <a:r>
                        <a:rPr sz="800" b="0">
                          <a:solidFill>
                            <a:srgbClr val="333333"/>
                          </a:solidFill>
                          <a:latin typeface="メイリオ"/>
                          <a:ea typeface="メイリオ"/>
                        </a:rPr>
                        <a:t>構成・論点が整理されやすい
長文でも一貫しやすい</a:t>
                      </a:r>
                    </a:p>
                  </a:txBody>
                  <a:tcPr anchor="ctr">
                    <a:solidFill>
                      <a:srgbClr val="D6E3F0"/>
                    </a:solidFill>
                  </a:tcPr>
                </a:tc>
                <a:tc>
                  <a:txBody>
                    <a:bodyPr/>
                    <a:lstStyle/>
                    <a:p>
                      <a:pPr algn="l"/>
                      <a:r>
                        <a:rPr sz="800" b="0">
                          <a:solidFill>
                            <a:srgbClr val="333333"/>
                          </a:solidFill>
                          <a:latin typeface="メイリオ"/>
                          <a:ea typeface="メイリオ"/>
                        </a:rPr>
                        <a:t>たたき台作成が速く
表現のバリエーションも豊富</a:t>
                      </a:r>
                    </a:p>
                  </a:txBody>
                  <a:tcPr anchor="ctr">
                    <a:solidFill>
                      <a:srgbClr val="D6E3F0"/>
                    </a:solidFill>
                  </a:tcPr>
                </a:tc>
                <a:tc>
                  <a:txBody>
                    <a:bodyPr/>
                    <a:lstStyle/>
                    <a:p>
                      <a:pPr algn="l"/>
                      <a:r>
                        <a:rPr sz="800" b="0">
                          <a:solidFill>
                            <a:srgbClr val="333333"/>
                          </a:solidFill>
                          <a:latin typeface="メイリオ"/>
                          <a:ea typeface="メイリオ"/>
                        </a:rPr>
                        <a:t>草案づくりや要約に強い
Google系資料との相性あり</a:t>
                      </a:r>
                    </a:p>
                  </a:txBody>
                  <a:tcPr anchor="ctr">
                    <a:solidFill>
                      <a:srgbClr val="D6E3F0"/>
                    </a:solidFill>
                  </a:tcPr>
                </a:tc>
              </a:tr>
              <a:tr h="420000">
                <a:tc>
                  <a:txBody>
                    <a:bodyPr/>
                    <a:lstStyle/>
                    <a:p>
                      <a:pPr algn="l"/>
                      <a:r>
                        <a:rPr sz="800" b="1">
                          <a:solidFill>
                            <a:srgbClr val="333333"/>
                          </a:solidFill>
                          <a:latin typeface="メイリオ"/>
                          <a:ea typeface="メイリオ"/>
                        </a:rPr>
                        <a:t>業界分析</a:t>
                      </a:r>
                    </a:p>
                  </a:txBody>
                  <a:tcPr anchor="ctr"/>
                </a:tc>
                <a:tc>
                  <a:txBody>
                    <a:bodyPr/>
                    <a:lstStyle/>
                    <a:p>
                      <a:pPr algn="l"/>
                      <a:r>
                        <a:rPr sz="800" b="0">
                          <a:solidFill>
                            <a:srgbClr val="333333"/>
                          </a:solidFill>
                          <a:latin typeface="メイリオ"/>
                          <a:ea typeface="メイリオ"/>
                        </a:rPr>
                        <a:t>仮説→根拠→示唆まで
一段深く組み立てやすい</a:t>
                      </a:r>
                    </a:p>
                  </a:txBody>
                  <a:tcPr anchor="ctr"/>
                </a:tc>
                <a:tc>
                  <a:txBody>
                    <a:bodyPr/>
                    <a:lstStyle/>
                    <a:p>
                      <a:pPr algn="l"/>
                      <a:r>
                        <a:rPr sz="800" b="0">
                          <a:solidFill>
                            <a:srgbClr val="333333"/>
                          </a:solidFill>
                          <a:latin typeface="メイリオ"/>
                          <a:ea typeface="メイリオ"/>
                        </a:rPr>
                        <a:t>多面的な切り口の洗い出し
ブレインストーム向き</a:t>
                      </a:r>
                    </a:p>
                  </a:txBody>
                  <a:tcPr anchor="ctr"/>
                </a:tc>
                <a:tc>
                  <a:txBody>
                    <a:bodyPr/>
                    <a:lstStyle/>
                    <a:p>
                      <a:pPr algn="l"/>
                      <a:r>
                        <a:rPr sz="800" b="0">
                          <a:solidFill>
                            <a:srgbClr val="333333"/>
                          </a:solidFill>
                          <a:latin typeface="メイリオ"/>
                          <a:ea typeface="メイリオ"/>
                        </a:rPr>
                        <a:t>最新情報の拾い上げや
俯瞰整理の入口に向く</a:t>
                      </a:r>
                    </a:p>
                  </a:txBody>
                  <a:tcPr anchor="ctr"/>
                </a:tc>
              </a:tr>
              <a:tr h="420000">
                <a:tc>
                  <a:txBody>
                    <a:bodyPr/>
                    <a:lstStyle/>
                    <a:p>
                      <a:pPr algn="l"/>
                      <a:r>
                        <a:rPr sz="800" b="1">
                          <a:solidFill>
                            <a:srgbClr val="333333"/>
                          </a:solidFill>
                          <a:latin typeface="メイリオ"/>
                          <a:ea typeface="メイリオ"/>
                        </a:rPr>
                        <a:t>部内の使い分け</a:t>
                      </a:r>
                    </a:p>
                  </a:txBody>
                  <a:tcPr anchor="ctr">
                    <a:solidFill>
                      <a:srgbClr val="D6E3F0"/>
                    </a:solidFill>
                  </a:tcPr>
                </a:tc>
                <a:tc>
                  <a:txBody>
                    <a:bodyPr/>
                    <a:lstStyle/>
                    <a:p>
                      <a:pPr algn="l"/>
                      <a:r>
                        <a:rPr sz="800" b="0">
                          <a:solidFill>
                            <a:srgbClr val="333333"/>
                          </a:solidFill>
                          <a:latin typeface="メイリオ"/>
                          <a:ea typeface="メイリオ"/>
                        </a:rPr>
                        <a:t>業務の主戦候補
（分析・資料の品質重視）</a:t>
                      </a:r>
                    </a:p>
                  </a:txBody>
                  <a:tcPr anchor="ctr">
                    <a:solidFill>
                      <a:srgbClr val="D6E3F0"/>
                    </a:solidFill>
                  </a:tcPr>
                </a:tc>
                <a:tc>
                  <a:txBody>
                    <a:bodyPr/>
                    <a:lstStyle/>
                    <a:p>
                      <a:pPr algn="l"/>
                      <a:r>
                        <a:rPr sz="800" b="0">
                          <a:solidFill>
                            <a:srgbClr val="333333"/>
                          </a:solidFill>
                          <a:latin typeface="メイリオ"/>
                          <a:ea typeface="メイリオ"/>
                        </a:rPr>
                        <a:t>発散・下書き・広く聞く用途</a:t>
                      </a:r>
                    </a:p>
                  </a:txBody>
                  <a:tcPr anchor="ctr">
                    <a:solidFill>
                      <a:srgbClr val="D6E3F0"/>
                    </a:solidFill>
                  </a:tcPr>
                </a:tc>
                <a:tc>
                  <a:txBody>
                    <a:bodyPr/>
                    <a:lstStyle/>
                    <a:p>
                      <a:pPr algn="l"/>
                      <a:r>
                        <a:rPr sz="800" b="0">
                          <a:solidFill>
                            <a:srgbClr val="333333"/>
                          </a:solidFill>
                          <a:latin typeface="メイリオ"/>
                          <a:ea typeface="メイリオ"/>
                        </a:rPr>
                        <a:t>ASIS／補助用途
（概観・別視点の確認）</a:t>
                      </a:r>
                    </a:p>
                  </a:txBody>
                  <a:tcPr anchor="ctr">
                    <a:solidFill>
                      <a:srgbClr val="D6E3F0"/>
                    </a:solidFill>
                  </a:tcPr>
                </a:tc>
              </a:tr>
            </a:tbl>
          </a:graphicData>
        </a:graphic>
      </p:graphicFrame>
      <p:sp>
        <p:nvSpPr>
          <p:cNvPr id="5" name="TextBox 4"/>
          <p:cNvSpPr txBox="1"/>
          <p:nvPr/>
        </p:nvSpPr>
        <p:spPr>
          <a:xfrm>
            <a:off x="500000" y="3150000"/>
            <a:ext cx="9000000" cy="23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比較（プログラム観点）：VS Code Copilot vs Cursor + Claude</a:t>
            </a:r>
          </a:p>
        </p:txBody>
      </p:sp>
      <p:graphicFrame>
        <p:nvGraphicFramePr>
          <p:cNvPr id="6" name="Table 5"/>
          <p:cNvGraphicFramePr>
            <a:graphicFrameLocks noGrp="1"/>
          </p:cNvGraphicFramePr>
          <p:nvPr/>
        </p:nvGraphicFramePr>
        <p:xfrm>
          <a:off x="400000" y="3400000"/>
          <a:ext cx="9100000" cy="1250000"/>
        </p:xfrm>
        <a:graphic>
          <a:graphicData uri="http://schemas.openxmlformats.org/drawingml/2006/table">
            <a:tbl>
              <a:tblPr firstRow="1" bandRow="1">
                <a:tableStyleId>{5C22544A-7EE6-4342-B048-85BDC9FD1C3A}</a:tableStyleId>
              </a:tblPr>
              <a:tblGrid>
                <a:gridCol w="1400000"/>
                <a:gridCol w="3850000"/>
                <a:gridCol w="3850000"/>
              </a:tblGrid>
              <a:tr h="3125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Copilot（ASIS）</a:t>
                      </a:r>
                    </a:p>
                  </a:txBody>
                  <a:tcPr anchor="ctr">
                    <a:solidFill>
                      <a:srgbClr val="1F4E79"/>
                    </a:solidFill>
                  </a:tcPr>
                </a:tc>
                <a:tc>
                  <a:txBody>
                    <a:bodyPr/>
                    <a:lstStyle/>
                    <a:p>
                      <a:pPr algn="ctr"/>
                      <a:r>
                        <a:rPr sz="1000" b="1">
                          <a:solidFill>
                            <a:srgbClr val="FFFFFF"/>
                          </a:solidFill>
                          <a:latin typeface="メイリオ"/>
                          <a:ea typeface="メイリオ"/>
                        </a:rPr>
                        <a:t>Cursor + Claude（TOBE）</a:t>
                      </a:r>
                    </a:p>
                  </a:txBody>
                  <a:tcPr anchor="ctr">
                    <a:solidFill>
                      <a:srgbClr val="1F4E79"/>
                    </a:solidFill>
                  </a:tcPr>
                </a:tc>
              </a:tr>
              <a:tr h="312500">
                <a:tc>
                  <a:txBody>
                    <a:bodyPr/>
                    <a:lstStyle/>
                    <a:p>
                      <a:pPr algn="l"/>
                      <a:r>
                        <a:rPr sz="900" b="1">
                          <a:solidFill>
                            <a:srgbClr val="333333"/>
                          </a:solidFill>
                          <a:latin typeface="メイリオ"/>
                          <a:ea typeface="メイリオ"/>
                        </a:rPr>
                        <a:t>得意</a:t>
                      </a:r>
                    </a:p>
                  </a:txBody>
                  <a:tcPr anchor="ctr"/>
                </a:tc>
                <a:tc>
                  <a:txBody>
                    <a:bodyPr/>
                    <a:lstStyle/>
                    <a:p>
                      <a:pPr algn="l"/>
                      <a:r>
                        <a:rPr sz="900" b="0">
                          <a:solidFill>
                            <a:srgbClr val="333333"/>
                          </a:solidFill>
                          <a:latin typeface="メイリオ"/>
                          <a:ea typeface="メイリオ"/>
                        </a:rPr>
                        <a:t>行・関数単位の補完が速い</a:t>
                      </a:r>
                    </a:p>
                  </a:txBody>
                  <a:tcPr anchor="ctr"/>
                </a:tc>
                <a:tc>
                  <a:txBody>
                    <a:bodyPr/>
                    <a:lstStyle/>
                    <a:p>
                      <a:pPr algn="l"/>
                      <a:r>
                        <a:rPr sz="900" b="0">
                          <a:solidFill>
                            <a:srgbClr val="333333"/>
                          </a:solidFill>
                          <a:latin typeface="メイリオ"/>
                          <a:ea typeface="メイリオ"/>
                        </a:rPr>
                        <a:t>複数ファイル横断の設計・実装・修正</a:t>
                      </a:r>
                    </a:p>
                  </a:txBody>
                  <a:tcPr anchor="ctr"/>
                </a:tc>
              </a:tr>
              <a:tr h="312500">
                <a:tc>
                  <a:txBody>
                    <a:bodyPr/>
                    <a:lstStyle/>
                    <a:p>
                      <a:pPr algn="l"/>
                      <a:r>
                        <a:rPr sz="900" b="1">
                          <a:solidFill>
                            <a:srgbClr val="333333"/>
                          </a:solidFill>
                          <a:latin typeface="メイリオ"/>
                          <a:ea typeface="メイリオ"/>
                        </a:rPr>
                        <a:t>文脈</a:t>
                      </a:r>
                    </a:p>
                  </a:txBody>
                  <a:tcPr anchor="ctr">
                    <a:solidFill>
                      <a:srgbClr val="D6E3F0"/>
                    </a:solidFill>
                  </a:tcPr>
                </a:tc>
                <a:tc>
                  <a:txBody>
                    <a:bodyPr/>
                    <a:lstStyle/>
                    <a:p>
                      <a:pPr algn="l"/>
                      <a:r>
                        <a:rPr sz="900" b="0">
                          <a:solidFill>
                            <a:srgbClr val="333333"/>
                          </a:solidFill>
                          <a:latin typeface="メイリオ"/>
                          <a:ea typeface="メイリオ"/>
                        </a:rPr>
                        <a:t>編集中の周辺が中心</a:t>
                      </a:r>
                    </a:p>
                  </a:txBody>
                  <a:tcPr anchor="ctr">
                    <a:solidFill>
                      <a:srgbClr val="D6E3F0"/>
                    </a:solidFill>
                  </a:tcPr>
                </a:tc>
                <a:tc>
                  <a:txBody>
                    <a:bodyPr/>
                    <a:lstStyle/>
                    <a:p>
                      <a:pPr algn="l"/>
                      <a:r>
                        <a:rPr sz="900" b="0">
                          <a:solidFill>
                            <a:srgbClr val="333333"/>
                          </a:solidFill>
                          <a:latin typeface="メイリオ"/>
                          <a:ea typeface="メイリオ"/>
                        </a:rPr>
                        <a:t>リポジトリ／ガイドを広く読ませやすい</a:t>
                      </a:r>
                    </a:p>
                  </a:txBody>
                  <a:tcPr anchor="ctr">
                    <a:solidFill>
                      <a:srgbClr val="D6E3F0"/>
                    </a:solidFill>
                  </a:tcPr>
                </a:tc>
              </a:tr>
              <a:tr h="312500">
                <a:tc>
                  <a:txBody>
                    <a:bodyPr/>
                    <a:lstStyle/>
                    <a:p>
                      <a:pPr algn="l"/>
                      <a:r>
                        <a:rPr sz="900" b="1">
                          <a:solidFill>
                            <a:srgbClr val="333333"/>
                          </a:solidFill>
                          <a:latin typeface="メイリオ"/>
                          <a:ea typeface="メイリオ"/>
                        </a:rPr>
                        <a:t>向く作業</a:t>
                      </a:r>
                    </a:p>
                  </a:txBody>
                  <a:tcPr anchor="ctr"/>
                </a:tc>
                <a:tc>
                  <a:txBody>
                    <a:bodyPr/>
                    <a:lstStyle/>
                    <a:p>
                      <a:pPr algn="l"/>
                      <a:r>
                        <a:rPr sz="900" b="0">
                          <a:solidFill>
                            <a:srgbClr val="333333"/>
                          </a:solidFill>
                          <a:latin typeface="メイリオ"/>
                          <a:ea typeface="メイリオ"/>
                        </a:rPr>
                        <a:t>小改修・定型実装</a:t>
                      </a:r>
                    </a:p>
                  </a:txBody>
                  <a:tcPr anchor="ctr"/>
                </a:tc>
                <a:tc>
                  <a:txBody>
                    <a:bodyPr/>
                    <a:lstStyle/>
                    <a:p>
                      <a:pPr algn="l"/>
                      <a:r>
                        <a:rPr sz="900" b="0">
                          <a:solidFill>
                            <a:srgbClr val="333333"/>
                          </a:solidFill>
                          <a:latin typeface="メイリオ"/>
                          <a:ea typeface="メイリオ"/>
                        </a:rPr>
                        <a:t>調査・横断改修・品質向上の伴走</a:t>
                      </a:r>
                    </a:p>
                  </a:txBody>
                  <a:tcPr anchor="ctr"/>
                </a:tc>
              </a:tr>
            </a:tbl>
          </a:graphicData>
        </a:graphic>
      </p:graphicFrame>
      <p:sp>
        <p:nvSpPr>
          <p:cNvPr id="7" name="TextBox 6"/>
          <p:cNvSpPr txBox="1"/>
          <p:nvPr/>
        </p:nvSpPr>
        <p:spPr>
          <a:xfrm>
            <a:off x="500000" y="4800000"/>
            <a:ext cx="9000000" cy="18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・その他：誤情報、根拠確認不足、チャット残存、属人化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