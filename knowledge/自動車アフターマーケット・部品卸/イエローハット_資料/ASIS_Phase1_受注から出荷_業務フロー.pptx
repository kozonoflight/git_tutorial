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6012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8961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2200" b="1">
                <a:solidFill>
                  <a:srgbClr val="17365D"/>
                </a:solidFill>
                <a:latin typeface="Yu Gothic"/>
              </a:rPr>
              <a:t>Phase1 AS-IS 業務フロー（受注～出荷）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04088"/>
            <a:ext cx="8961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000" b="0">
                <a:solidFill>
                  <a:srgbClr val="333333"/>
                </a:solidFill>
                <a:latin typeface="Yu Gothic"/>
              </a:rPr>
              <a:t>タイヤ・その他カー用品の卸業務　｜　先方確認用（決めつけない）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47104" y="274320"/>
            <a:ext cx="502920" cy="201168"/>
          </a:xfrm>
          <a:prstGeom prst="roundRect">
            <a:avLst/>
          </a:prstGeom>
          <a:solidFill>
            <a:srgbClr val="6B4B3E"/>
          </a:solidFill>
          <a:ln w="12700">
            <a:solidFill>
              <a:srgbClr val="6B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資料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7456" y="274320"/>
            <a:ext cx="9601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700" b="0">
                <a:solidFill>
                  <a:srgbClr val="333333"/>
                </a:solidFill>
                <a:latin typeface="Yu Gothic"/>
              </a:rPr>
              <a:t>資料根拠あり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5864" y="274320"/>
            <a:ext cx="50292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7072" y="274320"/>
            <a:ext cx="71323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700" b="0">
                <a:solidFill>
                  <a:srgbClr val="333333"/>
                </a:solidFill>
                <a:latin typeface="Yu Gothic"/>
              </a:rPr>
              <a:t>要確認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371600" cy="10012680"/>
          </a:xfrm>
          <a:prstGeom prst="rect">
            <a:avLst/>
          </a:prstGeom>
          <a:solidFill>
            <a:srgbClr val="F3F6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1371600" cy="4114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取引先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90472"/>
            <a:ext cx="1371600" cy="420624"/>
          </a:xfrm>
          <a:prstGeom prst="rect">
            <a:avLst/>
          </a:prstGeom>
          <a:solidFill>
            <a:srgbClr val="DCE6F1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50" b="0">
                <a:solidFill>
                  <a:srgbClr val="333333"/>
                </a:solidFill>
                <a:latin typeface="Yu Gothic"/>
              </a:rPr>
              <a:t>ディーラー／整備工場
YH FC／中古車販売店?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1078992"/>
            <a:ext cx="1572768" cy="1001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078992"/>
            <a:ext cx="1572768" cy="4114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受注・卸担当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490472"/>
            <a:ext cx="1572768" cy="420624"/>
          </a:xfrm>
          <a:prstGeom prst="rect">
            <a:avLst/>
          </a:prstGeom>
          <a:solidFill>
            <a:srgbClr val="DCE6F1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50" b="0">
                <a:solidFill>
                  <a:srgbClr val="333333"/>
                </a:solidFill>
                <a:latin typeface="Yu Gothic"/>
              </a:rPr>
              <a:t>YH／ジョイフル／両方?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078992"/>
            <a:ext cx="1325880" cy="10012680"/>
          </a:xfrm>
          <a:prstGeom prst="rect">
            <a:avLst/>
          </a:prstGeom>
          <a:solidFill>
            <a:srgbClr val="F3F6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078992"/>
            <a:ext cx="1325880" cy="4114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基幹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490472"/>
            <a:ext cx="1325880" cy="420624"/>
          </a:xfrm>
          <a:prstGeom prst="rect">
            <a:avLst/>
          </a:prstGeom>
          <a:solidFill>
            <a:srgbClr val="E7E6E6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50" b="0">
                <a:solidFill>
                  <a:srgbClr val="333333"/>
                </a:solidFill>
                <a:latin typeface="Yu Gothic"/>
              </a:rPr>
              <a:t>受注・売上・マスタ?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288" y="1078992"/>
            <a:ext cx="1499616" cy="1001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590288" y="1078992"/>
            <a:ext cx="1499616" cy="4114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WMS／倉庫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1490472"/>
            <a:ext cx="1499616" cy="420624"/>
          </a:xfrm>
          <a:prstGeom prst="rect">
            <a:avLst/>
          </a:prstGeom>
          <a:solidFill>
            <a:srgbClr val="E2F0D9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50" b="0">
                <a:solidFill>
                  <a:srgbClr val="333333"/>
                </a:solidFill>
                <a:latin typeface="Yu Gothic"/>
              </a:rPr>
              <a:t>自社在庫・出荷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9904" y="1078992"/>
            <a:ext cx="1353312" cy="10012680"/>
          </a:xfrm>
          <a:prstGeom prst="rect">
            <a:avLst/>
          </a:prstGeom>
          <a:solidFill>
            <a:srgbClr val="F3F6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1078992"/>
            <a:ext cx="1353312" cy="4114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店舗／POS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490472"/>
            <a:ext cx="1353312" cy="420624"/>
          </a:xfrm>
          <a:prstGeom prst="rect">
            <a:avLst/>
          </a:prstGeom>
          <a:solidFill>
            <a:srgbClr val="E7E6E6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50" b="0">
                <a:solidFill>
                  <a:srgbClr val="333333"/>
                </a:solidFill>
                <a:latin typeface="Yu Gothic"/>
              </a:rPr>
              <a:t>店舗在庫・入荷?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43216" y="1078992"/>
            <a:ext cx="1517904" cy="1001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7443216" y="1078992"/>
            <a:ext cx="1517904" cy="4114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メーカー／仕入先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1490472"/>
            <a:ext cx="1517904" cy="420624"/>
          </a:xfrm>
          <a:prstGeom prst="rect">
            <a:avLst/>
          </a:prstGeom>
          <a:solidFill>
            <a:srgbClr val="E2F0D9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50" b="0">
                <a:solidFill>
                  <a:srgbClr val="333333"/>
                </a:solidFill>
                <a:latin typeface="Yu Gothic"/>
              </a:rPr>
              <a:t>直送・取寄せ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" y="1938528"/>
            <a:ext cx="2468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620" b="1">
                <a:solidFill>
                  <a:srgbClr val="17365D"/>
                </a:solidFill>
                <a:latin typeface="Yu Gothic"/>
              </a:rPr>
              <a:t>1.
注文・見積依頼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0040" y="1938528"/>
            <a:ext cx="8641080" cy="0"/>
          </a:xfrm>
          <a:prstGeom prst="line">
            <a:avLst/>
          </a:prstGeom>
          <a:ln w="762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5720" y="2926080"/>
            <a:ext cx="2468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620" b="1">
                <a:solidFill>
                  <a:srgbClr val="17365D"/>
                </a:solidFill>
                <a:latin typeface="Yu Gothic"/>
              </a:rPr>
              <a:t>2.
受付・条件確認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" y="2926080"/>
            <a:ext cx="8641080" cy="0"/>
          </a:xfrm>
          <a:prstGeom prst="line">
            <a:avLst/>
          </a:prstGeom>
          <a:ln w="762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5720" y="4059936"/>
            <a:ext cx="2468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620" b="1">
                <a:solidFill>
                  <a:srgbClr val="17365D"/>
                </a:solidFill>
                <a:latin typeface="Yu Gothic"/>
              </a:rPr>
              <a:t>3.
受注起票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0040" y="4059936"/>
            <a:ext cx="8641080" cy="0"/>
          </a:xfrm>
          <a:prstGeom prst="line">
            <a:avLst/>
          </a:prstGeom>
          <a:ln w="762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5720" y="4956048"/>
            <a:ext cx="2468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620" b="1">
                <a:solidFill>
                  <a:srgbClr val="17365D"/>
                </a:solidFill>
                <a:latin typeface="Yu Gothic"/>
              </a:rPr>
              <a:t>4.
在庫・納期確認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0040" y="4956048"/>
            <a:ext cx="8641080" cy="0"/>
          </a:xfrm>
          <a:prstGeom prst="line">
            <a:avLst/>
          </a:prstGeom>
          <a:ln w="762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5720" y="6473952"/>
            <a:ext cx="2468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620" b="1">
                <a:solidFill>
                  <a:srgbClr val="17365D"/>
                </a:solidFill>
                <a:latin typeface="Yu Gothic"/>
              </a:rPr>
              <a:t>5.
出荷元の振分け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0040" y="6473952"/>
            <a:ext cx="8641080" cy="0"/>
          </a:xfrm>
          <a:prstGeom prst="line">
            <a:avLst/>
          </a:prstGeom>
          <a:ln w="762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5720" y="7562088"/>
            <a:ext cx="2468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620" b="1">
                <a:solidFill>
                  <a:srgbClr val="17365D"/>
                </a:solidFill>
                <a:latin typeface="Yu Gothic"/>
              </a:rPr>
              <a:t>6A.
自社倉庫出荷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0040" y="7562088"/>
            <a:ext cx="8641080" cy="0"/>
          </a:xfrm>
          <a:prstGeom prst="line">
            <a:avLst/>
          </a:prstGeom>
          <a:ln w="762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5720" y="8686800"/>
            <a:ext cx="2468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620" b="1">
                <a:solidFill>
                  <a:srgbClr val="17365D"/>
                </a:solidFill>
                <a:latin typeface="Yu Gothic"/>
              </a:rPr>
              <a:t>6B.
メーカー直送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0040" y="8686800"/>
            <a:ext cx="8641080" cy="0"/>
          </a:xfrm>
          <a:prstGeom prst="line">
            <a:avLst/>
          </a:prstGeom>
          <a:ln w="762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5720" y="9811512"/>
            <a:ext cx="2468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620" b="1">
                <a:solidFill>
                  <a:srgbClr val="17365D"/>
                </a:solidFill>
                <a:latin typeface="Yu Gothic"/>
              </a:rPr>
              <a:t>7.
出荷実績・回答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0040" y="9811512"/>
            <a:ext cx="8641080" cy="0"/>
          </a:xfrm>
          <a:prstGeom prst="line">
            <a:avLst/>
          </a:prstGeom>
          <a:ln w="762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48056" y="2112264"/>
            <a:ext cx="111556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000" b="1">
                <a:solidFill>
                  <a:srgbClr val="17365D"/>
                </a:solidFill>
                <a:latin typeface="Yu Gothic"/>
              </a:rPr>
              <a:t>注文／見積依頼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59" y="1975104"/>
            <a:ext cx="384048" cy="201168"/>
          </a:xfrm>
          <a:prstGeom prst="roundRect">
            <a:avLst/>
          </a:prstGeom>
          <a:solidFill>
            <a:srgbClr val="6B4B3E"/>
          </a:solidFill>
          <a:ln w="12700">
            <a:solidFill>
              <a:srgbClr val="6B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資料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2606040"/>
            <a:ext cx="1060704" cy="292608"/>
          </a:xfrm>
          <a:prstGeom prst="rect">
            <a:avLst/>
          </a:prstGeom>
          <a:solidFill>
            <a:srgbClr val="FCE4D6"/>
          </a:solidFill>
          <a:ln w="12700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1">
                <a:solidFill>
                  <a:srgbClr val="C65911"/>
                </a:solidFill>
                <a:latin typeface="Yu Gothic"/>
              </a:rPr>
              <a:t>電話・FAX・メール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618488" y="2350008"/>
            <a:ext cx="164592" cy="0"/>
          </a:xfrm>
          <a:prstGeom prst="line">
            <a:avLst/>
          </a:prstGeom>
          <a:ln w="22860">
            <a:solidFill>
              <a:srgbClr val="6B4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124712" y="2167128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0">
                <a:solidFill>
                  <a:srgbClr val="6B4B3E"/>
                </a:solidFill>
                <a:latin typeface="Yu Gothic"/>
              </a:rPr>
              <a:t>アナログ受注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01368" y="3054096"/>
            <a:ext cx="1353312" cy="384048"/>
          </a:xfrm>
          <a:prstGeom prst="roundRect">
            <a:avLst/>
          </a:prstGeom>
          <a:solidFill>
            <a:srgbClr val="6B4B3E"/>
          </a:solidFill>
          <a:ln w="12700">
            <a:solidFill>
              <a:srgbClr val="6B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受注受付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28216" y="2953512"/>
            <a:ext cx="384048" cy="201168"/>
          </a:xfrm>
          <a:prstGeom prst="roundRect">
            <a:avLst/>
          </a:prstGeom>
          <a:solidFill>
            <a:srgbClr val="6B4B3E"/>
          </a:solidFill>
          <a:ln w="12700">
            <a:solidFill>
              <a:srgbClr val="6B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資料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01368" y="3502152"/>
            <a:ext cx="1353312" cy="448056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19" b="1">
                <a:solidFill>
                  <a:srgbClr val="333333"/>
                </a:solidFill>
                <a:latin typeface="Yu Gothic"/>
              </a:rPr>
              <a:t>商品・適合／単価・掛率／
在庫・納期を確認？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0" y="3355848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3191256" y="3712463"/>
            <a:ext cx="164592" cy="0"/>
          </a:xfrm>
          <a:prstGeom prst="line">
            <a:avLst/>
          </a:prstGeom>
          <a:ln w="1524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191256" y="3877056"/>
            <a:ext cx="2990088" cy="0"/>
          </a:xfrm>
          <a:prstGeom prst="line">
            <a:avLst/>
          </a:prstGeom>
          <a:ln w="1524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1819656" y="4233672"/>
            <a:ext cx="1316736" cy="448056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900" b="1">
                <a:solidFill>
                  <a:srgbClr val="C65911"/>
                </a:solidFill>
                <a:latin typeface="Yu Gothic"/>
              </a:rPr>
              <a:t>受注内容を
基幹へ手入力？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37360" y="4096512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191256" y="4453128"/>
            <a:ext cx="182880" cy="0"/>
          </a:xfrm>
          <a:prstGeom prst="line">
            <a:avLst/>
          </a:prstGeom>
          <a:ln w="2286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3392424" y="4233672"/>
            <a:ext cx="1069848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40" b="1">
                <a:solidFill>
                  <a:srgbClr val="333333"/>
                </a:solidFill>
                <a:latin typeface="Yu Gothic"/>
              </a:rPr>
              <a:t>受注登録／売上起票？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74136" y="5184648"/>
            <a:ext cx="1106424" cy="41148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50" b="1">
                <a:solidFill>
                  <a:srgbClr val="C65911"/>
                </a:solidFill>
                <a:latin typeface="Yu Gothic"/>
              </a:rPr>
              <a:t>在庫・納期を照会？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81728" y="5157216"/>
            <a:ext cx="1316736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19" b="1">
                <a:solidFill>
                  <a:srgbClr val="333333"/>
                </a:solidFill>
                <a:latin typeface="Yu Gothic"/>
              </a:rPr>
              <a:t>卸倉庫在庫
（在庫の正はWMS？）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81344" y="5157216"/>
            <a:ext cx="1170432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19" b="1">
                <a:solidFill>
                  <a:srgbClr val="333333"/>
                </a:solidFill>
                <a:latin typeface="Yu Gothic"/>
              </a:rPr>
              <a:t>店舗在庫
（POSを参照？）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34656" y="5157216"/>
            <a:ext cx="1335024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19" b="1">
                <a:solidFill>
                  <a:srgbClr val="333333"/>
                </a:solidFill>
                <a:latin typeface="Yu Gothic"/>
              </a:rPr>
              <a:t>メーカー在庫・納期
（電話等で確認？）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91840" y="5001768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17720" y="5001768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17336" y="5001768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70648" y="5001768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4517136" y="5742432"/>
            <a:ext cx="146304" cy="0"/>
          </a:xfrm>
          <a:prstGeom prst="line">
            <a:avLst/>
          </a:prstGeom>
          <a:ln w="1270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4517136" y="5742432"/>
            <a:ext cx="1645920" cy="0"/>
          </a:xfrm>
          <a:prstGeom prst="line">
            <a:avLst/>
          </a:prstGeom>
          <a:ln w="1270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4517136" y="5742432"/>
            <a:ext cx="2999232" cy="0"/>
          </a:xfrm>
          <a:prstGeom prst="line">
            <a:avLst/>
          </a:prstGeom>
          <a:ln w="1270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801368" y="5925312"/>
            <a:ext cx="135331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50" b="1">
                <a:solidFill>
                  <a:srgbClr val="17365D"/>
                </a:solidFill>
                <a:latin typeface="Yu Gothic"/>
              </a:rPr>
              <a:t>見積・納期回答 → 注文確定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618488" y="6108192"/>
            <a:ext cx="146304" cy="0"/>
          </a:xfrm>
          <a:prstGeom prst="line">
            <a:avLst/>
          </a:prstGeom>
          <a:ln w="177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792224" y="6647688"/>
            <a:ext cx="1371600" cy="50292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900" b="1">
                <a:solidFill>
                  <a:srgbClr val="C65911"/>
                </a:solidFill>
                <a:latin typeface="Yu Gothic"/>
              </a:rPr>
              <a:t>出荷元を振分け？
担当者判断／手作業？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719072" y="6510528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55848" y="6675120"/>
            <a:ext cx="114300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50" b="1">
                <a:solidFill>
                  <a:srgbClr val="333333"/>
                </a:solidFill>
                <a:latin typeface="Yu Gothic"/>
              </a:rPr>
              <a:t>基幹で出荷指示？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218688" y="6903720"/>
            <a:ext cx="137160" cy="0"/>
          </a:xfrm>
          <a:prstGeom prst="line">
            <a:avLst/>
          </a:prstGeom>
          <a:ln w="1905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727448" y="6729984"/>
            <a:ext cx="1225295" cy="256032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1">
                <a:solidFill>
                  <a:srgbClr val="548235"/>
                </a:solidFill>
                <a:latin typeface="Yu Gothic"/>
              </a:rPr>
              <a:t>A 自社倉庫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80376" y="6729984"/>
            <a:ext cx="1243584" cy="256032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6B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1">
                <a:solidFill>
                  <a:srgbClr val="6B4B3E"/>
                </a:solidFill>
                <a:latin typeface="Yu Gothic"/>
              </a:rPr>
              <a:t>B メーカー直送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17920" y="7050024"/>
            <a:ext cx="1097280" cy="246888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50" b="1">
                <a:solidFill>
                  <a:srgbClr val="C65911"/>
                </a:solidFill>
                <a:latin typeface="Yu Gothic"/>
              </a:rPr>
              <a:t>店舗出荷もある？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517136" y="7790688"/>
            <a:ext cx="182880" cy="0"/>
          </a:xfrm>
          <a:prstGeom prst="line">
            <a:avLst/>
          </a:prstGeom>
          <a:ln w="1905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700016" y="7635240"/>
            <a:ext cx="12801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50" b="1">
                <a:solidFill>
                  <a:srgbClr val="333333"/>
                </a:solidFill>
                <a:latin typeface="Yu Gothic"/>
              </a:rPr>
              <a:t>出荷指示を受領？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700016" y="8092440"/>
            <a:ext cx="1280160" cy="411480"/>
          </a:xfrm>
          <a:prstGeom prst="round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ピッキング・梱包・出荷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617720" y="8028431"/>
            <a:ext cx="384048" cy="201168"/>
          </a:xfrm>
          <a:prstGeom prst="roundRect">
            <a:avLst/>
          </a:prstGeom>
          <a:solidFill>
            <a:srgbClr val="6B4B3E"/>
          </a:solidFill>
          <a:ln w="12700">
            <a:solidFill>
              <a:srgbClr val="6B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資料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1554480" y="8449056"/>
            <a:ext cx="3264408" cy="0"/>
          </a:xfrm>
          <a:prstGeom prst="line">
            <a:avLst/>
          </a:prstGeom>
          <a:ln w="2032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466344" y="8147304"/>
            <a:ext cx="10789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900" b="1">
                <a:solidFill>
                  <a:srgbClr val="17365D"/>
                </a:solidFill>
                <a:latin typeface="Yu Gothic"/>
              </a:rPr>
              <a:t>商品受領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517136" y="8933688"/>
            <a:ext cx="3035808" cy="0"/>
          </a:xfrm>
          <a:prstGeom prst="line">
            <a:avLst/>
          </a:prstGeom>
          <a:ln w="17780">
            <a:solidFill>
              <a:srgbClr val="6B4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552944" y="8842248"/>
            <a:ext cx="1298448" cy="393192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50" b="1">
                <a:solidFill>
                  <a:srgbClr val="C65911"/>
                </a:solidFill>
                <a:latin typeface="Yu Gothic"/>
              </a:rPr>
              <a:t>メーカーへ発注？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552944" y="9299448"/>
            <a:ext cx="1298448" cy="393192"/>
          </a:xfrm>
          <a:prstGeom prst="roundRect">
            <a:avLst/>
          </a:prstGeom>
          <a:solidFill>
            <a:srgbClr val="6B4B3E"/>
          </a:solidFill>
          <a:ln w="12700">
            <a:solidFill>
              <a:srgbClr val="6B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取引先へ直送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70648" y="9162288"/>
            <a:ext cx="384048" cy="201168"/>
          </a:xfrm>
          <a:prstGeom prst="roundRect">
            <a:avLst/>
          </a:prstGeom>
          <a:solidFill>
            <a:srgbClr val="6B4B3E"/>
          </a:solidFill>
          <a:ln w="12700">
            <a:solidFill>
              <a:srgbClr val="6B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資料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1554480" y="9646920"/>
            <a:ext cx="6071616" cy="0"/>
          </a:xfrm>
          <a:prstGeom prst="line">
            <a:avLst/>
          </a:prstGeom>
          <a:ln w="20320">
            <a:solidFill>
              <a:srgbClr val="6B4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4681728" y="9994392"/>
            <a:ext cx="131673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1">
                <a:solidFill>
                  <a:srgbClr val="333333"/>
                </a:solidFill>
                <a:latin typeface="Yu Gothic"/>
              </a:rPr>
              <a:t>出荷実績・送り状番号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534656" y="9994392"/>
            <a:ext cx="1335024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00" b="1">
                <a:solidFill>
                  <a:srgbClr val="333333"/>
                </a:solidFill>
                <a:latin typeface="Yu Gothic"/>
              </a:rPr>
              <a:t>直送実績・仕入情報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17720" y="9857232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70648" y="9857232"/>
            <a:ext cx="457200" cy="20116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想定?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4517136" y="10515600"/>
            <a:ext cx="146304" cy="0"/>
          </a:xfrm>
          <a:prstGeom prst="line">
            <a:avLst/>
          </a:prstGeom>
          <a:ln w="1524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4517136" y="10698480"/>
            <a:ext cx="2999232" cy="0"/>
          </a:xfrm>
          <a:prstGeom prst="line">
            <a:avLst/>
          </a:prstGeom>
          <a:ln w="1524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3374136" y="10369296"/>
            <a:ext cx="1106424" cy="4572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50" b="1">
                <a:solidFill>
                  <a:srgbClr val="C65911"/>
                </a:solidFill>
                <a:latin typeface="Yu Gothic"/>
              </a:rPr>
              <a:t>基幹へ出荷実績
反映？</a:t>
            </a:r>
          </a:p>
        </p:txBody>
      </p:sp>
      <p:cxnSp>
        <p:nvCxnSpPr>
          <p:cNvPr id="95" name="Connector 94"/>
          <p:cNvCxnSpPr/>
          <p:nvPr/>
        </p:nvCxnSpPr>
        <p:spPr>
          <a:xfrm flipH="1">
            <a:off x="3191256" y="10917936"/>
            <a:ext cx="146304" cy="0"/>
          </a:xfrm>
          <a:prstGeom prst="line">
            <a:avLst/>
          </a:prstGeom>
          <a:ln w="15240">
            <a:solidFill>
              <a:srgbClr val="C659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1801368" y="10561320"/>
            <a:ext cx="135331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819" b="1">
                <a:solidFill>
                  <a:srgbClr val="333333"/>
                </a:solidFill>
                <a:latin typeface="Yu Gothic"/>
              </a:rPr>
              <a:t>出荷連絡／請求処理？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11210544"/>
            <a:ext cx="8641080" cy="3200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先方に確認したいポイント（この図で合っていますか？）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" y="11530584"/>
            <a:ext cx="8641080" cy="987552"/>
          </a:xfrm>
          <a:prstGeom prst="rect">
            <a:avLst/>
          </a:prstGeom>
          <a:solidFill>
            <a:srgbClr val="F8F9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819" b="0">
                <a:solidFill>
                  <a:srgbClr val="333333"/>
                </a:solidFill>
                <a:latin typeface="Yu Gothic"/>
              </a:rPr>
              <a:t>① 卸事業の管理主体・実務主体は YH／ジョイフル／両方のどれか
② 受注担当者が基幹へ手入力しているか。見積・掛率・原価は何で管理しているか
③ 在庫の正は基幹／WMS／店舗POSのどれか。店舗在庫を卸受注に使っているか
④ 店舗仕入→POS入荷→基幹連携はあるか。卸倉庫仕入は別ルートか
⑤ 自社倉庫／メーカー直送の振分け、出荷指示・実績反映は誰が何で行うか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イエローハット Phase1 AS-IS 業務フロー（受注～出荷）</dc:title>
  <dc:subject>先方確認用。資料根拠と想定を分離。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