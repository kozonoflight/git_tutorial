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6012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80467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1400" b="0">
                <a:solidFill>
                  <a:srgbClr val="1F4E78"/>
                </a:solidFill>
                <a:latin typeface="Yu Gothic"/>
              </a:rPr>
              <a:t>株式会社イエローハット 御中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4892040"/>
            <a:ext cx="59436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2500" b="1">
                <a:solidFill>
                  <a:srgbClr val="1F4E78"/>
                </a:solidFill>
                <a:latin typeface="Yu Gothic"/>
              </a:rPr>
              <a:t>Phase1 AS-IS 業務フロー
（YH回答反映版）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3160" y="6400800"/>
            <a:ext cx="47548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1500" b="0">
                <a:solidFill>
                  <a:srgbClr val="333333"/>
                </a:solidFill>
                <a:latin typeface="Yu Gothic"/>
              </a:rPr>
              <a:t>登場人物・関連システム・受注～出荷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7315200"/>
            <a:ext cx="32918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2026/8/7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0927080"/>
            <a:ext cx="4754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1200" b="0">
                <a:solidFill>
                  <a:srgbClr val="333333"/>
                </a:solidFill>
                <a:latin typeface="Yu Gothic"/>
              </a:rPr>
              <a:t>株式会社フライトソリューションズ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80467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業務フロー（マスタ・仕入・入荷・在庫）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8046720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800" b="0">
                <a:solidFill>
                  <a:srgbClr val="666666"/>
                </a:solidFill>
                <a:latin typeface="Yu Gothic"/>
              </a:rPr>
              <a:t>YH回答：商品マスタ自動連携はPOSのみ／仕入データは各店舗・倉庫へ到着し入荷入力／入庫都度、基幹へ在庫集約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34440"/>
            <a:ext cx="1424940" cy="10424160"/>
          </a:xfrm>
          <a:prstGeom prst="rect">
            <a:avLst/>
          </a:prstGeom>
          <a:solidFill>
            <a:srgbClr val="F7F9FC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YH／ジョイフル
担当者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商品・顧客管理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1955291" y="1234440"/>
            <a:ext cx="1424940" cy="10424160"/>
          </a:xfrm>
          <a:prstGeom prst="rect">
            <a:avLst/>
          </a:prstGeom>
          <a:solidFill>
            <a:srgbClr val="FFFFFF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955291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基幹システム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5291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マスタ・在庫集約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0232" y="1234440"/>
            <a:ext cx="1424940" cy="10424160"/>
          </a:xfrm>
          <a:prstGeom prst="rect">
            <a:avLst/>
          </a:prstGeom>
          <a:solidFill>
            <a:srgbClr val="F7F9FC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80232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適合システム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0232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寸法で適合判定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5172" y="1234440"/>
            <a:ext cx="1424940" cy="10424160"/>
          </a:xfrm>
          <a:prstGeom prst="rect">
            <a:avLst/>
          </a:prstGeom>
          <a:solidFill>
            <a:srgbClr val="FFFFFF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805172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仕入先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5172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オンライン伝票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0112" y="1234440"/>
            <a:ext cx="1424940" cy="10424160"/>
          </a:xfrm>
          <a:prstGeom prst="rect">
            <a:avLst/>
          </a:prstGeom>
          <a:solidFill>
            <a:srgbClr val="F7F9FC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230112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倉庫
（在庫システム）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0112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実在庫の正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5051" y="1234440"/>
            <a:ext cx="1424940" cy="10424160"/>
          </a:xfrm>
          <a:prstGeom prst="rect">
            <a:avLst/>
          </a:prstGeom>
          <a:solidFill>
            <a:srgbClr val="FFFFFF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7655051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店舗
（POS）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55051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実在庫の正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" y="214884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商品
マスタ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214884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1792" y="2304288"/>
            <a:ext cx="1242060" cy="365760"/>
          </a:xfrm>
          <a:prstGeom prst="round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商品登録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185416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82139" y="2487168"/>
            <a:ext cx="146305" cy="0"/>
          </a:xfrm>
          <a:prstGeom prst="line">
            <a:avLst/>
          </a:prstGeom>
          <a:ln w="2032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046732" y="2286000"/>
            <a:ext cx="12420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1F4E78"/>
                </a:solidFill>
                <a:latin typeface="Yu Gothic"/>
              </a:rPr>
              <a:t>商品マスタ
（正）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25367" y="2542032"/>
            <a:ext cx="5042155" cy="384048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64779" y="2779776"/>
            <a:ext cx="1205484" cy="36576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商品マスタ
自動連携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73339" y="2660904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67762" y="2697480"/>
            <a:ext cx="1424940" cy="393192"/>
          </a:xfrm>
          <a:prstGeom prst="line">
            <a:avLst/>
          </a:prstGeom>
          <a:ln w="12700">
            <a:solidFill>
              <a:srgbClr val="ED7D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89960" y="2971800"/>
            <a:ext cx="1205484" cy="38404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70AD47"/>
                </a:solidFill>
                <a:latin typeface="Yu Gothic"/>
              </a:rPr>
              <a:t>基幹商品マスタを使用
CSVまたは画面入力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98520" y="2852928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667762" y="2743200"/>
            <a:ext cx="4274820" cy="749808"/>
          </a:xfrm>
          <a:prstGeom prst="line">
            <a:avLst/>
          </a:prstGeom>
          <a:ln w="12700">
            <a:solidFill>
              <a:srgbClr val="ED7D3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39840" y="3337560"/>
            <a:ext cx="1205484" cy="38404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70AD47"/>
                </a:solidFill>
                <a:latin typeface="Yu Gothic"/>
              </a:rPr>
              <a:t>基幹商品マスタを使用
CSVまたは画面入力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" y="388620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顧客
マスタ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388620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1792" y="4096512"/>
            <a:ext cx="1242060" cy="365760"/>
          </a:xfrm>
          <a:prstGeom prst="round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顧客登録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82139" y="4279392"/>
            <a:ext cx="146305" cy="0"/>
          </a:xfrm>
          <a:prstGeom prst="line">
            <a:avLst/>
          </a:prstGeom>
          <a:ln w="2032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046732" y="4078224"/>
            <a:ext cx="12420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1F4E78"/>
                </a:solidFill>
                <a:latin typeface="Yu Gothic"/>
              </a:rPr>
              <a:t>顧客マスタ
（正）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39840" y="4096512"/>
            <a:ext cx="1205484" cy="347472"/>
          </a:xfrm>
          <a:prstGeom prst="roundRect">
            <a:avLst/>
          </a:prstGeom>
          <a:solidFill>
            <a:srgbClr val="E7E6E6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0">
                <a:solidFill>
                  <a:srgbClr val="666666"/>
                </a:solidFill>
                <a:latin typeface="Yu Gothic"/>
              </a:rPr>
              <a:t>顧客情報なし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64779" y="4096512"/>
            <a:ext cx="1205484" cy="347472"/>
          </a:xfrm>
          <a:prstGeom prst="roundRect">
            <a:avLst/>
          </a:prstGeom>
          <a:solidFill>
            <a:srgbClr val="E7E6E6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0">
                <a:solidFill>
                  <a:srgbClr val="666666"/>
                </a:solidFill>
                <a:latin typeface="Yu Gothic"/>
              </a:rPr>
              <a:t>顧客情報非連携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73580" y="4572000"/>
            <a:ext cx="3134868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700" b="0">
                <a:solidFill>
                  <a:srgbClr val="70AD47"/>
                </a:solidFill>
                <a:latin typeface="Yu Gothic"/>
              </a:rPr>
              <a:t>予約システムにも顧客情報なし（YH回答）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" y="507492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適合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0352" y="507492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471672" y="5285232"/>
            <a:ext cx="1242060" cy="411480"/>
          </a:xfrm>
          <a:prstGeom prst="roundRect">
            <a:avLst/>
          </a:prstGeom>
          <a:solidFill>
            <a:srgbClr val="E4DFEC"/>
          </a:solidFill>
          <a:ln w="1016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8064A2"/>
                </a:solidFill>
                <a:latin typeface="Yu Gothic"/>
              </a:rPr>
              <a:t>寸法等で適合判定
→選択商品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98520" y="5166360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2667762" y="5715000"/>
            <a:ext cx="1424940" cy="0"/>
          </a:xfrm>
          <a:prstGeom prst="line">
            <a:avLst/>
          </a:prstGeom>
          <a:ln w="13970">
            <a:solidFill>
              <a:srgbClr val="8064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092451" y="5559552"/>
            <a:ext cx="2564892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700" b="0">
                <a:solidFill>
                  <a:srgbClr val="8064A2"/>
                </a:solidFill>
                <a:latin typeface="Yu Gothic"/>
              </a:rPr>
              <a:t>注文有無とは無関係／検索・選択時に利用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" y="608076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仕入
入荷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30352" y="608076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896612" y="6291072"/>
            <a:ext cx="124206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8B5A2B"/>
                </a:solidFill>
                <a:latin typeface="Yu Gothic"/>
              </a:rPr>
              <a:t>仕入先が伝発
オンライン送信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23459" y="6172200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517642" y="6748272"/>
            <a:ext cx="1424940" cy="475488"/>
          </a:xfrm>
          <a:prstGeom prst="line">
            <a:avLst/>
          </a:prstGeom>
          <a:ln w="17780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517642" y="6748272"/>
            <a:ext cx="2849880" cy="475488"/>
          </a:xfrm>
          <a:prstGeom prst="line">
            <a:avLst/>
          </a:prstGeom>
          <a:ln w="17780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4831842" y="6812280"/>
            <a:ext cx="1371600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700" b="1">
                <a:solidFill>
                  <a:srgbClr val="8B5A2B"/>
                </a:solidFill>
                <a:latin typeface="Yu Gothic"/>
              </a:rPr>
              <a:t>伝票データ・商品が到着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1552" y="7269480"/>
            <a:ext cx="1242060" cy="50292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倉庫システムで
入荷入力（入庫都度）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8400" y="7150608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46491" y="7269480"/>
            <a:ext cx="1242060" cy="50292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POSで
入荷入力（入庫都度）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73339" y="7150608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50892" y="7882127"/>
            <a:ext cx="3704844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650" b="0">
                <a:solidFill>
                  <a:srgbClr val="666666"/>
                </a:solidFill>
                <a:latin typeface="Yu Gothic"/>
              </a:rPr>
              <a:t>※YH回答の「入荷場所で承認すると反映」＝倉庫・店舗での入荷入力と解釈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2667762" y="7818120"/>
            <a:ext cx="4274820" cy="457200"/>
          </a:xfrm>
          <a:prstGeom prst="line">
            <a:avLst/>
          </a:prstGeom>
          <a:ln w="1778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667762" y="7818120"/>
            <a:ext cx="5699760" cy="640080"/>
          </a:xfrm>
          <a:prstGeom prst="line">
            <a:avLst/>
          </a:prstGeom>
          <a:ln w="1778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5212080" y="8101583"/>
            <a:ext cx="1828800" cy="2286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700" b="0">
                <a:solidFill>
                  <a:srgbClr val="70AD47"/>
                </a:solidFill>
                <a:latin typeface="Yu Gothic"/>
              </a:rPr>
              <a:t>在庫・入荷実績を基幹へ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" y="877824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在庫
集約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30352" y="877824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2046732" y="9006840"/>
            <a:ext cx="124206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1F4E78"/>
                </a:solidFill>
                <a:latin typeface="Yu Gothic"/>
              </a:rPr>
              <a:t>倉庫＋店舗在庫を
基幹で集約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973580" y="8887968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21552" y="9006840"/>
            <a:ext cx="1242060" cy="512064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倉庫実在庫の正
数量管理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46491" y="9006840"/>
            <a:ext cx="1242060" cy="512064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店舗実在庫の正
POS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3232" y="10195560"/>
            <a:ext cx="8183879" cy="1005840"/>
          </a:xfrm>
          <a:prstGeom prst="roundRect">
            <a:avLst/>
          </a:prstGeom>
          <a:solidFill>
            <a:srgbClr val="F2F2F2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l"/>
            <a:r>
              <a:rPr sz="750" b="0">
                <a:solidFill>
                  <a:srgbClr val="333333"/>
                </a:solidFill>
                <a:latin typeface="Yu Gothic"/>
              </a:rPr>
              <a:t>YH回答＋8/7整理で確定：
・商品マスタの自動連携はPOSのみ。適合・倉庫へはCSVまたは画面入力で反映
・仕入データ／商品の到着先は各店舗・倉庫。POS／倉庫システムで入荷入力し、入庫都度基幹へ反映
・倉庫＝倉庫在庫システム、店舗＝POSが実在庫の正で、基幹が集約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80467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業務フロー（受注・引当・出荷）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8046720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800" b="0">
                <a:solidFill>
                  <a:srgbClr val="666666"/>
                </a:solidFill>
                <a:latin typeface="Yu Gothic"/>
              </a:rPr>
              <a:t>YH回答：店舗から配送出荷しない／物流部が各倉庫へ指示（メール・電話と仮置き）／出荷実績登録＝在庫減算・出荷完了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34440"/>
            <a:ext cx="1424940" cy="10424160"/>
          </a:xfrm>
          <a:prstGeom prst="rect">
            <a:avLst/>
          </a:prstGeom>
          <a:solidFill>
            <a:srgbClr val="F7F9FC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取引先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ディーラー等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1955291" y="1234440"/>
            <a:ext cx="1424940" cy="10424160"/>
          </a:xfrm>
          <a:prstGeom prst="rect">
            <a:avLst/>
          </a:prstGeom>
          <a:solidFill>
            <a:srgbClr val="FFFFFF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955291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YH／ジョイフル
受注担当</a:t>
            </a:r>
          </a:p>
        </p:txBody>
      </p:sp>
      <p:sp>
        <p:nvSpPr>
          <p:cNvPr id="9" name="Rectangle 8"/>
          <p:cNvSpPr/>
          <p:nvPr/>
        </p:nvSpPr>
        <p:spPr>
          <a:xfrm>
            <a:off x="1955291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受注管理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0232" y="1234440"/>
            <a:ext cx="1424940" cy="10424160"/>
          </a:xfrm>
          <a:prstGeom prst="rect">
            <a:avLst/>
          </a:prstGeom>
          <a:solidFill>
            <a:srgbClr val="F7F9FC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380232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基幹システム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0232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受注・引当の正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5172" y="1234440"/>
            <a:ext cx="1424940" cy="10424160"/>
          </a:xfrm>
          <a:prstGeom prst="rect">
            <a:avLst/>
          </a:prstGeom>
          <a:solidFill>
            <a:srgbClr val="FFFFFF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805172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物流部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5172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出荷コントロール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0112" y="1234440"/>
            <a:ext cx="1424940" cy="10424160"/>
          </a:xfrm>
          <a:prstGeom prst="rect">
            <a:avLst/>
          </a:prstGeom>
          <a:solidFill>
            <a:srgbClr val="F7F9FC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230112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倉庫
（在庫システム）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0112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配送出荷拠点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5051" y="1234440"/>
            <a:ext cx="1424940" cy="10424160"/>
          </a:xfrm>
          <a:prstGeom prst="rect">
            <a:avLst/>
          </a:prstGeom>
          <a:solidFill>
            <a:srgbClr val="FFFFFF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0">
                <a:solidFill>
                  <a:srgbClr val="333333"/>
                </a:solidFill>
                <a:latin typeface="Yu Gothic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7655051" y="1234440"/>
            <a:ext cx="1424940" cy="393192"/>
          </a:xfrm>
          <a:prstGeom prst="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店舗
（POS）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55051" y="1627632"/>
            <a:ext cx="1424940" cy="384048"/>
          </a:xfrm>
          <a:prstGeom prst="rect">
            <a:avLst/>
          </a:prstGeom>
          <a:solidFill>
            <a:srgbClr val="D9EAF7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680" b="0">
                <a:solidFill>
                  <a:srgbClr val="333333"/>
                </a:solidFill>
                <a:latin typeface="Yu Gothic"/>
              </a:rPr>
              <a:t>作業時在庫拠点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" y="214884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注文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" y="214884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1792" y="2331720"/>
            <a:ext cx="1242060" cy="420624"/>
          </a:xfrm>
          <a:prstGeom prst="roundRect">
            <a:avLst/>
          </a:prstGeom>
          <a:solidFill>
            <a:srgbClr val="1F4E78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電話・FAX・メール
で注文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212848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00427" y="2542032"/>
            <a:ext cx="128017" cy="0"/>
          </a:xfrm>
          <a:prstGeom prst="line">
            <a:avLst/>
          </a:prstGeom>
          <a:ln w="2032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046732" y="2331720"/>
            <a:ext cx="1242060" cy="420624"/>
          </a:xfrm>
          <a:prstGeom prst="roundRect">
            <a:avLst/>
          </a:prstGeom>
          <a:solidFill>
            <a:srgbClr val="8B5A2B"/>
          </a:solidFill>
          <a:ln w="1016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注文受付
基幹へ手入力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25367" y="2542032"/>
            <a:ext cx="128017" cy="0"/>
          </a:xfrm>
          <a:prstGeom prst="line">
            <a:avLst/>
          </a:prstGeom>
          <a:ln w="20320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71672" y="2331720"/>
            <a:ext cx="124206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1F4E78"/>
                </a:solidFill>
                <a:latin typeface="Yu Gothic"/>
              </a:rPr>
              <a:t>受注登録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" y="306324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在庫
引当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0352" y="306324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71672" y="3273552"/>
            <a:ext cx="124206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1F4E78"/>
                </a:solidFill>
                <a:latin typeface="Yu Gothic"/>
              </a:rPr>
              <a:t>基幹を正に
在庫引当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98520" y="3154680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92702" y="3767328"/>
            <a:ext cx="2849880" cy="210311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092702" y="3767328"/>
            <a:ext cx="4274820" cy="39319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321552" y="3840480"/>
            <a:ext cx="1242060" cy="38404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引当情報を受領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46491" y="4005072"/>
            <a:ext cx="1242060" cy="41148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30" b="1">
                <a:solidFill>
                  <a:srgbClr val="70AD47"/>
                </a:solidFill>
                <a:latin typeface="Yu Gothic"/>
              </a:rPr>
              <a:t>店舗在庫の引当
（タイヤ着脱時）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" y="452628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出荷
判断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2" y="452628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896612" y="4736592"/>
            <a:ext cx="1242060" cy="512064"/>
          </a:xfrm>
          <a:prstGeom prst="roundRect">
            <a:avLst/>
          </a:prstGeom>
          <a:solidFill>
            <a:srgbClr val="D9EAF7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2E75B6"/>
                </a:solidFill>
                <a:latin typeface="Yu Gothic"/>
              </a:rPr>
              <a:t>物流部が制御
メール・電話（仮）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23459" y="4617720"/>
            <a:ext cx="502920" cy="182880"/>
          </a:xfrm>
          <a:prstGeom prst="round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仮置き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092702" y="4773168"/>
            <a:ext cx="1424940" cy="0"/>
          </a:xfrm>
          <a:prstGeom prst="line">
            <a:avLst/>
          </a:prstGeom>
          <a:ln w="15240">
            <a:solidFill>
              <a:srgbClr val="1F4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471672" y="5102352"/>
            <a:ext cx="284988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80" b="0">
                <a:solidFill>
                  <a:srgbClr val="666666"/>
                </a:solidFill>
                <a:latin typeface="Yu Gothic"/>
              </a:rPr>
              <a:t>出荷元・指示内容を連絡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" y="553212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倉庫
出荷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0352" y="553212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517642" y="5303520"/>
            <a:ext cx="1424940" cy="502920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321552" y="5687568"/>
            <a:ext cx="1242060" cy="45720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各倉庫へ指示
ピッキング・出荷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48400" y="5568696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242822" y="6263640"/>
            <a:ext cx="5699760" cy="18288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21792" y="6245352"/>
            <a:ext cx="124206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800" b="1">
                <a:solidFill>
                  <a:srgbClr val="1F4E78"/>
                </a:solidFill>
                <a:latin typeface="Yu Gothic"/>
              </a:rPr>
              <a:t>商品受領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6309360"/>
            <a:ext cx="2194560" cy="21031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700" b="1">
                <a:solidFill>
                  <a:srgbClr val="70AD47"/>
                </a:solidFill>
                <a:latin typeface="Yu Gothic"/>
              </a:rPr>
              <a:t>配送出荷（店舗からは出荷しない）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46491" y="5687568"/>
            <a:ext cx="1242060" cy="457200"/>
          </a:xfrm>
          <a:prstGeom prst="roundRect">
            <a:avLst/>
          </a:prstGeom>
          <a:solidFill>
            <a:srgbClr val="FCE4D6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C00000"/>
                </a:solidFill>
                <a:latin typeface="Yu Gothic"/>
              </a:rPr>
              <a:t>店舗からは
配送出荷しない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" y="690372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作業
利用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0352" y="690372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746491" y="7114032"/>
            <a:ext cx="1242060" cy="50292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30" b="1">
                <a:solidFill>
                  <a:srgbClr val="70AD47"/>
                </a:solidFill>
                <a:latin typeface="Yu Gothic"/>
              </a:rPr>
              <a:t>タイヤ着脱時は
店舗在庫を使用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73339" y="6995160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96612" y="7132320"/>
            <a:ext cx="1242060" cy="502920"/>
          </a:xfrm>
          <a:prstGeom prst="roundRect">
            <a:avLst/>
          </a:prstGeom>
          <a:solidFill>
            <a:srgbClr val="FCE4D6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00" b="1">
                <a:solidFill>
                  <a:srgbClr val="ED7D31"/>
                </a:solidFill>
                <a:latin typeface="Yu Gothic"/>
              </a:rPr>
              <a:t>★Phase1の卸販売でも
発生するかがポイント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23459" y="7013448"/>
            <a:ext cx="502920" cy="182880"/>
          </a:xfrm>
          <a:prstGeom prst="roundRect">
            <a:avLst/>
          </a:prstGeom>
          <a:solidFill>
            <a:srgbClr val="ED7D31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要確認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" y="8092440"/>
            <a:ext cx="438912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1F4E78"/>
                </a:solidFill>
                <a:latin typeface="Yu Gothic"/>
              </a:rPr>
              <a:t>出荷
実績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30352" y="8092440"/>
            <a:ext cx="8549640" cy="0"/>
          </a:xfrm>
          <a:prstGeom prst="line">
            <a:avLst/>
          </a:prstGeom>
          <a:ln w="635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321552" y="8302752"/>
            <a:ext cx="1242060" cy="54864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出荷実績登録
＝在庫減算・出荷完了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48400" y="8183879"/>
            <a:ext cx="502920" cy="182880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Yu Gothic"/>
              </a:rPr>
              <a:t>確定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4092702" y="8915400"/>
            <a:ext cx="2849880" cy="210312"/>
          </a:xfrm>
          <a:prstGeom prst="line">
            <a:avLst/>
          </a:prstGeom>
          <a:ln w="1651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3471672" y="9006840"/>
            <a:ext cx="124206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1F4E78"/>
                </a:solidFill>
                <a:latin typeface="Yu Gothic"/>
              </a:rPr>
              <a:t>基幹へ実績反映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46491" y="8302752"/>
            <a:ext cx="1242060" cy="548640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50" b="1">
                <a:solidFill>
                  <a:srgbClr val="70AD47"/>
                </a:solidFill>
                <a:latin typeface="Yu Gothic"/>
              </a:rPr>
              <a:t>店舗利用分は
POSで売上計上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50892" y="9528048"/>
            <a:ext cx="3989832" cy="219456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680" b="0">
                <a:solidFill>
                  <a:srgbClr val="666666"/>
                </a:solidFill>
                <a:latin typeface="Yu Gothic"/>
              </a:rPr>
              <a:t>※「売上計上」＝出荷実績登録（在庫を減らし出荷完了とする）と整理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46491" y="9829800"/>
            <a:ext cx="1242060" cy="457200"/>
          </a:xfrm>
          <a:prstGeom prst="roundRect">
            <a:avLst/>
          </a:prstGeom>
          <a:solidFill>
            <a:srgbClr val="FCE4D6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/>
          <a:lstStyle/>
          <a:p>
            <a:pPr algn="ctr"/>
            <a:r>
              <a:rPr sz="730" b="1">
                <a:solidFill>
                  <a:srgbClr val="C00000"/>
                </a:solidFill>
                <a:latin typeface="Yu Gothic"/>
              </a:rPr>
              <a:t>POSに出荷ステータス
管理機能なし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3232" y="10561320"/>
            <a:ext cx="8183879" cy="777240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l"/>
            <a:r>
              <a:rPr sz="730" b="0">
                <a:solidFill>
                  <a:srgbClr val="333333"/>
                </a:solidFill>
                <a:latin typeface="Yu Gothic"/>
              </a:rPr>
              <a:t>欠品時のメーカー手配（要望確認済）：新ECでは「自社在庫を表示 → 欠品時は取寄せ注文 → 管理サイトからメーカーへ発注指示」で先方了承。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80467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1600" b="1">
                <a:solidFill>
                  <a:srgbClr val="1F4E78"/>
                </a:solidFill>
                <a:latin typeface="Yu Gothic"/>
              </a:rPr>
              <a:t>整理結果と残る確認事項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8046720" cy="237744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l"/>
            <a:r>
              <a:rPr sz="800" b="0">
                <a:solidFill>
                  <a:srgbClr val="666666"/>
                </a:solidFill>
                <a:latin typeface="Yu Gothic"/>
              </a:rPr>
              <a:t>8/7整理：仮置き・解釈で潰した項目と、残る本丸1点＋補足1点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977639" cy="438912"/>
          </a:xfrm>
          <a:prstGeom prst="roundRect">
            <a:avLst/>
          </a:prstGeom>
          <a:solidFill>
            <a:srgbClr val="70AD47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確定・整理済み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74519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1. 受注管理：YH＋ジョイフル／出荷コントロール：物流部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51176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2. 商品マスタ自動連携はPOSのみ。適合・倉庫へはCSVまたは画面入力／予約に顧客情報なし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227832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3. 実在庫：倉庫システム・POSが正、基幹が集約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904488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4. 仕入データ・商品の到着先は各店舗・倉庫。POS／倉庫システムで入荷入力（入庫都度）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81144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5. 受注：電話・FAX・メール→基幹手入力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257800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6. 引当：基幹が正→倉庫／POSへ連携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934456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7. 店舗から配送出荷しない／タイヤ着脱時は店舗在庫を使用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6611112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8. 「売上計上」＝出荷実績登録（在庫減算・出荷完了）と整理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7287768"/>
            <a:ext cx="3794760" cy="566928"/>
          </a:xfrm>
          <a:prstGeom prst="roundRect">
            <a:avLst/>
          </a:prstGeom>
          <a:solidFill>
            <a:srgbClr val="E2F0D9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/>
          <a:lstStyle/>
          <a:p>
            <a:pPr algn="l"/>
            <a:r>
              <a:rPr sz="760" b="0">
                <a:solidFill>
                  <a:srgbClr val="333333"/>
                </a:solidFill>
                <a:latin typeface="Yu Gothic"/>
              </a:rPr>
              <a:t>9. 物流部の指示手段：メール・電話（仮置き。詳細は打合せで補足）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19472" y="1325880"/>
            <a:ext cx="3977639" cy="438912"/>
          </a:xfrm>
          <a:prstGeom prst="roundRect">
            <a:avLst/>
          </a:prstGeom>
          <a:solidFill>
            <a:srgbClr val="ED7D31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</a:rPr>
              <a:t>残る確認（本丸1点）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874519"/>
            <a:ext cx="530352" cy="310896"/>
          </a:xfrm>
          <a:prstGeom prst="roundRect">
            <a:avLst/>
          </a:prstGeom>
          <a:solidFill>
            <a:srgbClr val="ED7D31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/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874519"/>
            <a:ext cx="3182112" cy="1417320"/>
          </a:xfrm>
          <a:prstGeom prst="roundRect">
            <a:avLst/>
          </a:prstGeom>
          <a:solidFill>
            <a:srgbClr val="FCE4D6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l"/>
            <a:r>
              <a:rPr sz="800" b="0">
                <a:solidFill>
                  <a:srgbClr val="333333"/>
                </a:solidFill>
                <a:latin typeface="Yu Gothic"/>
              </a:rPr>
              <a:t>タイヤ着脱での店舗在庫利用は、Phase1の卸販売（BtoB注文）でも発生しますか？
それとも作業依頼（Phase2側）のみでしょうか。
→ Phase1の在庫表示・引当設計に店舗在庫を含めるかが決まる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8549640"/>
            <a:ext cx="8010144" cy="914400"/>
          </a:xfrm>
          <a:prstGeom prst="roundRect">
            <a:avLst/>
          </a:prstGeom>
          <a:solidFill>
            <a:srgbClr val="D9EAF7"/>
          </a:solidFill>
          <a:ln w="1016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100" b="1">
                <a:solidFill>
                  <a:srgbClr val="1F4E78"/>
                </a:solidFill>
                <a:latin typeface="Yu Gothic"/>
              </a:rPr>
              <a:t>業務フローの骨格（確定）：
入荷・在庫更新＝倉庫／店舗起点 → 基幹集約。BtoB配送出荷＝物流部 → 倉庫のみ。
店舗在庫はタイヤ着脱作業で使用（Phase1に含むかが残る論点）。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9784080"/>
            <a:ext cx="8010144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A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800" b="0">
                <a:solidFill>
                  <a:srgbClr val="333333"/>
                </a:solidFill>
                <a:latin typeface="Yu Gothic"/>
              </a:rPr>
              <a:t>凡例：緑＝確定　／　青＝仮置き（メール・電話）　／　オレンジ＝要確認　／　赤＝店舗配送出荷なし・POSステータスなし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イエローハット Phase1 AS-IS 業務フロー（YH回答反映）</dc:title>
  <dc:subject>2026-08-05 YH回答＋8/7整理を反映した業務フロー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