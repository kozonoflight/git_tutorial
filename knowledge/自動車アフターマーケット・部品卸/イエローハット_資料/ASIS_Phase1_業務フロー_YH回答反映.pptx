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6012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" y="45720"/>
            <a:ext cx="9509760" cy="1271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8046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400" b="0">
                <a:solidFill>
                  <a:srgbClr val="1F4E78"/>
                </a:solidFill>
                <a:latin typeface="Yu Gothic"/>
              </a:rPr>
              <a:t>株式会社イエローハット 御中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4892040"/>
            <a:ext cx="594360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2500" b="1">
                <a:solidFill>
                  <a:srgbClr val="1F4E78"/>
                </a:solidFill>
                <a:latin typeface="Yu Gothic"/>
              </a:rPr>
              <a:t>Phase1 AS-IS 業務フロー
（YH回答反映版）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423160" y="6400800"/>
            <a:ext cx="475488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500" b="0">
                <a:solidFill>
                  <a:srgbClr val="333333"/>
                </a:solidFill>
                <a:latin typeface="Yu Gothic"/>
              </a:rPr>
              <a:t>登場人物・関連システム・受注～出荷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7315200"/>
            <a:ext cx="329184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200" b="0">
                <a:solidFill>
                  <a:srgbClr val="666666"/>
                </a:solidFill>
                <a:latin typeface="Yu Gothic"/>
              </a:rPr>
              <a:t>2026/8/7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0927080"/>
            <a:ext cx="475488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200" b="0">
                <a:solidFill>
                  <a:srgbClr val="333333"/>
                </a:solidFill>
                <a:latin typeface="Yu Gothic"/>
              </a:rPr>
              <a:t>株式会社フライトソリューションズ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業務フロー（マスタ・仕入・入荷・在庫）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YH回答：商品マスタ自動連携はPOSのみ／入庫都度、倉庫・店舗側から基幹へ在庫集約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YH／ジョイフル
担当者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商品・顧客管理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195529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5529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基幹システム</a:t>
            </a:r>
          </a:p>
        </p:txBody>
      </p:sp>
      <p:sp>
        <p:nvSpPr>
          <p:cNvPr id="9" name="Rectangle 8"/>
          <p:cNvSpPr/>
          <p:nvPr/>
        </p:nvSpPr>
        <p:spPr>
          <a:xfrm>
            <a:off x="195529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マスタ・在庫集約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023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8023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適合システム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023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寸法で適合判定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5172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0517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仕入先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517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オンライン伝票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1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23011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倉庫
（在庫システム）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011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実在庫の正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505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65505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店舗
（POS）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5505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実在庫の正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" y="21488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商品
マスタ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" y="21488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1792" y="2304288"/>
            <a:ext cx="1242060" cy="365760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商品登録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185416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82139" y="2487168"/>
            <a:ext cx="146305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046732" y="2286000"/>
            <a:ext cx="1242060" cy="411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商品マスタ
（正）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25367" y="2542032"/>
            <a:ext cx="5042155" cy="384048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764779" y="2779776"/>
            <a:ext cx="1205484" cy="36576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商品マスタ
自動連携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73339" y="2660904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67762" y="2697480"/>
            <a:ext cx="1424940" cy="393192"/>
          </a:xfrm>
          <a:prstGeom prst="line">
            <a:avLst/>
          </a:prstGeom>
          <a:ln w="1270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489960" y="2971800"/>
            <a:ext cx="1205484" cy="3840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ED7D31"/>
                </a:solidFill>
                <a:latin typeface="Yu Gothic"/>
              </a:rPr>
              <a:t>基幹商品マスタを使用
反映方法は要確認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98520" y="2852928"/>
            <a:ext cx="502920" cy="182880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要確認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667762" y="2743200"/>
            <a:ext cx="4274820" cy="749808"/>
          </a:xfrm>
          <a:prstGeom prst="line">
            <a:avLst/>
          </a:prstGeom>
          <a:ln w="1270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39840" y="3337560"/>
            <a:ext cx="1205484" cy="3840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ED7D31"/>
                </a:solidFill>
                <a:latin typeface="Yu Gothic"/>
              </a:rPr>
              <a:t>基幹商品マスタを使用
自動連携ではない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" y="388620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顧客
マスタ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0352" y="388620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21792" y="4096512"/>
            <a:ext cx="1242060" cy="365760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顧客登録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882139" y="4279392"/>
            <a:ext cx="146305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046732" y="4078224"/>
            <a:ext cx="1242060" cy="411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顧客マスタ
（正）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39840" y="4096512"/>
            <a:ext cx="1205484" cy="347472"/>
          </a:xfrm>
          <a:prstGeom prst="roundRect">
            <a:avLst/>
          </a:prstGeom>
          <a:solidFill>
            <a:srgbClr val="E7E6E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0">
                <a:solidFill>
                  <a:srgbClr val="666666"/>
                </a:solidFill>
                <a:latin typeface="Yu Gothic"/>
              </a:rPr>
              <a:t>顧客情報なし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64779" y="4096512"/>
            <a:ext cx="1205484" cy="347472"/>
          </a:xfrm>
          <a:prstGeom prst="roundRect">
            <a:avLst/>
          </a:prstGeom>
          <a:solidFill>
            <a:srgbClr val="E7E6E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0">
                <a:solidFill>
                  <a:srgbClr val="666666"/>
                </a:solidFill>
                <a:latin typeface="Yu Gothic"/>
              </a:rPr>
              <a:t>顧客情報非連携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73580" y="4572000"/>
            <a:ext cx="3134868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700" b="0">
                <a:solidFill>
                  <a:srgbClr val="70AD47"/>
                </a:solidFill>
                <a:latin typeface="Yu Gothic"/>
              </a:rPr>
              <a:t>予約システムにも顧客情報なし（YH回答）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" y="50749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適合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0352" y="50749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471672" y="5285232"/>
            <a:ext cx="1242060" cy="411480"/>
          </a:xfrm>
          <a:prstGeom prst="roundRect">
            <a:avLst/>
          </a:prstGeom>
          <a:solidFill>
            <a:srgbClr val="E4DFEC"/>
          </a:solidFill>
          <a:ln w="1016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8064A2"/>
                </a:solidFill>
                <a:latin typeface="Yu Gothic"/>
              </a:rPr>
              <a:t>寸法等で適合判定
→選択商品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98520" y="516636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2667762" y="5715000"/>
            <a:ext cx="1424940" cy="0"/>
          </a:xfrm>
          <a:prstGeom prst="line">
            <a:avLst/>
          </a:prstGeom>
          <a:ln w="13970">
            <a:solidFill>
              <a:srgbClr val="8064A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092451" y="5559552"/>
            <a:ext cx="2564892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700" b="0">
                <a:solidFill>
                  <a:srgbClr val="8064A2"/>
                </a:solidFill>
                <a:latin typeface="Yu Gothic"/>
              </a:rPr>
              <a:t>注文有無とは無関係／検索・選択時に利用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" y="608076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仕入
入荷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30352" y="608076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896612" y="6291072"/>
            <a:ext cx="1242060" cy="4206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8B5A2B"/>
                </a:solidFill>
                <a:latin typeface="Yu Gothic"/>
              </a:rPr>
              <a:t>仕入先が伝発
オンライン送信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23459" y="617220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2667762" y="6766560"/>
            <a:ext cx="2247138" cy="0"/>
          </a:xfrm>
          <a:prstGeom prst="line">
            <a:avLst/>
          </a:prstGeom>
          <a:ln w="1651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2065020" y="6583680"/>
            <a:ext cx="1205484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1F4E78"/>
                </a:solidFill>
                <a:latin typeface="Yu Gothic"/>
              </a:rPr>
              <a:t>仕入データ受信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517642" y="6903720"/>
            <a:ext cx="1424940" cy="576072"/>
          </a:xfrm>
          <a:prstGeom prst="line">
            <a:avLst/>
          </a:prstGeom>
          <a:ln w="1778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517642" y="6903720"/>
            <a:ext cx="2849880" cy="576072"/>
          </a:xfrm>
          <a:prstGeom prst="line">
            <a:avLst/>
          </a:prstGeom>
          <a:ln w="1778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197602" y="6967728"/>
            <a:ext cx="64008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1">
                <a:solidFill>
                  <a:srgbClr val="8B5A2B"/>
                </a:solidFill>
                <a:latin typeface="Yu Gothic"/>
              </a:rPr>
              <a:t>納品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21552" y="7342631"/>
            <a:ext cx="1242060" cy="45720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入荷場所で承認
入庫都度反映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46491" y="7342631"/>
            <a:ext cx="1242060" cy="45720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店舗で入荷承認
POSへ入庫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667762" y="7936992"/>
            <a:ext cx="4274820" cy="338328"/>
          </a:xfrm>
          <a:prstGeom prst="line">
            <a:avLst/>
          </a:prstGeom>
          <a:ln w="1778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667762" y="7936992"/>
            <a:ext cx="5699760" cy="521208"/>
          </a:xfrm>
          <a:prstGeom prst="line">
            <a:avLst/>
          </a:prstGeom>
          <a:ln w="1778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5212080" y="8065008"/>
            <a:ext cx="182880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0">
                <a:solidFill>
                  <a:srgbClr val="70AD47"/>
                </a:solidFill>
                <a:latin typeface="Yu Gothic"/>
              </a:rPr>
              <a:t>在庫・入荷実績を基幹へ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" y="87782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在庫
集約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0352" y="87782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046732" y="9006840"/>
            <a:ext cx="124206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倉庫＋店舗在庫を
基幹で集約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73580" y="888796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21552" y="9006840"/>
            <a:ext cx="1242060" cy="512064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倉庫実在庫の正
数量管理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746491" y="9006840"/>
            <a:ext cx="1242060" cy="512064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店舗実在庫の正
POS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3232" y="10195560"/>
            <a:ext cx="8183879" cy="1005840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l"/>
            <a:r>
              <a:rPr sz="750" b="0">
                <a:solidFill>
                  <a:srgbClr val="333333"/>
                </a:solidFill>
                <a:latin typeface="Yu Gothic"/>
              </a:rPr>
              <a:t>YH回答で確定：
・仕入データは仕入先からオンライン到来、入荷場所で承認して反映（基本手入力なし）
・入庫都度、倉庫在庫システム／POSから基幹へ集約
・商品マスタの自動連携はPOSのみ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業務フロー（受注・引当・出荷）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YH回答：店舗から配送出荷しない／物流部がアナログ制御し各倉庫へ指示／作業時は店舗在庫を使用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取引先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ディーラー等</a:t>
            </a:r>
          </a:p>
        </p:txBody>
      </p:sp>
      <p:sp>
        <p:nvSpPr>
          <p:cNvPr id="7" name="Rectangle 6"/>
          <p:cNvSpPr/>
          <p:nvPr/>
        </p:nvSpPr>
        <p:spPr>
          <a:xfrm>
            <a:off x="195529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5529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YH／ジョイフル
受注担当</a:t>
            </a:r>
          </a:p>
        </p:txBody>
      </p:sp>
      <p:sp>
        <p:nvSpPr>
          <p:cNvPr id="9" name="Rectangle 8"/>
          <p:cNvSpPr/>
          <p:nvPr/>
        </p:nvSpPr>
        <p:spPr>
          <a:xfrm>
            <a:off x="195529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受注管理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023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8023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基幹システム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023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受注・引当の正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5172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0517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物流部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517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出荷コントロール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1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23011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倉庫
（在庫システム）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011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配送出荷拠点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505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65505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店舗
（POS）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5505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作業時在庫拠点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" y="21488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注文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" y="21488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1792" y="2331720"/>
            <a:ext cx="1242060" cy="420624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電話・FAX・メール
で注文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21284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00427" y="2542032"/>
            <a:ext cx="128017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046732" y="2331720"/>
            <a:ext cx="1242060" cy="420624"/>
          </a:xfrm>
          <a:prstGeom prst="roundRect">
            <a:avLst/>
          </a:prstGeom>
          <a:solidFill>
            <a:srgbClr val="8B5A2B"/>
          </a:solidFill>
          <a:ln w="1016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注文受付
基幹へ手入力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25367" y="2542032"/>
            <a:ext cx="128017" cy="0"/>
          </a:xfrm>
          <a:prstGeom prst="line">
            <a:avLst/>
          </a:prstGeom>
          <a:ln w="2032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471672" y="2331720"/>
            <a:ext cx="1242060" cy="4206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受注登録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" y="30632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在庫
引当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0352" y="30632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471672" y="3273552"/>
            <a:ext cx="124206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基幹を正に
在庫引当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98520" y="315468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92702" y="3767328"/>
            <a:ext cx="2849880" cy="210311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92702" y="3767328"/>
            <a:ext cx="4274820" cy="393192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321552" y="3840480"/>
            <a:ext cx="1242060" cy="38404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引当情報を受領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6491" y="4005072"/>
            <a:ext cx="1242060" cy="41148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70AD47"/>
                </a:solidFill>
                <a:latin typeface="Yu Gothic"/>
              </a:rPr>
              <a:t>店舗在庫の引当
（交換作業時）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" y="452628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出荷
判断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0352" y="452628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896612" y="4736592"/>
            <a:ext cx="1242060" cy="512064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ED7D31"/>
                </a:solidFill>
                <a:latin typeface="Yu Gothic"/>
              </a:rPr>
              <a:t>物流部が
アナログで制御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23459" y="461772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92702" y="4773168"/>
            <a:ext cx="1424940" cy="0"/>
          </a:xfrm>
          <a:prstGeom prst="line">
            <a:avLst/>
          </a:prstGeom>
          <a:ln w="1524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471672" y="5102352"/>
            <a:ext cx="284988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80" b="0">
                <a:solidFill>
                  <a:srgbClr val="666666"/>
                </a:solidFill>
                <a:latin typeface="Yu Gothic"/>
              </a:rPr>
              <a:t>出荷元・指示内容を連絡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" y="55321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倉庫
出荷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0352" y="55321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17642" y="5303520"/>
            <a:ext cx="1424940" cy="50292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321552" y="5687568"/>
            <a:ext cx="1242060" cy="45720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各倉庫へ指示
ピッキング・出荷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48400" y="5568696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242822" y="6263640"/>
            <a:ext cx="5699760" cy="182880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21792" y="6245352"/>
            <a:ext cx="124206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商品受領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6309360"/>
            <a:ext cx="21945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1">
                <a:solidFill>
                  <a:srgbClr val="70AD47"/>
                </a:solidFill>
                <a:latin typeface="Yu Gothic"/>
              </a:rPr>
              <a:t>配送出荷（店舗からは出荷しない）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46491" y="5687568"/>
            <a:ext cx="1242060" cy="45720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C00000"/>
                </a:solidFill>
                <a:latin typeface="Yu Gothic"/>
              </a:rPr>
              <a:t>店舗からは
配送出荷しない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" y="69037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作業
利用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0352" y="69037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746491" y="7114032"/>
            <a:ext cx="1242060" cy="50292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70AD47"/>
                </a:solidFill>
                <a:latin typeface="Yu Gothic"/>
              </a:rPr>
              <a:t>交換作業が絡む場合
基本は店舗在庫を使用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3339" y="699516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6612" y="7132320"/>
            <a:ext cx="1242060" cy="45720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ED7D31"/>
                </a:solidFill>
                <a:latin typeface="Yu Gothic"/>
              </a:rPr>
              <a:t>Phase1注文内か
Phase2別オペか要確認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23459" y="7013448"/>
            <a:ext cx="502920" cy="182880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要確認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" y="800100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出荷
実績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30352" y="800100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21552" y="8211312"/>
            <a:ext cx="1242060" cy="50292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倉庫在庫システム
数量管理のみ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4092702" y="8778240"/>
            <a:ext cx="2849880" cy="228600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3471672" y="8887968"/>
            <a:ext cx="1242060" cy="41148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0">
                <a:solidFill>
                  <a:srgbClr val="ED7D31"/>
                </a:solidFill>
                <a:latin typeface="Yu Gothic"/>
              </a:rPr>
              <a:t>基幹へ実績反映？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398520" y="8769096"/>
            <a:ext cx="502920" cy="182880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要確認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746491" y="8211312"/>
            <a:ext cx="1242060" cy="502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1F4E78"/>
                </a:solidFill>
                <a:latin typeface="Yu Gothic"/>
              </a:rPr>
              <a:t>店舗POSへ
売上計上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1552" y="9454896"/>
            <a:ext cx="284988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650" b="0">
                <a:solidFill>
                  <a:srgbClr val="666666"/>
                </a:solidFill>
                <a:latin typeface="Yu Gothic"/>
              </a:rPr>
              <a:t>回答：「倉庫在庫システムで数量管理のみ、卸先・店舗POSへの売上計上」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46491" y="9802368"/>
            <a:ext cx="1242060" cy="45720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C00000"/>
                </a:solidFill>
                <a:latin typeface="Yu Gothic"/>
              </a:rPr>
              <a:t>POSに出荷ステータス
管理機能なし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13232" y="10469880"/>
            <a:ext cx="8183879" cy="777240"/>
          </a:xfrm>
          <a:prstGeom prst="roundRect">
            <a:avLst/>
          </a:prstGeom>
          <a:solidFill>
            <a:srgbClr val="FFF2CC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l"/>
            <a:r>
              <a:rPr sz="730" b="0">
                <a:solidFill>
                  <a:srgbClr val="333333"/>
                </a:solidFill>
                <a:latin typeface="Yu Gothic"/>
              </a:rPr>
              <a:t>欠品時のメーカー手配（要望確認済）：
新ECでは「自社在庫を表示 → 欠品時は取寄せ注文 → 管理サイトからメーカーへ発注指示」のイメージで先方了承。
※本スライドはAS-IS中心のため、TO-BEのメーカー取寄せフローは別図化推奨。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業務フロー作成上の確認事項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YH回答で確定したことと、矢印を確定するために追加で確認したいこと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977639" cy="438912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回答で確定したこと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1. 受注管理：YH＋ジョイフル／出荷コントロール：物流部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51460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2. 商品マスタ自動連携：POSのみ／予約に顧客情報なし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15468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3. 実在庫：倉庫側・POSが正、基幹が集約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379476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4. 仕入先伝発→オンライン到来→入荷場所承認→入庫都度反映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43484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5. 受注：電話・FAX・メール→基幹手入力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507492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6. 引当：基幹が正→倉庫／POSへ連携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571500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7. 店舗から配送出荷しない／物流部が各倉庫へアナログ指示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6355080"/>
            <a:ext cx="3794760" cy="530352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8. 交換作業時は店舗在庫を使う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9472" y="1325880"/>
            <a:ext cx="3977639" cy="438912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追加で確認したいこと（5点）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1874519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Yu Gothic"/>
              </a:rPr>
              <a:t>Q1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1874519"/>
            <a:ext cx="3182112" cy="8412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適合／倉庫システムは基幹商品マスタを「使用」とのことですが、自動連携以外の反映方法（CSV・参照・手動）は？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2624" y="2898648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Yu Gothic"/>
              </a:rPr>
              <a:t>Q2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2898648"/>
            <a:ext cx="3182112" cy="8412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仕入先からのオンライン伝票データは、最初にどのシステムへ到着し、入荷場所では何の画面で承認する？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2624" y="3922776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Yu Gothic"/>
              </a:rPr>
              <a:t>Q3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922776"/>
            <a:ext cx="3182112" cy="8412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「倉庫在庫システムで数量管理のみ、卸先・店舗POSへ売上計上」の具体的な入力・連携順序は？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4946904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Yu Gothic"/>
              </a:rPr>
              <a:t>Q4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4946904"/>
            <a:ext cx="3182112" cy="8412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交換作業時の店舗在庫利用は、Phase1の卸注文に含まれるのか、Phase2の作業依頼として別運用か？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2624" y="5971032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50" b="1">
                <a:solidFill>
                  <a:srgbClr val="FFFFFF"/>
                </a:solidFill>
                <a:latin typeface="Yu Gothic"/>
              </a:rPr>
              <a:t>Q5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5971032"/>
            <a:ext cx="3182112" cy="8412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物流部のアナログ出荷指示は、電話・メール・FAX・Excel・紙のどれか？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7845552"/>
            <a:ext cx="8010144" cy="914400"/>
          </a:xfrm>
          <a:prstGeom prst="roundRect">
            <a:avLst/>
          </a:prstGeom>
          <a:solidFill>
            <a:srgbClr val="D9EAF7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100" b="1">
                <a:solidFill>
                  <a:srgbClr val="1F4E78"/>
                </a:solidFill>
                <a:latin typeface="Yu Gothic"/>
              </a:rPr>
              <a:t>現時点の業務フローの要点：
「入荷・在庫更新」は倉庫／店舗の両方が起点 → 基幹集約。
「BtoB配送出荷」は物流部 → 倉庫のみ。店舗在庫は交換作業時に使用。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9144000"/>
            <a:ext cx="801014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800" b="0">
                <a:solidFill>
                  <a:srgbClr val="333333"/>
                </a:solidFill>
                <a:latin typeface="Yu Gothic"/>
              </a:rPr>
              <a:t>凡例：緑＝YH回答で確定　／　オレンジ＝追加確認が必要　／　赤＝店舗配送出荷なし・POSステータスなし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イエローハット Phase1 AS-IS 業務フロー（YH回答反映）</dc:title>
  <dc:subject>2026-08-05 YH回答を反映した登場人物・関連システム・運用フロー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