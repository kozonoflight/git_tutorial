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35024"/>
            <a:ext cx="2487168" cy="5138928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017520" y="1335024"/>
            <a:ext cx="4160520" cy="4663440"/>
          </a:xfrm>
          <a:prstGeom prst="roundRect">
            <a:avLst/>
          </a:prstGeom>
          <a:noFill/>
          <a:ln w="22860">
            <a:solidFill>
              <a:srgbClr val="43808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52360" y="1828800"/>
            <a:ext cx="2176272" cy="2103120"/>
          </a:xfrm>
          <a:prstGeom prst="roundRect">
            <a:avLst/>
          </a:prstGeom>
          <a:noFill/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274320" y="146304"/>
            <a:ext cx="128016" cy="173736"/>
          </a:xfrm>
          <a:prstGeom prst="parallelogram">
            <a:avLst/>
          </a:prstGeom>
          <a:solidFill>
            <a:srgbClr val="00A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429768" y="146304"/>
            <a:ext cx="128016" cy="173736"/>
          </a:xfrm>
          <a:prstGeom prst="parallelogram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274320" y="347472"/>
            <a:ext cx="128016" cy="173736"/>
          </a:xfrm>
          <a:prstGeom prst="parallelogram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429768" y="347472"/>
            <a:ext cx="128016" cy="173736"/>
          </a:xfrm>
          <a:prstGeom prst="parallelogram">
            <a:avLst/>
          </a:prstGeom>
          <a:solidFill>
            <a:srgbClr val="00A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603504"/>
            <a:ext cx="9390888" cy="10972"/>
          </a:xfrm>
          <a:prstGeom prst="rect">
            <a:avLst/>
          </a:prstGeom>
          <a:solidFill>
            <a:srgbClr val="00A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0624" y="1517904"/>
            <a:ext cx="2194560" cy="1005840"/>
          </a:xfrm>
          <a:prstGeom prst="roundRect">
            <a:avLst/>
          </a:prstGeom>
          <a:noFill/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" y="2651760"/>
            <a:ext cx="2194560" cy="932688"/>
          </a:xfrm>
          <a:prstGeom prst="roundRect">
            <a:avLst/>
          </a:prstGeom>
          <a:noFill/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" y="3712463"/>
            <a:ext cx="2194560" cy="1005840"/>
          </a:xfrm>
          <a:prstGeom prst="roundRect">
            <a:avLst/>
          </a:prstGeom>
          <a:noFill/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0624" y="4882896"/>
            <a:ext cx="2194560" cy="1444752"/>
          </a:xfrm>
          <a:prstGeom prst="roundRect">
            <a:avLst/>
          </a:prstGeom>
          <a:noFill/>
          <a:ln w="1778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" y="5212080"/>
            <a:ext cx="1975104" cy="22860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" y="5477256"/>
            <a:ext cx="1975104" cy="22860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0352" y="5742432"/>
            <a:ext cx="1975104" cy="22860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0352" y="6007608"/>
            <a:ext cx="1975104" cy="22860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82112" y="1572768"/>
            <a:ext cx="3840480" cy="1481328"/>
          </a:xfrm>
          <a:prstGeom prst="roundRect">
            <a:avLst/>
          </a:prstGeom>
          <a:noFill/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73552" y="1901952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17136" y="1901952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60720" y="1901952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73552" y="2231136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17136" y="2231136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60720" y="2231136"/>
            <a:ext cx="1188720" cy="36576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17136" y="2670048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182112" y="3255264"/>
            <a:ext cx="3840480" cy="1700784"/>
          </a:xfrm>
          <a:prstGeom prst="roundRect">
            <a:avLst/>
          </a:prstGeom>
          <a:noFill/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73552" y="3584448"/>
            <a:ext cx="1188720" cy="36576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17136" y="3584448"/>
            <a:ext cx="1188720" cy="36576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760720" y="3584448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73552" y="4041648"/>
            <a:ext cx="1188720" cy="36576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17136" y="4041648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760720" y="4041648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17136" y="4407408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12064" y="1591056"/>
            <a:ext cx="960120" cy="256032"/>
          </a:xfrm>
          <a:prstGeom prst="roundRect">
            <a:avLst/>
          </a:prstGeom>
          <a:solidFill>
            <a:srgbClr val="1F497D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uil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01952"/>
            <a:ext cx="566928" cy="548640"/>
          </a:xfrm>
          <a:prstGeom prst="rect">
            <a:avLst/>
          </a:prstGeom>
        </p:spPr>
      </p:pic>
      <p:pic>
        <p:nvPicPr>
          <p:cNvPr id="36" name="Picture 35" descr="per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700784"/>
            <a:ext cx="502920" cy="658368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512064" y="2715768"/>
            <a:ext cx="960120" cy="256032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t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2999232"/>
            <a:ext cx="512064" cy="493776"/>
          </a:xfrm>
          <a:prstGeom prst="rect">
            <a:avLst/>
          </a:prstGeom>
        </p:spPr>
      </p:pic>
      <p:pic>
        <p:nvPicPr>
          <p:cNvPr id="39" name="Picture 38" descr="p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2980944"/>
            <a:ext cx="329184" cy="512064"/>
          </a:xfrm>
          <a:prstGeom prst="rect">
            <a:avLst/>
          </a:prstGeom>
        </p:spPr>
      </p:pic>
      <p:pic>
        <p:nvPicPr>
          <p:cNvPr id="40" name="Picture 39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648" y="2980944"/>
            <a:ext cx="475488" cy="493776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512064" y="3776472"/>
            <a:ext cx="1188720" cy="256032"/>
          </a:xfrm>
          <a:prstGeom prst="roundRect">
            <a:avLst/>
          </a:prstGeom>
          <a:solidFill>
            <a:srgbClr val="438086"/>
          </a:solidFill>
          <a:ln w="1270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wareho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4059936"/>
            <a:ext cx="566928" cy="548640"/>
          </a:xfrm>
          <a:prstGeom prst="rect">
            <a:avLst/>
          </a:prstGeom>
        </p:spPr>
      </p:pic>
      <p:pic>
        <p:nvPicPr>
          <p:cNvPr id="43" name="Picture 42" descr="tru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4096512"/>
            <a:ext cx="658368" cy="493776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7818120" y="1901952"/>
            <a:ext cx="1444752" cy="27432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person_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5240" y="2249424"/>
            <a:ext cx="548640" cy="676656"/>
          </a:xfrm>
          <a:prstGeom prst="rect">
            <a:avLst/>
          </a:prstGeom>
        </p:spPr>
      </p:pic>
      <p:pic>
        <p:nvPicPr>
          <p:cNvPr id="46" name="Picture 45" descr="st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2304288"/>
            <a:ext cx="566928" cy="548640"/>
          </a:xfrm>
          <a:prstGeom prst="rect">
            <a:avLst/>
          </a:prstGeom>
        </p:spPr>
      </p:pic>
      <p:cxnSp>
        <p:nvCxnSpPr>
          <p:cNvPr id="47" name="Connector 46"/>
          <p:cNvCxnSpPr/>
          <p:nvPr/>
        </p:nvCxnSpPr>
        <p:spPr>
          <a:xfrm>
            <a:off x="2615184" y="2011680"/>
            <a:ext cx="566928" cy="0"/>
          </a:xfrm>
          <a:prstGeom prst="line">
            <a:avLst/>
          </a:prstGeom>
          <a:ln w="25400">
            <a:solidFill>
              <a:srgbClr val="4380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7059168" y="3703320"/>
            <a:ext cx="393192" cy="228600"/>
          </a:xfrm>
          <a:prstGeom prst="line">
            <a:avLst/>
          </a:prstGeom>
          <a:ln w="2794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059168" y="2377440"/>
            <a:ext cx="393192" cy="0"/>
          </a:xfrm>
          <a:prstGeom prst="line">
            <a:avLst/>
          </a:prstGeom>
          <a:ln w="22860">
            <a:solidFill>
              <a:srgbClr val="4380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877056" y="3054096"/>
            <a:ext cx="0" cy="201168"/>
          </a:xfrm>
          <a:prstGeom prst="line">
            <a:avLst/>
          </a:prstGeom>
          <a:ln w="20320">
            <a:solidFill>
              <a:srgbClr val="4380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2651760" y="5504688"/>
            <a:ext cx="530352" cy="0"/>
          </a:xfrm>
          <a:prstGeom prst="line">
            <a:avLst/>
          </a:prstGeom>
          <a:ln w="25400">
            <a:solidFill>
              <a:srgbClr val="4380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651760" y="4315968"/>
            <a:ext cx="365760" cy="0"/>
          </a:xfrm>
          <a:prstGeom prst="line">
            <a:avLst/>
          </a:prstGeom>
          <a:ln w="20320">
            <a:solidFill>
              <a:srgbClr val="4380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517904" y="3529584"/>
            <a:ext cx="0" cy="1353312"/>
          </a:xfrm>
          <a:prstGeom prst="line">
            <a:avLst/>
          </a:prstGeom>
          <a:ln w="20320">
            <a:solidFill>
              <a:srgbClr val="43808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011680" y="6382512"/>
            <a:ext cx="5852160" cy="0"/>
          </a:xfrm>
          <a:prstGeom prst="line">
            <a:avLst/>
          </a:prstGeom>
          <a:ln w="20320">
            <a:solidFill>
              <a:srgbClr val="7F7F7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863840" y="3968496"/>
            <a:ext cx="676656" cy="2414016"/>
          </a:xfrm>
          <a:prstGeom prst="line">
            <a:avLst/>
          </a:prstGeom>
          <a:ln w="20320">
            <a:solidFill>
              <a:srgbClr val="7F7F7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58368" y="109728"/>
            <a:ext cx="5943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404040"/>
                </a:solidFill>
                <a:latin typeface="メイリオ"/>
              </a:rPr>
              <a:t>Phase1  ご要望のイメージ（BtoB受発注）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2608" y="731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メイリオ"/>
              </a:rPr>
              <a:t>取引先がWEBから発注し、受注～出荷～基幹連携までを一元化する全体イメージです。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2608" y="987552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00000"/>
                </a:solidFill>
                <a:latin typeface="メイリオ"/>
              </a:rPr>
              <a:t>※赤字記載がメインのカスタマイズポイントとなります。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1280160"/>
            <a:ext cx="8229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2064" y="159105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</a:rPr>
              <a:t>本 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21408" y="1975104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サイト管理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2064" y="271576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</a:rPr>
              <a:t>各店舗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03120" y="314553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入庫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2064" y="377647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物流部・倉庫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462686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管理サイトから出荷指示 → ピッキング・出荷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0624" y="493776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F497D"/>
                </a:solidFill>
                <a:latin typeface="メイリオ"/>
              </a:rPr>
              <a:t>基幹システム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0352" y="5212080"/>
            <a:ext cx="197510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商品連携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0352" y="5477256"/>
            <a:ext cx="197510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在庫連携（自動）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352" y="5742432"/>
            <a:ext cx="197510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受注連携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0352" y="6007608"/>
            <a:ext cx="197510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出荷実績連携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06240" y="1261872"/>
            <a:ext cx="17830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182112" y="160934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497D"/>
                </a:solidFill>
                <a:latin typeface="メイリオ"/>
              </a:rPr>
              <a:t>バックヤード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73552" y="1901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取引先管理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17136" y="1901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受注管理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60720" y="1901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商品管理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73552" y="223113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在庫管理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17136" y="223113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見積管理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60720" y="2231136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掛率・指値</a:t>
            </a:r>
          </a:p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（一物多価）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17136" y="2670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出荷指示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82112" y="3291840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497D"/>
                </a:solidFill>
                <a:latin typeface="メイリオ"/>
              </a:rPr>
              <a:t>B2Bフロント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73552" y="358444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適合・タイヤ検索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17136" y="358444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リアルタイム在庫</a:t>
            </a:r>
          </a:p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・納期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60720" y="35844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見積 → 注文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73552" y="404164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送料計算</a:t>
            </a:r>
          </a:p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（口数・2本1口）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17136" y="40416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クイックオーダー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60720" y="40416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出荷希望日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17136" y="440740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注文履歴・進捗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82112" y="5084064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C00000"/>
                </a:solidFill>
                <a:latin typeface="メイリオ"/>
              </a:rPr>
              <a:t>適合・倉庫管理・店舗POS・予約システムなど既存システムと連携（API／CSV）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818120" y="1901952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</a:rPr>
              <a:t>取引先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79792" y="3017520"/>
            <a:ext cx="212140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33333"/>
                </a:solidFill>
                <a:latin typeface="メイリオ"/>
              </a:rPr>
              <a:t>ディーラー・整備工場</a:t>
            </a:r>
          </a:p>
          <a:p>
            <a:pPr algn="ctr"/>
            <a:r>
              <a:rPr sz="950" b="0">
                <a:solidFill>
                  <a:srgbClr val="333333"/>
                </a:solidFill>
                <a:latin typeface="メイリオ"/>
              </a:rPr>
              <a:t>FC加盟店・中古車販売店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33472" y="182880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サイト管理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59168" y="340156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発注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04304" y="217627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7F7F7F"/>
                </a:solidFill>
                <a:latin typeface="メイリオ"/>
              </a:rPr>
              <a:t>注文履歴・出荷通知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651760" y="530352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受注連携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554480" y="448056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入庫・在庫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20640" y="618134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7F7F7F"/>
                </a:solidFill>
                <a:latin typeface="メイリオ"/>
              </a:rPr>
              <a:t>商品を配送・出荷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4320" y="1280160"/>
            <a:ext cx="24871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メイリオ"/>
              </a:rPr>
              <a:t>貴 社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" y="1280160"/>
            <a:ext cx="24871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メイリオ"/>
              </a:rPr>
              <a:t>貴 社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17520" y="1261872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438086"/>
                </a:solidFill>
                <a:latin typeface="メイリオ"/>
              </a:rPr>
              <a:t>EC-Rider  B2B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017520" y="1261872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438086"/>
                </a:solidFill>
                <a:latin typeface="メイリオ"/>
              </a:rPr>
              <a:t>EC-Rider  B2B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35024"/>
            <a:ext cx="2487168" cy="5138928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017520" y="1335024"/>
            <a:ext cx="4160520" cy="4663440"/>
          </a:xfrm>
          <a:prstGeom prst="roundRect">
            <a:avLst/>
          </a:prstGeom>
          <a:noFill/>
          <a:ln w="22860">
            <a:solidFill>
              <a:srgbClr val="43808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52360" y="1828800"/>
            <a:ext cx="2176272" cy="2103120"/>
          </a:xfrm>
          <a:prstGeom prst="roundRect">
            <a:avLst/>
          </a:prstGeom>
          <a:noFill/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274320" y="146304"/>
            <a:ext cx="128016" cy="173736"/>
          </a:xfrm>
          <a:prstGeom prst="parallelogram">
            <a:avLst/>
          </a:prstGeom>
          <a:solidFill>
            <a:srgbClr val="00A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429768" y="146304"/>
            <a:ext cx="128016" cy="173736"/>
          </a:xfrm>
          <a:prstGeom prst="parallelogram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274320" y="347472"/>
            <a:ext cx="128016" cy="173736"/>
          </a:xfrm>
          <a:prstGeom prst="parallelogram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429768" y="347472"/>
            <a:ext cx="128016" cy="173736"/>
          </a:xfrm>
          <a:prstGeom prst="parallelogram">
            <a:avLst/>
          </a:prstGeom>
          <a:solidFill>
            <a:srgbClr val="00A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603504"/>
            <a:ext cx="9390888" cy="10972"/>
          </a:xfrm>
          <a:prstGeom prst="rect">
            <a:avLst/>
          </a:prstGeom>
          <a:solidFill>
            <a:srgbClr val="00A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0624" y="1517904"/>
            <a:ext cx="2194560" cy="914400"/>
          </a:xfrm>
          <a:prstGeom prst="roundRect">
            <a:avLst/>
          </a:prstGeom>
          <a:noFill/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" y="2560320"/>
            <a:ext cx="2194560" cy="1005840"/>
          </a:xfrm>
          <a:prstGeom prst="roundRect">
            <a:avLst/>
          </a:prstGeom>
          <a:noFill/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" y="3694176"/>
            <a:ext cx="2194560" cy="1225296"/>
          </a:xfrm>
          <a:prstGeom prst="roundRect">
            <a:avLst/>
          </a:prstGeom>
          <a:noFill/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0352" y="4059936"/>
            <a:ext cx="621792" cy="40233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25295" y="4059936"/>
            <a:ext cx="621792" cy="40233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20240" y="4059936"/>
            <a:ext cx="621792" cy="40233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0624" y="5065776"/>
            <a:ext cx="2194560" cy="1261872"/>
          </a:xfrm>
          <a:prstGeom prst="roundRect">
            <a:avLst/>
          </a:prstGeom>
          <a:noFill/>
          <a:ln w="1778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0352" y="5394960"/>
            <a:ext cx="1975104" cy="265176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0352" y="5696712"/>
            <a:ext cx="1975104" cy="265176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0352" y="5998464"/>
            <a:ext cx="1975104" cy="22860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82112" y="1572768"/>
            <a:ext cx="3840480" cy="1481328"/>
          </a:xfrm>
          <a:prstGeom prst="roundRect">
            <a:avLst/>
          </a:prstGeom>
          <a:noFill/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73552" y="1901952"/>
            <a:ext cx="1188720" cy="36576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17136" y="1901952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60720" y="1901952"/>
            <a:ext cx="1188720" cy="36576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73552" y="2359152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17136" y="2359152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60720" y="2359152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182112" y="3255264"/>
            <a:ext cx="3840480" cy="1700784"/>
          </a:xfrm>
          <a:prstGeom prst="roundRect">
            <a:avLst/>
          </a:prstGeom>
          <a:noFill/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273552" y="3584448"/>
            <a:ext cx="1188720" cy="36576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17136" y="3584448"/>
            <a:ext cx="1188720" cy="36576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60720" y="3584448"/>
            <a:ext cx="1188720" cy="36576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73552" y="4041648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17136" y="4041648"/>
            <a:ext cx="1188720" cy="36576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60720" y="4041648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17136" y="4498848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12064" y="1581912"/>
            <a:ext cx="960120" cy="256032"/>
          </a:xfrm>
          <a:prstGeom prst="roundRect">
            <a:avLst/>
          </a:prstGeom>
          <a:solidFill>
            <a:srgbClr val="1F497D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buil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47088"/>
            <a:ext cx="512064" cy="512064"/>
          </a:xfrm>
          <a:prstGeom prst="rect">
            <a:avLst/>
          </a:prstGeom>
        </p:spPr>
      </p:pic>
      <p:pic>
        <p:nvPicPr>
          <p:cNvPr id="37" name="Picture 36" descr="per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1700784"/>
            <a:ext cx="475488" cy="621792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512064" y="2624328"/>
            <a:ext cx="1481328" cy="256032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st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2907792"/>
            <a:ext cx="493776" cy="475488"/>
          </a:xfrm>
          <a:prstGeom prst="rect">
            <a:avLst/>
          </a:prstGeom>
        </p:spPr>
      </p:pic>
      <p:pic>
        <p:nvPicPr>
          <p:cNvPr id="40" name="Picture 39" descr="per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2871216"/>
            <a:ext cx="402336" cy="548640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512064" y="3758184"/>
            <a:ext cx="1481328" cy="256032"/>
          </a:xfrm>
          <a:prstGeom prst="roundRect">
            <a:avLst/>
          </a:prstGeom>
          <a:solidFill>
            <a:srgbClr val="438086"/>
          </a:solidFill>
          <a:ln w="1270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wr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4517136"/>
            <a:ext cx="347472" cy="347472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7818120" y="1901952"/>
            <a:ext cx="1444752" cy="27432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person_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2249424"/>
            <a:ext cx="548640" cy="676656"/>
          </a:xfrm>
          <a:prstGeom prst="rect">
            <a:avLst/>
          </a:prstGeom>
        </p:spPr>
      </p:pic>
      <p:pic>
        <p:nvPicPr>
          <p:cNvPr id="45" name="Picture 44" descr="c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2377440"/>
            <a:ext cx="658368" cy="457200"/>
          </a:xfrm>
          <a:prstGeom prst="rect">
            <a:avLst/>
          </a:prstGeom>
        </p:spPr>
      </p:pic>
      <p:cxnSp>
        <p:nvCxnSpPr>
          <p:cNvPr id="46" name="Connector 45"/>
          <p:cNvCxnSpPr/>
          <p:nvPr/>
        </p:nvCxnSpPr>
        <p:spPr>
          <a:xfrm>
            <a:off x="2615184" y="1975104"/>
            <a:ext cx="566928" cy="0"/>
          </a:xfrm>
          <a:prstGeom prst="line">
            <a:avLst/>
          </a:prstGeom>
          <a:ln w="25400">
            <a:solidFill>
              <a:srgbClr val="4380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615184" y="3017520"/>
            <a:ext cx="566928" cy="640080"/>
          </a:xfrm>
          <a:prstGeom prst="line">
            <a:avLst/>
          </a:prstGeom>
          <a:ln w="25400">
            <a:solidFill>
              <a:srgbClr val="4380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2615184" y="4023360"/>
            <a:ext cx="566928" cy="274320"/>
          </a:xfrm>
          <a:prstGeom prst="line">
            <a:avLst/>
          </a:prstGeom>
          <a:ln w="25400">
            <a:solidFill>
              <a:srgbClr val="4380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7059168" y="3703320"/>
            <a:ext cx="393192" cy="228600"/>
          </a:xfrm>
          <a:prstGeom prst="line">
            <a:avLst/>
          </a:prstGeom>
          <a:ln w="2794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059168" y="2377440"/>
            <a:ext cx="393192" cy="0"/>
          </a:xfrm>
          <a:prstGeom prst="line">
            <a:avLst/>
          </a:prstGeom>
          <a:ln w="22860">
            <a:solidFill>
              <a:srgbClr val="4380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2651760" y="5669280"/>
            <a:ext cx="365760" cy="0"/>
          </a:xfrm>
          <a:prstGeom prst="line">
            <a:avLst/>
          </a:prstGeom>
          <a:ln w="25400">
            <a:solidFill>
              <a:srgbClr val="4380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011680" y="6419088"/>
            <a:ext cx="5852160" cy="0"/>
          </a:xfrm>
          <a:prstGeom prst="line">
            <a:avLst/>
          </a:prstGeom>
          <a:ln w="20320">
            <a:solidFill>
              <a:srgbClr val="7F7F7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863840" y="3968496"/>
            <a:ext cx="676656" cy="2450592"/>
          </a:xfrm>
          <a:prstGeom prst="line">
            <a:avLst/>
          </a:prstGeom>
          <a:ln w="20320">
            <a:solidFill>
              <a:srgbClr val="7F7F7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58368" y="109728"/>
            <a:ext cx="5943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404040"/>
                </a:solidFill>
                <a:latin typeface="メイリオ"/>
              </a:rPr>
              <a:t>Phase2  ご要望のイメージ（整備サービスマッチング）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8" y="731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メイリオ"/>
              </a:rPr>
              <a:t>YH店舗が他のYH店舗の空きピットへ整備を送客し、在庫と予約枠を同時に押さえる全体イメージです。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2608" y="987552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00000"/>
                </a:solidFill>
                <a:latin typeface="メイリオ"/>
              </a:rPr>
              <a:t>※赤字記載がメインのカスタマイズポイントとなります。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1280160"/>
            <a:ext cx="8229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2064" y="1581912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</a:rPr>
              <a:t>本 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84831" y="1938528"/>
            <a:ext cx="6035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サイト管理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2064" y="262432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</a:rPr>
              <a:t>YH店舗（依頼）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37360" y="3072384"/>
            <a:ext cx="8595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あぶれた</a:t>
            </a:r>
          </a:p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整備を外へ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2064" y="3758184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</a:rPr>
              <a:t>YH店舗（受け）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" y="4059936"/>
            <a:ext cx="6217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メイリオ"/>
              </a:rPr>
              <a:t>A店</a:t>
            </a:r>
          </a:p>
          <a:p>
            <a:pPr algn="ctr"/>
            <a:r>
              <a:rPr sz="800" b="0">
                <a:solidFill>
                  <a:srgbClr val="333333"/>
                </a:solidFill>
                <a:latin typeface="メイリオ"/>
              </a:rPr>
              <a:t>ピット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25295" y="4059936"/>
            <a:ext cx="6217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メイリオ"/>
              </a:rPr>
              <a:t>B店</a:t>
            </a:r>
          </a:p>
          <a:p>
            <a:pPr algn="ctr"/>
            <a:r>
              <a:rPr sz="800" b="0">
                <a:solidFill>
                  <a:srgbClr val="333333"/>
                </a:solidFill>
                <a:latin typeface="メイリオ"/>
              </a:rPr>
              <a:t>ピット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20240" y="4059936"/>
            <a:ext cx="6217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メイリオ"/>
              </a:rPr>
              <a:t>C店</a:t>
            </a:r>
          </a:p>
          <a:p>
            <a:pPr algn="ctr"/>
            <a:r>
              <a:rPr sz="800" b="0">
                <a:solidFill>
                  <a:srgbClr val="333333"/>
                </a:solidFill>
                <a:latin typeface="メイリオ"/>
              </a:rPr>
              <a:t>ピット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4553712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　　空きピット・店舗在庫を公開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0624" y="512064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F497D"/>
                </a:solidFill>
                <a:latin typeface="メイリオ"/>
              </a:rPr>
              <a:t>既存システム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0352" y="5394960"/>
            <a:ext cx="197510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PIT予約API（空き枠）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352" y="5696712"/>
            <a:ext cx="197510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店舗POS（店舗在庫）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0352" y="5998464"/>
            <a:ext cx="197510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基幹（売上計上）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06240" y="1261872"/>
            <a:ext cx="17830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182112" y="160934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497D"/>
                </a:solidFill>
                <a:latin typeface="メイリオ"/>
              </a:rPr>
              <a:t>バックヤード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73552" y="190195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作業メニュー・</a:t>
            </a:r>
          </a:p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工賃管理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17136" y="1901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予約管理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60720" y="190195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店舗・ピット</a:t>
            </a:r>
          </a:p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管理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73552" y="23591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依頼の振分け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17136" y="23591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実績・精算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60720" y="23591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取引先管理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182112" y="3291840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497D"/>
                </a:solidFill>
                <a:latin typeface="メイリオ"/>
              </a:rPr>
              <a:t>B2Bフロント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73552" y="358444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対応可能店舗の</a:t>
            </a:r>
          </a:p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検索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17136" y="358444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店舗のリアルタイム</a:t>
            </a:r>
          </a:p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在庫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60720" y="358444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ピット空き枠</a:t>
            </a:r>
          </a:p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（予約可否）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73552" y="40416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整備・車検予約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17136" y="404164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在庫×空き枠の</a:t>
            </a:r>
          </a:p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同時引当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60720" y="40416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進捗・履歴確認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17136" y="44988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作業店として受注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182112" y="5084064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C00000"/>
                </a:solidFill>
                <a:latin typeface="メイリオ"/>
              </a:rPr>
              <a:t>双方向：YH店舗どうしで「出す／受ける」。YHから取引先への依頼もカスタマイズで対応可能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1901952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</a:rPr>
              <a:t>取引先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79792" y="3017520"/>
            <a:ext cx="212140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33333"/>
                </a:solidFill>
                <a:latin typeface="メイリオ"/>
              </a:rPr>
              <a:t>ディーラー・整備工場</a:t>
            </a:r>
          </a:p>
          <a:p>
            <a:pPr algn="ctr"/>
            <a:r>
              <a:rPr sz="950" b="0">
                <a:solidFill>
                  <a:srgbClr val="333333"/>
                </a:solidFill>
                <a:latin typeface="メイリオ"/>
              </a:rPr>
              <a:t>中古車販売店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633472" y="1792224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サイト管理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70048" y="314553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整備依頼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670048" y="422452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送客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04304" y="341985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整備依頼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67728" y="21762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7F7F7F"/>
                </a:solidFill>
                <a:latin typeface="メイリオ"/>
              </a:rPr>
              <a:t>予約結果・進捗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15184" y="546811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API連携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937760" y="621792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7F7F7F"/>
                </a:solidFill>
                <a:latin typeface="メイリオ"/>
              </a:rPr>
              <a:t>作業完了・車両返却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4320" y="1280160"/>
            <a:ext cx="24871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メイリオ"/>
              </a:rPr>
              <a:t>貴 社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017520" y="1261872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438086"/>
                </a:solidFill>
                <a:latin typeface="メイリオ"/>
              </a:rPr>
              <a:t>EC-Rider  B2B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35024"/>
            <a:ext cx="2487168" cy="5138928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017520" y="1335024"/>
            <a:ext cx="4160520" cy="4663440"/>
          </a:xfrm>
          <a:prstGeom prst="roundRect">
            <a:avLst/>
          </a:prstGeom>
          <a:noFill/>
          <a:ln w="22860">
            <a:solidFill>
              <a:srgbClr val="43808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52360" y="1737360"/>
            <a:ext cx="2176272" cy="2304288"/>
          </a:xfrm>
          <a:prstGeom prst="roundRect">
            <a:avLst/>
          </a:prstGeom>
          <a:noFill/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274320" y="146304"/>
            <a:ext cx="128016" cy="173736"/>
          </a:xfrm>
          <a:prstGeom prst="parallelogram">
            <a:avLst/>
          </a:prstGeom>
          <a:solidFill>
            <a:srgbClr val="00A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429768" y="146304"/>
            <a:ext cx="128016" cy="173736"/>
          </a:xfrm>
          <a:prstGeom prst="parallelogram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274320" y="347472"/>
            <a:ext cx="128016" cy="173736"/>
          </a:xfrm>
          <a:prstGeom prst="parallelogram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429768" y="347472"/>
            <a:ext cx="128016" cy="173736"/>
          </a:xfrm>
          <a:prstGeom prst="parallelogram">
            <a:avLst/>
          </a:prstGeom>
          <a:solidFill>
            <a:srgbClr val="00A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603504"/>
            <a:ext cx="9390888" cy="10972"/>
          </a:xfrm>
          <a:prstGeom prst="rect">
            <a:avLst/>
          </a:prstGeom>
          <a:solidFill>
            <a:srgbClr val="00A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0624" y="1517904"/>
            <a:ext cx="2194560" cy="914400"/>
          </a:xfrm>
          <a:prstGeom prst="roundRect">
            <a:avLst/>
          </a:prstGeom>
          <a:noFill/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" y="2560320"/>
            <a:ext cx="2194560" cy="1243584"/>
          </a:xfrm>
          <a:prstGeom prst="roundRect">
            <a:avLst/>
          </a:prstGeom>
          <a:noFill/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" y="3931920"/>
            <a:ext cx="2194560" cy="969264"/>
          </a:xfrm>
          <a:prstGeom prst="roundRect">
            <a:avLst/>
          </a:prstGeom>
          <a:noFill/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0624" y="5047488"/>
            <a:ext cx="2194560" cy="1280160"/>
          </a:xfrm>
          <a:prstGeom prst="roundRect">
            <a:avLst/>
          </a:prstGeom>
          <a:noFill/>
          <a:ln w="1778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" y="5376672"/>
            <a:ext cx="1975104" cy="265176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" y="5678424"/>
            <a:ext cx="1975104" cy="265176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0352" y="5980176"/>
            <a:ext cx="1975104" cy="22860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82112" y="1572768"/>
            <a:ext cx="3840480" cy="1481328"/>
          </a:xfrm>
          <a:prstGeom prst="roundRect">
            <a:avLst/>
          </a:prstGeom>
          <a:noFill/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73552" y="1901952"/>
            <a:ext cx="1188720" cy="36576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17136" y="1901952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60720" y="1901952"/>
            <a:ext cx="1188720" cy="36576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73552" y="2359152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17136" y="2359152"/>
            <a:ext cx="1188720" cy="36576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60720" y="2359152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182112" y="3255264"/>
            <a:ext cx="3840480" cy="1700784"/>
          </a:xfrm>
          <a:prstGeom prst="roundRect">
            <a:avLst/>
          </a:prstGeom>
          <a:noFill/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73552" y="3584448"/>
            <a:ext cx="1188720" cy="36576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17136" y="3584448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760720" y="3584448"/>
            <a:ext cx="1188720" cy="36576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273552" y="4041648"/>
            <a:ext cx="1188720" cy="36576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17136" y="4041648"/>
            <a:ext cx="1188720" cy="36576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60720" y="4041648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17136" y="4498848"/>
            <a:ext cx="1188720" cy="256032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89520" y="3310128"/>
            <a:ext cx="1901952" cy="640080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12064" y="1581912"/>
            <a:ext cx="960120" cy="256032"/>
          </a:xfrm>
          <a:prstGeom prst="roundRect">
            <a:avLst/>
          </a:prstGeom>
          <a:solidFill>
            <a:srgbClr val="1F497D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uil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47088"/>
            <a:ext cx="512064" cy="512064"/>
          </a:xfrm>
          <a:prstGeom prst="rect">
            <a:avLst/>
          </a:prstGeom>
        </p:spPr>
      </p:pic>
      <p:pic>
        <p:nvPicPr>
          <p:cNvPr id="35" name="Picture 34" descr="per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1700784"/>
            <a:ext cx="475488" cy="621792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12064" y="2624328"/>
            <a:ext cx="1188720" cy="256032"/>
          </a:xfrm>
          <a:prstGeom prst="roundRect">
            <a:avLst/>
          </a:prstGeom>
          <a:solidFill>
            <a:srgbClr val="438086"/>
          </a:solidFill>
          <a:ln w="1270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wareho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907792"/>
            <a:ext cx="530352" cy="512064"/>
          </a:xfrm>
          <a:prstGeom prst="rect">
            <a:avLst/>
          </a:prstGeom>
        </p:spPr>
      </p:pic>
      <p:pic>
        <p:nvPicPr>
          <p:cNvPr id="38" name="Picture 37" descr="ti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6736" y="2944368"/>
            <a:ext cx="420624" cy="420624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512064" y="3995928"/>
            <a:ext cx="1481328" cy="256032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t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4279392"/>
            <a:ext cx="475488" cy="457200"/>
          </a:xfrm>
          <a:prstGeom prst="rect">
            <a:avLst/>
          </a:prstGeom>
        </p:spPr>
      </p:pic>
      <p:pic>
        <p:nvPicPr>
          <p:cNvPr id="41" name="Picture 40" descr="wre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0" y="4297680"/>
            <a:ext cx="384048" cy="384048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7818120" y="1810512"/>
            <a:ext cx="1444752" cy="27432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person_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7808" y="2157984"/>
            <a:ext cx="512064" cy="640080"/>
          </a:xfrm>
          <a:prstGeom prst="rect">
            <a:avLst/>
          </a:prstGeom>
        </p:spPr>
      </p:pic>
      <p:pic>
        <p:nvPicPr>
          <p:cNvPr id="44" name="Picture 43" descr="st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2212848"/>
            <a:ext cx="530352" cy="512064"/>
          </a:xfrm>
          <a:prstGeom prst="rect">
            <a:avLst/>
          </a:prstGeom>
        </p:spPr>
      </p:pic>
      <p:pic>
        <p:nvPicPr>
          <p:cNvPr id="45" name="Picture 44" descr="c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0" y="3419856"/>
            <a:ext cx="475488" cy="365760"/>
          </a:xfrm>
          <a:prstGeom prst="rect">
            <a:avLst/>
          </a:prstGeom>
        </p:spPr>
      </p:pic>
      <p:cxnSp>
        <p:nvCxnSpPr>
          <p:cNvPr id="46" name="Connector 45"/>
          <p:cNvCxnSpPr/>
          <p:nvPr/>
        </p:nvCxnSpPr>
        <p:spPr>
          <a:xfrm>
            <a:off x="2615184" y="1975104"/>
            <a:ext cx="566928" cy="0"/>
          </a:xfrm>
          <a:prstGeom prst="line">
            <a:avLst/>
          </a:prstGeom>
          <a:ln w="25400">
            <a:solidFill>
              <a:srgbClr val="4380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7059168" y="3749039"/>
            <a:ext cx="393192" cy="182881"/>
          </a:xfrm>
          <a:prstGeom prst="line">
            <a:avLst/>
          </a:prstGeom>
          <a:ln w="2794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059168" y="2377440"/>
            <a:ext cx="393192" cy="0"/>
          </a:xfrm>
          <a:prstGeom prst="line">
            <a:avLst/>
          </a:prstGeom>
          <a:ln w="22860">
            <a:solidFill>
              <a:srgbClr val="4380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2651760" y="2834640"/>
            <a:ext cx="530352" cy="0"/>
          </a:xfrm>
          <a:prstGeom prst="line">
            <a:avLst/>
          </a:prstGeom>
          <a:ln w="25400">
            <a:solidFill>
              <a:srgbClr val="4380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651760" y="4297680"/>
            <a:ext cx="365760" cy="0"/>
          </a:xfrm>
          <a:prstGeom prst="line">
            <a:avLst/>
          </a:prstGeom>
          <a:ln w="22860">
            <a:solidFill>
              <a:srgbClr val="4380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2651760" y="5669280"/>
            <a:ext cx="365760" cy="0"/>
          </a:xfrm>
          <a:prstGeom prst="line">
            <a:avLst/>
          </a:prstGeom>
          <a:ln w="25400">
            <a:solidFill>
              <a:srgbClr val="4380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011680" y="6437376"/>
            <a:ext cx="5852160" cy="0"/>
          </a:xfrm>
          <a:prstGeom prst="line">
            <a:avLst/>
          </a:prstGeom>
          <a:ln w="20320">
            <a:solidFill>
              <a:srgbClr val="7F7F7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863840" y="4078224"/>
            <a:ext cx="676656" cy="2359152"/>
          </a:xfrm>
          <a:prstGeom prst="line">
            <a:avLst/>
          </a:prstGeom>
          <a:ln w="20320">
            <a:solidFill>
              <a:srgbClr val="7F7F7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58368" y="109728"/>
            <a:ext cx="5943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404040"/>
                </a:solidFill>
                <a:latin typeface="メイリオ"/>
              </a:rPr>
              <a:t>Phase3  ご要望のイメージ（タイヤ保管サービス）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8" y="731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メイリオ"/>
              </a:rPr>
              <a:t>夏・冬タイヤを1注文で預かり、履き替えごとに出庫。1年で完了し更新につなげる全体イメージです。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2608" y="987552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00000"/>
                </a:solidFill>
                <a:latin typeface="メイリオ"/>
              </a:rPr>
              <a:t>※赤字記載がメインのカスタマイズポイントとなります。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1280160"/>
            <a:ext cx="8229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2064" y="1581912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</a:rPr>
              <a:t>本 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84831" y="1938528"/>
            <a:ext cx="6035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サイト管理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2064" y="262432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</a:rPr>
              <a:t>保管倉庫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73936" y="301752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ロケーション</a:t>
            </a:r>
          </a:p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管理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3529584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棚-列-段／4本1SKU・入出庫スキャン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2064" y="399592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</a:rPr>
              <a:t>YH店舗（取付）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19072" y="4389120"/>
            <a:ext cx="8778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履き替え</a:t>
            </a:r>
          </a:p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作業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0624" y="5102352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F497D"/>
                </a:solidFill>
                <a:latin typeface="メイリオ"/>
              </a:rPr>
              <a:t>既存システム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0352" y="5376672"/>
            <a:ext cx="197510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PIT予約API（取付枠）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0352" y="5678424"/>
            <a:ext cx="197510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倉庫ロケーション連携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0352" y="5980176"/>
            <a:ext cx="197510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基幹（保管料・請求）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06240" y="1261872"/>
            <a:ext cx="17830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82112" y="160934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497D"/>
                </a:solidFill>
                <a:latin typeface="メイリオ"/>
              </a:rPr>
              <a:t>バックヤード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73552" y="190195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保管契約管理</a:t>
            </a:r>
          </a:p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（1年・更新）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17136" y="1901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入出庫管理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60720" y="190195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ロケーション</a:t>
            </a:r>
          </a:p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管理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73552" y="23591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預かり登録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17136" y="235915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保管料・月次請求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60720" y="23591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取引先管理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82112" y="3291840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497D"/>
                </a:solidFill>
                <a:latin typeface="メイリオ"/>
              </a:rPr>
              <a:t>B2Bフロント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73552" y="358444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保管申込</a:t>
            </a:r>
          </a:p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（夏＋冬＝1注文）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17136" y="35844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入庫依頼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60720" y="358444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履き替え出庫予約</a:t>
            </a:r>
          </a:p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（PIT同時確保）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73552" y="404164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残溝アラート</a:t>
            </a:r>
          </a:p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（交換推奨）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17136" y="404164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松竹梅比較見積</a:t>
            </a:r>
          </a:p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（クロスセル）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60720" y="40416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保管状況・履歴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17136" y="44988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出庫ステータス追跡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182112" y="5084064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C00000"/>
                </a:solidFill>
                <a:latin typeface="メイリオ"/>
              </a:rPr>
              <a:t>1注文＝夏物・冬物の2配送。夏冬とも出庫完了で注文完了 → 次年度の更新へ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818120" y="1810512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</a:rPr>
              <a:t>取引先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79792" y="2871216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33333"/>
                </a:solidFill>
                <a:latin typeface="メイリオ"/>
              </a:rPr>
              <a:t>ディーラー・整備工場</a:t>
            </a:r>
          </a:p>
          <a:p>
            <a:pPr algn="ctr"/>
            <a:r>
              <a:rPr sz="950" b="0">
                <a:solidFill>
                  <a:srgbClr val="333333"/>
                </a:solidFill>
                <a:latin typeface="メイリオ"/>
              </a:rPr>
              <a:t>リース・レンタカー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56448" y="3310128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</a:rPr>
              <a:t>エンドユーザー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メイリオ"/>
              </a:rPr>
              <a:t>(C) から預かる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33472" y="1792224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サイト管理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67728" y="3438144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7F7F7F"/>
                </a:solidFill>
                <a:latin typeface="メイリオ"/>
              </a:rPr>
              <a:t>保管依頼・出庫予約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967728" y="21762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7F7F7F"/>
                </a:solidFill>
                <a:latin typeface="メイリオ"/>
              </a:rPr>
              <a:t>保管状況・見積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633472" y="2633472"/>
            <a:ext cx="6035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入出庫指示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633472" y="4096512"/>
            <a:ext cx="6035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取付予約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615184" y="546811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API連携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63440" y="623620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7F7F7F"/>
                </a:solidFill>
                <a:latin typeface="メイリオ"/>
              </a:rPr>
              <a:t>履き替えタイヤの配送・店舗受取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74320" y="1280160"/>
            <a:ext cx="24871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メイリオ"/>
              </a:rPr>
              <a:t>貴 社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17520" y="1261872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438086"/>
                </a:solidFill>
                <a:latin typeface="メイリオ"/>
              </a:rPr>
              <a:t>EC-Rider  B2B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イエローハット Phase1〜3 実現イメージ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