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906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2952" cy="566928"/>
          </a:xfrm>
          <a:prstGeom prst="rect">
            <a:avLst/>
          </a:prstGeom>
          <a:solidFill>
            <a:srgbClr val="438086"/>
          </a:solidFill>
          <a:ln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051560"/>
            <a:ext cx="2514600" cy="5440680"/>
          </a:xfrm>
          <a:prstGeom prst="roundRect">
            <a:avLst/>
          </a:prstGeom>
          <a:noFill/>
          <a:ln w="279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063240" y="1051560"/>
            <a:ext cx="4160520" cy="5440680"/>
          </a:xfrm>
          <a:prstGeom prst="roundRect">
            <a:avLst/>
          </a:prstGeom>
          <a:noFill/>
          <a:ln w="25400">
            <a:solidFill>
              <a:srgbClr val="43808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81328"/>
            <a:ext cx="2148840" cy="932688"/>
          </a:xfrm>
          <a:prstGeom prst="roundRect">
            <a:avLst/>
          </a:prstGeom>
          <a:noFill/>
          <a:ln w="2032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724912"/>
            <a:ext cx="2148840" cy="868680"/>
          </a:xfrm>
          <a:prstGeom prst="roundRect">
            <a:avLst/>
          </a:prstGeom>
          <a:noFill/>
          <a:ln w="2032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3703320"/>
            <a:ext cx="603504" cy="4572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16152" y="3703320"/>
            <a:ext cx="603504" cy="4572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29384" y="3703320"/>
            <a:ext cx="603504" cy="4572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4553712"/>
            <a:ext cx="2148840" cy="868680"/>
          </a:xfrm>
          <a:prstGeom prst="roundRect">
            <a:avLst/>
          </a:prstGeom>
          <a:noFill/>
          <a:ln w="2032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46120" y="1481328"/>
            <a:ext cx="3794760" cy="1554480"/>
          </a:xfrm>
          <a:prstGeom prst="roundRect">
            <a:avLst/>
          </a:prstGeom>
          <a:noFill/>
          <a:ln w="1778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46704" y="1847088"/>
            <a:ext cx="1170432" cy="292608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1847088"/>
            <a:ext cx="1170432" cy="292608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797296" y="1847088"/>
            <a:ext cx="1170432" cy="292608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46704" y="2231136"/>
            <a:ext cx="1170432" cy="292608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0" y="2231136"/>
            <a:ext cx="1170432" cy="292608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97296" y="2231136"/>
            <a:ext cx="1170432" cy="402336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46120" y="3200400"/>
            <a:ext cx="3794760" cy="1737360"/>
          </a:xfrm>
          <a:prstGeom prst="roundRect">
            <a:avLst/>
          </a:prstGeom>
          <a:noFill/>
          <a:ln w="1778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46704" y="3566160"/>
            <a:ext cx="1170432" cy="402336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0" y="3566160"/>
            <a:ext cx="1170432" cy="292608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797296" y="3566160"/>
            <a:ext cx="1170432" cy="292608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346704" y="4059935"/>
            <a:ext cx="1170432" cy="402336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72000" y="4059935"/>
            <a:ext cx="1170432" cy="402336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97296" y="4059935"/>
            <a:ext cx="1170432" cy="292608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52360" y="2011680"/>
            <a:ext cx="2194560" cy="1965960"/>
          </a:xfrm>
          <a:prstGeom prst="roundRect">
            <a:avLst/>
          </a:prstGeom>
          <a:solidFill>
            <a:srgbClr val="2E7D32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063240" y="5138928"/>
            <a:ext cx="4160520" cy="1353312"/>
          </a:xfrm>
          <a:prstGeom prst="roundRect">
            <a:avLst/>
          </a:prstGeom>
          <a:noFill/>
          <a:ln w="2032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246120" y="5504688"/>
            <a:ext cx="914400" cy="274320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206240" y="5504688"/>
            <a:ext cx="914400" cy="402336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166360" y="5504688"/>
            <a:ext cx="914400" cy="274320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26480" y="5504688"/>
            <a:ext cx="914400" cy="402336"/>
          </a:xfrm>
          <a:prstGeom prst="roundRect">
            <a:avLst/>
          </a:prstGeom>
          <a:solidFill>
            <a:srgbClr val="FFFFCC"/>
          </a:solidFill>
          <a:ln w="15240">
            <a:solidFill>
              <a:srgbClr val="4380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2606040" y="1920240"/>
            <a:ext cx="640080" cy="0"/>
          </a:xfrm>
          <a:prstGeom prst="line">
            <a:avLst/>
          </a:prstGeom>
          <a:ln w="27940">
            <a:solidFill>
              <a:srgbClr val="438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7040880" y="3566160"/>
            <a:ext cx="411480" cy="365760"/>
          </a:xfrm>
          <a:prstGeom prst="line">
            <a:avLst/>
          </a:prstGeom>
          <a:ln w="3048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040880" y="2651760"/>
            <a:ext cx="411480" cy="91440"/>
          </a:xfrm>
          <a:prstGeom prst="line">
            <a:avLst/>
          </a:prstGeom>
          <a:ln w="25400">
            <a:solidFill>
              <a:srgbClr val="438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120640" y="3035808"/>
            <a:ext cx="0" cy="2103120"/>
          </a:xfrm>
          <a:prstGeom prst="line">
            <a:avLst/>
          </a:prstGeom>
          <a:ln w="27940">
            <a:solidFill>
              <a:srgbClr val="438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2606040" y="5029200"/>
            <a:ext cx="457200" cy="731520"/>
          </a:xfrm>
          <a:prstGeom prst="line">
            <a:avLst/>
          </a:prstGeom>
          <a:ln w="25400">
            <a:solidFill>
              <a:srgbClr val="438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194560" y="4480560"/>
            <a:ext cx="914400" cy="1097280"/>
          </a:xfrm>
          <a:prstGeom prst="line">
            <a:avLst/>
          </a:prstGeom>
          <a:ln w="22860">
            <a:solidFill>
              <a:srgbClr val="438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194560" y="6309360"/>
            <a:ext cx="5943600" cy="0"/>
          </a:xfrm>
          <a:prstGeom prst="line">
            <a:avLst/>
          </a:prstGeom>
          <a:ln w="2286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138160" y="4023360"/>
            <a:ext cx="365760" cy="2286000"/>
          </a:xfrm>
          <a:prstGeom prst="line">
            <a:avLst/>
          </a:prstGeom>
          <a:ln w="2286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57200" y="1517904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497D"/>
                </a:solidFill>
                <a:latin typeface="メイリオ"/>
              </a:rPr>
              <a:t>本部・ジョイフル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1810512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333333"/>
                </a:solidFill>
                <a:latin typeface="メイリオ"/>
              </a:rPr>
              <a:t>管理者</a:t>
            </a:r>
          </a:p>
          <a:p>
            <a:pPr algn="ctr"/>
            <a:r>
              <a:rPr sz="1050" b="0">
                <a:solidFill>
                  <a:srgbClr val="333333"/>
                </a:solidFill>
                <a:latin typeface="メイリオ"/>
              </a:rPr>
              <a:t>サイト運用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2432304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7F7F7F"/>
                </a:solidFill>
                <a:latin typeface="メイリオ"/>
              </a:rPr>
              <a:t>サイト管理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276148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C00000"/>
                </a:solidFill>
                <a:latin typeface="メイリオ"/>
              </a:rPr>
              <a:t>各店舗（YH店舗）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3054096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メイリオ"/>
              </a:rPr>
              <a:t>POS・入庫</a:t>
            </a:r>
          </a:p>
          <a:p>
            <a:pPr algn="ctr"/>
            <a:r>
              <a:rPr sz="1000" b="0">
                <a:solidFill>
                  <a:srgbClr val="333333"/>
                </a:solidFill>
                <a:latin typeface="メイリオ"/>
              </a:rPr>
              <a:t>（在庫の一次入力）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3730752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333333"/>
                </a:solidFill>
                <a:latin typeface="メイリオ"/>
              </a:rPr>
              <a:t>店舗A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3931920"/>
            <a:ext cx="6035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7F7F7F"/>
                </a:solidFill>
                <a:latin typeface="メイリオ"/>
              </a:rPr>
              <a:t>POS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6152" y="3730752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333333"/>
                </a:solidFill>
                <a:latin typeface="メイリオ"/>
              </a:rPr>
              <a:t>店舗B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6152" y="3931920"/>
            <a:ext cx="6035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7F7F7F"/>
                </a:solidFill>
                <a:latin typeface="メイリオ"/>
              </a:rPr>
              <a:t>POS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29384" y="3730752"/>
            <a:ext cx="603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333333"/>
                </a:solidFill>
                <a:latin typeface="メイリオ"/>
              </a:rPr>
              <a:t>店舗C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29384" y="3931920"/>
            <a:ext cx="6035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7F7F7F"/>
                </a:solidFill>
                <a:latin typeface="メイリオ"/>
              </a:rPr>
              <a:t>POS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4224528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7F7F7F"/>
                </a:solidFill>
                <a:latin typeface="メイリオ"/>
              </a:rPr>
              <a:t>入庫・棚卸で在庫を入力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459028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438086"/>
                </a:solidFill>
                <a:latin typeface="メイリオ"/>
              </a:rPr>
              <a:t>物流部・倉庫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882896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80" b="0">
                <a:solidFill>
                  <a:srgbClr val="333333"/>
                </a:solidFill>
                <a:latin typeface="メイリオ"/>
              </a:rPr>
              <a:t>出荷指示（管理サイト）</a:t>
            </a:r>
          </a:p>
          <a:p>
            <a:pPr algn="ctr"/>
            <a:r>
              <a:rPr sz="980" b="0">
                <a:solidFill>
                  <a:srgbClr val="333333"/>
                </a:solidFill>
                <a:latin typeface="メイリオ"/>
              </a:rPr>
              <a:t>ピッキング・出荷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035040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7F7F7F"/>
                </a:solidFill>
                <a:latin typeface="メイリオ"/>
              </a:rPr>
              <a:t/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46120" y="1517904"/>
            <a:ext cx="3794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497D"/>
                </a:solidFill>
                <a:latin typeface="メイリオ"/>
              </a:rPr>
              <a:t>バックヤード（管理サイト）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46704" y="1847088"/>
            <a:ext cx="117043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333333"/>
                </a:solidFill>
                <a:latin typeface="メイリオ"/>
              </a:rPr>
              <a:t>取引先管理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0" y="1847088"/>
            <a:ext cx="117043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333333"/>
                </a:solidFill>
                <a:latin typeface="メイリオ"/>
              </a:rPr>
              <a:t>受注管理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97296" y="1847088"/>
            <a:ext cx="117043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333333"/>
                </a:solidFill>
                <a:latin typeface="メイリオ"/>
              </a:rPr>
              <a:t>商品管理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46704" y="2231136"/>
            <a:ext cx="117043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333333"/>
                </a:solidFill>
                <a:latin typeface="メイリオ"/>
              </a:rPr>
              <a:t>在庫管理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0" y="2231136"/>
            <a:ext cx="117043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333333"/>
                </a:solidFill>
                <a:latin typeface="メイリオ"/>
              </a:rPr>
              <a:t>見積管理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97296" y="2231136"/>
            <a:ext cx="117043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333333"/>
                </a:solidFill>
                <a:latin typeface="メイリオ"/>
              </a:rPr>
              <a:t>掛率・指値</a:t>
            </a:r>
          </a:p>
          <a:p>
            <a:pPr algn="ctr"/>
            <a:r>
              <a:rPr sz="1050" b="0">
                <a:solidFill>
                  <a:srgbClr val="333333"/>
                </a:solidFill>
                <a:latin typeface="メイリオ"/>
              </a:rPr>
              <a:t>（一物多価）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46120" y="3236976"/>
            <a:ext cx="3794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497D"/>
                </a:solidFill>
                <a:latin typeface="メイリオ"/>
              </a:rPr>
              <a:t>B2Bフロント（取引先が利用）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46704" y="3566160"/>
            <a:ext cx="117043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C00000"/>
                </a:solidFill>
                <a:latin typeface="メイリオ"/>
              </a:rPr>
              <a:t>適合・タイヤ検索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0" y="3566160"/>
            <a:ext cx="117043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333333"/>
                </a:solidFill>
                <a:latin typeface="メイリオ"/>
              </a:rPr>
              <a:t>見積 → 注文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97296" y="3566160"/>
            <a:ext cx="117043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333333"/>
                </a:solidFill>
                <a:latin typeface="メイリオ"/>
              </a:rPr>
              <a:t>クイックオーダー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46704" y="4059935"/>
            <a:ext cx="117043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C00000"/>
                </a:solidFill>
                <a:latin typeface="メイリオ"/>
              </a:rPr>
              <a:t>リアルタイム在庫</a:t>
            </a:r>
          </a:p>
          <a:p>
            <a:pPr algn="ctr"/>
            <a:r>
              <a:rPr sz="1050" b="1">
                <a:solidFill>
                  <a:srgbClr val="C00000"/>
                </a:solidFill>
                <a:latin typeface="メイリオ"/>
              </a:rPr>
              <a:t>・納期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0" y="4059935"/>
            <a:ext cx="117043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C00000"/>
                </a:solidFill>
                <a:latin typeface="メイリオ"/>
              </a:rPr>
              <a:t>送料計算</a:t>
            </a:r>
          </a:p>
          <a:p>
            <a:pPr algn="ctr"/>
            <a:r>
              <a:rPr sz="1050" b="1">
                <a:solidFill>
                  <a:srgbClr val="C00000"/>
                </a:solidFill>
                <a:latin typeface="メイリオ"/>
              </a:rPr>
              <a:t>（口数）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97296" y="4059935"/>
            <a:ext cx="117043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333333"/>
                </a:solidFill>
                <a:latin typeface="メイリオ"/>
              </a:rPr>
              <a:t>出荷希望日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52360" y="213969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メイリオ"/>
              </a:rPr>
              <a:t>取引先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52360" y="2615184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メイリオ"/>
              </a:rPr>
              <a:t>ディーラー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メイリオ"/>
              </a:rPr>
              <a:t>整備工場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メイリオ"/>
              </a:rPr>
              <a:t>FC加盟店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メイリオ"/>
              </a:rPr>
              <a:t>中古車販売店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063240" y="5175504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F497D"/>
                </a:solidFill>
                <a:latin typeface="メイリオ"/>
              </a:rPr>
              <a:t>基幹システム（連携）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46120" y="55046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333333"/>
                </a:solidFill>
                <a:latin typeface="メイリオ"/>
              </a:rPr>
              <a:t>商品連携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206240" y="5504688"/>
            <a:ext cx="9144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C00000"/>
                </a:solidFill>
                <a:latin typeface="メイリオ"/>
              </a:rPr>
              <a:t>在庫連携</a:t>
            </a:r>
          </a:p>
          <a:p>
            <a:pPr algn="ctr"/>
            <a:r>
              <a:rPr sz="1050" b="1">
                <a:solidFill>
                  <a:srgbClr val="C00000"/>
                </a:solidFill>
                <a:latin typeface="メイリオ"/>
              </a:rPr>
              <a:t>（自動）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166360" y="55046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333333"/>
                </a:solidFill>
                <a:latin typeface="メイリオ"/>
              </a:rPr>
              <a:t>受注連携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26480" y="5504688"/>
            <a:ext cx="9144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C00000"/>
                </a:solidFill>
                <a:latin typeface="メイリオ"/>
              </a:rPr>
              <a:t>出荷実績</a:t>
            </a:r>
          </a:p>
          <a:p>
            <a:pPr algn="ctr"/>
            <a:r>
              <a:rPr sz="1050" b="1">
                <a:solidFill>
                  <a:srgbClr val="C00000"/>
                </a:solidFill>
                <a:latin typeface="メイリオ"/>
              </a:rPr>
              <a:t>連携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246120" y="5998464"/>
            <a:ext cx="37947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C00000"/>
                </a:solidFill>
                <a:latin typeface="メイリオ"/>
              </a:rPr>
              <a:t>適合・倉庫管理・店舗POS・予約システムなど既存連携（API／CSV）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903720" y="2331720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7F7F7F"/>
                </a:solidFill>
                <a:latin typeface="メイリオ"/>
              </a:rPr>
              <a:t>発注 / 注文履歴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651760" y="539496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7F7F7F"/>
                </a:solidFill>
                <a:latin typeface="メイリオ"/>
              </a:rPr>
              <a:t>出荷指示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331720" y="4800600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7F7F7F"/>
                </a:solidFill>
                <a:latin typeface="メイリオ"/>
              </a:rPr>
              <a:t>入庫・在庫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26480" y="6382512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7F7F7F"/>
                </a:solidFill>
                <a:latin typeface="メイリオ"/>
              </a:rPr>
              <a:t>商品を配送・出荷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1440" y="18288"/>
            <a:ext cx="972007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メイリオ"/>
              </a:rPr>
              <a:t>ご要望のイメージ（発注サイト 全体像）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20040" y="640080"/>
            <a:ext cx="92628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C00000"/>
                </a:solidFill>
                <a:latin typeface="メイリオ"/>
              </a:rPr>
              <a:t>赤字＝メインのカスタマイズポイント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4320" y="1097280"/>
            <a:ext cx="2514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C00000"/>
                </a:solidFill>
                <a:latin typeface="メイリオ"/>
              </a:rPr>
              <a:t>貴社（イエローハット様）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063240" y="1097280"/>
            <a:ext cx="4160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438086"/>
                </a:solidFill>
                <a:latin typeface="メイリオ"/>
              </a:rPr>
              <a:t>EC-Rider  B2B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