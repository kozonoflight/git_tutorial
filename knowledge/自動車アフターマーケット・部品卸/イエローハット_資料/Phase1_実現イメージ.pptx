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7824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74519"/>
            <a:ext cx="1737360" cy="2514600"/>
          </a:xfrm>
          <a:prstGeom prst="roundRect">
            <a:avLst/>
          </a:prstGeom>
          <a:noFill/>
          <a:ln w="1397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31720" y="1600200"/>
            <a:ext cx="3246120" cy="3063240"/>
          </a:xfrm>
          <a:prstGeom prst="roundRect">
            <a:avLst/>
          </a:prstGeom>
          <a:noFill/>
          <a:ln w="22860">
            <a:solidFill>
              <a:srgbClr val="2F7D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06440" y="1783080"/>
            <a:ext cx="2743200" cy="233172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0840" y="4590288"/>
            <a:ext cx="1783080" cy="1051560"/>
          </a:xfrm>
          <a:prstGeom prst="roundRect">
            <a:avLst/>
          </a:prstGeom>
          <a:noFill/>
          <a:ln w="1397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8920" y="4892040"/>
            <a:ext cx="2880360" cy="1371600"/>
          </a:xfrm>
          <a:prstGeom prst="roundRect">
            <a:avLst/>
          </a:prstGeom>
          <a:noFill/>
          <a:ln w="1397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74320" y="146304"/>
            <a:ext cx="137160" cy="192024"/>
          </a:xfrm>
          <a:prstGeom prst="parallelogram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448056" y="146304"/>
            <a:ext cx="137160" cy="192024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274320" y="365760"/>
            <a:ext cx="137160" cy="192024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448056" y="365760"/>
            <a:ext cx="137160" cy="192024"/>
          </a:xfrm>
          <a:prstGeom prst="parallelogram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658368"/>
            <a:ext cx="8266175" cy="10972"/>
          </a:xfrm>
          <a:prstGeom prst="rect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87168" y="1847088"/>
            <a:ext cx="1417320" cy="2651760"/>
          </a:xfrm>
          <a:prstGeom prst="roundRect">
            <a:avLst/>
          </a:prstGeom>
          <a:noFill/>
          <a:ln w="1524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2212848"/>
            <a:ext cx="119786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96896" y="2633472"/>
            <a:ext cx="119786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96896" y="3054096"/>
            <a:ext cx="119786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96896" y="3474720"/>
            <a:ext cx="119786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96896" y="3895344"/>
            <a:ext cx="119786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3360" y="1847088"/>
            <a:ext cx="1417320" cy="2651760"/>
          </a:xfrm>
          <a:prstGeom prst="roundRect">
            <a:avLst/>
          </a:prstGeom>
          <a:noFill/>
          <a:ln w="1524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33087" y="2212848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33087" y="2578608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33087" y="2944368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33087" y="3310128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3087" y="3675887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33087" y="4041648"/>
            <a:ext cx="1197864" cy="292608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" y="2011680"/>
            <a:ext cx="932688" cy="310896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erson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603504" cy="731520"/>
          </a:xfrm>
          <a:prstGeom prst="rect">
            <a:avLst/>
          </a:prstGeom>
        </p:spPr>
      </p:pic>
      <p:pic>
        <p:nvPicPr>
          <p:cNvPr id="27" name="Picture 26" descr="t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46120"/>
            <a:ext cx="475488" cy="4754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09360" y="1975104"/>
            <a:ext cx="1234440" cy="329184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395728"/>
            <a:ext cx="548640" cy="676656"/>
          </a:xfrm>
          <a:prstGeom prst="rect">
            <a:avLst/>
          </a:prstGeom>
        </p:spPr>
      </p:pic>
      <p:pic>
        <p:nvPicPr>
          <p:cNvPr id="30" name="Picture 29" descr="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359152"/>
            <a:ext cx="640080" cy="6400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053328" y="3246120"/>
            <a:ext cx="1234440" cy="329184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621024"/>
            <a:ext cx="512064" cy="457200"/>
          </a:xfrm>
          <a:prstGeom prst="rect">
            <a:avLst/>
          </a:prstGeom>
        </p:spPr>
      </p:pic>
      <p:pic>
        <p:nvPicPr>
          <p:cNvPr id="33" name="Picture 32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4718304"/>
            <a:ext cx="566928" cy="60350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566160" y="5029200"/>
            <a:ext cx="1051560" cy="329184"/>
          </a:xfrm>
          <a:prstGeom prst="roundRect">
            <a:avLst/>
          </a:prstGeom>
          <a:solidFill>
            <a:srgbClr val="2E9B57"/>
          </a:solidFill>
          <a:ln w="12700">
            <a:solidFill>
              <a:srgbClr val="2E9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5440680"/>
            <a:ext cx="512064" cy="603504"/>
          </a:xfrm>
          <a:prstGeom prst="rect">
            <a:avLst/>
          </a:prstGeom>
        </p:spPr>
      </p:pic>
      <p:pic>
        <p:nvPicPr>
          <p:cNvPr id="36" name="Picture 35" descr="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5715000"/>
            <a:ext cx="457200" cy="457200"/>
          </a:xfrm>
          <a:prstGeom prst="rect">
            <a:avLst/>
          </a:prstGeom>
        </p:spPr>
      </p:pic>
      <p:pic>
        <p:nvPicPr>
          <p:cNvPr id="37" name="Picture 36" descr="st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5623560"/>
            <a:ext cx="548640" cy="530352"/>
          </a:xfrm>
          <a:prstGeom prst="rect">
            <a:avLst/>
          </a:prstGeom>
        </p:spPr>
      </p:pic>
      <p:pic>
        <p:nvPicPr>
          <p:cNvPr id="38" name="Picture 37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5440680"/>
            <a:ext cx="548640" cy="566928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2011680" y="2788920"/>
            <a:ext cx="475488" cy="0"/>
          </a:xfrm>
          <a:prstGeom prst="line">
            <a:avLst/>
          </a:prstGeom>
          <a:ln w="3810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440680" y="2697480"/>
            <a:ext cx="548640" cy="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40680" y="3456432"/>
            <a:ext cx="182880" cy="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" y="3456432"/>
            <a:ext cx="0" cy="91440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23560" y="4370832"/>
            <a:ext cx="1600200" cy="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23760" y="4370832"/>
            <a:ext cx="0" cy="219456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43800" y="4160520"/>
            <a:ext cx="0" cy="429768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486400" y="4160520"/>
            <a:ext cx="2057400" cy="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486400" y="4114800"/>
            <a:ext cx="0" cy="4572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89520" y="5641848"/>
            <a:ext cx="0" cy="41148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669280" y="6053328"/>
            <a:ext cx="1920240" cy="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669280" y="5440680"/>
            <a:ext cx="594360" cy="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263640" y="5029200"/>
            <a:ext cx="0" cy="41148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263640" y="5029200"/>
            <a:ext cx="457200" cy="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623560" y="4937760"/>
            <a:ext cx="1280160" cy="0"/>
          </a:xfrm>
          <a:prstGeom prst="line">
            <a:avLst/>
          </a:prstGeom>
          <a:ln w="2032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623560" y="4937760"/>
            <a:ext cx="0" cy="457200"/>
          </a:xfrm>
          <a:prstGeom prst="line">
            <a:avLst/>
          </a:prstGeom>
          <a:ln w="20320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43000" y="5943600"/>
            <a:ext cx="1645920" cy="0"/>
          </a:xfrm>
          <a:prstGeom prst="line">
            <a:avLst/>
          </a:prstGeom>
          <a:ln w="33020">
            <a:solidFill>
              <a:srgbClr val="2F7D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43000" y="4389120"/>
            <a:ext cx="0" cy="1554480"/>
          </a:xfrm>
          <a:prstGeom prst="line">
            <a:avLst/>
          </a:prstGeom>
          <a:ln w="33020">
            <a:solidFill>
              <a:srgbClr val="2F7D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tru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5623560"/>
            <a:ext cx="603504" cy="4572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31520" y="91440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404040"/>
                </a:solidFill>
                <a:latin typeface="メイリオ"/>
              </a:rPr>
              <a:t>実現イメージ  Phase1  BtoB卸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7863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メイリオ"/>
              </a:rPr>
              <a:t>卸先がWEBサイトから注文し、受注～出荷～基幹連携までを一元化する全体イメージです。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1042415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メイリオ"/>
              </a:rPr>
              <a:t>※赤字記載がメインのカスタマイズポイントとなります。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" y="2011680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</a:rPr>
              <a:t>卸先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4752" y="23774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333333"/>
                </a:solidFill>
                <a:latin typeface="メイリオ"/>
              </a:rPr>
              <a:t>商品検索・閲覧</a:t>
            </a:r>
          </a:p>
          <a:p>
            <a:pPr algn="l"/>
            <a:r>
              <a:rPr sz="819" b="0">
                <a:solidFill>
                  <a:srgbClr val="333333"/>
                </a:solidFill>
                <a:latin typeface="メイリオ"/>
              </a:rPr>
              <a:t>注文・見積</a:t>
            </a:r>
          </a:p>
          <a:p>
            <a:pPr algn="l"/>
            <a:r>
              <a:rPr sz="819" b="0">
                <a:solidFill>
                  <a:srgbClr val="333333"/>
                </a:solidFill>
                <a:latin typeface="メイリオ"/>
              </a:rPr>
              <a:t>クイックオーダー</a:t>
            </a:r>
          </a:p>
          <a:p>
            <a:pPr algn="l"/>
            <a:r>
              <a:rPr sz="819" b="0">
                <a:solidFill>
                  <a:srgbClr val="333333"/>
                </a:solidFill>
                <a:latin typeface="メイリオ"/>
              </a:rPr>
              <a:t>注文履歴</a:t>
            </a:r>
          </a:p>
          <a:p>
            <a:pPr algn="l"/>
            <a:r>
              <a:rPr sz="819" b="0">
                <a:solidFill>
                  <a:srgbClr val="333333"/>
                </a:solidFill>
                <a:latin typeface="メイリオ"/>
              </a:rPr>
              <a:t>見積履歴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1417320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87168" y="190195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3864"/>
                </a:solidFill>
                <a:latin typeface="メイリオ"/>
              </a:rPr>
              <a:t>B2Bフロント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96896" y="2212848"/>
            <a:ext cx="11978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商品検索・閲覧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96896" y="2633472"/>
            <a:ext cx="11978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クイックオーダー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6896" y="3054096"/>
            <a:ext cx="11978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注文カート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6896" y="3474720"/>
            <a:ext cx="11978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注文・見積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96896" y="3895344"/>
            <a:ext cx="11978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注文履歴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190195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3864"/>
                </a:solidFill>
                <a:latin typeface="メイリオ"/>
              </a:rPr>
              <a:t>管理サイト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33087" y="221284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注文管理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33087" y="257860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見積管理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33087" y="294436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商品管理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33087" y="331012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受注データ連携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33087" y="3675887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商品情報CSV登録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33087" y="4041648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在庫情報自動連携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0840" y="171907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19751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</a:rPr>
              <a:t>YH・ジョイフル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53328" y="3246120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物流部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89320" y="370332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注文受付メール → 管理サイトで出荷指示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0840" y="539496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333333"/>
                </a:solidFill>
                <a:latin typeface="メイリオ"/>
              </a:rPr>
              <a:t>基幹システム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43800" y="47548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受注取込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在庫引当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売上計上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0" y="5029200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</a:rPr>
              <a:t>倉庫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9160" y="60350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倉庫在庫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システム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0" y="27432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89320" y="44439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受注データを基幹へ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06440" y="396849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商品・在庫を基幹から連携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57424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メイリオ"/>
              </a:rPr>
              <a:t>出荷指示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60720" y="523036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出荷実績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471830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00000"/>
                </a:solidFill>
                <a:latin typeface="メイリオ"/>
              </a:rPr>
              <a:t>在庫減算連携は要検討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0" y="57424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</a:rPr>
              <a:t>出荷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31720" y="1417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5A53"/>
                </a:solidFill>
                <a:latin typeface="メイリオ"/>
              </a:rPr>
              <a:t>EC-Rider  Primo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31720" y="13898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5A53"/>
                </a:solidFill>
                <a:latin typeface="メイリオ"/>
              </a:rPr>
              <a:t>EC-Rider  Primo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06440" y="171907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06440" y="171907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