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7824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74519"/>
            <a:ext cx="1783080" cy="2651760"/>
          </a:xfrm>
          <a:prstGeom prst="roundRect">
            <a:avLst/>
          </a:prstGeom>
          <a:noFill/>
          <a:ln w="1397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12848" y="1572768"/>
            <a:ext cx="3429000" cy="3246120"/>
          </a:xfrm>
          <a:prstGeom prst="roundRect">
            <a:avLst/>
          </a:prstGeom>
          <a:noFill/>
          <a:ln w="22860">
            <a:solidFill>
              <a:srgbClr val="2F7D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79008" y="1737360"/>
            <a:ext cx="2743200" cy="306324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12848" y="5029200"/>
            <a:ext cx="1874519" cy="1371600"/>
          </a:xfrm>
          <a:prstGeom prst="roundRect">
            <a:avLst/>
          </a:prstGeom>
          <a:noFill/>
          <a:ln w="1397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24528" y="5029200"/>
            <a:ext cx="1874519" cy="1371600"/>
          </a:xfrm>
          <a:prstGeom prst="roundRect">
            <a:avLst/>
          </a:prstGeom>
          <a:noFill/>
          <a:ln w="20320">
            <a:solidFill>
              <a:srgbClr val="1F5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6208" y="5029200"/>
            <a:ext cx="2286000" cy="1371600"/>
          </a:xfrm>
          <a:prstGeom prst="roundRect">
            <a:avLst/>
          </a:prstGeom>
          <a:noFill/>
          <a:ln w="20320">
            <a:solidFill>
              <a:srgbClr val="1F5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274320" y="146304"/>
            <a:ext cx="137160" cy="192024"/>
          </a:xfrm>
          <a:prstGeom prst="parallelogram">
            <a:avLst/>
          </a:prstGeom>
          <a:solidFill>
            <a:srgbClr val="2F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448056" y="146304"/>
            <a:ext cx="137160" cy="192024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74320" y="365760"/>
            <a:ext cx="137160" cy="192024"/>
          </a:xfrm>
          <a:prstGeom prst="parallelogram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448056" y="365760"/>
            <a:ext cx="137160" cy="192024"/>
          </a:xfrm>
          <a:prstGeom prst="parallelogram">
            <a:avLst/>
          </a:prstGeom>
          <a:solidFill>
            <a:srgbClr val="2F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658368"/>
            <a:ext cx="8266175" cy="10972"/>
          </a:xfrm>
          <a:prstGeom prst="rect">
            <a:avLst/>
          </a:prstGeom>
          <a:solidFill>
            <a:srgbClr val="2F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9152" y="1810512"/>
            <a:ext cx="1572768" cy="2852928"/>
          </a:xfrm>
          <a:prstGeom prst="roundRect">
            <a:avLst/>
          </a:prstGeom>
          <a:noFill/>
          <a:ln w="1524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68880" y="2194560"/>
            <a:ext cx="1353312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8880" y="2596896"/>
            <a:ext cx="1353312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2999232"/>
            <a:ext cx="1353312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68880" y="3401568"/>
            <a:ext cx="1353312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68880" y="3803904"/>
            <a:ext cx="1353312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68880" y="4206240"/>
            <a:ext cx="1353312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41648" y="1810512"/>
            <a:ext cx="1490472" cy="2852928"/>
          </a:xfrm>
          <a:prstGeom prst="roundRect">
            <a:avLst/>
          </a:prstGeom>
          <a:noFill/>
          <a:ln w="1524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42232" y="2194560"/>
            <a:ext cx="128930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42232" y="2596896"/>
            <a:ext cx="128930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42232" y="2999232"/>
            <a:ext cx="128930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42232" y="3401568"/>
            <a:ext cx="128930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42232" y="3803904"/>
            <a:ext cx="128930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42232" y="4206240"/>
            <a:ext cx="1289304" cy="329184"/>
          </a:xfrm>
          <a:prstGeom prst="roundRect">
            <a:avLst/>
          </a:prstGeom>
          <a:solidFill>
            <a:srgbClr val="FFFFCC"/>
          </a:solidFill>
          <a:ln w="13970">
            <a:solidFill>
              <a:srgbClr val="2F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0624" y="1993392"/>
            <a:ext cx="1481328" cy="310896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erson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95728"/>
            <a:ext cx="548640" cy="658368"/>
          </a:xfrm>
          <a:prstGeom prst="rect">
            <a:avLst/>
          </a:prstGeom>
        </p:spPr>
      </p:pic>
      <p:pic>
        <p:nvPicPr>
          <p:cNvPr id="29" name="Picture 28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32304"/>
            <a:ext cx="603504" cy="58521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272784" y="1938528"/>
            <a:ext cx="1280160" cy="310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331720"/>
            <a:ext cx="512064" cy="603504"/>
          </a:xfrm>
          <a:prstGeom prst="rect">
            <a:avLst/>
          </a:prstGeom>
        </p:spPr>
      </p:pic>
      <p:pic>
        <p:nvPicPr>
          <p:cNvPr id="32" name="Picture 31" descr="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304288"/>
            <a:ext cx="585216" cy="58521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053328" y="3246120"/>
            <a:ext cx="1508760" cy="310896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39312"/>
            <a:ext cx="512064" cy="493776"/>
          </a:xfrm>
          <a:prstGeom prst="rect">
            <a:avLst/>
          </a:prstGeom>
        </p:spPr>
      </p:pic>
      <p:pic>
        <p:nvPicPr>
          <p:cNvPr id="35" name="Picture 34" descr="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657600"/>
            <a:ext cx="457200" cy="457200"/>
          </a:xfrm>
          <a:prstGeom prst="rect">
            <a:avLst/>
          </a:prstGeom>
        </p:spPr>
      </p:pic>
      <p:pic>
        <p:nvPicPr>
          <p:cNvPr id="36" name="Picture 35" descr="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0" y="5175504"/>
            <a:ext cx="548640" cy="56692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754880" y="4956048"/>
            <a:ext cx="822960" cy="237744"/>
          </a:xfrm>
          <a:prstGeom prst="roundRect">
            <a:avLst/>
          </a:prstGeom>
          <a:solidFill>
            <a:srgbClr val="1F5A53"/>
          </a:solidFill>
          <a:ln w="12700">
            <a:solidFill>
              <a:srgbClr val="1F5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o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0832" y="5212080"/>
            <a:ext cx="384048" cy="60350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766560" y="4956048"/>
            <a:ext cx="822960" cy="237744"/>
          </a:xfrm>
          <a:prstGeom prst="roundRect">
            <a:avLst/>
          </a:prstGeom>
          <a:solidFill>
            <a:srgbClr val="1F5A53"/>
          </a:solidFill>
          <a:ln w="12700">
            <a:solidFill>
              <a:srgbClr val="1F5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212080"/>
            <a:ext cx="512064" cy="548640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>
            <a:off x="2057400" y="2834640"/>
            <a:ext cx="301752" cy="0"/>
          </a:xfrm>
          <a:prstGeom prst="line">
            <a:avLst/>
          </a:prstGeom>
          <a:ln w="3556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532120" y="2651760"/>
            <a:ext cx="457200" cy="0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532120" y="3401568"/>
            <a:ext cx="521208" cy="0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532120" y="3886200"/>
            <a:ext cx="411480" cy="137160"/>
          </a:xfrm>
          <a:prstGeom prst="line">
            <a:avLst/>
          </a:prstGeom>
          <a:ln w="2286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32120" y="4023360"/>
            <a:ext cx="0" cy="0"/>
          </a:xfrm>
          <a:prstGeom prst="line">
            <a:avLst/>
          </a:prstGeom>
          <a:ln w="2286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145536" y="3401568"/>
            <a:ext cx="896112" cy="0"/>
          </a:xfrm>
          <a:prstGeom prst="line">
            <a:avLst/>
          </a:prstGeom>
          <a:ln w="2794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145536" y="3401568"/>
            <a:ext cx="0" cy="1627632"/>
          </a:xfrm>
          <a:prstGeom prst="line">
            <a:avLst/>
          </a:prstGeom>
          <a:ln w="2794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51760" y="4846320"/>
            <a:ext cx="0" cy="182880"/>
          </a:xfrm>
          <a:prstGeom prst="line">
            <a:avLst/>
          </a:prstGeom>
          <a:ln w="2286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331720" y="4846320"/>
            <a:ext cx="320040" cy="0"/>
          </a:xfrm>
          <a:prstGeom prst="line">
            <a:avLst/>
          </a:prstGeom>
          <a:ln w="2286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331720" y="4023360"/>
            <a:ext cx="0" cy="822960"/>
          </a:xfrm>
          <a:prstGeom prst="line">
            <a:avLst/>
          </a:prstGeom>
          <a:ln w="22860">
            <a:solidFill>
              <a:srgbClr val="2F7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331720" y="4023360"/>
            <a:ext cx="27432" cy="0"/>
          </a:xfrm>
          <a:prstGeom prst="line">
            <a:avLst/>
          </a:prstGeom>
          <a:ln w="22860">
            <a:solidFill>
              <a:srgbClr val="2F7D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29200" y="4828032"/>
            <a:ext cx="0" cy="201168"/>
          </a:xfrm>
          <a:prstGeom prst="line">
            <a:avLst/>
          </a:prstGeom>
          <a:ln w="2286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3931920" y="4828032"/>
            <a:ext cx="1097280" cy="0"/>
          </a:xfrm>
          <a:prstGeom prst="line">
            <a:avLst/>
          </a:prstGeom>
          <a:ln w="2286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31920" y="2871216"/>
            <a:ext cx="0" cy="1956816"/>
          </a:xfrm>
          <a:prstGeom prst="line">
            <a:avLst/>
          </a:prstGeom>
          <a:ln w="2286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931920" y="2871216"/>
            <a:ext cx="0" cy="0"/>
          </a:xfrm>
          <a:prstGeom prst="line">
            <a:avLst/>
          </a:prstGeom>
          <a:ln w="2286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223760" y="4846320"/>
            <a:ext cx="0" cy="182880"/>
          </a:xfrm>
          <a:prstGeom prst="line">
            <a:avLst/>
          </a:prstGeom>
          <a:ln w="2286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577840" y="4846320"/>
            <a:ext cx="1645920" cy="0"/>
          </a:xfrm>
          <a:prstGeom prst="line">
            <a:avLst/>
          </a:prstGeom>
          <a:ln w="2286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77840" y="4224528"/>
            <a:ext cx="0" cy="621792"/>
          </a:xfrm>
          <a:prstGeom prst="line">
            <a:avLst/>
          </a:prstGeom>
          <a:ln w="2286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5532120" y="4224528"/>
            <a:ext cx="45720" cy="0"/>
          </a:xfrm>
          <a:prstGeom prst="line">
            <a:avLst/>
          </a:prstGeom>
          <a:ln w="2286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43000" y="6309360"/>
            <a:ext cx="1069848" cy="0"/>
          </a:xfrm>
          <a:prstGeom prst="line">
            <a:avLst/>
          </a:prstGeom>
          <a:ln w="27940">
            <a:solidFill>
              <a:srgbClr val="2F7D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143000" y="4526280"/>
            <a:ext cx="0" cy="1783080"/>
          </a:xfrm>
          <a:prstGeom prst="line">
            <a:avLst/>
          </a:prstGeom>
          <a:ln w="27940">
            <a:solidFill>
              <a:srgbClr val="2F7D7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31520" y="91440"/>
            <a:ext cx="7772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404040"/>
                </a:solidFill>
                <a:latin typeface="メイリオ"/>
              </a:rPr>
              <a:t>実現イメージ  Phase2  整備サービスマッチング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786384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メイリオ"/>
              </a:rPr>
              <a:t>卸先・YH店舗が対応店舗の在庫とPIT空き枠を見て整備を依頼し、作業予約～実施までを一元化する全体イメージです。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1042415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メイリオ"/>
              </a:rPr>
              <a:t>※赤字記載がメインのカスタマイズポイントとなります。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" y="1993392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卸先・YH店舗（依頼）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320040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あぶれた整備・車検を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他のYH店舗へ依頼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70332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対応店舗の在庫・PIT空きを</a:t>
            </a:r>
          </a:p>
          <a:p>
            <a:pPr algn="ctr"/>
            <a:r>
              <a:rPr sz="850" b="0">
                <a:solidFill>
                  <a:srgbClr val="7F7F7F"/>
                </a:solidFill>
                <a:latin typeface="メイリオ"/>
              </a:rPr>
              <a:t>見て予約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1389888"/>
            <a:ext cx="13716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59152" y="1865376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3864"/>
                </a:solidFill>
                <a:latin typeface="メイリオ"/>
              </a:rPr>
              <a:t>B2Bフロント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80" y="2194560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対応可能店舗の検索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68880" y="2596896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店舗のリアルタイム在庫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68880" y="2999232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PIT空き枠・予約可否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68880" y="3401568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整備・車検予約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80" y="3803904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見積 → 注文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68880" y="4206240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進捗・作業履歴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1648" y="1865376"/>
            <a:ext cx="14904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3864"/>
                </a:solidFill>
                <a:latin typeface="メイリオ"/>
              </a:rPr>
              <a:t>管理サイト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42232" y="2194560"/>
            <a:ext cx="1289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予約管理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42232" y="2596896"/>
            <a:ext cx="1289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作業メニュー・工賃管理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42232" y="2999232"/>
            <a:ext cx="1289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店舗・ピット管理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42232" y="3401568"/>
            <a:ext cx="1289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メイリオ"/>
              </a:rPr>
              <a:t>受注データ連携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42232" y="3803904"/>
            <a:ext cx="1289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作業指示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42232" y="4206240"/>
            <a:ext cx="1289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実績・精算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93408" y="1673352"/>
            <a:ext cx="9144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72784" y="193852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YH・ジョイフル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79" y="246888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サイト管理</a:t>
            </a:r>
          </a:p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作業メニュー登録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53328" y="324612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YH店舗（作業・受け）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2160" y="42062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空きピットで整備・車検を実施（作業担当）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12848" y="5797296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333333"/>
                </a:solidFill>
                <a:latin typeface="メイリオ"/>
              </a:rPr>
              <a:t>基幹システム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71800" y="5175504"/>
            <a:ext cx="1051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受注取込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在庫引当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メイリオ"/>
              </a:rPr>
              <a:t>売上計上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54880" y="495604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追加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24528" y="5852160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5A53"/>
                </a:solidFill>
                <a:latin typeface="メイリオ"/>
              </a:rPr>
              <a:t>店舗POSシステム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92040" y="5230368"/>
            <a:ext cx="1143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>
                <a:solidFill>
                  <a:srgbClr val="333333"/>
                </a:solidFill>
                <a:latin typeface="メイリオ"/>
              </a:rPr>
              <a:t>店舗在庫</a:t>
            </a:r>
          </a:p>
          <a:p>
            <a:pPr algn="ctr"/>
            <a:r>
              <a:rPr sz="780" b="0">
                <a:solidFill>
                  <a:srgbClr val="333333"/>
                </a:solidFill>
                <a:latin typeface="メイリオ"/>
              </a:rPr>
              <a:t>リアルタイム連携</a:t>
            </a:r>
          </a:p>
          <a:p>
            <a:pPr algn="ctr"/>
            <a:r>
              <a:rPr sz="780" b="0">
                <a:solidFill>
                  <a:srgbClr val="333333"/>
                </a:solidFill>
                <a:latin typeface="メイリオ"/>
              </a:rPr>
              <a:t>売上計上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66560" y="495604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追加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36208" y="58521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5A53"/>
                </a:solidFill>
                <a:latin typeface="メイリオ"/>
              </a:rPr>
              <a:t>PIT予約システム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95160" y="5212080"/>
            <a:ext cx="1463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>
                <a:solidFill>
                  <a:srgbClr val="333333"/>
                </a:solidFill>
                <a:latin typeface="メイリオ"/>
              </a:rPr>
              <a:t>作業予約枠（空き枠）</a:t>
            </a:r>
          </a:p>
          <a:p>
            <a:pPr algn="ctr"/>
            <a:r>
              <a:rPr sz="780" b="0">
                <a:solidFill>
                  <a:srgbClr val="333333"/>
                </a:solidFill>
                <a:latin typeface="メイリオ"/>
              </a:rPr>
              <a:t>PIT作業予約API</a:t>
            </a:r>
          </a:p>
          <a:p>
            <a:pPr algn="ctr"/>
            <a:r>
              <a:rPr sz="780" b="0">
                <a:solidFill>
                  <a:srgbClr val="333333"/>
                </a:solidFill>
                <a:latin typeface="メイリオ"/>
              </a:rPr>
              <a:t>作業完了登録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32120" y="267004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04688" y="32004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作業指示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0400" y="4617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7F7F7F"/>
                </a:solidFill>
                <a:latin typeface="メイリオ"/>
              </a:rPr>
              <a:t>受注データを基幹へ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28800" y="452628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7F7F7F"/>
                </a:solidFill>
                <a:latin typeface="メイリオ"/>
              </a:rPr>
              <a:t>作業メニュー</a:t>
            </a:r>
          </a:p>
          <a:p>
            <a:pPr algn="l"/>
            <a:r>
              <a:rPr sz="740" b="0">
                <a:solidFill>
                  <a:srgbClr val="7F7F7F"/>
                </a:solidFill>
                <a:latin typeface="メイリオ"/>
              </a:rPr>
              <a:t>連携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0" y="486460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C00000"/>
                </a:solidFill>
                <a:latin typeface="メイリオ"/>
              </a:rPr>
              <a:t>店舗在庫を連携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23560" y="486460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C00000"/>
                </a:solidFill>
                <a:latin typeface="メイリオ"/>
              </a:rPr>
              <a:t>PIT空き照会・予約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80160" y="603504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メイリオ"/>
              </a:rPr>
              <a:t>作業完了・車両返却／進捗通知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12848" y="138988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5A53"/>
                </a:solidFill>
                <a:latin typeface="メイリオ"/>
              </a:rPr>
              <a:t>EC-Rider  Primo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12848" y="13716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5A53"/>
                </a:solidFill>
                <a:latin typeface="メイリオ"/>
              </a:rPr>
              <a:t>EC-Rider  Primo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779008" y="16733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メイリオ"/>
              </a:rPr>
              <a:t>貴 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