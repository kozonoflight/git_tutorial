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>
                <a:solidFill>
                  <a:srgbClr val="1B3A4B"/>
                </a:solidFill>
                <a:latin typeface="メイリオ"/>
              </a:rPr>
              <a:t>4.対応内容説明 - システム構成（2/3）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749808"/>
            <a:ext cx="11384280" cy="27432"/>
          </a:xfrm>
          <a:prstGeom prst="rect">
            <a:avLst/>
          </a:prstGeom>
          <a:solidFill>
            <a:srgbClr val="3D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>
                <a:solidFill>
                  <a:srgbClr val="1B3A4B"/>
                </a:solidFill>
                <a:latin typeface="メイリオ"/>
              </a:rPr>
              <a:t>②　サーバサイジングの要素となる同時アクセス数・同時セッション数を、注文実績を根拠として想定しました。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384280" cy="1847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1536192"/>
                <a:gridCol w="1536192"/>
                <a:gridCol w="1536192"/>
                <a:gridCol w="1417320"/>
                <a:gridCol w="2194560"/>
                <a:gridCol w="2203704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FFFFF"/>
                          </a:solidFill>
                          <a:latin typeface="メイリオ"/>
                        </a:rPr>
                        <a:t>成長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FFFFFF"/>
                          </a:solidFill>
                          <a:latin typeface="メイリオ"/>
                        </a:rPr>
                        <a:t>倍率</a:t>
                      </a:r>
                    </a:p>
                  </a:txBody>
                  <a:tcPr marL="45720" marR="45720" marT="18288" marB="18288" anchor="ctr">
                    <a:solidFill>
                      <a:srgbClr val="3D5A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FFFFF"/>
                          </a:solidFill>
                          <a:latin typeface="メイリオ"/>
                        </a:rPr>
                        <a:t>ピーク月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FFFFFF"/>
                          </a:solidFill>
                          <a:latin typeface="メイリオ"/>
                        </a:rPr>
                        <a:t>（件/月）</a:t>
                      </a:r>
                    </a:p>
                  </a:txBody>
                  <a:tcPr marL="45720" marR="45720" marT="18288" marB="18288" anchor="ctr">
                    <a:solidFill>
                      <a:srgbClr val="3D5A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FFFFF"/>
                          </a:solidFill>
                          <a:latin typeface="メイリオ"/>
                        </a:rPr>
                        <a:t>日平均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FFFFFF"/>
                          </a:solidFill>
                          <a:latin typeface="メイリオ"/>
                        </a:rPr>
                        <a:t>（件/日）</a:t>
                      </a:r>
                    </a:p>
                  </a:txBody>
                  <a:tcPr marL="45720" marR="45720" marT="18288" marB="18288" anchor="ctr">
                    <a:solidFill>
                      <a:srgbClr val="3D5A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FFFFF"/>
                          </a:solidFill>
                          <a:latin typeface="メイリオ"/>
                        </a:rPr>
                        <a:t>時間平均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FFFFFF"/>
                          </a:solidFill>
                          <a:latin typeface="メイリオ"/>
                        </a:rPr>
                        <a:t>（件/時）</a:t>
                      </a:r>
                    </a:p>
                  </a:txBody>
                  <a:tcPr marL="45720" marR="45720" marT="18288" marB="18288" anchor="ctr">
                    <a:solidFill>
                      <a:srgbClr val="3D5A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FFFFF"/>
                          </a:solidFill>
                          <a:latin typeface="メイリオ"/>
                        </a:rPr>
                        <a:t>分平均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FFFFFF"/>
                          </a:solidFill>
                          <a:latin typeface="メイリオ"/>
                        </a:rPr>
                        <a:t>（件/分）</a:t>
                      </a:r>
                    </a:p>
                  </a:txBody>
                  <a:tcPr marL="45720" marR="45720" marT="18288" marB="18288" anchor="ctr">
                    <a:solidFill>
                      <a:srgbClr val="3D5A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FFFFF"/>
                          </a:solidFill>
                          <a:latin typeface="メイリオ"/>
                        </a:rPr>
                        <a:t>同時アクセス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FFFFFF"/>
                          </a:solidFill>
                          <a:latin typeface="メイリオ"/>
                        </a:rPr>
                        <a:t>（閲覧人数）</a:t>
                      </a:r>
                    </a:p>
                  </a:txBody>
                  <a:tcPr marL="45720" marR="45720" marT="18288" marB="18288" anchor="ctr">
                    <a:solidFill>
                      <a:srgbClr val="3D5A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FFFFF"/>
                          </a:solidFill>
                          <a:latin typeface="メイリオ"/>
                        </a:rPr>
                        <a:t>同時セッション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FFFFFF"/>
                          </a:solidFill>
                          <a:latin typeface="メイリオ"/>
                        </a:rPr>
                        <a:t>（同時処理）</a:t>
                      </a:r>
                    </a:p>
                  </a:txBody>
                  <a:tcPr marL="45720" marR="45720" marT="18288" marB="18288" anchor="ctr">
                    <a:solidFill>
                      <a:srgbClr val="1D7A7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現状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29,232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974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122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5C6770"/>
                          </a:solidFill>
                          <a:latin typeface="メイリオ"/>
                        </a:rPr>
                        <a:t>2.0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2B4060"/>
                          </a:solidFill>
                          <a:latin typeface="メイリオ"/>
                        </a:rPr>
                        <a:t>21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D7A70"/>
                          </a:solidFill>
                          <a:latin typeface="メイリオ"/>
                        </a:rPr>
                        <a:t>0.07</a:t>
                      </a:r>
                    </a:p>
                  </a:txBody>
                  <a:tcPr marL="45720" marR="45720" marT="18288" marB="18288" anchor="ctr">
                    <a:solidFill>
                      <a:srgbClr val="E0F1EE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1.2倍</a:t>
                      </a:r>
                    </a:p>
                  </a:txBody>
                  <a:tcPr marL="45720" marR="45720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35,078</a:t>
                      </a:r>
                    </a:p>
                  </a:txBody>
                  <a:tcPr marL="45720" marR="45720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1,169</a:t>
                      </a:r>
                    </a:p>
                  </a:txBody>
                  <a:tcPr marL="45720" marR="45720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146</a:t>
                      </a:r>
                    </a:p>
                  </a:txBody>
                  <a:tcPr marL="45720" marR="45720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5C6770"/>
                          </a:solidFill>
                          <a:latin typeface="メイリオ"/>
                        </a:rPr>
                        <a:t>2.4</a:t>
                      </a:r>
                    </a:p>
                  </a:txBody>
                  <a:tcPr marL="45720" marR="45720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2B4060"/>
                          </a:solidFill>
                          <a:latin typeface="メイリオ"/>
                        </a:rPr>
                        <a:t>25</a:t>
                      </a:r>
                    </a:p>
                  </a:txBody>
                  <a:tcPr marL="45720" marR="45720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D7A70"/>
                          </a:solidFill>
                          <a:latin typeface="メイリオ"/>
                        </a:rPr>
                        <a:t>0.08</a:t>
                      </a:r>
                    </a:p>
                  </a:txBody>
                  <a:tcPr marL="45720" marR="45720" marT="18288" marB="18288" anchor="ctr">
                    <a:solidFill>
                      <a:srgbClr val="E0F1EE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1.5倍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43,848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1,462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5C6770"/>
                          </a:solidFill>
                          <a:latin typeface="メイリオ"/>
                        </a:rPr>
                        <a:t>3.0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2B4060"/>
                          </a:solidFill>
                          <a:latin typeface="メイリオ"/>
                        </a:rPr>
                        <a:t>31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D7A70"/>
                          </a:solidFill>
                          <a:latin typeface="メイリオ"/>
                        </a:rPr>
                        <a:t>0.10</a:t>
                      </a:r>
                    </a:p>
                  </a:txBody>
                  <a:tcPr marL="45720" marR="45720" marT="18288" marB="18288" anchor="ctr">
                    <a:solidFill>
                      <a:srgbClr val="E0F1EE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2倍</a:t>
                      </a:r>
                    </a:p>
                  </a:txBody>
                  <a:tcPr marL="45720" marR="45720" marT="18288" marB="18288" anchor="ctr">
                    <a:solidFill>
                      <a:srgbClr val="FFF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58,464</a:t>
                      </a:r>
                    </a:p>
                  </a:txBody>
                  <a:tcPr marL="45720" marR="45720" marT="18288" marB="18288" anchor="ctr">
                    <a:solidFill>
                      <a:srgbClr val="FFF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1,949</a:t>
                      </a:r>
                    </a:p>
                  </a:txBody>
                  <a:tcPr marL="45720" marR="45720" marT="18288" marB="18288" anchor="ctr">
                    <a:solidFill>
                      <a:srgbClr val="FFF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244</a:t>
                      </a:r>
                    </a:p>
                  </a:txBody>
                  <a:tcPr marL="45720" marR="45720" marT="18288" marB="18288" anchor="ctr">
                    <a:solidFill>
                      <a:srgbClr val="FFF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5C6770"/>
                          </a:solidFill>
                          <a:latin typeface="メイリオ"/>
                        </a:rPr>
                        <a:t>4.1</a:t>
                      </a:r>
                    </a:p>
                  </a:txBody>
                  <a:tcPr marL="45720" marR="45720" marT="18288" marB="18288" anchor="ctr">
                    <a:solidFill>
                      <a:srgbClr val="FFF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2B4060"/>
                          </a:solidFill>
                          <a:latin typeface="メイリオ"/>
                        </a:rPr>
                        <a:t>41</a:t>
                      </a:r>
                    </a:p>
                  </a:txBody>
                  <a:tcPr marL="45720" marR="45720" marT="18288" marB="18288" anchor="ctr">
                    <a:solidFill>
                      <a:srgbClr val="FFF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D7A70"/>
                          </a:solidFill>
                          <a:latin typeface="メイリオ"/>
                        </a:rPr>
                        <a:t>0.14</a:t>
                      </a:r>
                    </a:p>
                  </a:txBody>
                  <a:tcPr marL="45720" marR="45720" marT="18288" marB="18288" anchor="ctr">
                    <a:solidFill>
                      <a:srgbClr val="C8EBD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2807208"/>
            <a:ext cx="11384280" cy="320040"/>
          </a:xfrm>
          <a:prstGeom prst="rect">
            <a:avLst/>
          </a:prstGeom>
          <a:noFill/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3842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>
                <a:solidFill>
                  <a:srgbClr val="5C6770"/>
                </a:solidFill>
                <a:latin typeface="メイリオ"/>
              </a:rPr>
              <a:t>※　営業日30日/月、営業8時間/日で慣らした値。ピーク日・ピーク時間帯の偏り（集中率）は実績が無いため考慮していません。</a:t>
            </a:r>
          </a:p>
          <a:p>
            <a:pPr algn="l"/>
            <a:r>
              <a:rPr sz="950">
                <a:solidFill>
                  <a:srgbClr val="5C6770"/>
                </a:solidFill>
                <a:latin typeface="メイリオ"/>
              </a:rPr>
              <a:t>※　同時アクセス＝分平均（件/分）×滞在10分。画面を開いている人数で、Web接続数・メモリの根拠。</a:t>
            </a:r>
          </a:p>
          <a:p>
            <a:pPr algn="l"/>
            <a:r>
              <a:rPr sz="950">
                <a:solidFill>
                  <a:srgbClr val="5C6770"/>
                </a:solidFill>
                <a:latin typeface="メイリオ"/>
              </a:rPr>
              <a:t>※　同時セッション＝秒平均（件/秒）×当該処理2秒。同一処理を同時に実行する件数で、在庫引当・注文確定の排他制御の根拠。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11384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>
                <a:solidFill>
                  <a:srgbClr val="1B3A4B"/>
                </a:solidFill>
                <a:latin typeface="メイリオ"/>
              </a:rPr>
              <a:t>③　上記①②の結果より、リリース当初は同時セッション数＝4をこなす能力のサーバを導入し、リリース後にレスポンス状況を監視して</a:t>
            </a:r>
          </a:p>
          <a:p>
            <a:pPr algn="l"/>
            <a:r>
              <a:rPr sz="1300">
                <a:solidFill>
                  <a:srgbClr val="1B3A4B"/>
                </a:solidFill>
                <a:latin typeface="メイリオ"/>
              </a:rPr>
              <a:t>　　スペックアップしていくことをご提案します。慣らし値は1未満であり、4は時間帯の偏りを吸収するための余裕値です。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92040"/>
            <a:ext cx="11384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>
                <a:solidFill>
                  <a:srgbClr val="1B3A4B"/>
                </a:solidFill>
                <a:latin typeface="メイリオ"/>
              </a:rPr>
              <a:t>④　以下にサイジング結果を提示します。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5248656"/>
          <a:ext cx="9381744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298448"/>
                <a:gridCol w="1298448"/>
                <a:gridCol w="1325880"/>
                <a:gridCol w="1325880"/>
                <a:gridCol w="1325880"/>
                <a:gridCol w="1325880"/>
              </a:tblGrid>
              <a:tr h="32918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  <a:latin typeface="メイリオ"/>
                        </a:rPr>
                        <a:t>サーバ</a:t>
                      </a:r>
                    </a:p>
                  </a:txBody>
                  <a:tcPr marL="45720" marR="45720" marT="18288" marB="18288" anchor="ctr">
                    <a:solidFill>
                      <a:srgbClr val="3D5A80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FFFFF"/>
                          </a:solidFill>
                          <a:latin typeface="メイリオ"/>
                        </a:rPr>
                        <a:t>必要性能（採用値）</a:t>
                      </a:r>
                    </a:p>
                  </a:txBody>
                  <a:tcPr marL="45720" marR="45720" marT="18288" marB="18288" anchor="ctr">
                    <a:solidFill>
                      <a:srgbClr val="3D5A8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  <a:latin typeface="メイリオ"/>
                        </a:rPr>
                        <a:t>プラン1（標準）</a:t>
                      </a:r>
                    </a:p>
                  </a:txBody>
                  <a:tcPr marL="45720" marR="45720" marT="18288" marB="18288" anchor="ctr">
                    <a:solidFill>
                      <a:srgbClr val="3D5A8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  <a:latin typeface="メイリオ"/>
                        </a:rPr>
                        <a:t>プラン2（拡張）</a:t>
                      </a:r>
                    </a:p>
                  </a:txBody>
                  <a:tcPr marL="45720" marR="45720" marT="18288" marB="18288" anchor="ctr">
                    <a:solidFill>
                      <a:srgbClr val="3D5A8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9260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FFFFFF"/>
                          </a:solidFill>
                          <a:latin typeface="メイリオ"/>
                        </a:rPr>
                        <a:t>同時セッション</a:t>
                      </a:r>
                    </a:p>
                  </a:txBody>
                  <a:tcPr marL="45720" marR="45720" marT="18288" marB="18288" anchor="ctr">
                    <a:solidFill>
                      <a:srgbClr val="2B4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FFFFFF"/>
                          </a:solidFill>
                          <a:latin typeface="メイリオ"/>
                        </a:rPr>
                        <a:t>同時アクセス</a:t>
                      </a:r>
                    </a:p>
                  </a:txBody>
                  <a:tcPr marL="45720" marR="45720" marT="18288" marB="18288" anchor="ctr">
                    <a:solidFill>
                      <a:srgbClr val="2B4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FFFFFF"/>
                          </a:solidFill>
                          <a:latin typeface="メイリオ"/>
                        </a:rPr>
                        <a:t>SPEC</a:t>
                      </a:r>
                    </a:p>
                  </a:txBody>
                  <a:tcPr marL="45720" marR="45720" marT="18288" marB="18288" anchor="ctr">
                    <a:solidFill>
                      <a:srgbClr val="2B4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FFFFFF"/>
                          </a:solidFill>
                          <a:latin typeface="メイリオ"/>
                        </a:rPr>
                        <a:t>セッション数</a:t>
                      </a:r>
                    </a:p>
                  </a:txBody>
                  <a:tcPr marL="45720" marR="45720" marT="18288" marB="18288" anchor="ctr">
                    <a:solidFill>
                      <a:srgbClr val="2B4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FFFFFF"/>
                          </a:solidFill>
                          <a:latin typeface="メイリオ"/>
                        </a:rPr>
                        <a:t>SPEC</a:t>
                      </a:r>
                    </a:p>
                  </a:txBody>
                  <a:tcPr marL="45720" marR="45720" marT="18288" marB="18288" anchor="ctr">
                    <a:solidFill>
                      <a:srgbClr val="2B4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FFFFFF"/>
                          </a:solidFill>
                          <a:latin typeface="メイリオ"/>
                        </a:rPr>
                        <a:t>セッション数</a:t>
                      </a:r>
                    </a:p>
                  </a:txBody>
                  <a:tcPr marL="45720" marR="45720" marT="18288" marB="18288" anchor="ctr">
                    <a:solidFill>
                      <a:srgbClr val="2B406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Webサーバ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220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2コア/4GB</a:t>
                      </a:r>
                    </a:p>
                  </a:txBody>
                  <a:tcPr marL="45720" marR="45720" marT="18288" marB="18288" anchor="ctr"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4×1台＝4</a:t>
                      </a:r>
                    </a:p>
                  </a:txBody>
                  <a:tcPr marL="45720" marR="45720" marT="18288" marB="18288" anchor="ctr"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4コア/8GB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4×2台＝8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35424" y="5248656"/>
            <a:ext cx="2651760" cy="950976"/>
          </a:xfrm>
          <a:prstGeom prst="rect">
            <a:avLst/>
          </a:prstGeom>
          <a:noFill/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309360"/>
            <a:ext cx="11384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>
                <a:solidFill>
                  <a:srgbClr val="C0392B"/>
                </a:solidFill>
                <a:latin typeface="メイリオ"/>
              </a:rPr>
              <a:t>※　採用値は慣らし値ではなく、次ページの境目（同時セッション4を超える水準）から設定しています。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>
                <a:solidFill>
                  <a:srgbClr val="1B3A4B"/>
                </a:solidFill>
                <a:latin typeface="メイリオ"/>
              </a:rPr>
              <a:t>4.対応内容説明 - システム構成（2/3 補足：見直しの境目）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749808"/>
            <a:ext cx="11384280" cy="27432"/>
          </a:xfrm>
          <a:prstGeom prst="rect">
            <a:avLst/>
          </a:prstGeom>
          <a:solidFill>
            <a:srgbClr val="3D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>
                <a:solidFill>
                  <a:srgbClr val="1B3A4B"/>
                </a:solidFill>
                <a:latin typeface="メイリオ"/>
              </a:rPr>
              <a:t>⑤　ピーク日・ピーク時間帯の偏りは実績が無いため、同時セッション4がどこまでの偏りを吸収できるかを整理しました。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669280" cy="2148840"/>
          </a:xfrm>
          <a:prstGeom prst="rect">
            <a:avLst/>
          </a:prstGeom>
          <a:solidFill>
            <a:srgbClr val="E0F1EE"/>
          </a:solidFill>
          <a:ln w="19050">
            <a:solidFill>
              <a:srgbClr val="1D7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44752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>
                <a:solidFill>
                  <a:srgbClr val="1D7A70"/>
                </a:solidFill>
                <a:latin typeface="メイリオ"/>
              </a:rPr>
              <a:t>同時セッション4の限界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52120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>
                <a:solidFill>
                  <a:srgbClr val="1B3A4B"/>
                </a:solidFill>
                <a:latin typeface="メイリオ"/>
              </a:rPr>
              <a:t>平均で4に達する到着率</a:t>
            </a:r>
          </a:p>
          <a:p>
            <a:pPr algn="l"/>
            <a:r>
              <a:rPr sz="1150">
                <a:solidFill>
                  <a:srgbClr val="1B3A4B"/>
                </a:solidFill>
                <a:latin typeface="メイリオ"/>
              </a:rPr>
              <a:t>　4件 ÷ 処理2秒 ＝ 2.0件/秒 ＝ 7,200件/時</a:t>
            </a:r>
          </a:p>
          <a:p>
            <a:pPr algn="l"/>
            <a:r>
              <a:rPr sz="1150">
                <a:solidFill>
                  <a:srgbClr val="1B3A4B"/>
                </a:solidFill>
                <a:latin typeface="メイリオ"/>
              </a:rPr>
              <a:t/>
            </a:r>
          </a:p>
          <a:p>
            <a:pPr algn="l"/>
            <a:r>
              <a:rPr sz="1150">
                <a:solidFill>
                  <a:srgbClr val="1B3A4B"/>
                </a:solidFill>
                <a:latin typeface="メイリオ"/>
              </a:rPr>
              <a:t>瞬間的に4を超え始める到着率</a:t>
            </a:r>
          </a:p>
          <a:p>
            <a:pPr algn="l"/>
            <a:r>
              <a:rPr sz="1150">
                <a:solidFill>
                  <a:srgbClr val="1B3A4B"/>
                </a:solidFill>
                <a:latin typeface="メイリオ"/>
              </a:rPr>
              <a:t>　約22件/分 ＝ 約1,331件/時</a:t>
            </a:r>
          </a:p>
          <a:p>
            <a:pPr algn="l"/>
            <a:r>
              <a:rPr sz="1150">
                <a:solidFill>
                  <a:srgbClr val="1B3A4B"/>
                </a:solidFill>
                <a:latin typeface="メイリオ"/>
              </a:rPr>
              <a:t>　（同時アクセス 約222人に相当）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440680" cy="2148840"/>
          </a:xfrm>
          <a:prstGeom prst="rect">
            <a:avLst/>
          </a:prstGeom>
          <a:solidFill>
            <a:srgbClr val="FFF8EE"/>
          </a:solidFill>
          <a:ln w="19050">
            <a:solidFill>
              <a:srgbClr val="E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44475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>
                <a:solidFill>
                  <a:srgbClr val="E07A3D"/>
                </a:solidFill>
                <a:latin typeface="メイリオ"/>
              </a:rPr>
              <a:t>つまり、この水準までは4で足りる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874519"/>
            <a:ext cx="49834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>
                <a:solidFill>
                  <a:srgbClr val="1B3A4B"/>
                </a:solidFill>
                <a:latin typeface="メイリオ"/>
              </a:rPr>
              <a:t>ピーク時間帯の注文が</a:t>
            </a:r>
          </a:p>
          <a:p>
            <a:pPr algn="l"/>
            <a:r>
              <a:rPr sz="1150">
                <a:solidFill>
                  <a:srgbClr val="1B3A4B"/>
                </a:solidFill>
                <a:latin typeface="メイリオ"/>
              </a:rPr>
              <a:t>　約1,331件/時（約22件/分）</a:t>
            </a:r>
          </a:p>
          <a:p>
            <a:pPr algn="l"/>
            <a:r>
              <a:rPr sz="1150">
                <a:solidFill>
                  <a:srgbClr val="1B3A4B"/>
                </a:solidFill>
                <a:latin typeface="メイリオ"/>
              </a:rPr>
              <a:t>を超えない限り、同時セッション4で処理できます。</a:t>
            </a:r>
          </a:p>
          <a:p>
            <a:pPr algn="l"/>
            <a:r>
              <a:rPr sz="1150">
                <a:solidFill>
                  <a:srgbClr val="1B3A4B"/>
                </a:solidFill>
                <a:latin typeface="メイリオ"/>
              </a:rPr>
              <a:t/>
            </a:r>
          </a:p>
          <a:p>
            <a:pPr algn="l"/>
            <a:r>
              <a:rPr sz="1150">
                <a:solidFill>
                  <a:srgbClr val="1B3A4B"/>
                </a:solidFill>
                <a:latin typeface="メイリオ"/>
              </a:rPr>
              <a:t>慣らし値（時間平均）に対する許容倍率は下表のとおりです。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657600"/>
          <a:ext cx="11384280" cy="1847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148840"/>
                <a:gridCol w="2514600"/>
                <a:gridCol w="2286000"/>
                <a:gridCol w="28346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FFFFF"/>
                          </a:solidFill>
                          <a:latin typeface="メイリオ"/>
                        </a:rPr>
                        <a:t>成長倍率</a:t>
                      </a:r>
                    </a:p>
                  </a:txBody>
                  <a:tcPr marL="45720" marR="45720" marT="18288" marB="18288" anchor="ctr">
                    <a:solidFill>
                      <a:srgbClr val="3D5A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FFFFF"/>
                          </a:solidFill>
                          <a:latin typeface="メイリオ"/>
                        </a:rPr>
                        <a:t>時間平均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FFFFFF"/>
                          </a:solidFill>
                          <a:latin typeface="メイリオ"/>
                        </a:rPr>
                        <a:t>（件/時）</a:t>
                      </a:r>
                    </a:p>
                  </a:txBody>
                  <a:tcPr marL="45720" marR="45720" marT="18288" marB="18288" anchor="ctr">
                    <a:solidFill>
                      <a:srgbClr val="3D5A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FFFFF"/>
                          </a:solidFill>
                          <a:latin typeface="メイリオ"/>
                        </a:rPr>
                        <a:t>同時セッション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FFFFFF"/>
                          </a:solidFill>
                          <a:latin typeface="メイリオ"/>
                        </a:rPr>
                        <a:t>（慣らし値）</a:t>
                      </a:r>
                    </a:p>
                  </a:txBody>
                  <a:tcPr marL="45720" marR="45720" marT="18288" marB="18288" anchor="ctr">
                    <a:solidFill>
                      <a:srgbClr val="3D5A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FFFFF"/>
                          </a:solidFill>
                          <a:latin typeface="メイリオ"/>
                        </a:rPr>
                        <a:t>境目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FFFFFF"/>
                          </a:solidFill>
                          <a:latin typeface="メイリオ"/>
                        </a:rPr>
                        <a:t>（件/時）</a:t>
                      </a:r>
                    </a:p>
                  </a:txBody>
                  <a:tcPr marL="45720" marR="45720" marT="18288" marB="18288" anchor="ctr">
                    <a:solidFill>
                      <a:srgbClr val="3D5A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FFFFF"/>
                          </a:solidFill>
                          <a:latin typeface="メイリオ"/>
                        </a:rPr>
                        <a:t>許容できる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FFFFFF"/>
                          </a:solidFill>
                          <a:latin typeface="メイリオ"/>
                        </a:rPr>
                        <a:t>時間帯の偏り</a:t>
                      </a:r>
                    </a:p>
                  </a:txBody>
                  <a:tcPr marL="45720" marR="45720" marT="18288" marB="18288" anchor="ctr">
                    <a:solidFill>
                      <a:srgbClr val="E07A3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現状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122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D7A70"/>
                          </a:solidFill>
                          <a:latin typeface="メイリオ"/>
                        </a:rPr>
                        <a:t>0.07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1,331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E07A3D"/>
                          </a:solidFill>
                          <a:latin typeface="メイリオ"/>
                        </a:rPr>
                        <a:t>平均の約11倍まで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1.2倍</a:t>
                      </a:r>
                    </a:p>
                  </a:txBody>
                  <a:tcPr marL="45720" marR="45720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146</a:t>
                      </a:r>
                    </a:p>
                  </a:txBody>
                  <a:tcPr marL="45720" marR="45720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D7A70"/>
                          </a:solidFill>
                          <a:latin typeface="メイリオ"/>
                        </a:rPr>
                        <a:t>0.08</a:t>
                      </a:r>
                    </a:p>
                  </a:txBody>
                  <a:tcPr marL="45720" marR="45720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1,331</a:t>
                      </a:r>
                    </a:p>
                  </a:txBody>
                  <a:tcPr marL="45720" marR="45720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E07A3D"/>
                          </a:solidFill>
                          <a:latin typeface="メイリオ"/>
                        </a:rPr>
                        <a:t>平均の約9倍まで</a:t>
                      </a:r>
                    </a:p>
                  </a:txBody>
                  <a:tcPr marL="45720" marR="45720" marT="18288" marB="18288" anchor="ctr">
                    <a:solidFill>
                      <a:srgbClr val="F4F7FB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1.5倍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D7A70"/>
                          </a:solidFill>
                          <a:latin typeface="メイリオ"/>
                        </a:rPr>
                        <a:t>0.10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1,331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E07A3D"/>
                          </a:solidFill>
                          <a:latin typeface="メイリオ"/>
                        </a:rPr>
                        <a:t>平均の約7倍まで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2倍</a:t>
                      </a:r>
                    </a:p>
                  </a:txBody>
                  <a:tcPr marL="45720" marR="45720" marT="18288" marB="18288" anchor="ctr">
                    <a:solidFill>
                      <a:srgbClr val="FFF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244</a:t>
                      </a:r>
                    </a:p>
                  </a:txBody>
                  <a:tcPr marL="45720" marR="45720" marT="18288" marB="18288" anchor="ctr">
                    <a:solidFill>
                      <a:srgbClr val="FFF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D7A70"/>
                          </a:solidFill>
                          <a:latin typeface="メイリオ"/>
                        </a:rPr>
                        <a:t>0.14</a:t>
                      </a:r>
                    </a:p>
                  </a:txBody>
                  <a:tcPr marL="45720" marR="45720" marT="18288" marB="18288" anchor="ctr">
                    <a:solidFill>
                      <a:srgbClr val="FFF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B3A4B"/>
                          </a:solidFill>
                          <a:latin typeface="メイリオ"/>
                        </a:rPr>
                        <a:t>1,331</a:t>
                      </a:r>
                    </a:p>
                  </a:txBody>
                  <a:tcPr marL="45720" marR="45720" marT="18288" marB="18288" anchor="ctr">
                    <a:solidFill>
                      <a:srgbClr val="FFF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E07A3D"/>
                          </a:solidFill>
                          <a:latin typeface="メイリオ"/>
                        </a:rPr>
                        <a:t>平均の約5倍まで</a:t>
                      </a:r>
                    </a:p>
                  </a:txBody>
                  <a:tcPr marL="45720" marR="45720" marT="18288" marB="18288" anchor="ctr"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184648"/>
            <a:ext cx="11384280" cy="320040"/>
          </a:xfrm>
          <a:prstGeom prst="rect">
            <a:avLst/>
          </a:prstGeom>
          <a:noFill/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715000"/>
            <a:ext cx="11384280" cy="868680"/>
          </a:xfrm>
          <a:prstGeom prst="rect">
            <a:avLst/>
          </a:prstGeom>
          <a:solidFill>
            <a:srgbClr val="EAF0F6"/>
          </a:solidFill>
          <a:ln w="19050">
            <a:solidFill>
              <a:srgbClr val="3D5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8704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>
                <a:solidFill>
                  <a:srgbClr val="2B4060"/>
                </a:solidFill>
                <a:latin typeface="メイリオ"/>
              </a:rPr>
              <a:t>【ご確認事項】　ピーク時間帯・繁忙日の偏りが平均の5倍を超える見込みがある場合はご提示ください。</a:t>
            </a:r>
          </a:p>
          <a:p>
            <a:pPr algn="l"/>
            <a:r>
              <a:rPr sz="1200">
                <a:solidFill>
                  <a:srgbClr val="2B4060"/>
                </a:solidFill>
                <a:latin typeface="メイリオ"/>
              </a:rPr>
              <a:t>　　　　　　　　該当する実績（日次の注文件数、時間帯別の注文件数）をいただければ、上表の境目に対して再評価します。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