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1B3A4B"/>
                </a:solidFill>
                <a:latin typeface="メイリオ"/>
              </a:rPr>
              <a:t>4.対応内容説明 - システム構成（2/3）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11384280" cy="27432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メイリオ"/>
              </a:rPr>
              <a:t>②　サーバサイジングの要素となる同時アクセス数・同時セッション数を、注文実績を根拠として想定しました。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61872"/>
          <a:ext cx="11384280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481328"/>
                <a:gridCol w="1481328"/>
                <a:gridCol w="1572768"/>
                <a:gridCol w="1572768"/>
                <a:gridCol w="2157984"/>
                <a:gridCol w="2157984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成長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倍率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ピーク月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（件/月）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日平均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（件/日）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ピーク日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（件/日）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ピーク時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（件/時）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同時アクセス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（閲覧人数）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同時セッション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メイリオ"/>
                        </a:rPr>
                        <a:t>（同時処理）</a:t>
                      </a:r>
                    </a:p>
                  </a:txBody>
                  <a:tcPr marL="45720" marR="45720" marT="18288" marB="18288" anchor="ctr">
                    <a:solidFill>
                      <a:srgbClr val="1D7A7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現状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29,232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C6770"/>
                          </a:solidFill>
                          <a:latin typeface="メイリオ"/>
                        </a:rPr>
                        <a:t>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1,949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609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B4060"/>
                          </a:solidFill>
                          <a:latin typeface="メイリオ"/>
                        </a:rPr>
                        <a:t>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D7A70"/>
                          </a:solidFill>
                          <a:latin typeface="メイリオ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0F1E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1.2倍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35,078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C6770"/>
                          </a:solidFill>
                          <a:latin typeface="メイリオ"/>
                        </a:rPr>
                        <a:t>1,169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2,339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731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B4060"/>
                          </a:solidFill>
                          <a:latin typeface="メイリオ"/>
                        </a:rPr>
                        <a:t>183</a:t>
                      </a:r>
                    </a:p>
                  </a:txBody>
                  <a:tcPr marL="45720" marR="45720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D7A70"/>
                          </a:solidFill>
                          <a:latin typeface="メイリオ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0F1E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1.5倍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43,848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C6770"/>
                          </a:solidFill>
                          <a:latin typeface="メイリオ"/>
                        </a:rPr>
                        <a:t>1,462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2,923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914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B4060"/>
                          </a:solidFill>
                          <a:latin typeface="メイリオ"/>
                        </a:rPr>
                        <a:t>229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D7A70"/>
                          </a:solidFill>
                          <a:latin typeface="メイリオ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0F1E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2倍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58,464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C6770"/>
                          </a:solidFill>
                          <a:latin typeface="メイリオ"/>
                        </a:rPr>
                        <a:t>1,949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3,898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1,218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B4060"/>
                          </a:solidFill>
                          <a:latin typeface="メイリオ"/>
                        </a:rPr>
                        <a:t>305</a:t>
                      </a:r>
                    </a:p>
                  </a:txBody>
                  <a:tcPr marL="45720" marR="45720" marT="18288" marB="18288"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D7A70"/>
                          </a:solidFill>
                          <a:latin typeface="メイリオ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C8EBD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2788920"/>
            <a:ext cx="11384280" cy="320040"/>
          </a:xfrm>
          <a:prstGeom prst="rect">
            <a:avLst/>
          </a:prstGeom>
          <a:noFill/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82112"/>
            <a:ext cx="11384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C6770"/>
                </a:solidFill>
                <a:latin typeface="メイリオ"/>
              </a:rPr>
              <a:t>※　営業日30日/月、営業8時間/日。ピーク日＝日平均×日集中率2.0（締切日への集中）、ピーク時＝ピーク日÷8時間×時間集中率2.5（ピーク時間帯）。集中率は仮定値。</a:t>
            </a:r>
          </a:p>
          <a:p>
            <a:pPr algn="l"/>
            <a:r>
              <a:rPr sz="950" b="0">
                <a:solidFill>
                  <a:srgbClr val="5C6770"/>
                </a:solidFill>
                <a:latin typeface="メイリオ"/>
              </a:rPr>
              <a:t>※　同時アクセス＝ピーク時到着率（件/分）×滞在10分×安全率1.5。画面を開いている人数で、Web接続数・メモリの根拠。</a:t>
            </a:r>
          </a:p>
          <a:p>
            <a:pPr algn="l"/>
            <a:r>
              <a:rPr sz="950" b="0">
                <a:solidFill>
                  <a:srgbClr val="5C6770"/>
                </a:solidFill>
                <a:latin typeface="メイリオ"/>
              </a:rPr>
              <a:t>※　同時セッション＝ピーク時到着率（件/秒）×当該処理2秒×秒バースト3.0×安全率1.5（下限3）。同一処理を同時に実行する件数で、在庫引当・注文確定の排他の根拠。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384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メイリオ"/>
              </a:rPr>
              <a:t>③　上記①②の結果より、リリース当初は同時セッション数＝4をこなす能力のサーバを導入し、リリース後にレスポンス状況を監視して</a:t>
            </a:r>
          </a:p>
          <a:p>
            <a:pPr algn="l"/>
            <a:r>
              <a:rPr sz="1300" b="0">
                <a:solidFill>
                  <a:srgbClr val="1B3A4B"/>
                </a:solidFill>
                <a:latin typeface="メイリオ"/>
              </a:rPr>
              <a:t>　　スペックアップしていくことをご提案します。2倍成長（年58,464件）まで同時セッションは4で収まります。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64608"/>
            <a:ext cx="11384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メイリオ"/>
              </a:rPr>
              <a:t>④　以下にサイジング結果を提示します。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230368"/>
          <a:ext cx="9317736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98448"/>
                <a:gridCol w="1298448"/>
                <a:gridCol w="1325880"/>
                <a:gridCol w="1325880"/>
                <a:gridCol w="1325880"/>
                <a:gridCol w="1325880"/>
              </a:tblGrid>
              <a:tr h="32918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メイリオ"/>
                        </a:rPr>
                        <a:t>サーバ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  <a:latin typeface="メイリオ"/>
                        </a:rPr>
                        <a:t>必要性能（ピーク時・2倍成長）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メイリオ"/>
                        </a:rPr>
                        <a:t>プラン1（標準）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メイリオ"/>
                        </a:rPr>
                        <a:t>プラン2（拡張）</a:t>
                      </a:r>
                    </a:p>
                  </a:txBody>
                  <a:tcPr marL="45720" marR="45720" marT="18288" marB="18288" anchor="ctr">
                    <a:solidFill>
                      <a:srgbClr val="3D5A8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同時セッション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同時アクセス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SPEC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セッション数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SPEC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メイリオ"/>
                        </a:rPr>
                        <a:t>セッション数</a:t>
                      </a:r>
                    </a:p>
                  </a:txBody>
                  <a:tcPr marL="45720" marR="45720" marT="18288" marB="18288" anchor="ctr">
                    <a:solidFill>
                      <a:srgbClr val="2B406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Webサーバ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305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2コア/4GB</a:t>
                      </a:r>
                    </a:p>
                  </a:txBody>
                  <a:tcPr marL="45720" marR="45720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4×1台＝4</a:t>
                      </a:r>
                    </a:p>
                  </a:txBody>
                  <a:tcPr marL="45720" marR="45720" marT="18288" marB="18288" anchor="ctr"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4コア/8GB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3A4B"/>
                          </a:solidFill>
                          <a:latin typeface="メイリオ"/>
                        </a:rPr>
                        <a:t>4×2台＝8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471416" y="5230368"/>
            <a:ext cx="2651760" cy="950976"/>
          </a:xfrm>
          <a:prstGeom prst="rect">
            <a:avLst/>
          </a:prstGeom>
          <a:noFill/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1384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C0392B"/>
                </a:solidFill>
                <a:latin typeface="メイリオ"/>
              </a:rPr>
              <a:t>※　プラン1で同時セッション4を充足。同時アクセス305は接続保持・メモリ側の要件であり、プラン1で保持可能なことを負荷試験で確認します。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