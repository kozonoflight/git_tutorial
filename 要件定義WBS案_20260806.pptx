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9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50000"/>
            <a:ext cx="9906000" cy="108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1800000"/>
            <a:ext cx="8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ローリングスジャパン合同会社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500000"/>
            <a:ext cx="87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  <a:latin typeface="メイリオ"/>
                <a:ea typeface="メイリオ"/>
              </a:rPr>
              <a:t>要件定義・情報設計スケジュール（案）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4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A6E"/>
                </a:solidFill>
                <a:latin typeface="メイリオ"/>
                <a:ea typeface="メイリオ"/>
              </a:rPr>
              <a:t>BtoB ECサイト構築｜要件定義フェーズ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42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メイリオ"/>
                <a:ea typeface="メイリオ"/>
              </a:rPr>
              <a:t>2026年8月6日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8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株式会社イーシー・ライダー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00" y="680000"/>
            <a:ext cx="9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期間：2026/8/19（キックオフ）〜 2026/9末　｜　会議時間：各回 約2時間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0000" y="1100000"/>
          <a:ext cx="9000000" cy="4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1400000"/>
                <a:gridCol w="4200000"/>
                <a:gridCol w="1600000"/>
                <a:gridCol w="900000"/>
              </a:tblGrid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回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担当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時間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キックオフ／要件定義の進め方について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8/26（水）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貴社ご要件の確認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※貴社からご要件のご説明をお願いします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ローリングス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ジャパン様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業務フロー検討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9/9（水）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機能詳細検討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非機能要件検討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9/24（木）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要件定義まとめ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9/29（火）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納品・正式見積り提示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9/30（水）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ご検収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0000" y="6000000"/>
            <a:ext cx="9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※開催日は仮置きです。貴社ご都合に合わせて調整いたします。</a:t>
            </a:r>
          </a:p>
          <a:p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※2回目は貴社より現行業務・ご要件のご説明をいただく想定です。事前資料のご共有があるとスムーズです。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3F3F"/>
                </a:solidFill>
                <a:latin typeface="メイリオ"/>
                <a:ea typeface="メイリオ"/>
              </a:rPr>
              <a:t>要件定義フェーズの進め方（概要）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000000"/>
            <a:ext cx="1500000" cy="15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1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キックオフ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進め方共有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体制・進め方確認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30000" y="1550000"/>
            <a:ext cx="160000" cy="20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60000" y="1000000"/>
            <a:ext cx="1500000" cy="15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2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ご要件確認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貴社より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要件・現行業務説明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90000" y="1550000"/>
            <a:ext cx="160000" cy="20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20000" y="1000000"/>
            <a:ext cx="1500000" cy="15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3〜5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要件検討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業務／機能／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非機能のFit&amp;Gap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50000" y="1550000"/>
            <a:ext cx="160000" cy="20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000" y="1000000"/>
            <a:ext cx="1500000" cy="15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6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まとめ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要件定義書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ドラフトレビュー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510000" y="1550000"/>
            <a:ext cx="160000" cy="20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40000" y="1000000"/>
            <a:ext cx="1500000" cy="15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7〜8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納品・検収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正式見積り提示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・ご検収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" y="2750000"/>
            <a:ext cx="9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</a:rPr>
              <a:t>主な成果物・作業項目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0000" y="3150000"/>
          <a:ext cx="9000000" cy="3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2400000"/>
                <a:gridCol w="4200000"/>
                <a:gridCol w="1700000"/>
              </a:tblGrid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作業／成果物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目安時期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キックオフ資料・進め方説明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要件定義の進め方、体制、スケジュール合意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ご要件ヒアリング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現行業務・ご要件の確認（貴社ご説明）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業務フロー整理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注文〜出荷・請求等の業務フロー検討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9/2頃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機能要件 Fit&amp;Gap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Primo標準機能とのFit&amp;Gap・機能詳細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非機能要件定義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性能・セキュリティ・運用等の非機能検討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9/16頃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要件定義書（案）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要件定義の取りまとめ・レビュー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要件定義書／正式見積り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納品および開発工程の正式見積り提示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6667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ご検収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要件定義工程のご検収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3F3F"/>
                </a:solidFill>
                <a:latin typeface="メイリオ"/>
                <a:ea typeface="メイリオ"/>
              </a:rPr>
              <a:t>前提・補足事項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0000" y="85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期間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0000" y="91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2026年8月19日キックオフ〜9月末納品・ご検収を想定（約1.5か月）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153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会議体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0000" y="159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全8回、各回約2時間。原則オンライン／対面は別途調整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0000" y="221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開催間隔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0000" y="22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おおむね週1回。検討・資料作成のリードタイムを確保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000" y="289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貴社作業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0000" y="295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2回目にて現行業務・ご要件のご説明をお願いします（資料事前共有推奨）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000" y="357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ECR作業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0000" y="363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各回のアジェンダ準備、議事録、Fit&amp;Gap整理、要件定義書作成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000" y="425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成果物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0000" y="431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要件定義書、議事録（お見積り書記載の成果物に準拠）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000" y="493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日程調整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0000" y="499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本表の日付は仮置き。貴社ご都合・祝日等を踏まえ確定します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000" y="561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後続工程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000" y="56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要件定義完了後、開発工程の正式見積り提示・ご発注へ移行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