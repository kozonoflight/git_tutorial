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6000" cy="9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50000"/>
            <a:ext cx="9906000" cy="108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1800000"/>
            <a:ext cx="83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66666"/>
                </a:solidFill>
                <a:latin typeface="メイリオ"/>
                <a:ea typeface="メイリオ"/>
              </a:rPr>
              <a:t>ローリングスジャパン合同会社 御中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2500000"/>
            <a:ext cx="87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  <a:latin typeface="メイリオ"/>
                <a:ea typeface="メイリオ"/>
              </a:rPr>
              <a:t>要件定義・情報設計スケジュール（案）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000" y="3400000"/>
            <a:ext cx="83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A6E"/>
                </a:solidFill>
                <a:latin typeface="メイリオ"/>
                <a:ea typeface="メイリオ"/>
              </a:rPr>
              <a:t>BtoB ECサイト構築｜要件定義フェーズ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4200000"/>
            <a:ext cx="83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メイリオ"/>
                <a:ea typeface="メイリオ"/>
              </a:rPr>
              <a:t>2026年8月6日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800000"/>
            <a:ext cx="83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メイリオ"/>
                <a:ea typeface="メイリオ"/>
              </a:rPr>
              <a:t>株式会社イーシー・ライダー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00000" y="180000"/>
            <a:ext cx="70000" cy="38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0000" y="160000"/>
            <a:ext cx="9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F3F3F"/>
                </a:solidFill>
                <a:latin typeface="メイリオ"/>
                <a:ea typeface="メイリオ"/>
              </a:rPr>
              <a:t>要件定義・情報設計スケジュール（1/2）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000" y="580000"/>
            <a:ext cx="9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メイリオ"/>
                <a:ea typeface="メイリオ"/>
              </a:rPr>
              <a:t>期間：2026/8/19（キックオフ）〜 2026/9末　｜　各回 約2時間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80000" y="900000"/>
          <a:ext cx="9350000" cy="5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0000"/>
                <a:gridCol w="1100000"/>
                <a:gridCol w="2400000"/>
                <a:gridCol w="5250000"/>
              </a:tblGrid>
              <a:tr h="5400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No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開催時期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タスク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タスクの内容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</a:tr>
              <a:tr h="54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1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8/19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キックオフ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プロジェクトの進め方（プロジェクト要件）の確認、要件定義工程の内容確認を行います。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54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8/24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業務フロー検討（1回目）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弊社で作成した概略フローを用いて業務フローの確認を行います。登場人物、関連システムの整理は本工程にて実施いたします。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54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>　・サプライヤー管理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商流構成（自社／他社供給）、供給元と販売の関係を整理します。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54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>　・商品管理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商品マスタ、バリエーション、展示会商品、基幹からの商品登録方針を整理します。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54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>　・在庫管理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フリー在庫／取引先別在庫、入荷予定、引当ルールを整理します。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54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>　・会員管理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取引先・販売組織階層（直販／代理店配下）、権限を整理します。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54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3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8/27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業務フロー検討（2回目）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1回目に続き、受注以降の業務フローを概略フローで確認します。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54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>　・受注管理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注文〜承認〜納期回答〜出荷、与信確認、キャンセル／返品の流れを整理します。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54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>　・マイページ、その他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注文履歴・進捗確認、帳票、通知、運用まわりを整理します。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80000" y="6400000"/>
            <a:ext cx="935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※開催日は仮置きです。貴社ご都合に合わせて調整いたします。※見積管理は対象外です。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00000" y="180000"/>
            <a:ext cx="70000" cy="38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0000" y="160000"/>
            <a:ext cx="9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F3F3F"/>
                </a:solidFill>
                <a:latin typeface="メイリオ"/>
                <a:ea typeface="メイリオ"/>
              </a:rPr>
              <a:t>要件定義・情報設計スケジュール（2/2）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000" y="580000"/>
            <a:ext cx="9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メイリオ"/>
                <a:ea typeface="メイリオ"/>
              </a:rPr>
              <a:t>機能詳細では、画面機能設計書と機能詳細フローを用いてFit&amp;Gapを整理します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80000" y="900000"/>
          <a:ext cx="9350000" cy="5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0000"/>
                <a:gridCol w="1100000"/>
                <a:gridCol w="2400000"/>
                <a:gridCol w="5250000"/>
              </a:tblGrid>
              <a:tr h="415384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No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開催時期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タスク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タスクの内容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</a:tr>
              <a:tr h="415384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4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9/3（仮）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機能詳細検討（1回目）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画面機能設計書と機能詳細フローを用いて、Fit&amp;Gapを整理します。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対象：サプライヤー／商品／在庫／会員管理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41538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>　・サプライヤー管理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マルチサプライヤー等の適用方針と差分を定義します。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41538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>　・商品管理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商品登録・公開制御・バリエーション等の差分を定義します。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41538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>　・在庫管理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在庫表示・引当・入荷予定連携等の差分を定義します。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41538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>　・会員管理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販売組織・掛け率・権限等の差分を定義します。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415384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機能詳細検討（2回目）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画面機能設計書と機能詳細フローを用いて、Fit&amp;Gapを整理します。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対象：受注管理／マイページ・その他／フロントサイト確認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41538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>　・受注管理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注文ステータス、与信、基幹連携（受注／出荷）等の差分を定義します。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41538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>　・マイページ、その他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履歴・進捗・ダウンロード等の差分を定義します。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41538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>　・フロントサイト確認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商品閲覧〜カート〜注文〜履歴／マイページの画面・導線・デザイン方針を確認します。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415384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6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9/16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非機能要件検討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性能、セキュリティ、運用、データ移行等の非機能要件を定義します。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415384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9/24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要件定義まとめ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要件定義書（案）の内容をレビューし、指摘事項を反映します。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415392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9/29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納品・正式見積り提示／ご検収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要件定義書を納品し、開発工程の正式見積りを提示、ご検収いただきます。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80000" y="6400000"/>
            <a:ext cx="935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※開催日は仮置きです。貴社ご都合に合わせて調整いたします。※見積管理は対象外です。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00000" y="180000"/>
            <a:ext cx="70000" cy="38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0000" y="160000"/>
            <a:ext cx="9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F3F3F"/>
                </a:solidFill>
                <a:latin typeface="メイリオ"/>
                <a:ea typeface="メイリオ"/>
              </a:rPr>
              <a:t>要件定義フェーズの進め方（概要）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0000" y="900000"/>
            <a:ext cx="1500000" cy="1600000"/>
          </a:xfrm>
          <a:prstGeom prst="roundRect">
            <a:avLst/>
          </a:prstGeom>
          <a:solidFill>
            <a:srgbClr val="DEF3F1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1</a:t>
            </a:r>
          </a:p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キックオフ</a:t>
            </a:r>
          </a:p>
          <a:p/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8/19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進め方確認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30000" y="1500000"/>
            <a:ext cx="160000" cy="18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260000" y="900000"/>
            <a:ext cx="1500000" cy="1600000"/>
          </a:xfrm>
          <a:prstGeom prst="roundRect">
            <a:avLst/>
          </a:prstGeom>
          <a:solidFill>
            <a:srgbClr val="DEF3F1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2〜3</a:t>
            </a:r>
          </a:p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業務フロー</a:t>
            </a:r>
          </a:p>
          <a:p/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8/24・8/27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管理機能単位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790000" y="1500000"/>
            <a:ext cx="160000" cy="18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20000" y="900000"/>
            <a:ext cx="1500000" cy="1600000"/>
          </a:xfrm>
          <a:prstGeom prst="roundRect">
            <a:avLst/>
          </a:prstGeom>
          <a:solidFill>
            <a:srgbClr val="DEF3F1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4〜5</a:t>
            </a:r>
          </a:p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機能詳細</a:t>
            </a:r>
          </a:p>
          <a:p/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9/3・9/9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設計書・詳細フロー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でFit&amp;Gap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650000" y="1500000"/>
            <a:ext cx="160000" cy="18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80000" y="900000"/>
            <a:ext cx="1500000" cy="1600000"/>
          </a:xfrm>
          <a:prstGeom prst="roundRect">
            <a:avLst/>
          </a:prstGeom>
          <a:solidFill>
            <a:srgbClr val="DEF3F1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6</a:t>
            </a:r>
          </a:p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非機能</a:t>
            </a:r>
          </a:p>
          <a:p/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9/16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性能・運用等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510000" y="1500000"/>
            <a:ext cx="160000" cy="18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840000" y="900000"/>
            <a:ext cx="1500000" cy="1600000"/>
          </a:xfrm>
          <a:prstGeom prst="roundRect">
            <a:avLst/>
          </a:prstGeom>
          <a:solidFill>
            <a:srgbClr val="DEF3F1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7〜8</a:t>
            </a:r>
          </a:p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まとめ・納品</a:t>
            </a:r>
          </a:p>
          <a:p/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9/24・9/29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見積り／ご検収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00" y="2900000"/>
            <a:ext cx="1800000" cy="55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</a:rPr>
              <a:t>業務フロー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0000" y="3000000"/>
            <a:ext cx="68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メイリオ"/>
                <a:ea typeface="メイリオ"/>
              </a:rPr>
              <a:t>概略フローを用いて確認。登場人物・関連システムも本工程で整理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000" y="3750000"/>
            <a:ext cx="1800000" cy="55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</a:rPr>
              <a:t>機能詳細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0000" y="3850000"/>
            <a:ext cx="68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メイリオ"/>
                <a:ea typeface="メイリオ"/>
              </a:rPr>
              <a:t>画面機能設計書と機能詳細フローを用いてFit&amp;Gapを整理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0000" y="4600000"/>
            <a:ext cx="1800000" cy="55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</a:rPr>
              <a:t>検討単位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0000" y="4700000"/>
            <a:ext cx="68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メイリオ"/>
                <a:ea typeface="メイリオ"/>
              </a:rPr>
              <a:t>サプライヤー／商品／在庫／会員／受注／マイページ・その他（見積管理は対象外）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0000" y="5450000"/>
            <a:ext cx="1800000" cy="55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</a:rPr>
              <a:t>フロント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00000" y="5550000"/>
            <a:ext cx="68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メイリオ"/>
                <a:ea typeface="メイリオ"/>
              </a:rPr>
              <a:t>機能詳細（2回目）にてフロントサイト確認まで実施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00000" y="180000"/>
            <a:ext cx="70000" cy="38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0000" y="160000"/>
            <a:ext cx="9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F3F3F"/>
                </a:solidFill>
                <a:latin typeface="メイリオ"/>
                <a:ea typeface="メイリオ"/>
              </a:rPr>
              <a:t>前提・補足事項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0000" y="800000"/>
            <a:ext cx="1500000" cy="45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期間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50000" y="87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2026年8月19日キックオフ〜9月末納品・ご検収を想定（約1.5か月）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0000" y="1500000"/>
            <a:ext cx="1500000" cy="45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会議体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0000" y="157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全8回、各回約2時間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0000" y="2200000"/>
            <a:ext cx="1500000" cy="45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業務フロー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50000" y="227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8/24：サプライヤー／商品／在庫／会員　｜　8/27：受注／マイページ・その他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000" y="2900000"/>
            <a:ext cx="1500000" cy="45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機能詳細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50000" y="297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画面機能設計書と機能詳細フローを用いてFit&amp;Gap。フロントサイト確認は2回目で実施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000" y="3600000"/>
            <a:ext cx="1500000" cy="45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対象外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0000" y="367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見積管理は本案件では利用しないため対象外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0000" y="4300000"/>
            <a:ext cx="1500000" cy="45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成果物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50000" y="437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要件定義書、議事録（お見積り書記載の成果物に準拠）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000" y="5000000"/>
            <a:ext cx="1500000" cy="45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日程調整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50000" y="507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本表の日付は仮置き（9/3含む）。貴社ご都合に合わせて調整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0000" y="5700000"/>
            <a:ext cx="1500000" cy="45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後続工程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50000" y="577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要件定義完了後、開発工程の正式見積り提示・ご発注へ移行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