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90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0000"/>
            <a:ext cx="9906000" cy="108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700000"/>
            <a:ext cx="8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メイリオ"/>
                <a:ea typeface="メイリオ"/>
              </a:rPr>
              <a:t>ローリングスジャパン合同会社 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00000"/>
            <a:ext cx="8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  <a:latin typeface="メイリオ"/>
                <a:ea typeface="メイリオ"/>
              </a:rPr>
              <a:t>要件定義・情報設計スケジュール（案）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300000"/>
            <a:ext cx="8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A6E"/>
                </a:solidFill>
                <a:latin typeface="メイリオ"/>
                <a:ea typeface="メイリオ"/>
              </a:rPr>
              <a:t>最終目標：システム化の範囲 ／ 業務上のルール ／ 外部仕様 を明確化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4000000"/>
            <a:ext cx="8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メイリオ"/>
                <a:ea typeface="メイリオ"/>
              </a:rPr>
              <a:t>2026年8月6日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600000"/>
            <a:ext cx="8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メイリオ"/>
                <a:ea typeface="メイリオ"/>
              </a:rPr>
              <a:t>株式会社イーシー・ライダー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0000" y="160000"/>
            <a:ext cx="70000" cy="360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000" y="14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3F3F"/>
                </a:solidFill>
                <a:latin typeface="メイリオ"/>
                <a:ea typeface="メイリオ"/>
              </a:rPr>
              <a:t>要件定義のゴール・前提・進め方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700000"/>
            <a:ext cx="2900000" cy="1400000"/>
          </a:xfrm>
          <a:prstGeom prst="roundRect">
            <a:avLst/>
          </a:prstGeom>
          <a:solidFill>
            <a:srgbClr val="DEF3F1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7A6E"/>
                </a:solidFill>
                <a:latin typeface="メイリオ"/>
                <a:ea typeface="メイリオ"/>
              </a:rPr>
              <a:t>システム化の範囲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何をEC化し、何を基幹／現行運用に残すかを確定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0000" y="700000"/>
            <a:ext cx="2900000" cy="1400000"/>
          </a:xfrm>
          <a:prstGeom prst="roundRect">
            <a:avLst/>
          </a:prstGeom>
          <a:solidFill>
            <a:srgbClr val="DEF3F1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7A6E"/>
                </a:solidFill>
                <a:latin typeface="メイリオ"/>
                <a:ea typeface="メイリオ"/>
              </a:rPr>
              <a:t>業務上のルール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引当・与信・キャンセル等、業務判断の条件を明文化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700000"/>
            <a:ext cx="2900000" cy="1400000"/>
          </a:xfrm>
          <a:prstGeom prst="roundRect">
            <a:avLst/>
          </a:prstGeom>
          <a:solidFill>
            <a:srgbClr val="DEF3F1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7A6E"/>
                </a:solidFill>
                <a:latin typeface="メイリオ"/>
                <a:ea typeface="メイリオ"/>
              </a:rPr>
              <a:t>外部仕様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画面・帳票・基幹I/Fとして外から見える入出力と振る舞いを定義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230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前提条件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2700000"/>
            <a:ext cx="29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</a:rPr>
              <a:t>基幹システムの運用は変えない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0000" y="2700000"/>
            <a:ext cx="29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</a:rPr>
              <a:t>業務を効率化したい（手作業・Excel運用の削減）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0" y="2700000"/>
            <a:ext cx="29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</a:rPr>
              <a:t>取引先とのビジネスルールは変えない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360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現状の不足（要件定義で埋めること）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400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・ざっくりした要望しか見えていない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442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・正常系の業務しか見えていない（例外系未整理）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484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・UIが決まっていない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5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・基幹連携の方式・フォーマットが未確定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" y="56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・登場人物が見えていない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0000" y="160000"/>
            <a:ext cx="70000" cy="360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000" y="14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3F3F"/>
                </a:solidFill>
                <a:latin typeface="メイリオ"/>
                <a:ea typeface="メイリオ"/>
              </a:rPr>
              <a:t>要件定義の手順（工程順）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750000"/>
            <a:ext cx="2900000" cy="2000000"/>
          </a:xfrm>
          <a:prstGeom prst="roundRect">
            <a:avLst/>
          </a:prstGeom>
          <a:solidFill>
            <a:srgbClr val="DEF3F1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7A6E"/>
                </a:solidFill>
                <a:latin typeface="メイリオ"/>
                <a:ea typeface="メイリオ"/>
              </a:rPr>
              <a:t>工程1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システム化する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業務の整理</a:t>
            </a:r>
          </a:p>
          <a:p/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登場人物・正常／例外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やる／やらないを確定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0" y="750000"/>
            <a:ext cx="2900000" cy="2000000"/>
          </a:xfrm>
          <a:prstGeom prst="roundRect">
            <a:avLst/>
          </a:prstGeom>
          <a:solidFill>
            <a:srgbClr val="DEF3F1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7A6E"/>
                </a:solidFill>
                <a:latin typeface="メイリオ"/>
                <a:ea typeface="メイリオ"/>
              </a:rPr>
              <a:t>工程2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基幹システムの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仕様整理</a:t>
            </a:r>
          </a:p>
          <a:p/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変えない境界と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連携前提を確定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0000" y="750000"/>
            <a:ext cx="2900000" cy="2000000"/>
          </a:xfrm>
          <a:prstGeom prst="roundRect">
            <a:avLst/>
          </a:prstGeom>
          <a:solidFill>
            <a:srgbClr val="DEF3F1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7A6E"/>
                </a:solidFill>
                <a:latin typeface="メイリオ"/>
                <a:ea typeface="メイリオ"/>
              </a:rPr>
              <a:t>工程3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業務ルール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の定義</a:t>
            </a:r>
          </a:p>
          <a:p/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引当・与信・取消等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判断条件を明文化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3250000"/>
            <a:ext cx="2900000" cy="2000000"/>
          </a:xfrm>
          <a:prstGeom prst="roundRect">
            <a:avLst/>
          </a:prstGeom>
          <a:solidFill>
            <a:srgbClr val="DEF3F1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7A6E"/>
                </a:solidFill>
                <a:latin typeface="メイリオ"/>
                <a:ea typeface="メイリオ"/>
              </a:rPr>
              <a:t>工程4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UI検討</a:t>
            </a:r>
          </a:p>
          <a:p/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画面の入出力・導線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＝画面外部仕様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3250000"/>
            <a:ext cx="2900000" cy="2000000"/>
          </a:xfrm>
          <a:prstGeom prst="roundRect">
            <a:avLst/>
          </a:prstGeom>
          <a:solidFill>
            <a:srgbClr val="DEF3F1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7A6E"/>
                </a:solidFill>
                <a:latin typeface="メイリオ"/>
                <a:ea typeface="メイリオ"/>
              </a:rPr>
              <a:t>工程5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連携外部仕様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＋非機能</a:t>
            </a:r>
          </a:p>
          <a:p/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CSV等I/Fと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性能・運用条件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0000" y="3250000"/>
            <a:ext cx="2900000" cy="2000000"/>
          </a:xfrm>
          <a:prstGeom prst="roundRect">
            <a:avLst/>
          </a:prstGeom>
          <a:solidFill>
            <a:srgbClr val="DEF3F1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7A6E"/>
                </a:solidFill>
                <a:latin typeface="メイリオ"/>
                <a:ea typeface="メイリオ"/>
              </a:rPr>
              <a:t>工程6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開発工程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</a:rPr>
              <a:t>の提案</a:t>
            </a:r>
          </a:p>
          <a:p/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カスタマイズ範囲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見積り・工程提示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5800000"/>
            <a:ext cx="9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※Fit&amp;Gap／画面モックは工程3〜5の手段です。最終成果は「システム化の範囲」「業務上のルール」「外部仕様」です。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0000" y="160000"/>
            <a:ext cx="70000" cy="360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000" y="14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3F3F"/>
                </a:solidFill>
                <a:latin typeface="メイリオ"/>
                <a:ea typeface="メイリオ"/>
              </a:rPr>
              <a:t>要件定義・情報設計スケジュール（1/2）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540000"/>
            <a:ext cx="9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期間：2026/8/19（キックオフ）〜2026/9末　｜　各回 約2時間　｜　赤字＝貴社へのご提供／ご教示依頼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0000" y="900000"/>
          <a:ext cx="9400000" cy="5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00"/>
                <a:gridCol w="1000000"/>
                <a:gridCol w="2500000"/>
                <a:gridCol w="5350000"/>
              </a:tblGrid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No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開催時期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タスク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タスクの内容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</a:tr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8/19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キックオフ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要件定義のゴール（システム化の範囲／業務ルール／外部仕様）と前提条件を合意します。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進め方・体制・スケジュールを確認します。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①システム化する業務の整理（1）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現行業務（As-Is）を整理し、登場人物・関連システムを明確にします。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正常系に加え、例外系（欠品、与信NG、キャンセル、返品等）も洗い出します。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本工程で「システム化する／しない」の範囲案を作成します。</a:t>
                      </a: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※ご提供依頼：取引先マスタ・配送先マスタのサンプルデータ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8/31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①システム化する業務の整理（2）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②基幹システムの仕様整理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①の続きとして業務範囲を確定します。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②基幹の役割（変えない運用）とECの役割分担を整理し、連携対象／非対象を決めます。</a:t>
                      </a: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※ご提供依頼：商品情報CSV・在庫情報CSVのフォーマット及び項目定義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※ご提供依頼：受注集計表（Excel）サンプル（取引先別確保在庫の把握用）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③業務上のルール定義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前提（基幹運用不変・取引先ルール不変）のもと、効率化後の業務ルールを定義します。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対象例：サプライヤー／在庫・引当／会員・販路／受注・与信・出荷・キャンセル・返品 等。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0000" y="6400000"/>
            <a:ext cx="9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※開催日は仮置きです。貴社ご都合に合わせて調整いたします。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0000" y="160000"/>
            <a:ext cx="70000" cy="360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000" y="14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3F3F"/>
                </a:solidFill>
                <a:latin typeface="メイリオ"/>
                <a:ea typeface="メイリオ"/>
              </a:rPr>
              <a:t>要件定義・情報設計スケジュール（2/2）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540000"/>
            <a:ext cx="9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工程④UI → ⑤連携外部仕様／⑥非機能 → まとめ → ⑦開発工程提案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0000" y="900000"/>
          <a:ext cx="9400000" cy="5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00"/>
                <a:gridCol w="1000000"/>
                <a:gridCol w="2500000"/>
                <a:gridCol w="5350000"/>
              </a:tblGrid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No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開催時期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タスク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タスクの内容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</a:tr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5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9/9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④UI検討（画面外部仕様）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画面モックを用い、画面の入出力・導線・表示項目を外部仕様として確定します。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管理サイト／フロント（マイページ含む）の両方を対象とします。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⑤連携外部仕様の定義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⑥非機能要件の定義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⑤基幹連携の方式・タイミング・フォーマット・エラー時挙動を外部仕様として定義します。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⑥性能・セキュリティ・運用・権限等の非機能要件を定義します。</a:t>
                      </a: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※ご教示依頼：年間注文数、ピーク注文時間帯、取引先数、商品SKU数、管理サイト利用者数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7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9/24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要件定義まとめ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システム化の範囲／業務上のルール／外部仕様に抜け漏れがないことを確認します。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指摘事項を反映し、要件定義書を確定します。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104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9/29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⑦開発工程の提案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納品・正式見積り提示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確定した要件に基づき、カスタマイズ範囲・開発工程・正式見積りを提示します。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要件定義書を納品します。（ご検収は10月末想定）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0000" y="6400000"/>
            <a:ext cx="9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※開催日は仮置きです。ご検収は10月末を想定しています。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0000" y="160000"/>
            <a:ext cx="70000" cy="360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000" y="14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3F3F"/>
                </a:solidFill>
                <a:latin typeface="メイリオ"/>
                <a:ea typeface="メイリオ"/>
              </a:rPr>
              <a:t>貴社へのご提供・ご教示依頼一覧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540000"/>
            <a:ext cx="9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要件定義を進めるためのインプットです。サンプル／マスキング可のものがあればその旨ご相談ください。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0000" y="950000"/>
          <a:ext cx="93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/>
                <a:gridCol w="1300000"/>
                <a:gridCol w="4200000"/>
                <a:gridCol w="3200000"/>
              </a:tblGrid>
              <a:tr h="633333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No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必要時期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ご依頼内容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用途</a:t>
                      </a:r>
                    </a:p>
                  </a:txBody>
                  <a:tcPr anchor="ctr">
                    <a:solidFill>
                      <a:srgbClr val="00A693"/>
                    </a:solidFill>
                    <a:lnL w="9525" cap="flat" cmpd="sng" algn="ctr">
                      <a:solidFill>
                        <a:srgbClr val="007A6E"/>
                      </a:solidFill>
                      <a:prstDash val="solid"/>
                    </a:lnL>
                    <a:lnR w="9525" cap="flat" cmpd="sng" algn="ctr">
                      <a:solidFill>
                        <a:srgbClr val="007A6E"/>
                      </a:solidFill>
                      <a:prstDash val="solid"/>
                    </a:lnR>
                    <a:lnT w="9525" cap="flat" cmpd="sng" algn="ctr">
                      <a:solidFill>
                        <a:srgbClr val="007A6E"/>
                      </a:solidFill>
                      <a:prstDash val="solid"/>
                    </a:lnT>
                    <a:lnB w="9525" cap="flat" cmpd="sng" algn="ctr">
                      <a:solidFill>
                        <a:srgbClr val="007A6E"/>
                      </a:solidFill>
                      <a:prstDash val="solid"/>
                    </a:lnB>
                  </a:tcPr>
                </a:tc>
              </a:tr>
              <a:tr h="633333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8/26まで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取引先マスタ・配送先マスタのサンプルデータ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登場人物・会員／配送の業務整理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633333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8/31まで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商品情報CSVのフォーマット及び項目定義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基幹連携前提・商品外部仕様の整理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633333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8/31まで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在庫情報CSVのフォーマット及び項目定義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基幹連携前提・在庫／引当の整理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633333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8/31まで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受注集計表（Excel）サンプル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（取引先別確保在庫の把握用）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確保在庫の持ち方・業務ルール整理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63333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5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9/16まで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年間注文数、ピーク注文時間帯、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取引先数、商品SKU数、管理サイト利用者数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非機能（性能・運用）の定義</a:t>
                      </a:r>
                    </a:p>
                  </a:txBody>
                  <a:tcPr anchor="ctr">
                    <a:solidFill>
                      <a:srgbClr val="F0FAF8"/>
                    </a:solidFill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0000" y="5000000"/>
            <a:ext cx="9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・基幹ベンダー様との連携打合せは、仕様整理・外部仕様定義の過程で別途実施します。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5450000"/>
            <a:ext cx="9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・販売組織階層は現状概念がない想定のため、一覧依頼はせず、ECへの落とし込み案を弊社より提示します。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000" y="5900000"/>
            <a:ext cx="9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・入荷予定はECへのCSV取込前提とし、現行入荷予定データのご提供は不要です。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