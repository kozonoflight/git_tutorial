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6000" cy="9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50000"/>
            <a:ext cx="9906000" cy="108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1800000"/>
            <a:ext cx="83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  <a:latin typeface="メイリオ"/>
                <a:ea typeface="メイリオ"/>
              </a:rPr>
              <a:t>ローリングスジャパン合同会社 御中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2500000"/>
            <a:ext cx="87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  <a:latin typeface="メイリオ"/>
                <a:ea typeface="メイリオ"/>
              </a:rPr>
              <a:t>要件定義・情報設計スケジュール（案）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3400000"/>
            <a:ext cx="8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A6E"/>
                </a:solidFill>
                <a:latin typeface="メイリオ"/>
                <a:ea typeface="メイリオ"/>
              </a:rPr>
              <a:t>BtoB ECサイト構築｜要件定義フェーズ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4200000"/>
            <a:ext cx="8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メイリオ"/>
                <a:ea typeface="メイリオ"/>
              </a:rPr>
              <a:t>2026年8月6日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800000"/>
            <a:ext cx="8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メイリオ"/>
                <a:ea typeface="メイリオ"/>
              </a:rPr>
              <a:t>株式会社イーシー・ライダー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0000" y="220000"/>
            <a:ext cx="80000" cy="42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0000" y="200000"/>
            <a:ext cx="8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3F3F"/>
                </a:solidFill>
                <a:latin typeface="メイリオ"/>
                <a:ea typeface="メイリオ"/>
              </a:rPr>
              <a:t>要件定義・情報設計スケジュール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00" y="680000"/>
            <a:ext cx="9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メイリオ"/>
                <a:ea typeface="メイリオ"/>
              </a:rPr>
              <a:t>期間：2026/8/19（キックオフ）〜 2026/9末　｜　全6回　｜　会議時間：各回 約2時間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00000" y="1050000"/>
          <a:ext cx="9100000" cy="4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000"/>
                <a:gridCol w="1300000"/>
                <a:gridCol w="4550000"/>
                <a:gridCol w="1400000"/>
                <a:gridCol w="1000000"/>
              </a:tblGrid>
              <a:tr h="6714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回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開催時期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内容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担当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時間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</a:tr>
              <a:tr h="6714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1回目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8/19（水）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キックオフ／進め方・ご要件すり合わせ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※既出のご要件を踏まえ、進め方と論点を合意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6714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2回目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8/26（水）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業務フロー検討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サプライヤー管理／販売組織／在庫・引当／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注文〜出荷・請求など具体業務の整理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6714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3回目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9/9（水）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機能詳細検討（Fit&amp;Gap）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マルチサプライヤー・販売組織管理・基幹連携・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フロント等、Primo標準との差分を具体化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6714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4回目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9/16（水）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非機能要件検討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性能・セキュリティ・運用・データ移行等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6714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5回目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9/24（木）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要件定義まとめ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要件定義書（案）レビュー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67143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6回目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9/29（火）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納品・正式見積り提示／ご検収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0000" y="5850000"/>
            <a:ext cx="91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※開催日は仮置きです。貴社ご都合に合わせて調整いたします。</a:t>
            </a:r>
          </a:p>
          <a:p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※ご要件の個別ヒアリング回は設けず、キックオフですり合わせたうえで、業務フロー／機能詳細で具体化します。</a:t>
            </a:r>
          </a:p>
          <a:p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※必要に応じ、業務フロー／機能詳細は論点量に応じて分割・追加開催も検討します。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0000" y="220000"/>
            <a:ext cx="80000" cy="42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0000" y="200000"/>
            <a:ext cx="8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F3F3F"/>
                </a:solidFill>
                <a:latin typeface="メイリオ"/>
                <a:ea typeface="メイリオ"/>
              </a:rPr>
              <a:t>業務フロー／機能詳細で扱う論点（例）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00" y="680000"/>
            <a:ext cx="9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メイリオ"/>
                <a:ea typeface="メイリオ"/>
              </a:rPr>
              <a:t>ご提示済みのご要件を、サプライヤー管理・販売組織などの機能粒度まで落として検討します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0000" y="1100000"/>
            <a:ext cx="4400000" cy="4800000"/>
          </a:xfrm>
          <a:prstGeom prst="roundRect">
            <a:avLst/>
          </a:prstGeom>
          <a:solidFill>
            <a:srgbClr val="DEF3F1"/>
          </a:solidFill>
          <a:ln w="15875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00000" y="1100000"/>
            <a:ext cx="4400000" cy="4800000"/>
          </a:xfrm>
          <a:prstGeom prst="roundRect">
            <a:avLst/>
          </a:prstGeom>
          <a:solidFill>
            <a:srgbClr val="FAFAFA"/>
          </a:solidFill>
          <a:ln w="15875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0000" y="1250000"/>
            <a:ext cx="41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7A6E"/>
                </a:solidFill>
                <a:latin typeface="メイリオ"/>
                <a:ea typeface="メイリオ"/>
              </a:rPr>
              <a:t>2回目｜業務フロー検討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・商流・サプライヤー構成（自社／他社供給）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・販売組織・取引先階層（直販／代理店配下）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・在庫モデル（フリー在庫／取引先別在庫）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・引当ルール・入荷予定の扱い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・注文〜承認〜納期回答〜出荷の流れ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・売価・掛け率・送料・与信の業務ルール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・基幹との役割分担（どこまでをECで行うか）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0000" y="1250000"/>
            <a:ext cx="41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7A6E"/>
                </a:solidFill>
                <a:latin typeface="メイリオ"/>
                <a:ea typeface="メイリオ"/>
              </a:rPr>
              <a:t>3回目｜機能詳細検討（Fit&amp;Gap）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・マルチサプライヤー機能の適用方針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・販売組織管理・ランク／掛け率設定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・注文ステータス・与信確認フロー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・基幹連携（商品／在庫／受注／出荷）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・EDI・代理注文・キャンセル／返品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・バリエーション一括注文・展示会注文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・フロントデザイン／商品データDL等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0000" y="220000"/>
            <a:ext cx="80000" cy="42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0000" y="200000"/>
            <a:ext cx="8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3F3F"/>
                </a:solidFill>
                <a:latin typeface="メイリオ"/>
                <a:ea typeface="メイリオ"/>
              </a:rPr>
              <a:t>要件定義フェーズの進め方（概要）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900000"/>
            <a:ext cx="1500000" cy="135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1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キックオフ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進め方合意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ご要件すり合わせ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30000" y="1400000"/>
            <a:ext cx="160000" cy="18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260000" y="900000"/>
            <a:ext cx="1500000" cy="135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2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業務フロー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商流・在庫・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注文業務の具体化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790000" y="1400000"/>
            <a:ext cx="160000" cy="18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20000" y="900000"/>
            <a:ext cx="1500000" cy="135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3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機能詳細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Primo Fit&amp;Gap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連携・カスタマイズ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650000" y="1400000"/>
            <a:ext cx="160000" cy="18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80000" y="900000"/>
            <a:ext cx="1500000" cy="135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4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非機能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性能・運用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セキュリティ等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510000" y="1400000"/>
            <a:ext cx="160000" cy="18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40000" y="900000"/>
            <a:ext cx="1500000" cy="135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5〜6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まとめ・納品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要件定義書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見積り／ご検収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000" y="2450000"/>
            <a:ext cx="9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メイリオ"/>
                <a:ea typeface="メイリオ"/>
              </a:rPr>
              <a:t>主な成果物・作業項目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0000" y="2850000"/>
          <a:ext cx="9000000" cy="3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0000"/>
                <a:gridCol w="2600000"/>
                <a:gridCol w="4000000"/>
                <a:gridCol w="1700000"/>
              </a:tblGrid>
              <a:tr h="48571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No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作業／成果物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内容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目安時期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</a:tr>
              <a:tr h="48571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1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キックオフ／ご要件すり合わせ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進め方・体制合意、既出要件の論点整理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8/19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8571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業務フロー整理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サプライヤー／販売組織／在庫・引当／注文〜出荷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8/26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8571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3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機能詳細 Fit&amp;Gap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Primo標準との差分・基幹連携・カスタマイズ論点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9/9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8571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非機能要件定義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性能・セキュリティ・運用・移行等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8571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5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要件定義書（案）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取りまとめ・レビュー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9/24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8571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納品／正式見積り／ご検収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要件定義書納品、開発工程見積り、ご検収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0000" y="220000"/>
            <a:ext cx="80000" cy="42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0000" y="200000"/>
            <a:ext cx="85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3F3F"/>
                </a:solidFill>
                <a:latin typeface="メイリオ"/>
                <a:ea typeface="メイリオ"/>
              </a:rPr>
              <a:t>前提・補足事項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0000" y="85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期間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0000" y="91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2026年8月19日キックオフ〜9月末納品・ご検収を想定（約1.5か月）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0000" y="153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会議体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0000" y="159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全6回に集約、各回約2時間。ご要件確認の独立回は設けない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0000" y="221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すり合わせ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0000" y="227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キックオフで既出ご要件の論点を合意し、以降の検討に進む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000" y="289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検討粒度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0000" y="295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業務フロー／機能詳細はサプライヤー管理・販売組織等の機能単位まで具体化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000" y="357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ECR作業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0000" y="363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アジェンダ準備、議事録、Fit&amp;Gap整理、要件定義書作成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000" y="425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成果物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0000" y="431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要件定義書、議事録（お見積り書記載の成果物に準拠）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0000" y="493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日程調整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0000" y="499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本表の日付は仮置き。論点量に応じ業務／機能回の分割も可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000" y="561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後続工程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0000" y="567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要件定義完了後、開発工程の正式見積り提示・ご発注へ移行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