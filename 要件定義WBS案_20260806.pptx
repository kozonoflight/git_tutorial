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9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50000"/>
            <a:ext cx="9906000" cy="108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800000"/>
            <a:ext cx="8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ローリングスジャパン合同会社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500000"/>
            <a:ext cx="87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  <a:latin typeface="メイリオ"/>
                <a:ea typeface="メイリオ"/>
              </a:rPr>
              <a:t>要件定義・情報設計スケジュール（案）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4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7A6E"/>
                </a:solidFill>
                <a:latin typeface="メイリオ"/>
                <a:ea typeface="メイリオ"/>
              </a:rPr>
              <a:t>BtoB ECサイト構築｜要件定義フェーズ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2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メイリオ"/>
                <a:ea typeface="メイリオ"/>
              </a:rPr>
              <a:t>2026年8月6日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8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株式会社イーシー・ライダー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9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期間：2026/8/19（キックオフ）〜 2026/9末　｜　会議時間：各回 約2時間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50000" y="1000000"/>
          <a:ext cx="9200000" cy="5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1300000"/>
                <a:gridCol w="4500000"/>
                <a:gridCol w="1400000"/>
                <a:gridCol w="1100000"/>
              </a:tblGrid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回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担当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時間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キックオフ／進め方・ご要件すり合わせ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8/24（月）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業務フロー検討（1回目）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・サプライヤー管理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・商品管理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・在庫管理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・会員管理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8/27（木）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業務フロー検討（2回目）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・受注管理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・見積管理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　・マイページ、その他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9/9（水）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機能詳細検討（Fit&amp;Gap）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※フロントサイト確認含む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9/16（水）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非機能要件検討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6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6回目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9/24（木）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34667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7回目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9/29（火）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納品・正式見積り提示／ご検収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ECR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2h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50000" y="6300000"/>
            <a:ext cx="9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9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業務フロー検討｜アジェンダ詳細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管理機能単位で現行業務〜あるべき姿を整理し、後続のFit&amp;Gapにつなげます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0000" y="1050000"/>
            <a:ext cx="4500000" cy="5200000"/>
          </a:xfrm>
          <a:prstGeom prst="roundRect">
            <a:avLst/>
          </a:prstGeom>
          <a:solidFill>
            <a:srgbClr val="DEF3F1"/>
          </a:solidFill>
          <a:ln w="15875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180000"/>
            <a:ext cx="42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7A6E"/>
                </a:solidFill>
                <a:latin typeface="メイリオ"/>
                <a:ea typeface="メイリオ"/>
              </a:rPr>
              <a:t>2回目｜8/24（月）　約2h</a:t>
            </a:r>
          </a:p>
          <a:p>
            <a:r>
              <a:rPr sz="1300" b="1">
                <a:solidFill>
                  <a:srgbClr val="333333"/>
                </a:solidFill>
                <a:latin typeface="メイリオ"/>
                <a:ea typeface="メイリオ"/>
              </a:rPr>
              <a:t>業務フロー検討（1回目）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サプライヤー管理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商流構成、自社／他社供給、供給元と販売の関係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商品管理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商品マスタ、バリエーション、展示会商品、基幹からの商品登録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在庫管理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フリー在庫／取引先別在庫、入荷予定、引当ルール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会員管理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取引先・販売組織階層、直販／代理店配下、権限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50000" y="1050000"/>
            <a:ext cx="4500000" cy="5200000"/>
          </a:xfrm>
          <a:prstGeom prst="roundRect">
            <a:avLst/>
          </a:prstGeom>
          <a:solidFill>
            <a:srgbClr val="FAFAFA"/>
          </a:solidFill>
          <a:ln w="15875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00000" y="1180000"/>
            <a:ext cx="42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7A6E"/>
                </a:solidFill>
                <a:latin typeface="メイリオ"/>
                <a:ea typeface="メイリオ"/>
              </a:rPr>
              <a:t>3回目｜8/27（木）　約2h</a:t>
            </a:r>
          </a:p>
          <a:p>
            <a:r>
              <a:rPr sz="1300" b="1">
                <a:solidFill>
                  <a:srgbClr val="333333"/>
                </a:solidFill>
                <a:latin typeface="メイリオ"/>
                <a:ea typeface="メイリオ"/>
              </a:rPr>
              <a:t>業務フロー検討（2回目）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受注管理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注文〜承認〜納期回答〜出荷、与信確認、キャンセル／返品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見積管理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見積作成〜受注化、売価・掛け率・送料の扱い</a:t>
            </a:r>
          </a:p>
          <a:p>
            <a:r>
              <a:rPr sz="6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r>
              <a:rPr sz="1200" b="1">
                <a:solidFill>
                  <a:srgbClr val="007A6E"/>
                </a:solidFill>
                <a:latin typeface="メイリオ"/>
                <a:ea typeface="メイリオ"/>
              </a:rPr>
              <a:t>■ マイページ、その他</a:t>
            </a:r>
          </a:p>
          <a:p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　注文履歴、進捗確認、帳票、通知、運用まわり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9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機能詳細検討｜Fit&amp;Gap（フロントサイト確認含む）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00" y="68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4回目｜9/9（水）頃　約2h　｜　業務フローで整理した内容をPrimo標準／カスタマイズに落とし込みます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0000" y="1100000"/>
          <a:ext cx="89000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6700000"/>
              </a:tblGrid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領域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検討内容（例）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管理機能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サプライヤー／商品／在庫／会員／受注／見積 のFit&amp;Gap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基幹連携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商品・在庫・受注・出荷の連携方式、自動化範囲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フロントサイト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画面構成・導線・デザイン方針、注文UI（バリエーション一括等）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3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7A6E"/>
                          </a:solidFill>
                          <a:latin typeface="メイリオ"/>
                          <a:ea typeface="メイリオ"/>
                        </a:rPr>
                        <a:t>フロント確認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商品閲覧〜カート〜注文〜履歴／マイページの画面確認</a:t>
                      </a:r>
                    </a:p>
                  </a:txBody>
                  <a:tcPr anchor="ctr">
                    <a:solidFill>
                      <a:srgbClr val="E8F6F3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53333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EDI・代理注文、展示会注文、商品データ／画像DL 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0000" y="4600000"/>
            <a:ext cx="8900000" cy="1600000"/>
          </a:xfrm>
          <a:prstGeom prst="roundRect">
            <a:avLst/>
          </a:prstGeom>
          <a:solidFill>
            <a:srgbClr val="DEF3F1"/>
          </a:solidFill>
          <a:ln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800000"/>
            <a:ext cx="85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フロントサイト確認で見るポイント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・取引先向け画面の情報設計（商品一覧／詳細、在庫表示、売価表示）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・注文体験（カート、バリエーション一括注文、納期指定、注文履歴）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・マイページ周りの導線（進捗確認、ダウンロード、問い合わせ等）</a:t>
            </a:r>
          </a:p>
          <a:p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・デザイン方針（貴社ブランド反映の範囲）と標準／カスタマイズの境界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9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要件定義フェーズの進め方（概要）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850000"/>
            <a:ext cx="1500000" cy="14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1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キックオフ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8/19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進め方・すり合わせ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3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60000" y="850000"/>
            <a:ext cx="1500000" cy="14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2〜3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業務フロー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8/24・8/27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管理機能単位で整理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9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20000" y="850000"/>
            <a:ext cx="1500000" cy="14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4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機能詳細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Fit&amp;Gap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フロント確認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0000" y="850000"/>
            <a:ext cx="1500000" cy="14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5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非機能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9/16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性能・運用等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10000" y="1400000"/>
            <a:ext cx="160000" cy="18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40000" y="850000"/>
            <a:ext cx="1500000" cy="145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6〜7</a:t>
            </a:r>
          </a:p>
          <a:p>
            <a:pPr algn="ctr"/>
            <a:r>
              <a:rPr sz="1100" b="1">
                <a:solidFill>
                  <a:srgbClr val="007A6E"/>
                </a:solidFill>
                <a:latin typeface="メイリオ"/>
                <a:ea typeface="メイリオ"/>
              </a:rPr>
              <a:t>まとめ・納品</a:t>
            </a:r>
          </a:p>
          <a:p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9/24・9/29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見積り／ご検収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" y="2500000"/>
            <a:ext cx="9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</a:rPr>
              <a:t>主な成果物・作業項目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0000" y="2850000"/>
          <a:ext cx="90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000"/>
                <a:gridCol w="2600000"/>
                <a:gridCol w="4000000"/>
                <a:gridCol w="170000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作業／成果物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目安時期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キックオフ／ご要件すり合わせ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進め方・体制合意、既出要件の論点整理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業務フロー（1）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サプライヤー／商品／在庫／会員管理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業務フロー（2）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受注／見積／マイページ・その他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8/27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機能詳細 Fit&amp;Gap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管理機能差分＋フロントサイト確認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非機能要件定義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性能・セキュリティ・運用・移行等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要件定義書（案）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取りまとめ・レビュー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納品／正式見積り／ご検収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要件定義書納品、開発工程見積り、ご検収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0000" y="220000"/>
            <a:ext cx="80000" cy="42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0000" y="200000"/>
            <a:ext cx="90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F3F3F"/>
                </a:solidFill>
                <a:latin typeface="メイリオ"/>
                <a:ea typeface="メイリオ"/>
              </a:rPr>
              <a:t>前提・補足事項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0000" y="8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期間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0000" y="9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2026年8月19日キックオフ〜9月末納品・ご検収を想定（約1.5か月）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15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会議体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0000" y="15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全7回、各回約2時間。業務フローは2回に分割して管理機能単位で検討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000" y="22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8/24論点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0000" y="22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サプライヤー管理／商品管理／在庫管理／会員管理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000" y="289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8/27論点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000" y="295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受注管理／見積管理／マイページ、その他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000" y="357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機能詳細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0000" y="363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Fit&amp;Gapに加え、フロントサイト（画面・導線・デザイン）確認まで実施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000" y="425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成果物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0000" y="431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要件定義書、議事録（お見積り書記載の成果物に準拠）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000" y="493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日程調整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0000" y="499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本表の日付は仮置き。論点量に応じ回の分割・追加も可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000" y="5610000"/>
            <a:ext cx="1400000" cy="420000"/>
          </a:xfrm>
          <a:prstGeom prst="round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後続工程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000" y="5670000"/>
            <a:ext cx="7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要件定義完了後、開発工程の正式見積り提示・ご発注へ移行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