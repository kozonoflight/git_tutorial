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9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50000"/>
            <a:ext cx="9906000" cy="108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1800000"/>
            <a:ext cx="8300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ローリングスジャパン合同会社 御中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2500000"/>
            <a:ext cx="87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33333"/>
                </a:solidFill>
                <a:latin typeface="メイリオ"/>
                <a:ea typeface="メイリオ"/>
              </a:rPr>
              <a:t>要件定義・情報設計スケジュール（案）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3400000"/>
            <a:ext cx="8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7A6E"/>
                </a:solidFill>
                <a:latin typeface="メイリオ"/>
                <a:ea typeface="メイリオ"/>
              </a:rPr>
              <a:t>最終目標：システム化の範囲 ／ 業務上のルール ／ 外部仕様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4100000"/>
            <a:ext cx="8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メイリオ"/>
                <a:ea typeface="メイリオ"/>
              </a:rPr>
              <a:t>2026年8月6日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700000"/>
            <a:ext cx="8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メイリオ"/>
                <a:ea typeface="メイリオ"/>
              </a:rPr>
              <a:t>株式会社イーシー・ライダー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80000" y="140000"/>
            <a:ext cx="70000" cy="34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0000" y="120000"/>
            <a:ext cx="9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F3F3F"/>
                </a:solidFill>
                <a:latin typeface="メイリオ"/>
                <a:ea typeface="メイリオ"/>
              </a:rPr>
              <a:t>要件定義の進め方（Input → Process → Output）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00000"/>
            <a:ext cx="9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前提：基幹運用は変えない ／ 業務を効率化したい ／ 取引先とのビジネスルールは変えない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0000" y="850000"/>
            <a:ext cx="2600000" cy="1600000"/>
          </a:xfrm>
          <a:prstGeom prst="roundRect">
            <a:avLst/>
          </a:prstGeom>
          <a:solidFill>
            <a:srgbClr val="FFF3E8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E67E22"/>
                </a:solidFill>
                <a:latin typeface="メイリオ"/>
                <a:ea typeface="メイリオ"/>
              </a:rPr>
              <a:t>【Input】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・現状の要望・ヒアリング内容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・取引先／配送先マスタサンプル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・受注集計表（Excel）サンプル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70000" y="1570000"/>
            <a:ext cx="160000" cy="16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50000" y="850000"/>
            <a:ext cx="3000000" cy="16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07A6E"/>
                </a:solidFill>
                <a:latin typeface="メイリオ"/>
                <a:ea typeface="メイリオ"/>
              </a:rPr>
              <a:t>1. システム化する業務の整理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0000" y="1570000"/>
            <a:ext cx="160000" cy="16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0000" y="850000"/>
            <a:ext cx="2600000" cy="160000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E7D32"/>
                </a:solidFill>
                <a:latin typeface="メイリオ"/>
                <a:ea typeface="メイリオ"/>
              </a:rPr>
              <a:t>【Output】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・登場人物・関連システム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・業務一覧（正常系＋例外系）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・システム化の範囲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・業務上のルール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000" y="2650000"/>
            <a:ext cx="2600000" cy="1600000"/>
          </a:xfrm>
          <a:prstGeom prst="roundRect">
            <a:avLst/>
          </a:prstGeom>
          <a:solidFill>
            <a:srgbClr val="FFF3E8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E67E22"/>
                </a:solidFill>
                <a:latin typeface="メイリオ"/>
                <a:ea typeface="メイリオ"/>
              </a:rPr>
              <a:t>【Input】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・商品CSVフォーマット・項目定義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・在庫CSVフォーマット・項目定義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・基幹運用は変えない前提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70000" y="3370000"/>
            <a:ext cx="160000" cy="16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50000" y="2650000"/>
            <a:ext cx="3000000" cy="16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07A6E"/>
                </a:solidFill>
                <a:latin typeface="メイリオ"/>
                <a:ea typeface="メイリオ"/>
              </a:rPr>
              <a:t>2. 基幹システムの仕様の整理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170000" y="3370000"/>
            <a:ext cx="160000" cy="16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50000" y="2650000"/>
            <a:ext cx="2600000" cy="160000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E7D32"/>
                </a:solidFill>
                <a:latin typeface="メイリオ"/>
                <a:ea typeface="メイリオ"/>
              </a:rPr>
              <a:t>【Output】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・基幹とECの役割分担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・連携対象／非対象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・連携外部仕様（方式・タイミング・フォーマット）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000" y="4450000"/>
            <a:ext cx="2600000" cy="1600000"/>
          </a:xfrm>
          <a:prstGeom prst="roundRect">
            <a:avLst/>
          </a:prstGeom>
          <a:solidFill>
            <a:srgbClr val="FFF3E8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E67E22"/>
                </a:solidFill>
                <a:latin typeface="メイリオ"/>
                <a:ea typeface="メイリオ"/>
              </a:rPr>
              <a:t>【Input】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・業務整理の成果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・基幹仕様整理の成果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・画面モック／画面機能設計書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970000" y="5170000"/>
            <a:ext cx="160000" cy="16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50000" y="4450000"/>
            <a:ext cx="3000000" cy="16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07A6E"/>
                </a:solidFill>
                <a:latin typeface="メイリオ"/>
                <a:ea typeface="メイリオ"/>
              </a:rPr>
              <a:t>3. UIの検討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70000" y="5170000"/>
            <a:ext cx="160000" cy="16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0000" y="4450000"/>
            <a:ext cx="2600000" cy="160000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E7D32"/>
                </a:solidFill>
                <a:latin typeface="メイリオ"/>
                <a:ea typeface="メイリオ"/>
              </a:rPr>
              <a:t>【Output】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・画面外部仕様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・（入出力・導線・表示項目）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80000" y="140000"/>
            <a:ext cx="70000" cy="34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0000" y="120000"/>
            <a:ext cx="9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F3F3F"/>
                </a:solidFill>
                <a:latin typeface="メイリオ"/>
                <a:ea typeface="メイリオ"/>
              </a:rPr>
              <a:t>要件定義の進め方（Input → Process → Output）（続き）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0000" y="700000"/>
            <a:ext cx="2600000" cy="1700000"/>
          </a:xfrm>
          <a:prstGeom prst="roundRect">
            <a:avLst/>
          </a:prstGeom>
          <a:solidFill>
            <a:srgbClr val="FFF3E8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E67E22"/>
                </a:solidFill>
                <a:latin typeface="メイリオ"/>
                <a:ea typeface="メイリオ"/>
              </a:rPr>
              <a:t>【Input】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・年間注文数・ピーク時間帯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・取引先数・商品SKU数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・管理サイト利用者数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70000" y="1470000"/>
            <a:ext cx="160000" cy="16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50000" y="700000"/>
            <a:ext cx="3000000" cy="17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07A6E"/>
                </a:solidFill>
                <a:latin typeface="メイリオ"/>
                <a:ea typeface="メイリオ"/>
              </a:rPr>
              <a:t>4. 非機能要件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170000" y="1470000"/>
            <a:ext cx="160000" cy="16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0" y="700000"/>
            <a:ext cx="2600000" cy="170000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E7D32"/>
                </a:solidFill>
                <a:latin typeface="メイリオ"/>
                <a:ea typeface="メイリオ"/>
              </a:rPr>
              <a:t>【Output】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・非機能要件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・（性能・セキュリティ・運用・権限）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000" y="2700000"/>
            <a:ext cx="2600000" cy="1700000"/>
          </a:xfrm>
          <a:prstGeom prst="roundRect">
            <a:avLst/>
          </a:prstGeom>
          <a:solidFill>
            <a:srgbClr val="FFF3E8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E67E22"/>
                </a:solidFill>
                <a:latin typeface="メイリオ"/>
                <a:ea typeface="メイリオ"/>
              </a:rPr>
              <a:t>【Input】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・システム化の範囲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・業務上のルール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・外部仕様・非機能要件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70000" y="3470000"/>
            <a:ext cx="160000" cy="16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0000" y="2700000"/>
            <a:ext cx="3000000" cy="1700000"/>
          </a:xfrm>
          <a:prstGeom prst="roundRect">
            <a:avLst/>
          </a:prstGeom>
          <a:solidFill>
            <a:srgbClr val="DEF3F1"/>
          </a:solidFill>
          <a:ln w="19050">
            <a:solidFill>
              <a:srgbClr val="00A6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07A6E"/>
                </a:solidFill>
                <a:latin typeface="メイリオ"/>
                <a:ea typeface="メイリオ"/>
              </a:rPr>
              <a:t>5. 開発工程の提案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170000" y="3470000"/>
            <a:ext cx="160000" cy="160000"/>
          </a:xfrm>
          <a:prstGeom prst="rightArrow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0000" y="2700000"/>
            <a:ext cx="2600000" cy="170000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1">
                <a:solidFill>
                  <a:srgbClr val="2E7D32"/>
                </a:solidFill>
                <a:latin typeface="メイリオ"/>
                <a:ea typeface="メイリオ"/>
              </a:rPr>
              <a:t>【Output】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・カスタマイズ範囲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・開発工程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・正式見積り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00" y="5000000"/>
            <a:ext cx="92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最終成果物イメージ
・システム化の範囲　・業務上のルール　・外部仕様（画面／基幹I/F）　・非機能要件　・開発工程・正式見積り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80000" y="140000"/>
            <a:ext cx="70000" cy="34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0000" y="120000"/>
            <a:ext cx="9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F3F3F"/>
                </a:solidFill>
                <a:latin typeface="メイリオ"/>
                <a:ea typeface="メイリオ"/>
              </a:rPr>
              <a:t>要件定義・情報設計スケジュール（1/2）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00000"/>
            <a:ext cx="9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期間：2026/8/19〜9末　｜　各回 約2時間　｜　赤字＝貴社へのご提供／ご教示依頼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0000" y="850000"/>
          <a:ext cx="9400000" cy="5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00"/>
                <a:gridCol w="1000000"/>
                <a:gridCol w="2400000"/>
                <a:gridCol w="5450000"/>
              </a:tblGrid>
              <a:tr h="1040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No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開催時期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タスク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タスクの内容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104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8/19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キックオフ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要件定義のゴール（システム化の範囲／業務上のルール／外部仕様）と前提を合意します。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進め方・体制・スケジュールを確認します。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104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システム化する業務の整理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現行業務を整理し、登場人物・関連システムを明確にします。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正常系に加え例外系（欠品・与信NG・キャンセル・返品等）を洗い出し、システム化の範囲と業務上のルールを定義します。</a:t>
                      </a:r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  <a:r>
                        <a:rPr sz="900" b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※ご提供依頼：取引先マスタ・配送先マスタのサンプルデータ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※ご提供依頼：受注集計表（Excel）サンプル（取引先別確保在庫）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104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8/31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基幹システムの仕様の整理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基幹運用は変えない前提で、基幹とECの役割分担を整理します。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連携対象／非対象、連携方式・タイミング・フォーマットを外部仕様として定義します。</a:t>
                      </a:r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  <a:r>
                        <a:rPr sz="900" b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※ご提供依頼：商品情報CSVのフォーマット及び項目定義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※ご提供依頼：在庫情報CSVのフォーマット及び項目定義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104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UIの検討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業務整理・基幹仕様整理の成果をもとに、画面モック／画面機能設計書でUIを検討します。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画面の入出力・導線・表示項目を外部仕様として確定します。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50000" y="6350000"/>
            <a:ext cx="9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※開催日は仮置きです。貴社ご都合に合わせて調整いたします。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80000" y="140000"/>
            <a:ext cx="70000" cy="34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0000" y="120000"/>
            <a:ext cx="9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F3F3F"/>
                </a:solidFill>
                <a:latin typeface="メイリオ"/>
                <a:ea typeface="メイリオ"/>
              </a:rPr>
              <a:t>要件定義・情報設計スケジュール（2/2）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00000"/>
            <a:ext cx="9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UI検討 → 非機能要件 → まとめ → 開発工程の提案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0000" y="850000"/>
          <a:ext cx="9400000" cy="5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00"/>
                <a:gridCol w="1000000"/>
                <a:gridCol w="2400000"/>
                <a:gridCol w="5450000"/>
              </a:tblGrid>
              <a:tr h="1300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No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開催時期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タスク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タスクの内容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1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5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9/16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非機能要件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性能・セキュリティ・運用・権限などの非機能要件を定義します。</a:t>
                      </a:r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/>
                      </a:r>
                      <a:r>
                        <a:rPr sz="900" b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※ご教示依頼：年間注文数、ピーク注文時間帯、取引先数、商品SKU数、管理サイト利用者数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1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要件定義まとめ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システム化の範囲／業務上のルール／外部仕様／非機能に抜け漏れがないことを確認します。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1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7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9/29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開発工程の提案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納品・正式見積り提示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確定要件に基づき、カスタマイズ範囲・開発工程・正式見積りを提示し、要件定義書を納品します。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（ご検収は10月末想定）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50000" y="6350000"/>
            <a:ext cx="9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メイリオ"/>
                <a:ea typeface="メイリオ"/>
              </a:rPr>
              <a:t>※開催日は仮置きです。ご検収は10月末を想定しています。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80000" y="140000"/>
            <a:ext cx="70000" cy="340000"/>
          </a:xfrm>
          <a:prstGeom prst="rect">
            <a:avLst/>
          </a:prstGeom>
          <a:solidFill>
            <a:srgbClr val="00A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0000" y="120000"/>
            <a:ext cx="9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F3F3F"/>
                </a:solidFill>
                <a:latin typeface="メイリオ"/>
                <a:ea typeface="メイリオ"/>
              </a:rPr>
              <a:t>貴社へのご提供・ご教示依頼一覧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00000"/>
            <a:ext cx="9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各工程のInputとして使用します。サンプル／マスキング可のものがあればご相談ください。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00000" y="900000"/>
          <a:ext cx="930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"/>
                <a:gridCol w="1300000"/>
                <a:gridCol w="4300000"/>
                <a:gridCol w="3100000"/>
              </a:tblGrid>
              <a:tr h="600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No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必要時期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ご依頼内容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対応工程</a:t>
                      </a:r>
                    </a:p>
                  </a:txBody>
                  <a:tcPr anchor="ctr">
                    <a:solidFill>
                      <a:srgbClr val="00A693"/>
                    </a:solidFill>
                    <a:lnL w="9525" cap="flat" cmpd="sng" algn="ctr">
                      <a:solidFill>
                        <a:srgbClr val="007A6E"/>
                      </a:solidFill>
                      <a:prstDash val="solid"/>
                    </a:lnL>
                    <a:lnR w="9525" cap="flat" cmpd="sng" algn="ctr">
                      <a:solidFill>
                        <a:srgbClr val="007A6E"/>
                      </a:solidFill>
                      <a:prstDash val="solid"/>
                    </a:lnR>
                    <a:lnT w="9525" cap="flat" cmpd="sng" algn="ctr">
                      <a:solidFill>
                        <a:srgbClr val="007A6E"/>
                      </a:solidFill>
                      <a:prstDash val="solid"/>
                    </a:lnT>
                    <a:lnB w="9525" cap="flat" cmpd="sng" algn="ctr">
                      <a:solidFill>
                        <a:srgbClr val="007A6E"/>
                      </a:solidFill>
                      <a:prstDash val="solid"/>
                    </a:lnB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1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8/26まで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取引先マスタ・配送先マスタのサンプルデータ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システム化する業務の整理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8/26まで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受注集計表（Excel）サンプル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（取引先別確保在庫）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システム化する業務の整理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3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8/31まで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商品情報CSVのフォーマット及び項目定義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基幹システムの仕様の整理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8/31まで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在庫情報CSVのフォーマット及び項目定義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基幹システムの仕様の整理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6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5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9/16まで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年間注文数、ピーク注文時間帯、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</a:rPr>
                        <a:t>取引先数、商品SKU数、管理サイト利用者数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</a:rPr>
                        <a:t>非機能要件</a:t>
                      </a:r>
                    </a:p>
                  </a:txBody>
                  <a:tcPr anchor="ctr">
                    <a:solidFill>
                      <a:srgbClr val="F0FAF8"/>
                    </a:solidFill>
                    <a:lnL w="6350" cap="flat" cmpd="sng" algn="ctr">
                      <a:solidFill>
                        <a:srgbClr val="CCCCCC"/>
                      </a:solidFill>
                      <a:prstDash val="soli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00000" y="4800000"/>
            <a:ext cx="9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・基幹ベンダー様との打合せは、基幹仕様整理・連携外部仕様の過程で別途実施します。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000" y="5250000"/>
            <a:ext cx="9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・販売組織階層は現状概念がない想定のため一覧依頼はせず、ECへの落とし込み案を弊社より提示します。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000" y="5700000"/>
            <a:ext cx="93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メイリオ"/>
                <a:ea typeface="メイリオ"/>
              </a:rPr>
              <a:t>・入荷予定はECへのCSV取込前提とし、現行入荷予定データのご提供は不要です。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