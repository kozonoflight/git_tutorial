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1634" r:id="rId3"/>
    <p:sldId id="1636" r:id="rId16"/>
    <p:sldId id="1635" r:id="rId4"/>
    <p:sldId id="325" r:id="rId5"/>
  </p:sldIdLst>
  <p:sldSz cx="9906000" cy="6858000" type="A4"/>
  <p:notesSz cx="7104063" cy="10234613"/>
  <p:embeddedFontLst>
    <p:embeddedFont>
      <p:font typeface="メイリオ" panose="020B0604030504040204" pitchFamily="50" charset="-128"/>
      <p:regular r:id="rId7"/>
      <p:bold r:id="rId8"/>
      <p:italic r:id="rId9"/>
      <p:boldItalic r:id="rId10"/>
    </p:embeddedFont>
    <p:embeddedFont>
      <p:font typeface="メイリオ" panose="020B0604030504040204" pitchFamily="50" charset="-128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5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3" roundtripDataSignature="AMtx7mhTfcJT5x2FzDPF8Pvd2bGSC6Eb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462715-E267-49E1-98CE-94EDA2CF2902}">
  <a:tblStyle styleId="{C8462715-E267-49E1-98CE-94EDA2CF290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6CAC2A2-A4D3-43FB-A9F2-1DA961295047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3E9"/>
          </a:solidFill>
        </a:fill>
      </a:tcStyle>
    </a:wholeTbl>
    <a:band1H>
      <a:tcTxStyle/>
      <a:tcStyle>
        <a:tcBdr/>
        <a:fill>
          <a:solidFill>
            <a:srgbClr val="DEE7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E7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DC6BC6D-4E97-438C-A45F-CD926BD278A1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FEB6039-7665-41BC-B559-DA601AB91B31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96643BE-60C3-4EA6-B02F-CD57C2EE579C}" styleName="Table_4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2" autoAdjust="0"/>
  </p:normalViewPr>
  <p:slideViewPr>
    <p:cSldViewPr snapToGrid="0">
      <p:cViewPr>
        <p:scale>
          <a:sx n="125" d="100"/>
          <a:sy n="125" d="100"/>
        </p:scale>
        <p:origin x="894" y="78"/>
      </p:cViewPr>
      <p:guideLst>
        <p:guide orient="horz" pos="2165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6" Type="http://schemas.openxmlformats.org/officeDocument/2006/relationships/slide" Target="slides/slide5.xml"/><Relationship Id="rId83" Type="http://customschemas.google.com/relationships/presentationmetadata" Target="metadata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1" y="0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6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1" y="9721106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70:notes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表紙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2" descr="flinalB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5161"/>
            <a:ext cx="990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72"/>
          <p:cNvSpPr/>
          <p:nvPr/>
        </p:nvSpPr>
        <p:spPr>
          <a:xfrm>
            <a:off x="2710392" y="6438900"/>
            <a:ext cx="431688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Copyright ©  2013 FLIGHT SYSTEM CONSULTING Inc. All rights reserved</a:t>
            </a:r>
            <a:endParaRPr/>
          </a:p>
        </p:txBody>
      </p:sp>
      <p:sp>
        <p:nvSpPr>
          <p:cNvPr id="21" name="Google Shape;21;p72"/>
          <p:cNvSpPr/>
          <p:nvPr/>
        </p:nvSpPr>
        <p:spPr>
          <a:xfrm>
            <a:off x="2886568" y="6470257"/>
            <a:ext cx="413286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Copyright ©  202</a:t>
            </a:r>
            <a:r>
              <a:rPr lang="en-US" alt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6</a:t>
            </a:r>
            <a:r>
              <a:rPr 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 FLIGHT SOLUTIONS Inc. All rights reserved</a:t>
            </a:r>
            <a:endParaRPr dirty="0"/>
          </a:p>
        </p:txBody>
      </p:sp>
      <p:cxnSp>
        <p:nvCxnSpPr>
          <p:cNvPr id="22" name="Google Shape;22;p72"/>
          <p:cNvCxnSpPr/>
          <p:nvPr/>
        </p:nvCxnSpPr>
        <p:spPr>
          <a:xfrm>
            <a:off x="344488" y="6354763"/>
            <a:ext cx="9144000" cy="0"/>
          </a:xfrm>
          <a:prstGeom prst="straightConnector1">
            <a:avLst/>
          </a:prstGeom>
          <a:noFill/>
          <a:ln w="15875" cap="flat" cmpd="sng">
            <a:solidFill>
              <a:srgbClr val="1A957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Google Shape;23;p72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651" y="6407152"/>
            <a:ext cx="494607" cy="39485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72"/>
          <p:cNvSpPr txBox="1">
            <a:spLocks noGrp="1"/>
          </p:cNvSpPr>
          <p:nvPr>
            <p:ph type="ctrTitle"/>
          </p:nvPr>
        </p:nvSpPr>
        <p:spPr>
          <a:xfrm>
            <a:off x="418746" y="2659360"/>
            <a:ext cx="9068508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72"/>
          <p:cNvSpPr txBox="1">
            <a:spLocks noGrp="1"/>
          </p:cNvSpPr>
          <p:nvPr>
            <p:ph type="subTitle" idx="1"/>
          </p:nvPr>
        </p:nvSpPr>
        <p:spPr>
          <a:xfrm>
            <a:off x="1218909" y="3954760"/>
            <a:ext cx="826834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Meiryo"/>
              <a:buNone/>
              <a:defRPr sz="2400">
                <a:solidFill>
                  <a:srgbClr val="7F7F7F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" name="Google Shape;26;p72"/>
          <p:cNvSpPr txBox="1"/>
          <p:nvPr/>
        </p:nvSpPr>
        <p:spPr>
          <a:xfrm>
            <a:off x="4946121" y="5672138"/>
            <a:ext cx="4540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5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株式会社フライトソリューションズ</a:t>
            </a:r>
            <a:endParaRPr/>
          </a:p>
        </p:txBody>
      </p:sp>
      <p:sp>
        <p:nvSpPr>
          <p:cNvPr id="27" name="Google Shape;27;p72"/>
          <p:cNvSpPr txBox="1"/>
          <p:nvPr/>
        </p:nvSpPr>
        <p:spPr>
          <a:xfrm>
            <a:off x="4540250" y="59880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FLIGHT SOLUTIONS Inc.</a:t>
            </a:r>
            <a:endParaRPr sz="1400" b="0" i="0" u="none" strike="noStrike" cap="none">
              <a:solidFill>
                <a:srgbClr val="59595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サブタイトル">
  <p:cSld name="サブタイトル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4"/>
          <p:cNvSpPr/>
          <p:nvPr/>
        </p:nvSpPr>
        <p:spPr>
          <a:xfrm>
            <a:off x="223573" y="728663"/>
            <a:ext cx="9556883" cy="5857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2D2D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74"/>
          <p:cNvSpPr txBox="1">
            <a:spLocks noGrp="1"/>
          </p:cNvSpPr>
          <p:nvPr>
            <p:ph type="body" idx="1"/>
          </p:nvPr>
        </p:nvSpPr>
        <p:spPr>
          <a:xfrm>
            <a:off x="782506" y="2258871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800"/>
              </a:spcBef>
              <a:spcAft>
                <a:spcPts val="0"/>
              </a:spcAft>
              <a:buClr>
                <a:srgbClr val="595959"/>
              </a:buClr>
              <a:buSzPts val="4000"/>
              <a:buNone/>
              <a:defRPr sz="4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5" name="Google Shape;35;p74"/>
          <p:cNvSpPr txBox="1">
            <a:spLocks noGrp="1"/>
          </p:cNvSpPr>
          <p:nvPr>
            <p:ph type="body" idx="2"/>
          </p:nvPr>
        </p:nvSpPr>
        <p:spPr>
          <a:xfrm>
            <a:off x="782506" y="3789041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6" name="Google Shape;36;p74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ユーザー設定レイアウト">
  <p:cSld name="ユーザー設定レイアウト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5"/>
          <p:cNvSpPr txBox="1">
            <a:spLocks noGrp="1"/>
          </p:cNvSpPr>
          <p:nvPr>
            <p:ph type="title"/>
          </p:nvPr>
        </p:nvSpPr>
        <p:spPr>
          <a:xfrm>
            <a:off x="835852" y="142852"/>
            <a:ext cx="8915400" cy="582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5"/>
          <p:cNvSpPr txBox="1"/>
          <p:nvPr/>
        </p:nvSpPr>
        <p:spPr>
          <a:xfrm>
            <a:off x="7551606" y="6492876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800">
                <a:solidFill>
                  <a:schemeClr val="dk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pic>
        <p:nvPicPr>
          <p:cNvPr id="40" name="Google Shape;40;p75" descr="アイコン&#10;&#10;自動的に生成された説明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4748" y="142852"/>
            <a:ext cx="720000" cy="492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7"/>
          <p:cNvSpPr txBox="1">
            <a:spLocks noGrp="1"/>
          </p:cNvSpPr>
          <p:nvPr>
            <p:ph type="title"/>
          </p:nvPr>
        </p:nvSpPr>
        <p:spPr>
          <a:xfrm>
            <a:off x="345513" y="179510"/>
            <a:ext cx="92160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7"/>
          <p:cNvSpPr txBox="1">
            <a:spLocks noGrp="1"/>
          </p:cNvSpPr>
          <p:nvPr>
            <p:ph type="body" idx="1"/>
          </p:nvPr>
        </p:nvSpPr>
        <p:spPr>
          <a:xfrm>
            <a:off x="418746" y="1295400"/>
            <a:ext cx="4470622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7" name="Google Shape;47;p77"/>
          <p:cNvSpPr txBox="1">
            <a:spLocks noGrp="1"/>
          </p:cNvSpPr>
          <p:nvPr>
            <p:ph type="body" idx="2"/>
          </p:nvPr>
        </p:nvSpPr>
        <p:spPr>
          <a:xfrm>
            <a:off x="5054468" y="1295400"/>
            <a:ext cx="4579052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8" name="Google Shape;48;p77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Google Shape;50;p78"/>
          <p:cNvCxnSpPr/>
          <p:nvPr/>
        </p:nvCxnSpPr>
        <p:spPr>
          <a:xfrm>
            <a:off x="271727" y="1808163"/>
            <a:ext cx="4583245" cy="0"/>
          </a:xfrm>
          <a:prstGeom prst="straightConnector1">
            <a:avLst/>
          </a:prstGeom>
          <a:noFill/>
          <a:ln w="9525" cap="flat" cmpd="sng">
            <a:solidFill>
              <a:srgbClr val="1A987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51;p78"/>
          <p:cNvCxnSpPr/>
          <p:nvPr/>
        </p:nvCxnSpPr>
        <p:spPr>
          <a:xfrm>
            <a:off x="5051029" y="1808163"/>
            <a:ext cx="4583244" cy="0"/>
          </a:xfrm>
          <a:prstGeom prst="straightConnector1">
            <a:avLst/>
          </a:prstGeom>
          <a:noFill/>
          <a:ln w="9525" cap="flat" cmpd="sng">
            <a:solidFill>
              <a:srgbClr val="1A98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52;p78"/>
          <p:cNvSpPr txBox="1">
            <a:spLocks noGrp="1"/>
          </p:cNvSpPr>
          <p:nvPr>
            <p:ph type="title"/>
          </p:nvPr>
        </p:nvSpPr>
        <p:spPr>
          <a:xfrm>
            <a:off x="418745" y="233645"/>
            <a:ext cx="9214775" cy="6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8"/>
          <p:cNvSpPr txBox="1">
            <a:spLocks noGrp="1"/>
          </p:cNvSpPr>
          <p:nvPr>
            <p:ph type="body" idx="1"/>
          </p:nvPr>
        </p:nvSpPr>
        <p:spPr>
          <a:xfrm>
            <a:off x="272480" y="1124053"/>
            <a:ext cx="45996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78"/>
          <p:cNvSpPr txBox="1">
            <a:spLocks noGrp="1"/>
          </p:cNvSpPr>
          <p:nvPr>
            <p:ph type="body" idx="2"/>
          </p:nvPr>
        </p:nvSpPr>
        <p:spPr>
          <a:xfrm>
            <a:off x="321236" y="1872894"/>
            <a:ext cx="4550935" cy="4346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5" name="Google Shape;55;p78"/>
          <p:cNvSpPr txBox="1">
            <a:spLocks noGrp="1"/>
          </p:cNvSpPr>
          <p:nvPr>
            <p:ph type="body" idx="3"/>
          </p:nvPr>
        </p:nvSpPr>
        <p:spPr>
          <a:xfrm>
            <a:off x="5032111" y="1124053"/>
            <a:ext cx="460141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78"/>
          <p:cNvSpPr txBox="1">
            <a:spLocks noGrp="1"/>
          </p:cNvSpPr>
          <p:nvPr>
            <p:ph type="body" idx="4"/>
          </p:nvPr>
        </p:nvSpPr>
        <p:spPr>
          <a:xfrm>
            <a:off x="5032111" y="1872894"/>
            <a:ext cx="4601410" cy="4346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7" name="Google Shape;57;p78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9"/>
          <p:cNvSpPr txBox="1">
            <a:spLocks noGrp="1"/>
          </p:cNvSpPr>
          <p:nvPr>
            <p:ph type="title"/>
          </p:nvPr>
        </p:nvSpPr>
        <p:spPr>
          <a:xfrm>
            <a:off x="345513" y="179510"/>
            <a:ext cx="92160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9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1"/>
          <p:cNvSpPr/>
          <p:nvPr/>
        </p:nvSpPr>
        <p:spPr>
          <a:xfrm>
            <a:off x="0" y="819150"/>
            <a:ext cx="9906000" cy="4048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2D2D87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66" name="Google Shape;66;p81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1"/>
          <p:cNvSpPr txBox="1">
            <a:spLocks noGrp="1"/>
          </p:cNvSpPr>
          <p:nvPr>
            <p:ph type="body"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595959"/>
              </a:buClr>
              <a:buSzPts val="3200"/>
              <a:buChar char="●"/>
              <a:defRPr sz="3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8" name="Google Shape;68;p81"/>
          <p:cNvSpPr txBox="1">
            <a:spLocks noGrp="1"/>
          </p:cNvSpPr>
          <p:nvPr>
            <p:ph type="body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595959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595959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81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2"/>
          <p:cNvSpPr/>
          <p:nvPr/>
        </p:nvSpPr>
        <p:spPr>
          <a:xfrm>
            <a:off x="223573" y="908050"/>
            <a:ext cx="9507008" cy="2714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2D2D87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2" name="Google Shape;72;p82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2"/>
          <p:cNvSpPr>
            <a:spLocks noGrp="1"/>
          </p:cNvSpPr>
          <p:nvPr>
            <p:ph type="pic" idx="2"/>
          </p:nvPr>
        </p:nvSpPr>
        <p:spPr>
          <a:xfrm>
            <a:off x="1941645" y="548681"/>
            <a:ext cx="5943600" cy="417889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Google Shape;74;p82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595959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595959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82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3"/>
          <p:cNvSpPr txBox="1">
            <a:spLocks noGrp="1"/>
          </p:cNvSpPr>
          <p:nvPr>
            <p:ph type="title"/>
          </p:nvPr>
        </p:nvSpPr>
        <p:spPr>
          <a:xfrm>
            <a:off x="345513" y="179510"/>
            <a:ext cx="92160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3"/>
          <p:cNvSpPr txBox="1">
            <a:spLocks noGrp="1"/>
          </p:cNvSpPr>
          <p:nvPr>
            <p:ph type="body" idx="1"/>
          </p:nvPr>
        </p:nvSpPr>
        <p:spPr>
          <a:xfrm rot="5400000">
            <a:off x="2290364" y="-917808"/>
            <a:ext cx="5292000" cy="9200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9" name="Google Shape;79;p83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縦書きテキスト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4"/>
          <p:cNvSpPr/>
          <p:nvPr/>
        </p:nvSpPr>
        <p:spPr>
          <a:xfrm>
            <a:off x="125546" y="863601"/>
            <a:ext cx="9556882" cy="269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2D2D87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2" name="Google Shape;82;p84"/>
          <p:cNvSpPr txBox="1">
            <a:spLocks noGrp="1"/>
          </p:cNvSpPr>
          <p:nvPr>
            <p:ph type="title"/>
          </p:nvPr>
        </p:nvSpPr>
        <p:spPr>
          <a:xfrm rot="5400000">
            <a:off x="5271955" y="2185988"/>
            <a:ext cx="5715000" cy="210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84"/>
          <p:cNvSpPr txBox="1">
            <a:spLocks noGrp="1"/>
          </p:cNvSpPr>
          <p:nvPr>
            <p:ph type="body" idx="1"/>
          </p:nvPr>
        </p:nvSpPr>
        <p:spPr>
          <a:xfrm rot="5400000">
            <a:off x="979355" y="163513"/>
            <a:ext cx="5715000" cy="614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84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コンテンツ（タイトルなし）" type="objOnly">
  <p:cSld name="OBJECT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5"/>
          <p:cNvSpPr/>
          <p:nvPr/>
        </p:nvSpPr>
        <p:spPr>
          <a:xfrm>
            <a:off x="125546" y="863600"/>
            <a:ext cx="9654910" cy="3159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80">
              <a:solidFill>
                <a:srgbClr val="2D2D87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7" name="Google Shape;87;p85"/>
          <p:cNvSpPr txBox="1">
            <a:spLocks noGrp="1"/>
          </p:cNvSpPr>
          <p:nvPr>
            <p:ph type="body" idx="1"/>
          </p:nvPr>
        </p:nvSpPr>
        <p:spPr>
          <a:xfrm>
            <a:off x="761868" y="381000"/>
            <a:ext cx="84201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8" name="Google Shape;88;p85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title"/>
          </p:nvPr>
        </p:nvSpPr>
        <p:spPr>
          <a:xfrm>
            <a:off x="851268" y="142852"/>
            <a:ext cx="8559432" cy="582594"/>
          </a:xfrm>
        </p:spPr>
        <p:txBody>
          <a:bodyPr/>
          <a:lstStyle>
            <a:lvl1pPr algn="l">
              <a:defRPr b="1"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47" y="225380"/>
            <a:ext cx="627725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直線コネクタ 13"/>
          <p:cNvSpPr>
            <a:spLocks noChangeShapeType="1"/>
          </p:cNvSpPr>
          <p:nvPr userDrawn="1"/>
        </p:nvSpPr>
        <p:spPr bwMode="auto">
          <a:xfrm>
            <a:off x="153029" y="674642"/>
            <a:ext cx="9517327" cy="0"/>
          </a:xfrm>
          <a:prstGeom prst="line">
            <a:avLst/>
          </a:prstGeom>
          <a:noFill/>
          <a:ln w="12700" cap="sq">
            <a:solidFill>
              <a:schemeClr val="tx1"/>
            </a:solidFill>
            <a:bevel/>
            <a:headEnd/>
            <a:tailEnd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2" name="スライド番号プレースホルダ 21"/>
          <p:cNvSpPr txBox="1">
            <a:spLocks/>
          </p:cNvSpPr>
          <p:nvPr userDrawn="1"/>
        </p:nvSpPr>
        <p:spPr bwMode="auto">
          <a:xfrm>
            <a:off x="7556146" y="6544790"/>
            <a:ext cx="2311400" cy="268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55E32BF-995D-4ADA-9078-7B63E7B185BE}" type="slidenum">
              <a:rPr lang="ja-JP" altLang="en-US" sz="140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pPr algn="r"/>
              <a:t>‹#›</a:t>
            </a:fld>
            <a:endParaRPr lang="ja-JP" altLang="en-US" sz="140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5" name="Picture 71" descr="\\172.30.97.141\d$\ProjectData\80_個人WORK\shingo.ichikawa\FLIGHT-Logo.gif">
            <a:extLst>
              <a:ext uri="{FF2B5EF4-FFF2-40B4-BE49-F238E27FC236}">
                <a16:creationId xmlns:a16="http://schemas.microsoft.com/office/drawing/2014/main" id="{67B4D42E-7590-408C-BE60-EADCAFBD6B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50673" y="97747"/>
            <a:ext cx="657646" cy="488374"/>
          </a:xfrm>
          <a:prstGeom prst="rect">
            <a:avLst/>
          </a:prstGeom>
          <a:noFill/>
          <a:ln w="9525">
            <a:noFill/>
            <a:beve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876876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1" descr="Logo.jp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47651" y="6407152"/>
            <a:ext cx="494607" cy="39485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1"/>
          <p:cNvSpPr txBox="1">
            <a:spLocks noGrp="1"/>
          </p:cNvSpPr>
          <p:nvPr>
            <p:ph type="title"/>
          </p:nvPr>
        </p:nvSpPr>
        <p:spPr>
          <a:xfrm>
            <a:off x="345513" y="179510"/>
            <a:ext cx="92160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 dirty="0"/>
          </a:p>
        </p:txBody>
      </p:sp>
      <p:sp>
        <p:nvSpPr>
          <p:cNvPr id="12" name="Google Shape;12;p71"/>
          <p:cNvSpPr txBox="1">
            <a:spLocks noGrp="1"/>
          </p:cNvSpPr>
          <p:nvPr>
            <p:ph type="body" idx="1"/>
          </p:nvPr>
        </p:nvSpPr>
        <p:spPr>
          <a:xfrm>
            <a:off x="335987" y="1036569"/>
            <a:ext cx="9200754" cy="5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 Symbols"/>
              <a:buChar char="●"/>
              <a:defRPr sz="28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Google Shape;13;p71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14" name="Google Shape;14;p71"/>
          <p:cNvCxnSpPr/>
          <p:nvPr/>
        </p:nvCxnSpPr>
        <p:spPr>
          <a:xfrm>
            <a:off x="345513" y="764704"/>
            <a:ext cx="9216000" cy="0"/>
          </a:xfrm>
          <a:prstGeom prst="straightConnector1">
            <a:avLst/>
          </a:prstGeom>
          <a:noFill/>
          <a:ln w="15875" cap="flat" cmpd="sng">
            <a:solidFill>
              <a:srgbClr val="1A95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15;p71"/>
          <p:cNvSpPr/>
          <p:nvPr/>
        </p:nvSpPr>
        <p:spPr>
          <a:xfrm>
            <a:off x="2710392" y="6438900"/>
            <a:ext cx="421172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Copyright ©  2015LIGHT SYSTEM CONSULTING Inc. All rights reserved</a:t>
            </a:r>
            <a:endParaRPr/>
          </a:p>
        </p:txBody>
      </p:sp>
      <p:cxnSp>
        <p:nvCxnSpPr>
          <p:cNvPr id="16" name="Google Shape;16;p71"/>
          <p:cNvCxnSpPr/>
          <p:nvPr/>
        </p:nvCxnSpPr>
        <p:spPr>
          <a:xfrm>
            <a:off x="345512" y="6354763"/>
            <a:ext cx="9216000" cy="0"/>
          </a:xfrm>
          <a:prstGeom prst="straightConnector1">
            <a:avLst/>
          </a:prstGeom>
          <a:noFill/>
          <a:ln w="15875" cap="flat" cmpd="sng">
            <a:solidFill>
              <a:srgbClr val="1A95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7;p71"/>
          <p:cNvSpPr/>
          <p:nvPr/>
        </p:nvSpPr>
        <p:spPr>
          <a:xfrm>
            <a:off x="2886568" y="6470257"/>
            <a:ext cx="418095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Copyright ©  202</a:t>
            </a:r>
            <a:r>
              <a:rPr lang="en-US" alt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6</a:t>
            </a:r>
            <a:r>
              <a:rPr 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 FLIGHT SOLUTIONS Inc. All rights reserved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17">
          <p15:clr>
            <a:srgbClr val="F26B43"/>
          </p15:clr>
        </p15:guide>
        <p15:guide id="3" pos="6023">
          <p15:clr>
            <a:srgbClr val="F26B43"/>
          </p15:clr>
        </p15:guide>
        <p15:guide id="4" pos="312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3434762" y="2989088"/>
            <a:ext cx="6052491" cy="188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25475" lvl="0" indent="-625475" algn="l">
              <a:lnSpc>
                <a:spcPct val="130000"/>
              </a:lnSpc>
            </a:pPr>
            <a:r>
              <a:rPr kumimoji="1" lang="ja-JP" altLang="en-US" sz="24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要件定義</a:t>
            </a:r>
            <a:r>
              <a:rPr kumimoji="1" lang="en-US" altLang="ja-JP" sz="24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WBS</a:t>
            </a:r>
            <a:r>
              <a:rPr kumimoji="1" lang="ja-JP" altLang="en-US" sz="24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案</a:t>
            </a:r>
            <a:endParaRPr sz="3200" b="1" dirty="0">
              <a:solidFill>
                <a:srgbClr val="7F7F7F"/>
              </a:solidFill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subTitle" idx="1"/>
          </p:nvPr>
        </p:nvSpPr>
        <p:spPr>
          <a:xfrm>
            <a:off x="1218909" y="4221088"/>
            <a:ext cx="826834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endParaRPr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r" rtl="0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Meiryo"/>
              <a:buNone/>
            </a:pPr>
            <a:endParaRPr strike="sngStrike"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r" rtl="0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Meiryo"/>
              <a:buNone/>
            </a:pPr>
            <a:r>
              <a:rPr lang="ja-JP" dirty="0">
                <a:latin typeface="Meiryo"/>
                <a:ea typeface="Meiryo"/>
                <a:cs typeface="Meiryo"/>
                <a:sym typeface="Meiryo"/>
              </a:rPr>
              <a:t>202</a:t>
            </a:r>
            <a:r>
              <a:rPr lang="en-US" altLang="ja-JP" dirty="0">
                <a:latin typeface="Meiryo"/>
                <a:ea typeface="Meiryo"/>
                <a:cs typeface="Meiryo"/>
                <a:sym typeface="Meiryo"/>
              </a:rPr>
              <a:t>6</a:t>
            </a:r>
            <a:r>
              <a:rPr lang="ja-JP" dirty="0">
                <a:latin typeface="Meiryo"/>
                <a:ea typeface="Meiryo"/>
                <a:cs typeface="Meiryo"/>
                <a:sym typeface="Meiryo"/>
              </a:rPr>
              <a:t>年</a:t>
            </a:r>
            <a:r>
              <a:rPr lang="en-US" altLang="ja-JP" dirty="0">
                <a:latin typeface="Meiryo"/>
                <a:ea typeface="Meiryo"/>
                <a:cs typeface="Meiryo"/>
                <a:sym typeface="Meiryo"/>
              </a:rPr>
              <a:t>8</a:t>
            </a:r>
            <a:r>
              <a:rPr lang="ja-JP" dirty="0">
                <a:latin typeface="Meiryo"/>
                <a:ea typeface="Meiryo"/>
                <a:cs typeface="Meiryo"/>
                <a:sym typeface="Meiryo"/>
              </a:rPr>
              <a:t>月</a:t>
            </a:r>
            <a:r>
              <a:rPr lang="en-US" altLang="ja-JP" dirty="0">
                <a:latin typeface="Meiryo"/>
                <a:ea typeface="Meiryo"/>
                <a:cs typeface="Meiryo"/>
                <a:sym typeface="Meiryo"/>
              </a:rPr>
              <a:t>5</a:t>
            </a:r>
            <a:r>
              <a:rPr lang="ja-JP" dirty="0">
                <a:latin typeface="Meiryo"/>
                <a:ea typeface="Meiryo"/>
                <a:cs typeface="Meiryo"/>
                <a:sym typeface="Meiryo"/>
              </a:rPr>
              <a:t>日</a:t>
            </a:r>
            <a:endParaRPr dirty="0"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A7638-415A-D347-08C5-0FDAAB736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8;p6">
            <a:extLst>
              <a:ext uri="{FF2B5EF4-FFF2-40B4-BE49-F238E27FC236}">
                <a16:creationId xmlns:a16="http://schemas.microsoft.com/office/drawing/2014/main" id="{EAF55F8E-4635-AEC3-7E72-6C82813D31A3}"/>
              </a:ext>
            </a:extLst>
          </p:cNvPr>
          <p:cNvSpPr txBox="1"/>
          <p:nvPr/>
        </p:nvSpPr>
        <p:spPr>
          <a:xfrm>
            <a:off x="868222" y="79506"/>
            <a:ext cx="7482147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ja-JP" altLang="en-US" sz="2400" dirty="0">
                <a:latin typeface="メイリオ" pitchFamily="50" charset="-128"/>
                <a:ea typeface="メイリオ" pitchFamily="50" charset="-128"/>
                <a:cs typeface="メイリオ" pitchFamily="50" charset="-128"/>
                <a:sym typeface="メイリオ" pitchFamily="50" charset="-128"/>
              </a:rPr>
              <a:t>要件定義・情報設計スケジュール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675D1F9-0B24-88EF-D761-CCAC45792E1B}"/>
              </a:ext>
            </a:extLst>
          </p:cNvPr>
          <p:cNvSpPr txBox="1"/>
          <p:nvPr/>
        </p:nvSpPr>
        <p:spPr>
          <a:xfrm>
            <a:off x="420000" y="856624"/>
            <a:ext cx="92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666666"/>
                </a:solidFill>
                <a:latin typeface="メイリオ"/>
                <a:ea typeface="メイリオ"/>
              </a:rPr>
              <a:t>期間：2026/8/19（キックオフ）〜 2026/9末　｜　</a:t>
            </a:r>
            <a:r>
              <a:rPr lang="ja-JP" altLang="en-US" sz="1100" b="0" dirty="0">
                <a:solidFill>
                  <a:srgbClr val="666666"/>
                </a:solidFill>
                <a:latin typeface="メイリオ"/>
                <a:ea typeface="メイリオ"/>
              </a:rPr>
              <a:t>各回</a:t>
            </a:r>
            <a:r>
              <a:rPr sz="1100" b="0" dirty="0">
                <a:solidFill>
                  <a:srgbClr val="666666"/>
                </a:solidFill>
                <a:latin typeface="メイリオ"/>
                <a:ea typeface="メイリオ"/>
              </a:rPr>
              <a:t> 約2時間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3DA4C7EF-6B25-444F-194F-E3CC3428D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381878"/>
              </p:ext>
            </p:extLst>
          </p:nvPr>
        </p:nvGraphicFramePr>
        <p:xfrm>
          <a:off x="280000" y="1176624"/>
          <a:ext cx="9350000" cy="40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No</a:t>
                      </a:r>
                    </a:p>
                  </a:txBody>
                  <a:tcPr anchor="ctr">
                    <a:solidFill>
                      <a:srgbClr val="00A6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開催時期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00A6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工程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00A6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内容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00A6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1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8/19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キックオフ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プロジェクトの進め方（プロジェクト要件）の確認、要件定義工程の内容確認を行います。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8/2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6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システム化する業務の整理①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現行業務を整理し、登場人物・関連システムを明確にします。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弊社作成の概略業務フローを基に、注文、与信確認、納期回答、出荷、キャンセル、返品の流れを整理し、システム化の範囲と業務上のルールを定義します。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31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システム化する業務の整理②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同上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/</a:t>
                      </a:r>
                      <a:r>
                        <a:rPr lang="en-US" altLang="ja-JP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EC-Rider</a:t>
                      </a: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画面</a:t>
                      </a:r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UI</a:t>
                      </a: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の検討①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業務整理・基幹仕様整理の成果をもとに、画面モック・画面機能設計書を用いて</a:t>
                      </a:r>
                      <a:r>
                        <a:rPr lang="en-US" altLang="ja-JP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EC-Rider</a:t>
                      </a: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フロントサイトおよび管理サイトの画面</a:t>
                      </a:r>
                      <a:r>
                        <a:rPr lang="en-US" altLang="ja-JP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UI</a:t>
                      </a: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を検討します。画面の入出力・導線・表示項目を外部仕様として確定します。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45528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5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/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EC-Rider</a:t>
                      </a: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画面</a:t>
                      </a:r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UI</a:t>
                      </a: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の検討②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同上</a:t>
                      </a: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6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9/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16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非機能要件の検討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性能、セキュリティ、運用の非機能要件を定義します。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14234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7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9/24</a:t>
                      </a: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要件定義まとめ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要件定義の内容を</a:t>
                      </a: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振り返り、要件漏れがないことを確認します。</a:t>
                      </a:r>
                      <a:endParaRPr sz="9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56454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9/29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納品・正式見積り提示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要件定義書を納品し、開発工程の正式見積りを提示</a:t>
                      </a: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いたします</a:t>
                      </a:r>
                      <a:r>
                        <a:rPr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。</a:t>
                      </a:r>
                      <a:endParaRPr lang="en-US" sz="9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  <a:p>
                      <a:pPr algn="l"/>
                      <a:r>
                        <a:rPr lang="en-US" altLang="ja-JP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※</a:t>
                      </a: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ご検収は</a:t>
                      </a:r>
                      <a:r>
                        <a:rPr lang="en-US" altLang="ja-JP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10</a:t>
                      </a: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月末となります。</a:t>
                      </a:r>
                      <a:endParaRPr sz="9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11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328E-6B01-8C08-21EC-26827B0C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8;p6">
            <a:extLst>
              <a:ext uri="{FF2B5EF4-FFF2-40B4-BE49-F238E27FC236}">
                <a16:creationId xmlns:a16="http://schemas.microsoft.com/office/drawing/2014/main" id="{4417B0F0-B0DB-639D-E979-5EB99CCA62CB}"/>
              </a:ext>
            </a:extLst>
          </p:cNvPr>
          <p:cNvSpPr txBox="1"/>
          <p:nvPr/>
        </p:nvSpPr>
        <p:spPr>
          <a:xfrm>
            <a:off x="868222" y="79506"/>
            <a:ext cx="7482147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ja-JP" altLang="en-US" sz="2400" dirty="0">
                <a:latin typeface="メイリオ" pitchFamily="50" charset="-128"/>
                <a:ea typeface="メイリオ" pitchFamily="50" charset="-128"/>
                <a:cs typeface="メイリオ" pitchFamily="50" charset="-128"/>
                <a:sym typeface="メイリオ" pitchFamily="50" charset="-128"/>
              </a:rPr>
              <a:t>貴社へのご提供・ご教示依頼一覧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D71FBA50-9EAA-ED6F-CDC7-15329139D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915372"/>
              </p:ext>
            </p:extLst>
          </p:nvPr>
        </p:nvGraphicFramePr>
        <p:xfrm>
          <a:off x="280000" y="955644"/>
          <a:ext cx="9350000" cy="227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No</a:t>
                      </a:r>
                    </a:p>
                  </a:txBody>
                  <a:tcPr anchor="ctr">
                    <a:solidFill>
                      <a:srgbClr val="00A6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提供時期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00A6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提供依頼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00A6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工程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00A6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1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8/2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1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まで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基幹システムインターフェイス一覧と詳細（各項目の補足説明付き）</a:t>
                      </a:r>
                      <a:endParaRPr lang="en-US" altLang="ja-JP" sz="100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</a:endParaRPr>
                    </a:p>
                    <a:p>
                      <a:pPr algn="l"/>
                      <a:r>
                        <a:rPr lang="ja-JP" altLang="en-US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例）商品マスタ、在庫マスタ、注文情報（新規注文、与信回答、納期回答、出荷実績、キャンセル、返品など）</a:t>
                      </a:r>
                      <a:endParaRPr lang="en-US" altLang="ja-JP" sz="100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基幹システムの仕様の整理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2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21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まで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ja-JP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EDI</a:t>
                      </a:r>
                      <a:r>
                        <a:rPr lang="ja-JP" altLang="en-US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インターフェイス一覧と詳細（各項目の補足説明付き）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システム化する業務の整理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21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まで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Excel</a:t>
                      </a:r>
                      <a:r>
                        <a:rPr lang="ja-JP" altLang="en-US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などシステム外で管理にしているデータ及び帳票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システム化する業務の整理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/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31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まで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年間注文数、ピーク注文時間帯、</a:t>
                      </a:r>
                    </a:p>
                    <a:p>
                      <a:pPr algn="l"/>
                      <a:r>
                        <a:rPr lang="ja-JP" altLang="en-US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取引先数、商品</a:t>
                      </a:r>
                      <a:r>
                        <a:rPr lang="en-US" altLang="ja-JP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SKU</a:t>
                      </a:r>
                      <a:r>
                        <a:rPr lang="ja-JP" altLang="en-US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数、</a:t>
                      </a:r>
                      <a:r>
                        <a:rPr lang="en-US" altLang="ja-JP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EC-Rider</a:t>
                      </a:r>
                      <a:r>
                        <a:rPr lang="ja-JP" altLang="en-US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</a:rPr>
                        <a:t>管理サイト利用想定者数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非機能要件の検討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967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21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Google Shape;1526;p70" descr="マーク60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398" y="1124744"/>
            <a:ext cx="3657600" cy="289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7" name="Google Shape;1527;p70"/>
          <p:cNvGrpSpPr/>
          <p:nvPr/>
        </p:nvGrpSpPr>
        <p:grpSpPr>
          <a:xfrm>
            <a:off x="1052567" y="5888286"/>
            <a:ext cx="3653745" cy="349026"/>
            <a:chOff x="1539968" y="5509105"/>
            <a:chExt cx="3372688" cy="349026"/>
          </a:xfrm>
        </p:grpSpPr>
        <p:sp>
          <p:nvSpPr>
            <p:cNvPr id="1528" name="Google Shape;1528;p70"/>
            <p:cNvSpPr txBox="1"/>
            <p:nvPr/>
          </p:nvSpPr>
          <p:spPr>
            <a:xfrm>
              <a:off x="1853391" y="5581132"/>
              <a:ext cx="30592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200">
                  <a:solidFill>
                    <a:srgbClr val="00A592"/>
                  </a:solidFill>
                  <a:latin typeface="Meiryo"/>
                  <a:ea typeface="Meiryo"/>
                  <a:cs typeface="Meiryo"/>
                  <a:sym typeface="Meiryo"/>
                </a:rPr>
                <a:t>東京都渋谷区恵比寿4-6-1　恵比寿MFビル3F</a:t>
              </a:r>
              <a:endParaRPr/>
            </a:p>
          </p:txBody>
        </p:sp>
        <p:pic>
          <p:nvPicPr>
            <p:cNvPr id="1529" name="Google Shape;1529;p70" descr="目的地アイコン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39968" y="5509105"/>
              <a:ext cx="325120" cy="325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0" name="Google Shape;1530;p70"/>
          <p:cNvGrpSpPr/>
          <p:nvPr/>
        </p:nvGrpSpPr>
        <p:grpSpPr>
          <a:xfrm>
            <a:off x="5064141" y="5896414"/>
            <a:ext cx="3759355" cy="340899"/>
            <a:chOff x="1446613" y="5805264"/>
            <a:chExt cx="3470174" cy="340899"/>
          </a:xfrm>
        </p:grpSpPr>
        <p:pic>
          <p:nvPicPr>
            <p:cNvPr id="1531" name="Google Shape;1531;p70" descr="受話器の線画アイコン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446613" y="5816707"/>
              <a:ext cx="329456" cy="3294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2" name="Google Shape;1532;p70" descr="FAXのアイコン3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382784" y="5805264"/>
              <a:ext cx="325120" cy="325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3" name="Google Shape;1533;p70"/>
            <p:cNvSpPr txBox="1"/>
            <p:nvPr/>
          </p:nvSpPr>
          <p:spPr>
            <a:xfrm>
              <a:off x="1907704" y="5837906"/>
              <a:ext cx="117757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200">
                  <a:solidFill>
                    <a:srgbClr val="00A592"/>
                  </a:solidFill>
                  <a:latin typeface="Meiryo"/>
                  <a:ea typeface="Meiryo"/>
                  <a:cs typeface="Meiryo"/>
                  <a:sym typeface="Meiryo"/>
                </a:rPr>
                <a:t>03-3440-6100</a:t>
              </a:r>
              <a:endParaRPr/>
            </a:p>
          </p:txBody>
        </p:sp>
        <p:sp>
          <p:nvSpPr>
            <p:cNvPr id="1534" name="Google Shape;1534;p70"/>
            <p:cNvSpPr txBox="1"/>
            <p:nvPr/>
          </p:nvSpPr>
          <p:spPr>
            <a:xfrm>
              <a:off x="3739209" y="5858584"/>
              <a:ext cx="117757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200">
                  <a:solidFill>
                    <a:srgbClr val="00A592"/>
                  </a:solidFill>
                  <a:latin typeface="Meiryo"/>
                  <a:ea typeface="Meiryo"/>
                  <a:cs typeface="Meiryo"/>
                  <a:sym typeface="Meiryo"/>
                </a:rPr>
                <a:t>03-5791-2241</a:t>
              </a:r>
              <a:endParaRPr/>
            </a:p>
          </p:txBody>
        </p:sp>
      </p:grpSp>
      <p:sp>
        <p:nvSpPr>
          <p:cNvPr id="1535" name="Google Shape;1535;p70"/>
          <p:cNvSpPr txBox="1"/>
          <p:nvPr/>
        </p:nvSpPr>
        <p:spPr>
          <a:xfrm>
            <a:off x="2126370" y="3885436"/>
            <a:ext cx="5653262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rgbClr val="00A592"/>
                </a:solidFill>
                <a:latin typeface="Meiryo"/>
                <a:ea typeface="Meiryo"/>
                <a:cs typeface="Meiryo"/>
                <a:sym typeface="Meiryo"/>
              </a:rPr>
              <a:t>Technology changes the world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rgbClr val="00A592"/>
                </a:solidFill>
                <a:latin typeface="Meiryo"/>
                <a:ea typeface="Meiryo"/>
                <a:cs typeface="Meiryo"/>
                <a:sym typeface="Meiryo"/>
              </a:rPr>
              <a:t>技術が世界を変える</a:t>
            </a:r>
            <a:endParaRPr sz="1800">
              <a:solidFill>
                <a:srgbClr val="00A592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A592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rgbClr val="00A592"/>
                </a:solidFill>
                <a:latin typeface="Meiryo"/>
                <a:ea typeface="Meiryo"/>
                <a:cs typeface="Meiryo"/>
                <a:sym typeface="Meiryo"/>
              </a:rPr>
              <a:t>株式会社フライトソリューションズ</a:t>
            </a:r>
            <a:endParaRPr sz="1600">
              <a:solidFill>
                <a:srgbClr val="00A59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164592"/>
            <a:ext cx="82296" cy="45720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メイリオ"/>
                <a:ea typeface="メイリオ"/>
              </a:rPr>
              <a:t>要件定義の進め方（インプットとアウトプット）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66928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6666"/>
                </a:solidFill>
                <a:latin typeface="メイリオ"/>
                <a:ea typeface="メイリオ"/>
              </a:rPr>
              <a:t>各工程でできあがった資料が、そのまま次の工程の材料になり、順につながっていきます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024128"/>
            <a:ext cx="3246120" cy="749808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7A6E"/>
                </a:solidFill>
                <a:latin typeface="メイリオ"/>
                <a:ea typeface="メイリオ"/>
              </a:rPr>
              <a:t>1. 基幹システムの仕様の整理</a:t>
            </a:r>
          </a:p>
          <a:p>
            <a:pPr algn="ctr"/>
            <a:r>
              <a:rPr sz="800" b="1">
                <a:solidFill>
                  <a:srgbClr val="E67E22"/>
                </a:solidFill>
                <a:latin typeface="メイリオ"/>
                <a:ea typeface="メイリオ"/>
              </a:rPr>
              <a:t>【貴社よりご提供】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010412"/>
            <a:ext cx="2606040" cy="77724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54864"/>
          <a:lstStyle/>
          <a:p>
            <a:pPr algn="ctr"/>
            <a:r>
              <a:rPr sz="750" b="1">
                <a:solidFill>
                  <a:srgbClr val="E67E22"/>
                </a:solidFill>
                <a:latin typeface="メイリオ"/>
                <a:ea typeface="メイリオ"/>
              </a:rPr>
              <a:t>ご提供／ヒアリング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333333"/>
                </a:solidFill>
                <a:latin typeface="メイリオ"/>
                <a:ea typeface="メイリオ"/>
              </a:rPr>
              <a:t>・基幹インターフェイス一覧・詳細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333333"/>
                </a:solidFill>
                <a:latin typeface="メイリオ"/>
                <a:ea typeface="メイリオ"/>
              </a:rPr>
              <a:t>・EDIインターフェイス一覧・詳細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333333"/>
                </a:solidFill>
                <a:latin typeface="メイリオ"/>
                <a:ea typeface="メイリオ"/>
              </a:rPr>
              <a:t>・Excel等システム外の管理データ・帳票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52928" y="1330452"/>
            <a:ext cx="265176" cy="13716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20840" y="1243584"/>
            <a:ext cx="2971800" cy="512064"/>
          </a:xfrm>
          <a:prstGeom prst="roundRect">
            <a:avLst/>
          </a:prstGeom>
          <a:solidFill>
            <a:srgbClr val="E9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メイリオ"/>
                <a:ea typeface="メイリオ"/>
              </a:rPr>
              <a:t>▶ 基幹システム仕様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メイリオ"/>
                <a:ea typeface="メイリオ"/>
              </a:rPr>
              <a:t>（連携インターフェイス）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19088" y="1330452"/>
            <a:ext cx="265175" cy="13716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777740" y="1773936"/>
            <a:ext cx="0" cy="274320"/>
          </a:xfrm>
          <a:prstGeom prst="line">
            <a:avLst/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14316" y="1773936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 b="0">
                <a:solidFill>
                  <a:srgbClr val="2E7D32"/>
                </a:solidFill>
                <a:latin typeface="メイリオ"/>
                <a:ea typeface="メイリオ"/>
              </a:rPr>
              <a:t>できた資料を次の材料にする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2048256"/>
            <a:ext cx="3246120" cy="749808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7A6E"/>
                </a:solidFill>
                <a:latin typeface="メイリオ"/>
                <a:ea typeface="メイリオ"/>
              </a:rPr>
              <a:t>2. システム化する業務の整理 ①②</a:t>
            </a:r>
          </a:p>
          <a:p>
            <a:pPr algn="ctr"/>
            <a:r>
              <a:rPr sz="800" b="1">
                <a:solidFill>
                  <a:srgbClr val="007A6E"/>
                </a:solidFill>
                <a:latin typeface="メイリオ"/>
                <a:ea typeface="メイリオ"/>
              </a:rPr>
              <a:t>【弊社が案を作成→打合せで完成】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208276"/>
            <a:ext cx="2606040" cy="429768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54864"/>
          <a:lstStyle/>
          <a:p>
            <a:pPr algn="ctr"/>
            <a:r>
              <a:rPr sz="750" b="1">
                <a:solidFill>
                  <a:srgbClr val="E67E22"/>
                </a:solidFill>
                <a:latin typeface="メイリオ"/>
                <a:ea typeface="メイリオ"/>
              </a:rPr>
              <a:t>ご提供／ヒアリング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333333"/>
                </a:solidFill>
                <a:latin typeface="メイリオ"/>
                <a:ea typeface="メイリオ"/>
              </a:rPr>
              <a:t>・ヒアリング内容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52928" y="2354580"/>
            <a:ext cx="265176" cy="13716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20840" y="2267712"/>
            <a:ext cx="2971800" cy="310896"/>
          </a:xfrm>
          <a:prstGeom prst="roundRect">
            <a:avLst/>
          </a:prstGeom>
          <a:solidFill>
            <a:srgbClr val="E9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メイリオ"/>
                <a:ea typeface="メイリオ"/>
              </a:rPr>
              <a:t>▶ 要件定義書_概略業務フロー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419088" y="2354580"/>
            <a:ext cx="265175" cy="13716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777740" y="2798064"/>
            <a:ext cx="0" cy="274320"/>
          </a:xfrm>
          <a:prstGeom prst="line">
            <a:avLst/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14316" y="2798064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 b="0">
                <a:solidFill>
                  <a:srgbClr val="2E7D32"/>
                </a:solidFill>
                <a:latin typeface="メイリオ"/>
                <a:ea typeface="メイリオ"/>
              </a:rPr>
              <a:t>できた資料を次の材料にする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3072384"/>
            <a:ext cx="3246120" cy="749808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7A6E"/>
                </a:solidFill>
                <a:latin typeface="メイリオ"/>
                <a:ea typeface="メイリオ"/>
              </a:rPr>
              <a:t>3. EC-Rider画面UIの検討 ①②</a:t>
            </a:r>
          </a:p>
          <a:p>
            <a:pPr algn="ctr"/>
            <a:r>
              <a:rPr sz="800" b="1">
                <a:solidFill>
                  <a:srgbClr val="007A6E"/>
                </a:solidFill>
                <a:latin typeface="メイリオ"/>
                <a:ea typeface="メイリオ"/>
              </a:rPr>
              <a:t>【弊社が案を作成→打合せで完成】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3232404"/>
            <a:ext cx="2606040" cy="429768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54864"/>
          <a:lstStyle/>
          <a:p>
            <a:pPr algn="ctr"/>
            <a:r>
              <a:rPr sz="750" b="1">
                <a:solidFill>
                  <a:srgbClr val="E67E22"/>
                </a:solidFill>
                <a:latin typeface="メイリオ"/>
                <a:ea typeface="メイリオ"/>
              </a:rPr>
              <a:t>ご提供／ヒアリング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333333"/>
                </a:solidFill>
                <a:latin typeface="メイリオ"/>
                <a:ea typeface="メイリオ"/>
              </a:rPr>
              <a:t>・ヒアリング内容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852928" y="3378708"/>
            <a:ext cx="265176" cy="13716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3291840"/>
            <a:ext cx="2971800" cy="512064"/>
          </a:xfrm>
          <a:prstGeom prst="roundRect">
            <a:avLst/>
          </a:prstGeom>
          <a:solidFill>
            <a:srgbClr val="E9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メイリオ"/>
                <a:ea typeface="メイリオ"/>
              </a:rPr>
              <a:t>▶ 要件定義書_画面機能設計書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メイリオ"/>
                <a:ea typeface="メイリオ"/>
              </a:rPr>
              <a:t>要件定義書_機能詳細設計書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419088" y="3378708"/>
            <a:ext cx="265175" cy="13716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777740" y="3822191"/>
            <a:ext cx="0" cy="274321"/>
          </a:xfrm>
          <a:prstGeom prst="line">
            <a:avLst/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14316" y="3822191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 b="0">
                <a:solidFill>
                  <a:srgbClr val="2E7D32"/>
                </a:solidFill>
                <a:latin typeface="メイリオ"/>
                <a:ea typeface="メイリオ"/>
              </a:rPr>
              <a:t>できた資料を次の材料にする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4680" y="4096512"/>
            <a:ext cx="3246120" cy="749808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7A6E"/>
                </a:solidFill>
                <a:latin typeface="メイリオ"/>
                <a:ea typeface="メイリオ"/>
              </a:rPr>
              <a:t>4. 非機能要件の検討</a:t>
            </a:r>
          </a:p>
          <a:p>
            <a:pPr algn="ctr"/>
            <a:r>
              <a:rPr sz="800" b="1">
                <a:solidFill>
                  <a:srgbClr val="007A6E"/>
                </a:solidFill>
                <a:latin typeface="メイリオ"/>
                <a:ea typeface="メイリオ"/>
              </a:rPr>
              <a:t>【弊社が案を作成→打合せで完成】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" y="4169664"/>
            <a:ext cx="2606040" cy="603504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54864"/>
          <a:lstStyle/>
          <a:p>
            <a:pPr algn="ctr"/>
            <a:r>
              <a:rPr sz="750" b="1">
                <a:solidFill>
                  <a:srgbClr val="E67E22"/>
                </a:solidFill>
                <a:latin typeface="メイリオ"/>
                <a:ea typeface="メイリオ"/>
              </a:rPr>
              <a:t>ご提供／ヒアリング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333333"/>
                </a:solidFill>
                <a:latin typeface="メイリオ"/>
                <a:ea typeface="メイリオ"/>
              </a:rPr>
              <a:t>・年間注文数・ピーク時間帯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333333"/>
                </a:solidFill>
                <a:latin typeface="メイリオ"/>
                <a:ea typeface="メイリオ"/>
              </a:rPr>
              <a:t>・取引先数・SKU数・利用想定者数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852928" y="4402836"/>
            <a:ext cx="265176" cy="13716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0" y="4315968"/>
            <a:ext cx="2971800" cy="310896"/>
          </a:xfrm>
          <a:prstGeom prst="roundRect">
            <a:avLst/>
          </a:prstGeom>
          <a:solidFill>
            <a:srgbClr val="E9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メイリオ"/>
                <a:ea typeface="メイリオ"/>
              </a:rPr>
              <a:t>▶ 要件定義書_非機能要件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419088" y="4402836"/>
            <a:ext cx="265175" cy="13716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777740" y="4846320"/>
            <a:ext cx="0" cy="274320"/>
          </a:xfrm>
          <a:prstGeom prst="line">
            <a:avLst/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814316" y="4846320"/>
            <a:ext cx="2560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" b="0">
                <a:solidFill>
                  <a:srgbClr val="2E7D32"/>
                </a:solidFill>
                <a:latin typeface="メイリオ"/>
                <a:ea typeface="メイリオ"/>
              </a:rPr>
              <a:t>できた資料を次の材料にする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5120640"/>
            <a:ext cx="3246120" cy="749808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7A6E"/>
                </a:solidFill>
                <a:latin typeface="メイリオ"/>
                <a:ea typeface="メイリオ"/>
              </a:rPr>
              <a:t>5. 納品・正式見積り提示（開発工程のご提案）</a:t>
            </a:r>
          </a:p>
          <a:p>
            <a:pPr algn="ctr"/>
            <a:r>
              <a:rPr sz="800" b="1">
                <a:solidFill>
                  <a:srgbClr val="007A6E"/>
                </a:solidFill>
                <a:latin typeface="メイリオ"/>
                <a:ea typeface="メイリオ"/>
              </a:rPr>
              <a:t>【弊社】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5340096"/>
            <a:ext cx="2971800" cy="310896"/>
          </a:xfrm>
          <a:prstGeom prst="roundRect">
            <a:avLst/>
          </a:prstGeom>
          <a:solidFill>
            <a:srgbClr val="E9F5E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メイリオ"/>
                <a:ea typeface="メイリオ"/>
              </a:rPr>
              <a:t>▶ 開発範囲・工程・正式お見積り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419088" y="5426964"/>
            <a:ext cx="265175" cy="13716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ight テンプレー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ホワイ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8536</TotalTime>
  <Words>398</Words>
  <Application>Microsoft Office PowerPoint</Application>
  <PresentationFormat>A4 210 x 297 mm</PresentationFormat>
  <Paragraphs>74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メイリオ</vt:lpstr>
      <vt:lpstr>メイリオ</vt:lpstr>
      <vt:lpstr>Calibri</vt:lpstr>
      <vt:lpstr>Noto Sans Symbols</vt:lpstr>
      <vt:lpstr>Arial</vt:lpstr>
      <vt:lpstr>flight テンプレート</vt:lpstr>
      <vt:lpstr>要件定義WBS案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Tanaka Junichi</dc:creator>
  <cp:lastModifiedBy>将隆 小園</cp:lastModifiedBy>
  <cp:revision>212</cp:revision>
  <cp:lastPrinted>2025-04-07T08:04:35Z</cp:lastPrinted>
  <dcterms:created xsi:type="dcterms:W3CDTF">2016-05-26T06:32:05Z</dcterms:created>
  <dcterms:modified xsi:type="dcterms:W3CDTF">2026-08-07T01:59:29Z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0x010100D35DC5035CF21544854758570D244058</vt:lpwstr>
  </property>
  <property fmtid="{D5CDD505-2E9C-101B-9397-08002B2CF9AE}" pid="3" name="MediaServiceImageTags">
    <vt:lpwstr/>
  </property>
</Properties>
</file>