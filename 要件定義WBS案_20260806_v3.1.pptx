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1634" r:id="rId3"/>
    <p:sldId id="1636" r:id="rId4"/>
    <p:sldId id="1635" r:id="rId5"/>
    <p:sldId id="325" r:id="rId6"/>
  </p:sldIdLst>
  <p:sldSz cx="9906000" cy="6858000" type="A4"/>
  <p:notesSz cx="7104063" cy="10234613"/>
  <p:embeddedFontLst>
    <p:embeddedFont>
      <p:font typeface="メイリオ" panose="020B0604030504040204" pitchFamily="50" charset="-128"/>
      <p:regular r:id="rId8"/>
      <p:bold r:id="rId9"/>
      <p:italic r:id="rId10"/>
      <p:boldItalic r:id="rId11"/>
    </p:embeddedFont>
    <p:embeddedFont>
      <p:font typeface="メイリオ" panose="020B0604030504040204" pitchFamily="50" charset="-128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5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3" roundtripDataSignature="AMtx7mhTfcJT5x2FzDPF8Pvd2bGSC6Eb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8F3"/>
    <a:srgbClr val="BFBFBF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462715-E267-49E1-98CE-94EDA2CF2902}">
  <a:tblStyle styleId="{C8462715-E267-49E1-98CE-94EDA2CF290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CAC2A2-A4D3-43FB-A9F2-1DA96129504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FF3E9"/>
          </a:solidFill>
        </a:fill>
      </a:tcStyle>
    </a:wholeTbl>
    <a:band1H>
      <a:tcTxStyle/>
      <a:tcStyle>
        <a:tcBdr/>
        <a:fill>
          <a:solidFill>
            <a:srgbClr val="DEE7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EE7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DC6BC6D-4E97-438C-A45F-CD926BD278A1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TxStyle/>
      <a:tcStyle>
        <a:tcBdr/>
      </a:tcStyle>
    </a:band2H>
    <a:band1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TxStyle/>
      <a:tcStyle>
        <a:tcBdr>
          <a:lef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FEB6039-7665-41BC-B559-DA601AB91B31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96643BE-60C3-4EA6-B02F-CD57C2EE579C}" styleName="Table_4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2" autoAdjust="0"/>
  </p:normalViewPr>
  <p:slideViewPr>
    <p:cSldViewPr snapToGrid="0">
      <p:cViewPr varScale="1">
        <p:scale>
          <a:sx n="124" d="100"/>
          <a:sy n="124" d="100"/>
        </p:scale>
        <p:origin x="930" y="102"/>
      </p:cViewPr>
      <p:guideLst>
        <p:guide orient="horz" pos="2165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83" Type="http://customschemas.google.com/relationships/presentationmetadata" Target="metadata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1" y="0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1" y="9721106"/>
            <a:ext cx="3078428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75" tIns="47725" rIns="95475" bIns="477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70:notes"/>
          <p:cNvSpPr txBox="1">
            <a:spLocks noGrp="1"/>
          </p:cNvSpPr>
          <p:nvPr>
            <p:ph type="body" idx="1"/>
          </p:nvPr>
        </p:nvSpPr>
        <p:spPr>
          <a:xfrm>
            <a:off x="710407" y="4861442"/>
            <a:ext cx="5683250" cy="4605576"/>
          </a:xfrm>
          <a:prstGeom prst="rect">
            <a:avLst/>
          </a:prstGeom>
        </p:spPr>
        <p:txBody>
          <a:bodyPr spcFirstLastPara="1" wrap="square" lIns="95475" tIns="47725" rIns="95475" bIns="47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4" name="Google Shape;152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766763"/>
            <a:ext cx="554513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表紙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72" descr="flinalBg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5161"/>
            <a:ext cx="990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72"/>
          <p:cNvSpPr/>
          <p:nvPr/>
        </p:nvSpPr>
        <p:spPr>
          <a:xfrm>
            <a:off x="2710392" y="6438900"/>
            <a:ext cx="431688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Copyright ©  2013 FLIGHT SYSTEM CONSULTING Inc. All rights reserved</a:t>
            </a:r>
            <a:endParaRPr/>
          </a:p>
        </p:txBody>
      </p:sp>
      <p:sp>
        <p:nvSpPr>
          <p:cNvPr id="21" name="Google Shape;21;p72"/>
          <p:cNvSpPr/>
          <p:nvPr/>
        </p:nvSpPr>
        <p:spPr>
          <a:xfrm>
            <a:off x="2886568" y="6470257"/>
            <a:ext cx="413286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Copyright ©  202</a:t>
            </a:r>
            <a:r>
              <a:rPr lang="en-US" alt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 FLIGHT SOLUTIONS Inc. All rights reserved</a:t>
            </a:r>
            <a:endParaRPr dirty="0"/>
          </a:p>
        </p:txBody>
      </p:sp>
      <p:cxnSp>
        <p:nvCxnSpPr>
          <p:cNvPr id="22" name="Google Shape;22;p72"/>
          <p:cNvCxnSpPr/>
          <p:nvPr/>
        </p:nvCxnSpPr>
        <p:spPr>
          <a:xfrm>
            <a:off x="344488" y="6354763"/>
            <a:ext cx="9144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Google Shape;23;p72" descr="Log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651" y="6407152"/>
            <a:ext cx="494607" cy="3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72"/>
          <p:cNvSpPr txBox="1">
            <a:spLocks noGrp="1"/>
          </p:cNvSpPr>
          <p:nvPr>
            <p:ph type="ctrTitle"/>
          </p:nvPr>
        </p:nvSpPr>
        <p:spPr>
          <a:xfrm>
            <a:off x="418746" y="2659360"/>
            <a:ext cx="9068508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72"/>
          <p:cNvSpPr txBox="1">
            <a:spLocks noGrp="1"/>
          </p:cNvSpPr>
          <p:nvPr>
            <p:ph type="subTitle" idx="1"/>
          </p:nvPr>
        </p:nvSpPr>
        <p:spPr>
          <a:xfrm>
            <a:off x="1218909" y="3954760"/>
            <a:ext cx="8268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  <a:defRPr sz="2400">
                <a:solidFill>
                  <a:srgbClr val="7F7F7F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6" name="Google Shape;26;p72"/>
          <p:cNvSpPr txBox="1"/>
          <p:nvPr/>
        </p:nvSpPr>
        <p:spPr>
          <a:xfrm>
            <a:off x="4946121" y="5672138"/>
            <a:ext cx="4540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5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株式会社フライトソリューションズ</a:t>
            </a:r>
            <a:endParaRPr/>
          </a:p>
        </p:txBody>
      </p:sp>
      <p:sp>
        <p:nvSpPr>
          <p:cNvPr id="27" name="Google Shape;27;p72"/>
          <p:cNvSpPr txBox="1"/>
          <p:nvPr/>
        </p:nvSpPr>
        <p:spPr>
          <a:xfrm>
            <a:off x="4540250" y="59880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4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FLIGHT SOLUTIONS Inc.</a:t>
            </a:r>
            <a:endParaRPr sz="1400" b="0" i="0" u="none" strike="noStrike" cap="none">
              <a:solidFill>
                <a:srgbClr val="59595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サブタイトル">
  <p:cSld name="サブタイトル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4"/>
          <p:cNvSpPr/>
          <p:nvPr/>
        </p:nvSpPr>
        <p:spPr>
          <a:xfrm>
            <a:off x="223573" y="728663"/>
            <a:ext cx="9556883" cy="5857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2D2D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74"/>
          <p:cNvSpPr txBox="1">
            <a:spLocks noGrp="1"/>
          </p:cNvSpPr>
          <p:nvPr>
            <p:ph type="body" idx="1"/>
          </p:nvPr>
        </p:nvSpPr>
        <p:spPr>
          <a:xfrm>
            <a:off x="782506" y="2258871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800"/>
              </a:spcBef>
              <a:spcAft>
                <a:spcPts val="0"/>
              </a:spcAft>
              <a:buClr>
                <a:srgbClr val="595959"/>
              </a:buClr>
              <a:buSzPts val="4000"/>
              <a:buNone/>
              <a:defRPr sz="4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body" idx="2"/>
          </p:nvPr>
        </p:nvSpPr>
        <p:spPr>
          <a:xfrm>
            <a:off x="782506" y="3789041"/>
            <a:ext cx="84201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5"/>
          <p:cNvSpPr txBox="1">
            <a:spLocks noGrp="1"/>
          </p:cNvSpPr>
          <p:nvPr>
            <p:ph type="title"/>
          </p:nvPr>
        </p:nvSpPr>
        <p:spPr>
          <a:xfrm>
            <a:off x="835852" y="142852"/>
            <a:ext cx="8915400" cy="582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5"/>
          <p:cNvSpPr txBox="1"/>
          <p:nvPr/>
        </p:nvSpPr>
        <p:spPr>
          <a:xfrm>
            <a:off x="7551606" y="6492876"/>
            <a:ext cx="231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800">
                <a:solidFill>
                  <a:schemeClr val="dk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pic>
        <p:nvPicPr>
          <p:cNvPr id="40" name="Google Shape;40;p75" descr="アイコン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4748" y="142852"/>
            <a:ext cx="720000" cy="492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7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7"/>
          <p:cNvSpPr txBox="1">
            <a:spLocks noGrp="1"/>
          </p:cNvSpPr>
          <p:nvPr>
            <p:ph type="body" idx="1"/>
          </p:nvPr>
        </p:nvSpPr>
        <p:spPr>
          <a:xfrm>
            <a:off x="418746" y="1295400"/>
            <a:ext cx="447062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7" name="Google Shape;47;p77"/>
          <p:cNvSpPr txBox="1">
            <a:spLocks noGrp="1"/>
          </p:cNvSpPr>
          <p:nvPr>
            <p:ph type="body" idx="2"/>
          </p:nvPr>
        </p:nvSpPr>
        <p:spPr>
          <a:xfrm>
            <a:off x="5054468" y="1295400"/>
            <a:ext cx="4579052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48" name="Google Shape;48;p77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Google Shape;50;p78"/>
          <p:cNvCxnSpPr/>
          <p:nvPr/>
        </p:nvCxnSpPr>
        <p:spPr>
          <a:xfrm>
            <a:off x="271727" y="1808163"/>
            <a:ext cx="4583245" cy="0"/>
          </a:xfrm>
          <a:prstGeom prst="straightConnector1">
            <a:avLst/>
          </a:prstGeom>
          <a:noFill/>
          <a:ln w="9525" cap="flat" cmpd="sng">
            <a:solidFill>
              <a:srgbClr val="1A987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78"/>
          <p:cNvCxnSpPr/>
          <p:nvPr/>
        </p:nvCxnSpPr>
        <p:spPr>
          <a:xfrm>
            <a:off x="5051029" y="1808163"/>
            <a:ext cx="4583244" cy="0"/>
          </a:xfrm>
          <a:prstGeom prst="straightConnector1">
            <a:avLst/>
          </a:prstGeom>
          <a:noFill/>
          <a:ln w="9525" cap="flat" cmpd="sng">
            <a:solidFill>
              <a:srgbClr val="1A98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52;p78"/>
          <p:cNvSpPr txBox="1">
            <a:spLocks noGrp="1"/>
          </p:cNvSpPr>
          <p:nvPr>
            <p:ph type="title"/>
          </p:nvPr>
        </p:nvSpPr>
        <p:spPr>
          <a:xfrm>
            <a:off x="418745" y="233645"/>
            <a:ext cx="9214775" cy="6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8"/>
          <p:cNvSpPr txBox="1">
            <a:spLocks noGrp="1"/>
          </p:cNvSpPr>
          <p:nvPr>
            <p:ph type="body" idx="1"/>
          </p:nvPr>
        </p:nvSpPr>
        <p:spPr>
          <a:xfrm>
            <a:off x="272480" y="1124053"/>
            <a:ext cx="459969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78"/>
          <p:cNvSpPr txBox="1">
            <a:spLocks noGrp="1"/>
          </p:cNvSpPr>
          <p:nvPr>
            <p:ph type="body" idx="2"/>
          </p:nvPr>
        </p:nvSpPr>
        <p:spPr>
          <a:xfrm>
            <a:off x="321236" y="1872894"/>
            <a:ext cx="4550935" cy="434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5" name="Google Shape;55;p78"/>
          <p:cNvSpPr txBox="1">
            <a:spLocks noGrp="1"/>
          </p:cNvSpPr>
          <p:nvPr>
            <p:ph type="body" idx="3"/>
          </p:nvPr>
        </p:nvSpPr>
        <p:spPr>
          <a:xfrm>
            <a:off x="5032111" y="1124053"/>
            <a:ext cx="460141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 b="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78"/>
          <p:cNvSpPr txBox="1">
            <a:spLocks noGrp="1"/>
          </p:cNvSpPr>
          <p:nvPr>
            <p:ph type="body" idx="4"/>
          </p:nvPr>
        </p:nvSpPr>
        <p:spPr>
          <a:xfrm>
            <a:off x="5032111" y="1872894"/>
            <a:ext cx="4601410" cy="434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57" name="Google Shape;57;p78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9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9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1"/>
          <p:cNvSpPr/>
          <p:nvPr/>
        </p:nvSpPr>
        <p:spPr>
          <a:xfrm>
            <a:off x="0" y="819150"/>
            <a:ext cx="9906000" cy="4048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66" name="Google Shape;66;p81"/>
          <p:cNvSpPr txBox="1"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1"/>
          <p:cNvSpPr txBox="1">
            <a:spLocks noGrp="1"/>
          </p:cNvSpPr>
          <p:nvPr>
            <p:ph type="body" idx="1"/>
          </p:nvPr>
        </p:nvSpPr>
        <p:spPr>
          <a:xfrm>
            <a:off x="3872971" y="273051"/>
            <a:ext cx="5537729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rgbClr val="595959"/>
              </a:buClr>
              <a:buSzPts val="3200"/>
              <a:buChar char="●"/>
              <a:defRPr sz="32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Char char="●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8" name="Google Shape;68;p81"/>
          <p:cNvSpPr txBox="1">
            <a:spLocks noGrp="1"/>
          </p:cNvSpPr>
          <p:nvPr>
            <p:ph type="body" idx="2"/>
          </p:nvPr>
        </p:nvSpPr>
        <p:spPr>
          <a:xfrm>
            <a:off x="495300" y="1435101"/>
            <a:ext cx="3259006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81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2"/>
          <p:cNvSpPr/>
          <p:nvPr/>
        </p:nvSpPr>
        <p:spPr>
          <a:xfrm>
            <a:off x="223573" y="908050"/>
            <a:ext cx="9507008" cy="2714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72" name="Google Shape;72;p82"/>
          <p:cNvSpPr txBox="1"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2"/>
          <p:cNvSpPr>
            <a:spLocks noGrp="1"/>
          </p:cNvSpPr>
          <p:nvPr>
            <p:ph type="pic" idx="2"/>
          </p:nvPr>
        </p:nvSpPr>
        <p:spPr>
          <a:xfrm>
            <a:off x="1941645" y="548681"/>
            <a:ext cx="5943600" cy="41788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Google Shape;74;p82"/>
          <p:cNvSpPr txBox="1">
            <a:spLocks noGrp="1"/>
          </p:cNvSpPr>
          <p:nvPr>
            <p:ph type="body" idx="1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595959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59595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59595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82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3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3"/>
          <p:cNvSpPr txBox="1">
            <a:spLocks noGrp="1"/>
          </p:cNvSpPr>
          <p:nvPr>
            <p:ph type="body" idx="1"/>
          </p:nvPr>
        </p:nvSpPr>
        <p:spPr>
          <a:xfrm rot="5400000">
            <a:off x="2290364" y="-917808"/>
            <a:ext cx="5292000" cy="9200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9" name="Google Shape;79;p83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縦書きテキスト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4"/>
          <p:cNvSpPr/>
          <p:nvPr/>
        </p:nvSpPr>
        <p:spPr>
          <a:xfrm>
            <a:off x="125546" y="863601"/>
            <a:ext cx="9556882" cy="269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2" name="Google Shape;82;p84"/>
          <p:cNvSpPr txBox="1">
            <a:spLocks noGrp="1"/>
          </p:cNvSpPr>
          <p:nvPr>
            <p:ph type="title"/>
          </p:nvPr>
        </p:nvSpPr>
        <p:spPr>
          <a:xfrm rot="5400000">
            <a:off x="5271955" y="2185988"/>
            <a:ext cx="5715000" cy="210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4"/>
          <p:cNvSpPr txBox="1">
            <a:spLocks noGrp="1"/>
          </p:cNvSpPr>
          <p:nvPr>
            <p:ph type="body" idx="1"/>
          </p:nvPr>
        </p:nvSpPr>
        <p:spPr>
          <a:xfrm rot="5400000">
            <a:off x="979355" y="163513"/>
            <a:ext cx="5715000" cy="614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84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（タイトルなし）" type="objOnly">
  <p:cSld name="OBJECT_ONLY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5"/>
          <p:cNvSpPr/>
          <p:nvPr/>
        </p:nvSpPr>
        <p:spPr>
          <a:xfrm>
            <a:off x="125546" y="863600"/>
            <a:ext cx="9654910" cy="3159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0">
              <a:solidFill>
                <a:srgbClr val="2D2D87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Arial"/>
              <a:sym typeface="Arial"/>
            </a:endParaRPr>
          </a:p>
        </p:txBody>
      </p:sp>
      <p:sp>
        <p:nvSpPr>
          <p:cNvPr id="87" name="Google Shape;87;p85"/>
          <p:cNvSpPr txBox="1">
            <a:spLocks noGrp="1"/>
          </p:cNvSpPr>
          <p:nvPr>
            <p:ph type="body" idx="1"/>
          </p:nvPr>
        </p:nvSpPr>
        <p:spPr>
          <a:xfrm>
            <a:off x="761868" y="381000"/>
            <a:ext cx="8420100" cy="5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8" name="Google Shape;88;p85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  <a:sym typeface="Meiryo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851268" y="142852"/>
            <a:ext cx="8559432" cy="582594"/>
          </a:xfrm>
        </p:spPr>
        <p:txBody>
          <a:bodyPr/>
          <a:lstStyle>
            <a:lvl1pPr algn="l">
              <a:defRPr b="1"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マスタ タイトルの書式設定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47" y="225380"/>
            <a:ext cx="627725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直線コネクタ 13"/>
          <p:cNvSpPr>
            <a:spLocks noChangeShapeType="1"/>
          </p:cNvSpPr>
          <p:nvPr userDrawn="1"/>
        </p:nvSpPr>
        <p:spPr bwMode="auto">
          <a:xfrm>
            <a:off x="153029" y="674642"/>
            <a:ext cx="9517327" cy="0"/>
          </a:xfrm>
          <a:prstGeom prst="line">
            <a:avLst/>
          </a:prstGeom>
          <a:noFill/>
          <a:ln w="12700" cap="sq">
            <a:solidFill>
              <a:schemeClr val="tx1"/>
            </a:solidFill>
            <a:bevel/>
            <a:headEnd/>
            <a:tailEnd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スライド番号プレースホルダ 21"/>
          <p:cNvSpPr txBox="1">
            <a:spLocks/>
          </p:cNvSpPr>
          <p:nvPr userDrawn="1"/>
        </p:nvSpPr>
        <p:spPr bwMode="auto">
          <a:xfrm>
            <a:off x="7556146" y="6544790"/>
            <a:ext cx="2311400" cy="268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655E32BF-995D-4ADA-9078-7B63E7B185BE}" type="slidenum">
              <a:rPr lang="ja-JP" altLang="en-US" sz="140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pPr algn="r"/>
              <a:t>‹#›</a:t>
            </a:fld>
            <a:endParaRPr lang="ja-JP" altLang="en-US" sz="140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15" name="Picture 71" descr="\\172.30.97.141\d$\ProjectData\80_個人WORK\shingo.ichikawa\FLIGHT-Logo.gif">
            <a:extLst>
              <a:ext uri="{FF2B5EF4-FFF2-40B4-BE49-F238E27FC236}">
                <a16:creationId xmlns:a16="http://schemas.microsoft.com/office/drawing/2014/main" id="{67B4D42E-7590-408C-BE60-EADCAFBD6B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50673" y="97747"/>
            <a:ext cx="657646" cy="488374"/>
          </a:xfrm>
          <a:prstGeom prst="rect">
            <a:avLst/>
          </a:prstGeom>
          <a:noFill/>
          <a:ln w="9525">
            <a:noFill/>
            <a:beve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876876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1" descr="Logo.jp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47651" y="6407152"/>
            <a:ext cx="494607" cy="39485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1"/>
          <p:cNvSpPr txBox="1">
            <a:spLocks noGrp="1"/>
          </p:cNvSpPr>
          <p:nvPr>
            <p:ph type="title"/>
          </p:nvPr>
        </p:nvSpPr>
        <p:spPr>
          <a:xfrm>
            <a:off x="345513" y="179510"/>
            <a:ext cx="92160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 dirty="0"/>
          </a:p>
        </p:txBody>
      </p:sp>
      <p:sp>
        <p:nvSpPr>
          <p:cNvPr id="12" name="Google Shape;12;p71"/>
          <p:cNvSpPr txBox="1">
            <a:spLocks noGrp="1"/>
          </p:cNvSpPr>
          <p:nvPr>
            <p:ph type="body" idx="1"/>
          </p:nvPr>
        </p:nvSpPr>
        <p:spPr>
          <a:xfrm>
            <a:off x="335987" y="1036569"/>
            <a:ext cx="9200754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Noto Sans Symbols"/>
              <a:buChar char="●"/>
              <a:defRPr sz="28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Noto Sans Symbols"/>
              <a:buChar char="●"/>
              <a:defRPr sz="24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" name="Google Shape;13;p71"/>
          <p:cNvSpPr txBox="1">
            <a:spLocks noGrp="1"/>
          </p:cNvSpPr>
          <p:nvPr>
            <p:ph type="sldNum" idx="12"/>
          </p:nvPr>
        </p:nvSpPr>
        <p:spPr>
          <a:xfrm>
            <a:off x="7833320" y="6417792"/>
            <a:ext cx="170969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cxnSp>
        <p:nvCxnSpPr>
          <p:cNvPr id="14" name="Google Shape;14;p71"/>
          <p:cNvCxnSpPr/>
          <p:nvPr/>
        </p:nvCxnSpPr>
        <p:spPr>
          <a:xfrm>
            <a:off x="345513" y="764704"/>
            <a:ext cx="9216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5;p71"/>
          <p:cNvSpPr/>
          <p:nvPr/>
        </p:nvSpPr>
        <p:spPr>
          <a:xfrm>
            <a:off x="2710392" y="6438900"/>
            <a:ext cx="4211722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900" b="0" i="0" u="none" strike="noStrike" cap="none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Copyright ©  2015LIGHT SYSTEM CONSULTING Inc. All rights reserved</a:t>
            </a:r>
            <a:endParaRPr/>
          </a:p>
        </p:txBody>
      </p:sp>
      <p:cxnSp>
        <p:nvCxnSpPr>
          <p:cNvPr id="16" name="Google Shape;16;p71"/>
          <p:cNvCxnSpPr/>
          <p:nvPr/>
        </p:nvCxnSpPr>
        <p:spPr>
          <a:xfrm>
            <a:off x="345512" y="6354763"/>
            <a:ext cx="9216000" cy="0"/>
          </a:xfrm>
          <a:prstGeom prst="straightConnector1">
            <a:avLst/>
          </a:prstGeom>
          <a:noFill/>
          <a:ln w="15875" cap="flat" cmpd="sng">
            <a:solidFill>
              <a:srgbClr val="1A95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Google Shape;17;p71"/>
          <p:cNvSpPr/>
          <p:nvPr/>
        </p:nvSpPr>
        <p:spPr>
          <a:xfrm>
            <a:off x="2886568" y="6470257"/>
            <a:ext cx="41809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Copyright ©  202</a:t>
            </a:r>
            <a:r>
              <a:rPr lang="en-US" alt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sz="1000" b="0" i="0" u="none" strike="noStrike" cap="none" dirty="0">
                <a:solidFill>
                  <a:srgbClr val="7F7F7F"/>
                </a:solidFill>
                <a:latin typeface="Meiryo"/>
                <a:ea typeface="Meiryo"/>
                <a:cs typeface="Meiryo"/>
                <a:sym typeface="Meiryo"/>
              </a:rPr>
              <a:t> FLIGHT SOLUTIONS Inc. All rights reserved</a:t>
            </a:r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7">
          <p15:clr>
            <a:srgbClr val="F26B43"/>
          </p15:clr>
        </p15:guide>
        <p15:guide id="3" pos="6023">
          <p15:clr>
            <a:srgbClr val="F26B43"/>
          </p15:clr>
        </p15:guide>
        <p15:guide id="4" pos="312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>
            <a:spLocks noGrp="1"/>
          </p:cNvSpPr>
          <p:nvPr>
            <p:ph type="ctrTitle"/>
          </p:nvPr>
        </p:nvSpPr>
        <p:spPr>
          <a:xfrm>
            <a:off x="3434762" y="2989088"/>
            <a:ext cx="6052491" cy="1886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25475" lvl="0" indent="-625475" algn="l">
              <a:lnSpc>
                <a:spcPct val="130000"/>
              </a:lnSpc>
            </a:pPr>
            <a:r>
              <a:rPr kumimoji="1" lang="ja-JP" altLang="en-US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要件定義</a:t>
            </a:r>
            <a:r>
              <a:rPr kumimoji="1" lang="en-US" altLang="ja-JP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WBS</a:t>
            </a:r>
            <a:r>
              <a:rPr kumimoji="1" lang="ja-JP" altLang="en-US" sz="2400" b="1" dirty="0"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案</a:t>
            </a:r>
            <a:endParaRPr sz="3200" b="1" dirty="0">
              <a:solidFill>
                <a:srgbClr val="7F7F7F"/>
              </a:solidFill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subTitle" idx="1"/>
          </p:nvPr>
        </p:nvSpPr>
        <p:spPr>
          <a:xfrm>
            <a:off x="1218909" y="4221088"/>
            <a:ext cx="826834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endParaRPr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</a:pPr>
            <a:endParaRPr strike="sngStrike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r" rtl="0">
              <a:spcBef>
                <a:spcPts val="48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Meiryo"/>
              <a:buNone/>
            </a:pP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202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6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年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8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月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5</a:t>
            </a:r>
            <a:r>
              <a:rPr lang="ja-JP" dirty="0">
                <a:latin typeface="Meiryo"/>
                <a:ea typeface="Meiryo"/>
                <a:cs typeface="Meiryo"/>
                <a:sym typeface="Meiryo"/>
              </a:rPr>
              <a:t>日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A7638-415A-D347-08C5-0FDAAB73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8;p6">
            <a:extLst>
              <a:ext uri="{FF2B5EF4-FFF2-40B4-BE49-F238E27FC236}">
                <a16:creationId xmlns:a16="http://schemas.microsoft.com/office/drawing/2014/main" id="{EAF55F8E-4635-AEC3-7E72-6C82813D31A3}"/>
              </a:ext>
            </a:extLst>
          </p:cNvPr>
          <p:cNvSpPr txBox="1"/>
          <p:nvPr/>
        </p:nvSpPr>
        <p:spPr>
          <a:xfrm>
            <a:off x="868222" y="79506"/>
            <a:ext cx="7482147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  <a:sym typeface="メイリオ" pitchFamily="50" charset="-128"/>
              </a:rPr>
              <a:t>要件定義スケジュール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675D1F9-0B24-88EF-D761-CCAC45792E1B}"/>
              </a:ext>
            </a:extLst>
          </p:cNvPr>
          <p:cNvSpPr txBox="1"/>
          <p:nvPr/>
        </p:nvSpPr>
        <p:spPr>
          <a:xfrm>
            <a:off x="420000" y="856624"/>
            <a:ext cx="92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</a:rPr>
              <a:t>期間：2026/8/19（キックオフ）〜 2026/9末　｜　</a:t>
            </a:r>
            <a:r>
              <a:rPr lang="ja-JP" altLang="en-US"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</a:rPr>
              <a:t>各回</a:t>
            </a:r>
            <a:r>
              <a:rPr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</a:rPr>
              <a:t> 約2時間</a:t>
            </a:r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3DA4C7EF-6B25-444F-194F-E3CC3428D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349012"/>
              </p:ext>
            </p:extLst>
          </p:nvPr>
        </p:nvGraphicFramePr>
        <p:xfrm>
          <a:off x="280000" y="1176624"/>
          <a:ext cx="9350000" cy="40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No</a:t>
                      </a: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開催時期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工程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10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内容</a:t>
                      </a:r>
                      <a:endParaRPr sz="110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00A6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19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キックオフ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プロジェクトの進め方（プロジェクト要件）の確認、要件定義工程の内容確認を行います。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8/2</a:t>
                      </a:r>
                      <a:r>
                        <a:rPr lang="en-US" altLang="ja-JP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7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システム化する業務の整理①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現行業務を整理し、登場人物・関連システムを明確にします。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弊社作成の概略業務フローを基に、注文、与信確認、納期回答、出荷、キャンセル、返品の流れを整理し、システム化の範囲と業務上のルールを定義します。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31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システム化する業務の整理②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同上</a:t>
                      </a:r>
                    </a:p>
                  </a:txBody>
                  <a:tcPr anchor="ctr">
                    <a:solidFill>
                      <a:srgbClr val="F0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4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/</a:t>
                      </a:r>
                      <a:r>
                        <a:rPr lang="en-US" altLang="ja-JP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3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画面</a:t>
                      </a:r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の検討①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業務整理・基幹仕様整理の成果をもとに、画面モック・画面機能設計書を用いて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フロントサイトおよび管理サイトの画面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を検討します。画面の入出力・導線・表示項目を外部仕様として確定します。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45528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5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</a:t>
                      </a:r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10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EC-Rider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画面</a:t>
                      </a:r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UI</a:t>
                      </a:r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の検討②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同上</a:t>
                      </a: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6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</a:t>
                      </a:r>
                      <a:r>
                        <a:rPr lang="en-US"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17</a:t>
                      </a:r>
                      <a:endParaRPr sz="10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非機能要件の検討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性能、セキュリティ、運用の非機能要件を定義します。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14234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7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9/24</a:t>
                      </a: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要件定義まとめ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要件定義の内容を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振り返り、要件漏れがないことを確認します。</a:t>
                      </a:r>
                      <a:endParaRPr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56454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8</a:t>
                      </a:r>
                      <a:endParaRPr sz="1000" b="1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9/29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納品・正式見積り提示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要件定義書を納品し、開発工程の正式見積りを提示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いたします</a:t>
                      </a:r>
                      <a:r>
                        <a:rPr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。</a:t>
                      </a:r>
                      <a:endParaRPr lang="en-US"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  <a:p>
                      <a:pPr algn="l"/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※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ご検収は</a:t>
                      </a:r>
                      <a:r>
                        <a:rPr lang="en-US" altLang="ja-JP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10</a:t>
                      </a:r>
                      <a:r>
                        <a:rPr lang="ja-JP" altLang="en-US" sz="9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月末となります。</a:t>
                      </a:r>
                      <a:endParaRPr sz="9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111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2863071" y="1440716"/>
            <a:ext cx="3246120" cy="720000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1. 基幹システム</a:t>
            </a:r>
            <a:r>
              <a:rPr lang="ja-JP" altLang="en-US" sz="1100" b="1" dirty="0">
                <a:solidFill>
                  <a:srgbClr val="007A6E"/>
                </a:solidFill>
                <a:latin typeface="メイリオ"/>
                <a:ea typeface="メイリオ"/>
              </a:rPr>
              <a:t>と</a:t>
            </a:r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の</a:t>
            </a:r>
            <a:r>
              <a:rPr lang="ja-JP" altLang="en-US" sz="1100" b="1" dirty="0">
                <a:solidFill>
                  <a:srgbClr val="007A6E"/>
                </a:solidFill>
                <a:latin typeface="メイリオ"/>
                <a:ea typeface="メイリオ"/>
              </a:rPr>
              <a:t>連携</a:t>
            </a:r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仕様の整理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596" y="1440716"/>
            <a:ext cx="2068926" cy="720000"/>
          </a:xfrm>
          <a:prstGeom prst="roundRect">
            <a:avLst/>
          </a:prstGeom>
          <a:solidFill>
            <a:srgbClr val="F0F8F3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18288" rtlCol="0" anchor="ctr"/>
          <a:lstStyle/>
          <a:p>
            <a:r>
              <a:rPr lang="en-US" altLang="ja-JP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【</a:t>
            </a:r>
            <a:r>
              <a:rPr lang="ja-JP" altLang="en-US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貴社よりご提供</a:t>
            </a:r>
            <a:r>
              <a:rPr lang="en-US" altLang="ja-JP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】</a:t>
            </a:r>
            <a:endParaRPr lang="en-US" sz="720" b="0" dirty="0">
              <a:solidFill>
                <a:schemeClr val="bg1">
                  <a:lumMod val="50000"/>
                </a:schemeClr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・基幹</a:t>
            </a:r>
            <a:r>
              <a:rPr lang="ja-JP" altLang="en-US" sz="720" b="0" dirty="0">
                <a:solidFill>
                  <a:srgbClr val="C00000"/>
                </a:solidFill>
                <a:latin typeface="メイリオ"/>
                <a:ea typeface="メイリオ"/>
              </a:rPr>
              <a:t>システム</a:t>
            </a: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インターフェイス一覧・詳細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・EDIインターフェイス一覧・詳細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・</a:t>
            </a:r>
            <a:r>
              <a:rPr sz="720" b="0" dirty="0" err="1">
                <a:solidFill>
                  <a:srgbClr val="C00000"/>
                </a:solidFill>
                <a:latin typeface="メイリオ"/>
                <a:ea typeface="メイリオ"/>
              </a:rPr>
              <a:t>Excel等システム外の管理データ・帳票</a:t>
            </a:r>
            <a:endParaRPr lang="en-US" sz="720" b="0" dirty="0">
              <a:solidFill>
                <a:srgbClr val="C00000"/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ja-JP" altLang="en-US" sz="720" dirty="0">
                <a:solidFill>
                  <a:srgbClr val="C00000"/>
                </a:solidFill>
                <a:latin typeface="メイリオ"/>
                <a:ea typeface="メイリオ"/>
              </a:rPr>
              <a:t>・</a:t>
            </a:r>
            <a:endParaRPr sz="720" b="0" dirty="0">
              <a:solidFill>
                <a:srgbClr val="C00000"/>
              </a:solidFill>
              <a:latin typeface="メイリオ"/>
              <a:ea typeface="メイリオ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28740" y="1440716"/>
            <a:ext cx="2971800" cy="720000"/>
          </a:xfrm>
          <a:prstGeom prst="roundRect">
            <a:avLst/>
          </a:prstGeom>
          <a:solidFill>
            <a:srgbClr val="E9F5EA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2E7D32"/>
                </a:solidFill>
                <a:latin typeface="メイリオ"/>
                <a:ea typeface="メイリオ"/>
              </a:rPr>
              <a:t>▶ 基幹システム</a:t>
            </a:r>
            <a:r>
              <a:rPr lang="ja-JP" altLang="en-US" sz="850" b="1" dirty="0">
                <a:solidFill>
                  <a:srgbClr val="2E7D32"/>
                </a:solidFill>
                <a:latin typeface="メイリオ"/>
                <a:ea typeface="メイリオ"/>
              </a:rPr>
              <a:t>連携</a:t>
            </a:r>
            <a:r>
              <a:rPr sz="850" b="1" dirty="0">
                <a:solidFill>
                  <a:srgbClr val="2E7D32"/>
                </a:solidFill>
                <a:latin typeface="メイリオ"/>
                <a:ea typeface="メイリオ"/>
              </a:rPr>
              <a:t>仕様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2E7D32"/>
                </a:solidFill>
                <a:latin typeface="メイリオ"/>
                <a:ea typeface="メイリオ"/>
              </a:rPr>
              <a:t>（連携インターフェイス）</a:t>
            </a:r>
          </a:p>
        </p:txBody>
      </p:sp>
      <p:cxnSp>
        <p:nvCxnSpPr>
          <p:cNvPr id="10" name="Connector 9"/>
          <p:cNvCxnSpPr>
            <a:cxnSpLocks/>
            <a:stCxn id="8" idx="2"/>
            <a:endCxn id="13" idx="0"/>
          </p:cNvCxnSpPr>
          <p:nvPr/>
        </p:nvCxnSpPr>
        <p:spPr>
          <a:xfrm rot="5400000">
            <a:off x="4552928" y="-983152"/>
            <a:ext cx="317844" cy="6605581"/>
          </a:xfrm>
          <a:prstGeom prst="bentConnector3">
            <a:avLst>
              <a:gd name="adj1" fmla="val 50000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63071" y="2478560"/>
            <a:ext cx="3246120" cy="720000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2. システム化する業務の整理 ①②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596" y="2478560"/>
            <a:ext cx="2068926" cy="720000"/>
          </a:xfrm>
          <a:prstGeom prst="roundRect">
            <a:avLst/>
          </a:prstGeom>
          <a:solidFill>
            <a:srgbClr val="F0F8F3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18288" rtlCol="0" anchor="ctr"/>
          <a:lstStyle/>
          <a:p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【</a:t>
            </a:r>
            <a:r>
              <a:rPr lang="ja-JP" altLang="en-US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貴社よりご提供</a:t>
            </a:r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】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  <a:latin typeface="メイリオ"/>
              <a:ea typeface="メイリオ"/>
            </a:endParaRPr>
          </a:p>
          <a:p>
            <a:r>
              <a:rPr lang="ja-JP" altLang="en-US" sz="800" dirty="0">
                <a:solidFill>
                  <a:srgbClr val="C00000"/>
                </a:solidFill>
                <a:latin typeface="メイリオ"/>
                <a:ea typeface="メイリオ"/>
              </a:rPr>
              <a:t>・顧客マスタの詳細</a:t>
            </a:r>
            <a:endParaRPr lang="en-US" altLang="ja-JP" sz="800" dirty="0">
              <a:solidFill>
                <a:srgbClr val="C00000"/>
              </a:solidFill>
              <a:latin typeface="メイリオ"/>
              <a:ea typeface="メイリオ"/>
            </a:endParaRPr>
          </a:p>
          <a:p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【</a:t>
            </a:r>
            <a:r>
              <a:rPr lang="ja-JP" altLang="en-US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弊社で作成</a:t>
            </a:r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】</a:t>
            </a:r>
            <a:endParaRPr lang="en-US" sz="72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333333"/>
                </a:solidFill>
                <a:latin typeface="メイリオ"/>
                <a:ea typeface="メイリオ"/>
              </a:rPr>
              <a:t>・</a:t>
            </a:r>
            <a:r>
              <a:rPr lang="ja-JP" altLang="en-US" sz="720" b="0" dirty="0">
                <a:solidFill>
                  <a:srgbClr val="333333"/>
                </a:solidFill>
                <a:latin typeface="メイリオ"/>
                <a:ea typeface="メイリオ"/>
              </a:rPr>
              <a:t>要件定義書</a:t>
            </a:r>
            <a:r>
              <a:rPr lang="en-US" altLang="ja-JP" sz="720" b="0" dirty="0">
                <a:solidFill>
                  <a:srgbClr val="333333"/>
                </a:solidFill>
                <a:latin typeface="メイリオ"/>
                <a:ea typeface="メイリオ"/>
              </a:rPr>
              <a:t>_</a:t>
            </a:r>
            <a:r>
              <a:rPr lang="ja-JP" altLang="en-US" sz="720" b="0" dirty="0">
                <a:solidFill>
                  <a:srgbClr val="333333"/>
                </a:solidFill>
                <a:latin typeface="メイリオ"/>
                <a:ea typeface="メイリオ"/>
              </a:rPr>
              <a:t>概略業務フロー（仮）</a:t>
            </a:r>
            <a:endParaRPr sz="720" b="0" dirty="0">
              <a:solidFill>
                <a:srgbClr val="333333"/>
              </a:solidFill>
              <a:latin typeface="メイリオ"/>
              <a:ea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8740" y="2478560"/>
            <a:ext cx="2971800" cy="720000"/>
          </a:xfrm>
          <a:prstGeom prst="roundRect">
            <a:avLst/>
          </a:prstGeom>
          <a:solidFill>
            <a:srgbClr val="E9F5EA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要件定義書_概略業務フロー</a:t>
            </a:r>
          </a:p>
        </p:txBody>
      </p:sp>
      <p:cxnSp>
        <p:nvCxnSpPr>
          <p:cNvPr id="17" name="Connector 16"/>
          <p:cNvCxnSpPr>
            <a:cxnSpLocks/>
            <a:stCxn id="15" idx="2"/>
            <a:endCxn id="20" idx="0"/>
          </p:cNvCxnSpPr>
          <p:nvPr/>
        </p:nvCxnSpPr>
        <p:spPr>
          <a:xfrm rot="5400000">
            <a:off x="4559786" y="47834"/>
            <a:ext cx="304128" cy="6605581"/>
          </a:xfrm>
          <a:prstGeom prst="bentConnector3">
            <a:avLst>
              <a:gd name="adj1" fmla="val 50000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63071" y="3502688"/>
            <a:ext cx="3246120" cy="720000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3. EC-Rider画面UIの検討 ①②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596" y="3502688"/>
            <a:ext cx="2068926" cy="720000"/>
          </a:xfrm>
          <a:prstGeom prst="roundRect">
            <a:avLst/>
          </a:prstGeom>
          <a:solidFill>
            <a:srgbClr val="F0F8F3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18288" rtlCol="0" anchor="ctr"/>
          <a:lstStyle/>
          <a:p>
            <a:r>
              <a:rPr lang="en-US" altLang="ja-JP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【</a:t>
            </a:r>
            <a:r>
              <a:rPr lang="ja-JP" altLang="en-US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弊社で作成</a:t>
            </a:r>
            <a:r>
              <a:rPr lang="en-US" altLang="ja-JP" sz="7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】</a:t>
            </a:r>
            <a:endParaRPr lang="en-US" sz="72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333333"/>
                </a:solidFill>
                <a:latin typeface="メイリオ"/>
                <a:ea typeface="メイリオ"/>
              </a:rPr>
              <a:t>・</a:t>
            </a:r>
            <a:r>
              <a:rPr lang="ja-JP" altLang="en-US" sz="720" b="0" dirty="0">
                <a:solidFill>
                  <a:srgbClr val="333333"/>
                </a:solidFill>
                <a:latin typeface="メイリオ"/>
                <a:ea typeface="メイリオ"/>
              </a:rPr>
              <a:t>要件定義書</a:t>
            </a:r>
            <a:r>
              <a:rPr lang="en-US" altLang="ja-JP" sz="720" b="0" dirty="0">
                <a:solidFill>
                  <a:srgbClr val="333333"/>
                </a:solidFill>
                <a:latin typeface="メイリオ"/>
                <a:ea typeface="メイリオ"/>
              </a:rPr>
              <a:t>_</a:t>
            </a:r>
            <a:r>
              <a:rPr lang="ja-JP" altLang="en-US" sz="720" b="0" dirty="0">
                <a:solidFill>
                  <a:srgbClr val="333333"/>
                </a:solidFill>
                <a:latin typeface="メイリオ"/>
                <a:ea typeface="メイリオ"/>
              </a:rPr>
              <a:t>機能詳細設計書</a:t>
            </a:r>
            <a:r>
              <a:rPr lang="ja-JP" altLang="en-US" sz="720" dirty="0">
                <a:solidFill>
                  <a:srgbClr val="333333"/>
                </a:solidFill>
                <a:latin typeface="メイリオ"/>
                <a:ea typeface="メイリオ"/>
              </a:rPr>
              <a:t>（仮）</a:t>
            </a:r>
            <a:endParaRPr lang="en-US" altLang="ja-JP" sz="720" b="0" dirty="0">
              <a:solidFill>
                <a:srgbClr val="333333"/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ja-JP" altLang="en-US" sz="720" dirty="0">
                <a:solidFill>
                  <a:srgbClr val="333333"/>
                </a:solidFill>
                <a:latin typeface="メイリオ"/>
                <a:ea typeface="メイリオ"/>
              </a:rPr>
              <a:t>・要件定義書</a:t>
            </a:r>
            <a:r>
              <a:rPr lang="en-US" altLang="ja-JP" sz="720" dirty="0">
                <a:solidFill>
                  <a:srgbClr val="333333"/>
                </a:solidFill>
                <a:latin typeface="メイリオ"/>
                <a:ea typeface="メイリオ"/>
              </a:rPr>
              <a:t>_</a:t>
            </a:r>
            <a:r>
              <a:rPr lang="ja-JP" altLang="en-US" sz="720" dirty="0">
                <a:solidFill>
                  <a:srgbClr val="333333"/>
                </a:solidFill>
                <a:latin typeface="メイリオ"/>
                <a:ea typeface="メイリオ"/>
              </a:rPr>
              <a:t>画面機能設計書（仮）</a:t>
            </a:r>
            <a:endParaRPr sz="720" b="0" dirty="0">
              <a:solidFill>
                <a:srgbClr val="333333"/>
              </a:solidFill>
              <a:latin typeface="メイリオ"/>
              <a:ea typeface="メイリオ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528740" y="3502688"/>
            <a:ext cx="2971800" cy="720000"/>
          </a:xfrm>
          <a:prstGeom prst="roundRect">
            <a:avLst/>
          </a:prstGeom>
          <a:solidFill>
            <a:srgbClr val="E9F5EA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dirty="0">
                <a:solidFill>
                  <a:srgbClr val="2E7D32"/>
                </a:solidFill>
                <a:latin typeface="メイリオ"/>
                <a:ea typeface="メイリオ"/>
              </a:rPr>
              <a:t>▶ 要件定義書_画面機能設計書</a:t>
            </a:r>
            <a:endParaRPr lang="en-US" sz="850" b="1" dirty="0">
              <a:solidFill>
                <a:srgbClr val="2E7D32"/>
              </a:solidFill>
              <a:latin typeface="メイリオ"/>
              <a:ea typeface="メイリオ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ja-JP" altLang="en-US" sz="850" b="1" dirty="0">
                <a:solidFill>
                  <a:srgbClr val="2E7D32"/>
                </a:solidFill>
                <a:latin typeface="メイリオ"/>
                <a:ea typeface="メイリオ"/>
              </a:rPr>
              <a:t>▶ </a:t>
            </a:r>
            <a:r>
              <a:rPr sz="850" b="1" dirty="0">
                <a:solidFill>
                  <a:srgbClr val="2E7D32"/>
                </a:solidFill>
                <a:latin typeface="メイリオ"/>
                <a:ea typeface="メイリオ"/>
              </a:rPr>
              <a:t>要件定義書_機能詳細設計書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63071" y="4526816"/>
            <a:ext cx="3246120" cy="720000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4. 非機能要件の検討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596" y="4526816"/>
            <a:ext cx="2068926" cy="720000"/>
          </a:xfrm>
          <a:prstGeom prst="roundRect">
            <a:avLst/>
          </a:prstGeom>
          <a:solidFill>
            <a:srgbClr val="F0F8F3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bIns="18288" rtlCol="0" anchor="ctr"/>
          <a:lstStyle/>
          <a:p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【</a:t>
            </a:r>
            <a:r>
              <a:rPr lang="ja-JP" altLang="en-US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貴社よりご提供</a:t>
            </a:r>
            <a:r>
              <a:rPr lang="en-US" altLang="ja-JP" sz="800" b="1" dirty="0">
                <a:solidFill>
                  <a:schemeClr val="bg1">
                    <a:lumMod val="50000"/>
                  </a:schemeClr>
                </a:solidFill>
                <a:latin typeface="メイリオ"/>
                <a:ea typeface="メイリオ"/>
              </a:rPr>
              <a:t>】</a:t>
            </a:r>
            <a:endParaRPr lang="en-US" sz="720" b="0" dirty="0">
              <a:solidFill>
                <a:srgbClr val="C00000"/>
              </a:solidFill>
              <a:latin typeface="メイリオ"/>
              <a:ea typeface="メイリオ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・年間注文数・ピーク時間帯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20" b="0" dirty="0">
                <a:solidFill>
                  <a:srgbClr val="C00000"/>
                </a:solidFill>
                <a:latin typeface="メイリオ"/>
                <a:ea typeface="メイリオ"/>
              </a:rPr>
              <a:t>・取引先数・SKU数・利用想定者数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740" y="4526816"/>
            <a:ext cx="2971800" cy="720000"/>
          </a:xfrm>
          <a:prstGeom prst="roundRect">
            <a:avLst/>
          </a:prstGeom>
          <a:solidFill>
            <a:srgbClr val="E9F5EA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要件定義書_非機能要件</a:t>
            </a:r>
          </a:p>
        </p:txBody>
      </p:sp>
      <p:cxnSp>
        <p:nvCxnSpPr>
          <p:cNvPr id="31" name="Connector 30"/>
          <p:cNvCxnSpPr>
            <a:cxnSpLocks/>
            <a:stCxn id="29" idx="3"/>
            <a:endCxn id="33" idx="1"/>
          </p:cNvCxnSpPr>
          <p:nvPr/>
        </p:nvCxnSpPr>
        <p:spPr>
          <a:xfrm flipH="1">
            <a:off x="2863071" y="4886816"/>
            <a:ext cx="6637469" cy="1024128"/>
          </a:xfrm>
          <a:prstGeom prst="bentConnector5">
            <a:avLst>
              <a:gd name="adj1" fmla="val -3444"/>
              <a:gd name="adj2" fmla="val 50000"/>
              <a:gd name="adj3" fmla="val 103444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63071" y="5550944"/>
            <a:ext cx="3246120" cy="720000"/>
          </a:xfrm>
          <a:prstGeom prst="roundRect">
            <a:avLst/>
          </a:prstGeom>
          <a:solidFill>
            <a:srgbClr val="DFF4F1"/>
          </a:solidFill>
          <a:ln w="19050"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A6E"/>
                </a:solidFill>
                <a:latin typeface="メイリオ"/>
                <a:ea typeface="メイリオ"/>
              </a:rPr>
              <a:t>5. 納品・正式見積り提示（開発工程のご提案）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28740" y="5550944"/>
            <a:ext cx="2971800" cy="720000"/>
          </a:xfrm>
          <a:prstGeom prst="roundRect">
            <a:avLst/>
          </a:prstGeom>
          <a:solidFill>
            <a:srgbClr val="E9F5EA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7D32"/>
                </a:solidFill>
                <a:latin typeface="メイリオ"/>
                <a:ea typeface="メイリオ"/>
              </a:rPr>
              <a:t>▶ 開発範囲・工程・正式お見積り</a:t>
            </a:r>
          </a:p>
        </p:txBody>
      </p:sp>
      <p:cxnSp>
        <p:nvCxnSpPr>
          <p:cNvPr id="43" name="Connector 30">
            <a:extLst>
              <a:ext uri="{FF2B5EF4-FFF2-40B4-BE49-F238E27FC236}">
                <a16:creationId xmlns:a16="http://schemas.microsoft.com/office/drawing/2014/main" id="{04B308C4-121C-BDF4-B10B-3762154403B9}"/>
              </a:ext>
            </a:extLst>
          </p:cNvPr>
          <p:cNvCxnSpPr>
            <a:cxnSpLocks/>
            <a:stCxn id="8" idx="3"/>
            <a:endCxn id="33" idx="1"/>
          </p:cNvCxnSpPr>
          <p:nvPr/>
        </p:nvCxnSpPr>
        <p:spPr>
          <a:xfrm flipH="1">
            <a:off x="2863071" y="1800716"/>
            <a:ext cx="6637469" cy="4110228"/>
          </a:xfrm>
          <a:prstGeom prst="bentConnector5">
            <a:avLst>
              <a:gd name="adj1" fmla="val -3444"/>
              <a:gd name="adj2" fmla="val 87577"/>
              <a:gd name="adj3" fmla="val 103444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30">
            <a:extLst>
              <a:ext uri="{FF2B5EF4-FFF2-40B4-BE49-F238E27FC236}">
                <a16:creationId xmlns:a16="http://schemas.microsoft.com/office/drawing/2014/main" id="{E6238746-C853-53BC-FDEC-ECB5EEADEDE1}"/>
              </a:ext>
            </a:extLst>
          </p:cNvPr>
          <p:cNvCxnSpPr>
            <a:cxnSpLocks/>
            <a:stCxn id="15" idx="3"/>
            <a:endCxn id="33" idx="1"/>
          </p:cNvCxnSpPr>
          <p:nvPr/>
        </p:nvCxnSpPr>
        <p:spPr>
          <a:xfrm flipH="1">
            <a:off x="2863071" y="2838560"/>
            <a:ext cx="6637469" cy="3072384"/>
          </a:xfrm>
          <a:prstGeom prst="bentConnector5">
            <a:avLst>
              <a:gd name="adj1" fmla="val -3444"/>
              <a:gd name="adj2" fmla="val 83764"/>
              <a:gd name="adj3" fmla="val 103444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0">
            <a:extLst>
              <a:ext uri="{FF2B5EF4-FFF2-40B4-BE49-F238E27FC236}">
                <a16:creationId xmlns:a16="http://schemas.microsoft.com/office/drawing/2014/main" id="{197E0992-E84E-960D-9CBA-0D538E23CB8E}"/>
              </a:ext>
            </a:extLst>
          </p:cNvPr>
          <p:cNvCxnSpPr>
            <a:cxnSpLocks/>
            <a:stCxn id="22" idx="3"/>
            <a:endCxn id="33" idx="1"/>
          </p:cNvCxnSpPr>
          <p:nvPr/>
        </p:nvCxnSpPr>
        <p:spPr>
          <a:xfrm flipH="1">
            <a:off x="2863071" y="3862688"/>
            <a:ext cx="6637469" cy="2048256"/>
          </a:xfrm>
          <a:prstGeom prst="bentConnector5">
            <a:avLst>
              <a:gd name="adj1" fmla="val -3444"/>
              <a:gd name="adj2" fmla="val 74760"/>
              <a:gd name="adj3" fmla="val 103444"/>
            </a:avLst>
          </a:prstGeom>
          <a:ln w="31750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4">
            <a:extLst>
              <a:ext uri="{FF2B5EF4-FFF2-40B4-BE49-F238E27FC236}">
                <a16:creationId xmlns:a16="http://schemas.microsoft.com/office/drawing/2014/main" id="{74C224DF-0B1B-9303-BB78-950A21651C37}"/>
              </a:ext>
            </a:extLst>
          </p:cNvPr>
          <p:cNvSpPr/>
          <p:nvPr/>
        </p:nvSpPr>
        <p:spPr>
          <a:xfrm>
            <a:off x="374596" y="1096816"/>
            <a:ext cx="2068926" cy="2743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</a:rPr>
              <a:t>工程で使用する資料</a:t>
            </a:r>
          </a:p>
        </p:txBody>
      </p:sp>
      <p:sp>
        <p:nvSpPr>
          <p:cNvPr id="69" name="Rectangle 5">
            <a:extLst>
              <a:ext uri="{FF2B5EF4-FFF2-40B4-BE49-F238E27FC236}">
                <a16:creationId xmlns:a16="http://schemas.microsoft.com/office/drawing/2014/main" id="{40D9303D-6D77-79E2-0711-C7CACC112E9D}"/>
              </a:ext>
            </a:extLst>
          </p:cNvPr>
          <p:cNvSpPr/>
          <p:nvPr/>
        </p:nvSpPr>
        <p:spPr>
          <a:xfrm>
            <a:off x="2863071" y="1087860"/>
            <a:ext cx="3246120" cy="2743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</a:rPr>
              <a:t>工程</a:t>
            </a:r>
          </a:p>
        </p:txBody>
      </p:sp>
      <p:sp>
        <p:nvSpPr>
          <p:cNvPr id="71" name="Rectangle 6">
            <a:extLst>
              <a:ext uri="{FF2B5EF4-FFF2-40B4-BE49-F238E27FC236}">
                <a16:creationId xmlns:a16="http://schemas.microsoft.com/office/drawing/2014/main" id="{2563F299-82DD-6A84-56F9-96F643C83A1B}"/>
              </a:ext>
            </a:extLst>
          </p:cNvPr>
          <p:cNvSpPr/>
          <p:nvPr/>
        </p:nvSpPr>
        <p:spPr>
          <a:xfrm>
            <a:off x="6528740" y="1087860"/>
            <a:ext cx="2971800" cy="2743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</a:rPr>
              <a:t>成果物</a:t>
            </a:r>
          </a:p>
        </p:txBody>
      </p:sp>
      <p:cxnSp>
        <p:nvCxnSpPr>
          <p:cNvPr id="72" name="Connector 10">
            <a:extLst>
              <a:ext uri="{FF2B5EF4-FFF2-40B4-BE49-F238E27FC236}">
                <a16:creationId xmlns:a16="http://schemas.microsoft.com/office/drawing/2014/main" id="{E2FB98A1-1178-F42F-7175-C85038E90029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2443522" y="1800716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10">
            <a:extLst>
              <a:ext uri="{FF2B5EF4-FFF2-40B4-BE49-F238E27FC236}">
                <a16:creationId xmlns:a16="http://schemas.microsoft.com/office/drawing/2014/main" id="{3906E416-E27C-79EF-878F-34991DA7157C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6109191" y="1800716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10">
            <a:extLst>
              <a:ext uri="{FF2B5EF4-FFF2-40B4-BE49-F238E27FC236}">
                <a16:creationId xmlns:a16="http://schemas.microsoft.com/office/drawing/2014/main" id="{2539FA1A-1B2A-2754-DAA6-362BC81A10E3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2443522" y="2838560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10">
            <a:extLst>
              <a:ext uri="{FF2B5EF4-FFF2-40B4-BE49-F238E27FC236}">
                <a16:creationId xmlns:a16="http://schemas.microsoft.com/office/drawing/2014/main" id="{D8C2E62A-C8C1-F4C7-8009-D5F071E433E2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>
          <a:xfrm>
            <a:off x="6109191" y="2838560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10">
            <a:extLst>
              <a:ext uri="{FF2B5EF4-FFF2-40B4-BE49-F238E27FC236}">
                <a16:creationId xmlns:a16="http://schemas.microsoft.com/office/drawing/2014/main" id="{3CC2B4C0-985F-0E36-45CC-BFCF8274BCDC}"/>
              </a:ext>
            </a:extLst>
          </p:cNvPr>
          <p:cNvCxnSpPr>
            <a:cxnSpLocks/>
            <a:stCxn id="20" idx="3"/>
            <a:endCxn id="19" idx="1"/>
          </p:cNvCxnSpPr>
          <p:nvPr/>
        </p:nvCxnSpPr>
        <p:spPr>
          <a:xfrm>
            <a:off x="2443522" y="3862688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10">
            <a:extLst>
              <a:ext uri="{FF2B5EF4-FFF2-40B4-BE49-F238E27FC236}">
                <a16:creationId xmlns:a16="http://schemas.microsoft.com/office/drawing/2014/main" id="{657AAF20-AA3F-7A89-14A8-81331495A487}"/>
              </a:ext>
            </a:extLst>
          </p:cNvPr>
          <p:cNvCxnSpPr>
            <a:cxnSpLocks/>
            <a:stCxn id="19" idx="3"/>
            <a:endCxn id="22" idx="1"/>
          </p:cNvCxnSpPr>
          <p:nvPr/>
        </p:nvCxnSpPr>
        <p:spPr>
          <a:xfrm>
            <a:off x="6109191" y="3862688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10">
            <a:extLst>
              <a:ext uri="{FF2B5EF4-FFF2-40B4-BE49-F238E27FC236}">
                <a16:creationId xmlns:a16="http://schemas.microsoft.com/office/drawing/2014/main" id="{EC63B6A4-1ABF-8A96-ADDD-7383B2ABE507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2443522" y="4886816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10">
            <a:extLst>
              <a:ext uri="{FF2B5EF4-FFF2-40B4-BE49-F238E27FC236}">
                <a16:creationId xmlns:a16="http://schemas.microsoft.com/office/drawing/2014/main" id="{6B4366E0-38FF-4474-76FB-8B1230A303FD}"/>
              </a:ext>
            </a:extLst>
          </p:cNvPr>
          <p:cNvCxnSpPr>
            <a:cxnSpLocks/>
            <a:stCxn id="26" idx="3"/>
            <a:endCxn id="29" idx="1"/>
          </p:cNvCxnSpPr>
          <p:nvPr/>
        </p:nvCxnSpPr>
        <p:spPr>
          <a:xfrm>
            <a:off x="6109191" y="4886816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10">
            <a:extLst>
              <a:ext uri="{FF2B5EF4-FFF2-40B4-BE49-F238E27FC236}">
                <a16:creationId xmlns:a16="http://schemas.microsoft.com/office/drawing/2014/main" id="{B06460C6-F3E0-158C-B0CF-DEE0D5F30492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6109191" y="5910944"/>
            <a:ext cx="419549" cy="0"/>
          </a:xfrm>
          <a:prstGeom prst="line">
            <a:avLst/>
          </a:prstGeom>
          <a:ln w="22225">
            <a:solidFill>
              <a:srgbClr val="00A69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Google Shape;138;p6">
            <a:extLst>
              <a:ext uri="{FF2B5EF4-FFF2-40B4-BE49-F238E27FC236}">
                <a16:creationId xmlns:a16="http://schemas.microsoft.com/office/drawing/2014/main" id="{A6E5474C-93CB-FBD7-410D-0A4C55B04A60}"/>
              </a:ext>
            </a:extLst>
          </p:cNvPr>
          <p:cNvSpPr txBox="1"/>
          <p:nvPr/>
        </p:nvSpPr>
        <p:spPr>
          <a:xfrm>
            <a:off x="868222" y="79506"/>
            <a:ext cx="7482147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ja-JP" altLang="en-US" sz="2400" dirty="0">
                <a:latin typeface="メイリオ" pitchFamily="50" charset="-128"/>
                <a:ea typeface="メイリオ" pitchFamily="50" charset="-128"/>
                <a:cs typeface="メイリオ" pitchFamily="50" charset="-128"/>
                <a:sym typeface="メイリオ" pitchFamily="50" charset="-128"/>
              </a:rPr>
              <a:t>要件定義の進め方</a:t>
            </a:r>
          </a:p>
        </p:txBody>
      </p:sp>
      <p:sp>
        <p:nvSpPr>
          <p:cNvPr id="104" name="TextBox 3">
            <a:extLst>
              <a:ext uri="{FF2B5EF4-FFF2-40B4-BE49-F238E27FC236}">
                <a16:creationId xmlns:a16="http://schemas.microsoft.com/office/drawing/2014/main" id="{30CA8695-E45B-52B8-C665-B20CA8400E7F}"/>
              </a:ext>
            </a:extLst>
          </p:cNvPr>
          <p:cNvSpPr txBox="1"/>
          <p:nvPr/>
        </p:nvSpPr>
        <p:spPr>
          <a:xfrm>
            <a:off x="374596" y="826249"/>
            <a:ext cx="92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11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/>
                <a:ea typeface="メイリオ"/>
              </a:rPr>
              <a:t>各工程で作成した資料をもとに次の工程に進みます。最終的に各工程の成果物をもって納品・正式見積を提示いたします。</a:t>
            </a:r>
            <a:endParaRPr sz="1100" b="0" dirty="0">
              <a:solidFill>
                <a:schemeClr val="tx1">
                  <a:lumMod val="75000"/>
                  <a:lumOff val="25000"/>
                </a:schemeClr>
              </a:solidFill>
              <a:latin typeface="メイリオ"/>
              <a:ea typeface="メイリオ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328E-6B01-8C08-21EC-26827B0C0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38;p6">
            <a:extLst>
              <a:ext uri="{FF2B5EF4-FFF2-40B4-BE49-F238E27FC236}">
                <a16:creationId xmlns:a16="http://schemas.microsoft.com/office/drawing/2014/main" id="{4417B0F0-B0DB-639D-E979-5EB99CCA62CB}"/>
              </a:ext>
            </a:extLst>
          </p:cNvPr>
          <p:cNvSpPr txBox="1"/>
          <p:nvPr/>
        </p:nvSpPr>
        <p:spPr>
          <a:xfrm>
            <a:off x="868222" y="79506"/>
            <a:ext cx="7482147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sz="2400" b="0">
                <a:solidFill>
                  <a:srgbClr val="3F3F3F"/>
                </a:solidFill>
                <a:latin typeface="メイリオ"/>
                <a:ea typeface="メイリオ"/>
              </a:rPr>
              <a:t>貴社へのご提供依頼一覧</a:t>
            </a:r>
            <a:r>
              <a:rPr sz="1400" b="1">
                <a:solidFill>
                  <a:srgbClr val="007A6E"/>
                </a:solidFill>
                <a:latin typeface="メイリオ"/>
                <a:ea typeface="メイリオ"/>
              </a:rPr>
              <a:t>　　すべて 8/21（金）までにご提供をお願いいたします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" y="603504"/>
            <a:ext cx="9326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〇＝ご提供依頼の対象です。ご提供時・ご提供不可の場合は、該当セルに「済」「×」をご記入ください（項目ごとに管理できます）。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83464" y="896112"/>
          <a:ext cx="9345168" cy="3753599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335024"/>
                <a:gridCol w="3511296"/>
                <a:gridCol w="1581912"/>
                <a:gridCol w="1481328"/>
                <a:gridCol w="1435608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区分</a:t>
                      </a:r>
                    </a:p>
                  </a:txBody>
                  <a:tcPr anchor="ctr" marL="64008" marR="36576" marT="9144" marB="9144">
                    <a:solidFill>
                      <a:srgbClr val="00A693"/>
                    </a:solidFill>
                    <a:lnL w="7620" cap="flat" cmpd="sng" algn="ctr">
                      <a:solidFill>
                        <a:srgbClr val="00A693"/>
                      </a:solidFill>
                      <a:prstDash val="solid"/>
                    </a:lnL>
                    <a:lnR w="7620" cap="flat" cmpd="sng" algn="ctr">
                      <a:solidFill>
                        <a:srgbClr val="00A693"/>
                      </a:solidFill>
                      <a:prstDash val="solid"/>
                    </a:lnR>
                    <a:lnT w="7620" cap="flat" cmpd="sng" algn="ctr">
                      <a:solidFill>
                        <a:srgbClr val="00A693"/>
                      </a:solidFill>
                      <a:prstDash val="solid"/>
                    </a:lnT>
                    <a:lnB w="7620" cap="flat" cmpd="sng" algn="ctr">
                      <a:solidFill>
                        <a:srgbClr val="00A693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対象</a:t>
                      </a:r>
                    </a:p>
                  </a:txBody>
                  <a:tcPr anchor="ctr" marL="64008" marR="36576" marT="9144" marB="9144">
                    <a:solidFill>
                      <a:srgbClr val="00A693"/>
                    </a:solidFill>
                    <a:lnL w="7620" cap="flat" cmpd="sng" algn="ctr">
                      <a:solidFill>
                        <a:srgbClr val="00A693"/>
                      </a:solidFill>
                      <a:prstDash val="solid"/>
                    </a:lnL>
                    <a:lnR w="7620" cap="flat" cmpd="sng" algn="ctr">
                      <a:solidFill>
                        <a:srgbClr val="00A693"/>
                      </a:solidFill>
                      <a:prstDash val="solid"/>
                    </a:lnR>
                    <a:lnT w="7620" cap="flat" cmpd="sng" algn="ctr">
                      <a:solidFill>
                        <a:srgbClr val="00A693"/>
                      </a:solidFill>
                      <a:prstDash val="solid"/>
                    </a:lnT>
                    <a:lnB w="7620" cap="flat" cmpd="sng" algn="ctr">
                      <a:solidFill>
                        <a:srgbClr val="00A693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レイアウト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（フォーマット）</a:t>
                      </a:r>
                    </a:p>
                  </a:txBody>
                  <a:tcPr anchor="ctr" marL="64008" marR="36576" marT="9144" marB="9144">
                    <a:solidFill>
                      <a:srgbClr val="00A693"/>
                    </a:solidFill>
                    <a:lnL w="7620" cap="flat" cmpd="sng" algn="ctr">
                      <a:solidFill>
                        <a:srgbClr val="00A693"/>
                      </a:solidFill>
                      <a:prstDash val="solid"/>
                    </a:lnL>
                    <a:lnR w="7620" cap="flat" cmpd="sng" algn="ctr">
                      <a:solidFill>
                        <a:srgbClr val="00A693"/>
                      </a:solidFill>
                      <a:prstDash val="solid"/>
                    </a:lnR>
                    <a:lnT w="7620" cap="flat" cmpd="sng" algn="ctr">
                      <a:solidFill>
                        <a:srgbClr val="00A693"/>
                      </a:solidFill>
                      <a:prstDash val="solid"/>
                    </a:lnT>
                    <a:lnB w="7620" cap="flat" cmpd="sng" algn="ctr">
                      <a:solidFill>
                        <a:srgbClr val="00A693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データサンプル</a:t>
                      </a:r>
                    </a:p>
                  </a:txBody>
                  <a:tcPr anchor="ctr" marL="64008" marR="36576" marT="9144" marB="9144">
                    <a:solidFill>
                      <a:srgbClr val="00A693"/>
                    </a:solidFill>
                    <a:lnL w="7620" cap="flat" cmpd="sng" algn="ctr">
                      <a:solidFill>
                        <a:srgbClr val="00A693"/>
                      </a:solidFill>
                      <a:prstDash val="solid"/>
                    </a:lnL>
                    <a:lnR w="7620" cap="flat" cmpd="sng" algn="ctr">
                      <a:solidFill>
                        <a:srgbClr val="00A693"/>
                      </a:solidFill>
                      <a:prstDash val="solid"/>
                    </a:lnR>
                    <a:lnT w="7620" cap="flat" cmpd="sng" algn="ctr">
                      <a:solidFill>
                        <a:srgbClr val="00A693"/>
                      </a:solidFill>
                      <a:prstDash val="solid"/>
                    </a:lnT>
                    <a:lnB w="7620" cap="flat" cmpd="sng" algn="ctr">
                      <a:solidFill>
                        <a:srgbClr val="00A693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</a:rPr>
                        <a:t>項目定義</a:t>
                      </a:r>
                    </a:p>
                  </a:txBody>
                  <a:tcPr anchor="ctr" marL="64008" marR="36576" marT="9144" marB="9144">
                    <a:solidFill>
                      <a:srgbClr val="00A693"/>
                    </a:solidFill>
                    <a:lnL w="7620" cap="flat" cmpd="sng" algn="ctr">
                      <a:solidFill>
                        <a:srgbClr val="00A693"/>
                      </a:solidFill>
                      <a:prstDash val="solid"/>
                    </a:lnL>
                    <a:lnR w="7620" cap="flat" cmpd="sng" algn="ctr">
                      <a:solidFill>
                        <a:srgbClr val="00A693"/>
                      </a:solidFill>
                      <a:prstDash val="solid"/>
                    </a:lnR>
                    <a:lnT w="7620" cap="flat" cmpd="sng" algn="ctr">
                      <a:solidFill>
                        <a:srgbClr val="00A693"/>
                      </a:solidFill>
                      <a:prstDash val="solid"/>
                    </a:lnT>
                    <a:lnB w="7620" cap="flat" cmpd="sng" algn="ctr">
                      <a:solidFill>
                        <a:srgbClr val="00A693"/>
                      </a:solidFill>
                      <a:prstDash val="solid"/>
                    </a:lnB>
                  </a:tcPr>
                </a:tc>
              </a:tr>
              <a:tr h="260603">
                <a:tc rowSpan="8"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基幹システム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連携インターフェイス</a:t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商品連携インターフェイス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在庫連携インターフェイス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受注連携インターフェイス（新規注文）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受注連携インターフェイス（与信回答）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受注連携インターフェイス（納期回答）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受注連携インターフェイス（出荷実績）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受注連携インターフェイス（キャンセル）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受注連携インターフェイス（返品）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EDI連携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インターフェイス</a:t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EDI連携インターフェイス　※複数ある場合はすべて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rowSpan="3"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基幹マスタ</a:t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商品マスタ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在庫マスタ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 vMerge="1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/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取引先マスタ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システム外データ</a:t>
                      </a:r>
                    </a:p>
                  </a:txBody>
                  <a:tcPr anchor="ctr" marL="64008" marR="36576" marT="9144" marB="9144">
                    <a:solidFill>
                      <a:srgbClr val="D9F0EC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</a:rPr>
                        <a:t>Excelなどシステム外で管理しているデータ及び帳票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〇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7620" cap="flat" cmpd="sng" algn="ctr">
                      <a:solidFill>
                        <a:srgbClr val="BFD9D5"/>
                      </a:solidFill>
                      <a:prstDash val="solid"/>
                    </a:lnL>
                    <a:lnR w="7620" cap="flat" cmpd="sng" algn="ctr">
                      <a:solidFill>
                        <a:srgbClr val="BFD9D5"/>
                      </a:solidFill>
                      <a:prstDash val="solid"/>
                    </a:lnR>
                    <a:lnT w="7620" cap="flat" cmpd="sng" algn="ctr">
                      <a:solidFill>
                        <a:srgbClr val="BFD9D5"/>
                      </a:solidFill>
                      <a:prstDash val="solid"/>
                    </a:lnT>
                    <a:lnB w="7620" cap="flat" cmpd="sng" algn="ctr">
                      <a:solidFill>
                        <a:srgbClr val="BFD9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3464" y="4850891"/>
            <a:ext cx="64008" cy="201168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4809743"/>
            <a:ext cx="9052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33333"/>
                </a:solidFill>
                <a:latin typeface="メイリオ"/>
                <a:ea typeface="メイリオ"/>
              </a:rPr>
              <a:t>ご教示事項（同じく 8/21 までにご教示ください）</a:t>
            </a:r>
            <a:r>
              <a:rPr sz="850" b="0">
                <a:solidFill>
                  <a:srgbClr val="666666"/>
                </a:solidFill>
                <a:latin typeface="メイリオ"/>
                <a:ea typeface="メイリオ"/>
              </a:rPr>
              <a:t>　※レイアウト等の書式がないため、数値・内容をご教示いただく項目です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83464" y="5143499"/>
          <a:ext cx="9345165" cy="7863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69033"/>
                <a:gridCol w="1869033"/>
                <a:gridCol w="1869033"/>
                <a:gridCol w="1869033"/>
                <a:gridCol w="1869033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年間注文数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ピーク注文時間帯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取引先数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商品SKU数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EC-Rider管理サイト</a:t>
                      </a:r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007A6E"/>
                          </a:solidFill>
                          <a:latin typeface="メイリオ"/>
                          <a:ea typeface="メイリオ"/>
                        </a:rPr>
                        <a:t>利用想定者数</a:t>
                      </a:r>
                    </a:p>
                  </a:txBody>
                  <a:tcPr anchor="ctr" marL="64008" marR="36576" marT="9144" marB="9144">
                    <a:solidFill>
                      <a:srgbClr val="F4FBFA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B9C7C5"/>
                          </a:solidFill>
                          <a:latin typeface="メイリオ"/>
                          <a:ea typeface="メイリオ"/>
                        </a:rPr>
                        <a:t>ご記入欄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B9C7C5"/>
                          </a:solidFill>
                          <a:latin typeface="メイリオ"/>
                          <a:ea typeface="メイリオ"/>
                        </a:rPr>
                        <a:t>ご記入欄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B9C7C5"/>
                          </a:solidFill>
                          <a:latin typeface="メイリオ"/>
                          <a:ea typeface="メイリオ"/>
                        </a:rPr>
                        <a:t>ご記入欄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B9C7C5"/>
                          </a:solidFill>
                          <a:latin typeface="メイリオ"/>
                          <a:ea typeface="メイリオ"/>
                        </a:rPr>
                        <a:t>ご記入欄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B9C7C5"/>
                          </a:solidFill>
                          <a:latin typeface="メイリオ"/>
                          <a:ea typeface="メイリオ"/>
                        </a:rPr>
                        <a:t>ご記入欄</a:t>
                      </a:r>
                    </a:p>
                  </a:txBody>
                  <a:tcPr anchor="ctr" marL="64008" marR="36576" marT="9144" marB="9144">
                    <a:solidFill>
                      <a:srgbClr val="FFFFFF"/>
                    </a:solidFill>
                    <a:lnL w="10160" cap="flat" cmpd="sng" algn="ctr">
                      <a:solidFill>
                        <a:srgbClr val="8FBFB8"/>
                      </a:solidFill>
                      <a:prstDash val="solid"/>
                    </a:lnL>
                    <a:lnR w="10160" cap="flat" cmpd="sng" algn="ctr">
                      <a:solidFill>
                        <a:srgbClr val="8FBFB8"/>
                      </a:solidFill>
                      <a:prstDash val="solid"/>
                    </a:lnR>
                    <a:lnT w="10160" cap="flat" cmpd="sng" algn="ctr">
                      <a:solidFill>
                        <a:srgbClr val="8FBFB8"/>
                      </a:solidFill>
                      <a:prstDash val="solid"/>
                    </a:lnT>
                    <a:lnB w="10160" cap="flat" cmpd="sng" algn="ctr">
                      <a:solidFill>
                        <a:srgbClr val="8FBFB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215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70" descr="マーク60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398" y="1124744"/>
            <a:ext cx="3657600" cy="289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7" name="Google Shape;1527;p70"/>
          <p:cNvGrpSpPr/>
          <p:nvPr/>
        </p:nvGrpSpPr>
        <p:grpSpPr>
          <a:xfrm>
            <a:off x="1052567" y="5888286"/>
            <a:ext cx="3653745" cy="349026"/>
            <a:chOff x="1539968" y="5509105"/>
            <a:chExt cx="3372688" cy="349026"/>
          </a:xfrm>
        </p:grpSpPr>
        <p:sp>
          <p:nvSpPr>
            <p:cNvPr id="1528" name="Google Shape;1528;p70"/>
            <p:cNvSpPr txBox="1"/>
            <p:nvPr/>
          </p:nvSpPr>
          <p:spPr>
            <a:xfrm>
              <a:off x="1853391" y="5581132"/>
              <a:ext cx="30592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東京都渋谷区恵比寿4-6-1　恵比寿MFビル3F</a:t>
              </a:r>
              <a:endParaRPr/>
            </a:p>
          </p:txBody>
        </p:sp>
        <p:pic>
          <p:nvPicPr>
            <p:cNvPr id="1529" name="Google Shape;1529;p70" descr="目的地アイコン4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39968" y="5509105"/>
              <a:ext cx="325120" cy="3251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0" name="Google Shape;1530;p70"/>
          <p:cNvGrpSpPr/>
          <p:nvPr/>
        </p:nvGrpSpPr>
        <p:grpSpPr>
          <a:xfrm>
            <a:off x="5064141" y="5896414"/>
            <a:ext cx="3759355" cy="340899"/>
            <a:chOff x="1446613" y="5805264"/>
            <a:chExt cx="3470174" cy="340899"/>
          </a:xfrm>
        </p:grpSpPr>
        <p:pic>
          <p:nvPicPr>
            <p:cNvPr id="1531" name="Google Shape;1531;p70" descr="受話器の線画アイコン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446613" y="5816707"/>
              <a:ext cx="329456" cy="3294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2" name="Google Shape;1532;p70" descr="FAXのアイコン3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382784" y="5805264"/>
              <a:ext cx="325120" cy="325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3" name="Google Shape;1533;p70"/>
            <p:cNvSpPr txBox="1"/>
            <p:nvPr/>
          </p:nvSpPr>
          <p:spPr>
            <a:xfrm>
              <a:off x="1907704" y="5837906"/>
              <a:ext cx="11775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03-3440-6100</a:t>
              </a:r>
              <a:endParaRPr/>
            </a:p>
          </p:txBody>
        </p:sp>
        <p:sp>
          <p:nvSpPr>
            <p:cNvPr id="1534" name="Google Shape;1534;p70"/>
            <p:cNvSpPr txBox="1"/>
            <p:nvPr/>
          </p:nvSpPr>
          <p:spPr>
            <a:xfrm>
              <a:off x="3739209" y="5858584"/>
              <a:ext cx="1177578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200">
                  <a:solidFill>
                    <a:srgbClr val="00A592"/>
                  </a:solidFill>
                  <a:latin typeface="Meiryo"/>
                  <a:ea typeface="Meiryo"/>
                  <a:cs typeface="Meiryo"/>
                  <a:sym typeface="Meiryo"/>
                </a:rPr>
                <a:t>03-5791-2241</a:t>
              </a:r>
              <a:endParaRPr/>
            </a:p>
          </p:txBody>
        </p:sp>
      </p:grpSp>
      <p:sp>
        <p:nvSpPr>
          <p:cNvPr id="1535" name="Google Shape;1535;p70"/>
          <p:cNvSpPr txBox="1"/>
          <p:nvPr/>
        </p:nvSpPr>
        <p:spPr>
          <a:xfrm>
            <a:off x="2126370" y="3885436"/>
            <a:ext cx="5653262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Technology changes the world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8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技術が世界を変える</a:t>
            </a:r>
            <a:endParaRPr sz="18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1600">
                <a:solidFill>
                  <a:srgbClr val="00A592"/>
                </a:solidFill>
                <a:latin typeface="Meiryo"/>
                <a:ea typeface="Meiryo"/>
                <a:cs typeface="Meiryo"/>
                <a:sym typeface="Meiryo"/>
              </a:rPr>
              <a:t>株式会社フライトソリューションズ</a:t>
            </a:r>
            <a:endParaRPr sz="1600">
              <a:solidFill>
                <a:srgbClr val="00A592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light テンプレー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ホワイ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8608</TotalTime>
  <Words>599</Words>
  <Application>Microsoft Office PowerPoint</Application>
  <PresentationFormat>A4 210 x 297 mm</PresentationFormat>
  <Paragraphs>110</Paragraphs>
  <Slides>5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メイリオ</vt:lpstr>
      <vt:lpstr>Calibri</vt:lpstr>
      <vt:lpstr>Noto Sans Symbols</vt:lpstr>
      <vt:lpstr>Arial</vt:lpstr>
      <vt:lpstr>flight テンプレート</vt:lpstr>
      <vt:lpstr>要件定義WBS案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Tanaka Junichi</dc:creator>
  <cp:lastModifiedBy>将隆 小園</cp:lastModifiedBy>
  <cp:revision>217</cp:revision>
  <cp:lastPrinted>2025-04-07T08:04:35Z</cp:lastPrinted>
  <dcterms:created xsi:type="dcterms:W3CDTF">2016-05-26T06:32:05Z</dcterms:created>
  <dcterms:modified xsi:type="dcterms:W3CDTF">2026-08-07T05:33:35Z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0x010100D35DC5035CF21544854758570D244058</vt:lpwstr>
  </property>
  <property fmtid="{D5CDD505-2E9C-101B-9397-08002B2CF9AE}" pid="3" name="MediaServiceImageTags">
    <vt:lpwstr/>
  </property>
</Properties>
</file>