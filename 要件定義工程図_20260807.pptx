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46304"/>
            <a:ext cx="73152" cy="41148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521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333333"/>
                </a:solidFill>
                <a:latin typeface="メイリオ"/>
                <a:ea typeface="メイリオ"/>
              </a:rPr>
              <a:t>要件定義の進め方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548640"/>
            <a:ext cx="11430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メイリオ"/>
                <a:ea typeface="メイリオ"/>
              </a:rPr>
              <a:t>「材料（Input）を集める → 打合せで検討する → 資料が完成する（Output）」を4回くり返し、最後に開発のご提案を行います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67E22"/>
                </a:solidFill>
                <a:latin typeface="メイリオ"/>
                <a:ea typeface="メイリオ"/>
              </a:rPr>
              <a:t>Input（材料）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86868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7A6E"/>
                </a:solidFill>
                <a:latin typeface="メイリオ"/>
                <a:ea typeface="メイリオ"/>
              </a:rPr>
              <a:t>工程でやること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868680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メイリオ"/>
                <a:ea typeface="メイリオ"/>
              </a:rPr>
              <a:t>Output（できあがる資料）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115568"/>
            <a:ext cx="3657600" cy="1060704"/>
          </a:xfrm>
          <a:prstGeom prst="roundRect">
            <a:avLst/>
          </a:prstGeom>
          <a:solidFill>
            <a:srgbClr val="FFF3E8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64008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・基幹インターフェイス一覧・詳細（各項目の説明）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・　商品／在庫／注文（受注受付・納期回答・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・　与信確認・出荷実績・キャンセル・返品 等）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78224" y="1572768"/>
            <a:ext cx="182880" cy="155448"/>
          </a:xfrm>
          <a:prstGeom prst="rightArrow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115568"/>
            <a:ext cx="3566160" cy="1060704"/>
          </a:xfrm>
          <a:prstGeom prst="roundRect">
            <a:avLst/>
          </a:prstGeom>
          <a:solidFill>
            <a:srgbClr val="DFF4F1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07A6E"/>
                </a:solidFill>
                <a:latin typeface="メイリオ"/>
                <a:ea typeface="メイリオ"/>
              </a:rPr>
              <a:t>1. 基幹システムの仕様の整理</a:t>
            </a:r>
          </a:p>
          <a:p>
            <a:pPr algn="ctr"/>
            <a:r>
              <a:rPr sz="850" b="1">
                <a:solidFill>
                  <a:srgbClr val="E67E22"/>
                </a:solidFill>
                <a:latin typeface="メイリオ"/>
                <a:ea typeface="メイリオ"/>
              </a:rPr>
              <a:t>【ローリングスジャパン様】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貴社にて基幹仕様を整理し、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弊社へご提供いただきます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54696" y="1572768"/>
            <a:ext cx="182880" cy="155448"/>
          </a:xfrm>
          <a:prstGeom prst="rightArrow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2440" y="1115568"/>
            <a:ext cx="3749039" cy="1060704"/>
          </a:xfrm>
          <a:prstGeom prst="roundRect">
            <a:avLst/>
          </a:prstGeom>
          <a:solidFill>
            <a:srgbClr val="E9F5EA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64008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メイリオ"/>
                <a:ea typeface="メイリオ"/>
              </a:rPr>
              <a:t>・基幹システム仕様（連携インターフェイス）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276856"/>
            <a:ext cx="3657600" cy="1060704"/>
          </a:xfrm>
          <a:prstGeom prst="roundRect">
            <a:avLst/>
          </a:prstGeom>
          <a:solidFill>
            <a:srgbClr val="FFF3E8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64008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・①の基幹システム仕様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・EDI関係の資料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・Excel等システム外で管理しているデータ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・帳票類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78224" y="2734056"/>
            <a:ext cx="182880" cy="155448"/>
          </a:xfrm>
          <a:prstGeom prst="rightArrow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15968" y="2276856"/>
            <a:ext cx="3566160" cy="1060704"/>
          </a:xfrm>
          <a:prstGeom prst="roundRect">
            <a:avLst/>
          </a:prstGeom>
          <a:solidFill>
            <a:srgbClr val="DFF4F1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07A6E"/>
                </a:solidFill>
                <a:latin typeface="メイリオ"/>
                <a:ea typeface="メイリオ"/>
              </a:rPr>
              <a:t>2. システム化する業務の整理</a:t>
            </a:r>
          </a:p>
          <a:p>
            <a:pPr algn="ctr"/>
            <a:r>
              <a:rPr sz="850" b="1">
                <a:solidFill>
                  <a:srgbClr val="007A6E"/>
                </a:solidFill>
                <a:latin typeface="メイリオ"/>
                <a:ea typeface="メイリオ"/>
              </a:rPr>
              <a:t>【弊社作成 → 打合せで完成】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まず弊社が「概略フロー（案）」を作成。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打合せで確認・修正します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54696" y="2734056"/>
            <a:ext cx="182880" cy="155448"/>
          </a:xfrm>
          <a:prstGeom prst="rightArrow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2276856"/>
            <a:ext cx="3749039" cy="1060704"/>
          </a:xfrm>
          <a:prstGeom prst="roundRect">
            <a:avLst/>
          </a:prstGeom>
          <a:solidFill>
            <a:srgbClr val="E9F5EA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64008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メイリオ"/>
                <a:ea typeface="メイリオ"/>
              </a:rPr>
              <a:t>・要件定義書_概略フロー（完成）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438144"/>
            <a:ext cx="3657600" cy="1060704"/>
          </a:xfrm>
          <a:prstGeom prst="roundRect">
            <a:avLst/>
          </a:prstGeom>
          <a:solidFill>
            <a:srgbClr val="FFF3E8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64008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・完成した概略フロー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・ヒアリング内容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78224" y="3895344"/>
            <a:ext cx="182880" cy="155448"/>
          </a:xfrm>
          <a:prstGeom prst="rightArrow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15968" y="3438144"/>
            <a:ext cx="3566160" cy="1060704"/>
          </a:xfrm>
          <a:prstGeom prst="roundRect">
            <a:avLst/>
          </a:prstGeom>
          <a:solidFill>
            <a:srgbClr val="DFF4F1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07A6E"/>
                </a:solidFill>
                <a:latin typeface="メイリオ"/>
                <a:ea typeface="メイリオ"/>
              </a:rPr>
              <a:t>3. 画面UIの検討</a:t>
            </a:r>
          </a:p>
          <a:p>
            <a:pPr algn="ctr"/>
            <a:r>
              <a:rPr sz="850" b="1">
                <a:solidFill>
                  <a:srgbClr val="007A6E"/>
                </a:solidFill>
                <a:latin typeface="メイリオ"/>
                <a:ea typeface="メイリオ"/>
              </a:rPr>
              <a:t>【弊社作成 → 打合せで完成】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弊社が「画面機能設計書（案）」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「機能詳細設計書（案）」を作成。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打合せでUIを確認・修正します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54696" y="3895344"/>
            <a:ext cx="182880" cy="155448"/>
          </a:xfrm>
          <a:prstGeom prst="rightArrow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92440" y="3438144"/>
            <a:ext cx="3749039" cy="1060704"/>
          </a:xfrm>
          <a:prstGeom prst="roundRect">
            <a:avLst/>
          </a:prstGeom>
          <a:solidFill>
            <a:srgbClr val="E9F5EA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64008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メイリオ"/>
                <a:ea typeface="メイリオ"/>
              </a:rPr>
              <a:t>・要件定義書_画面機能設計書（完成）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メイリオ"/>
                <a:ea typeface="メイリオ"/>
              </a:rPr>
              <a:t>・要件定義書_機能詳細設計書（完成）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599432"/>
            <a:ext cx="3657600" cy="1060704"/>
          </a:xfrm>
          <a:prstGeom prst="roundRect">
            <a:avLst/>
          </a:prstGeom>
          <a:solidFill>
            <a:srgbClr val="FFF3E8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64008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・これまでのヒアリング内容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・不足分としてご提供いただく情報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・（注文数・ピーク時間帯・取引先数 等）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078224" y="5056632"/>
            <a:ext cx="182880" cy="155448"/>
          </a:xfrm>
          <a:prstGeom prst="rightArrow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15968" y="4599432"/>
            <a:ext cx="3566160" cy="1060704"/>
          </a:xfrm>
          <a:prstGeom prst="roundRect">
            <a:avLst/>
          </a:prstGeom>
          <a:solidFill>
            <a:srgbClr val="DFF4F1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07A6E"/>
                </a:solidFill>
                <a:latin typeface="メイリオ"/>
                <a:ea typeface="メイリオ"/>
              </a:rPr>
              <a:t>4. 非機能要件の検討</a:t>
            </a:r>
          </a:p>
          <a:p>
            <a:pPr algn="ctr"/>
            <a:r>
              <a:rPr sz="850" b="1">
                <a:solidFill>
                  <a:srgbClr val="007A6E"/>
                </a:solidFill>
                <a:latin typeface="メイリオ"/>
                <a:ea typeface="メイリオ"/>
              </a:rPr>
              <a:t>【弊社作成 → 打合せで完成】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弊社が「非機能要件（案）」を作成。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333333"/>
                </a:solidFill>
                <a:latin typeface="メイリオ"/>
                <a:ea typeface="メイリオ"/>
              </a:rPr>
              <a:t>打合せで確認・修正します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854696" y="5056632"/>
            <a:ext cx="182880" cy="155448"/>
          </a:xfrm>
          <a:prstGeom prst="rightArrow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92440" y="4599432"/>
            <a:ext cx="3749039" cy="1060704"/>
          </a:xfrm>
          <a:prstGeom prst="roundRect">
            <a:avLst/>
          </a:prstGeom>
          <a:solidFill>
            <a:srgbClr val="E9F5EA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64008" bIns="2743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メイリオ"/>
                <a:ea typeface="メイリオ"/>
              </a:rPr>
              <a:t>・要件定義書_非機能要件（完成）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5806440"/>
            <a:ext cx="11457432" cy="960120"/>
          </a:xfrm>
          <a:prstGeom prst="roundRect">
            <a:avLst/>
          </a:prstGeom>
          <a:solidFill>
            <a:srgbClr val="00A693"/>
          </a:solidFill>
          <a:ln>
            <a:solidFill>
              <a:srgbClr val="00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</a:rPr>
              <a:t>5. 開発工程のご提案　― 完成した4つの資料をもとに、開発範囲・工程・正式お見積りをご提示します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</a:rPr>
              <a:t>要件定義書_概略フロー　／　要件定義書_画面機能設計書　／　要件定義書_機能詳細設計書（連携インターフェイスを含む）　／　要件定義書_非機能要件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