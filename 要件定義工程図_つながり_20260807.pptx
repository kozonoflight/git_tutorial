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146304"/>
            <a:ext cx="73152" cy="41148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521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33333"/>
                </a:solidFill>
                <a:latin typeface="メイリオ"/>
                <a:ea typeface="メイリオ"/>
              </a:rPr>
              <a:t>要件定義の進め方（全体の流れ）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486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メイリオ"/>
                <a:ea typeface="メイリオ"/>
              </a:rPr>
              <a:t>各工程でできあがった資料が、そのまま次の工程の材料になり、順につながっていきます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1051560"/>
            <a:ext cx="3657600" cy="841248"/>
          </a:xfrm>
          <a:prstGeom prst="roundRect">
            <a:avLst/>
          </a:prstGeom>
          <a:solidFill>
            <a:srgbClr val="DFF4F1"/>
          </a:solidFill>
          <a:ln w="2032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7A6E"/>
                </a:solidFill>
                <a:latin typeface="メイリオ"/>
                <a:ea typeface="メイリオ"/>
              </a:rPr>
              <a:t>1. 基幹システムの仕様の整理</a:t>
            </a:r>
          </a:p>
          <a:p>
            <a:pPr algn="ctr"/>
            <a:r>
              <a:rPr sz="850" b="1">
                <a:solidFill>
                  <a:srgbClr val="E67E22"/>
                </a:solidFill>
                <a:latin typeface="メイリオ"/>
                <a:ea typeface="メイリオ"/>
              </a:rPr>
              <a:t>【ローリングスジャパン様】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60703"/>
            <a:ext cx="3200400" cy="822960"/>
          </a:xfrm>
          <a:prstGeom prst="roundRect">
            <a:avLst/>
          </a:prstGeom>
          <a:solidFill>
            <a:srgbClr val="FFF3E8"/>
          </a:solidFill>
          <a:ln w="1397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27432" lIns="73152"/>
          <a:lstStyle/>
          <a:p>
            <a:pPr algn="ctr"/>
            <a:r>
              <a:rPr sz="800" b="1">
                <a:solidFill>
                  <a:srgbClr val="E67E22"/>
                </a:solidFill>
                <a:latin typeface="メイリオ"/>
                <a:ea typeface="メイリオ"/>
              </a:rPr>
              <a:t>ご提供／ヒアリング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333333"/>
                </a:solidFill>
                <a:latin typeface="メイリオ"/>
                <a:ea typeface="メイリオ"/>
              </a:rPr>
              <a:t>・基幹インターフェイス一覧・詳細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333333"/>
                </a:solidFill>
                <a:latin typeface="メイリオ"/>
                <a:ea typeface="メイリオ"/>
              </a:rPr>
              <a:t>・EDI関係の資料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333333"/>
                </a:solidFill>
                <a:latin typeface="メイリオ"/>
                <a:ea typeface="メイリオ"/>
              </a:rPr>
              <a:t>・Excel等システム外の管理データ・帳票類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703320" y="1389887"/>
            <a:ext cx="1143000" cy="164592"/>
          </a:xfrm>
          <a:prstGeom prst="right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098280" y="1216151"/>
            <a:ext cx="3657600" cy="512064"/>
          </a:xfrm>
          <a:prstGeom prst="roundRect">
            <a:avLst/>
          </a:prstGeom>
          <a:solidFill>
            <a:srgbClr val="E9F5EA"/>
          </a:solidFill>
          <a:ln w="1397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E7D32"/>
                </a:solidFill>
                <a:latin typeface="メイリオ"/>
                <a:ea typeface="メイリオ"/>
              </a:rPr>
              <a:t>▶ 基幹システム仕様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E7D32"/>
                </a:solidFill>
                <a:latin typeface="メイリオ"/>
                <a:ea typeface="メイリオ"/>
              </a:rPr>
              <a:t>（連携インターフェイス）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622792" y="1389887"/>
            <a:ext cx="457200" cy="164592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6766560" y="1892807"/>
            <a:ext cx="0" cy="320041"/>
          </a:xfrm>
          <a:prstGeom prst="line">
            <a:avLst/>
          </a:prstGeom>
          <a:ln w="31750">
            <a:solidFill>
              <a:srgbClr val="00A69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12280" y="1901951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2E7D32"/>
                </a:solidFill>
                <a:latin typeface="メイリオ"/>
                <a:ea typeface="メイリオ"/>
              </a:rPr>
              <a:t>↑ この資料を次の工程の材料にする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2212848"/>
            <a:ext cx="3657600" cy="841248"/>
          </a:xfrm>
          <a:prstGeom prst="roundRect">
            <a:avLst/>
          </a:prstGeom>
          <a:solidFill>
            <a:srgbClr val="DFF4F1"/>
          </a:solidFill>
          <a:ln w="2032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7A6E"/>
                </a:solidFill>
                <a:latin typeface="メイリオ"/>
                <a:ea typeface="メイリオ"/>
              </a:rPr>
              <a:t>2. システム化する業務の整理</a:t>
            </a:r>
          </a:p>
          <a:p>
            <a:pPr algn="ctr"/>
            <a:r>
              <a:rPr sz="850" b="1">
                <a:solidFill>
                  <a:srgbClr val="007A6E"/>
                </a:solidFill>
                <a:latin typeface="メイリオ"/>
                <a:ea typeface="メイリオ"/>
              </a:rPr>
              <a:t>【弊社が案を作成 → 打合せで完成】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04872"/>
            <a:ext cx="3200400" cy="457200"/>
          </a:xfrm>
          <a:prstGeom prst="roundRect">
            <a:avLst/>
          </a:prstGeom>
          <a:solidFill>
            <a:srgbClr val="FFF3E8"/>
          </a:solidFill>
          <a:ln w="1397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27432" lIns="73152"/>
          <a:lstStyle/>
          <a:p>
            <a:pPr algn="ctr"/>
            <a:r>
              <a:rPr sz="800" b="1">
                <a:solidFill>
                  <a:srgbClr val="E67E22"/>
                </a:solidFill>
                <a:latin typeface="メイリオ"/>
                <a:ea typeface="メイリオ"/>
              </a:rPr>
              <a:t>ご提供／ヒアリング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333333"/>
                </a:solidFill>
                <a:latin typeface="メイリオ"/>
                <a:ea typeface="メイリオ"/>
              </a:rPr>
              <a:t>・ヒアリング内容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703320" y="2551176"/>
            <a:ext cx="1143000" cy="164592"/>
          </a:xfrm>
          <a:prstGeom prst="right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98280" y="2377439"/>
            <a:ext cx="3657600" cy="384048"/>
          </a:xfrm>
          <a:prstGeom prst="roundRect">
            <a:avLst/>
          </a:prstGeom>
          <a:solidFill>
            <a:srgbClr val="E9F5EA"/>
          </a:solidFill>
          <a:ln w="1397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E7D32"/>
                </a:solidFill>
                <a:latin typeface="メイリオ"/>
                <a:ea typeface="メイリオ"/>
              </a:rPr>
              <a:t>▶ 要件定義書_概略フロー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622792" y="2551176"/>
            <a:ext cx="457200" cy="164592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766560" y="3054096"/>
            <a:ext cx="0" cy="320040"/>
          </a:xfrm>
          <a:prstGeom prst="line">
            <a:avLst/>
          </a:prstGeom>
          <a:ln w="31750">
            <a:solidFill>
              <a:srgbClr val="00A69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12280" y="3063239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2E7D32"/>
                </a:solidFill>
                <a:latin typeface="メイリオ"/>
                <a:ea typeface="メイリオ"/>
              </a:rPr>
              <a:t>↑ この資料を次の工程の材料にする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3374136"/>
            <a:ext cx="3657600" cy="841248"/>
          </a:xfrm>
          <a:prstGeom prst="roundRect">
            <a:avLst/>
          </a:prstGeom>
          <a:solidFill>
            <a:srgbClr val="DFF4F1"/>
          </a:solidFill>
          <a:ln w="2032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7A6E"/>
                </a:solidFill>
                <a:latin typeface="メイリオ"/>
                <a:ea typeface="メイリオ"/>
              </a:rPr>
              <a:t>3. 画面UIの検討</a:t>
            </a:r>
          </a:p>
          <a:p>
            <a:pPr algn="ctr"/>
            <a:r>
              <a:rPr sz="850" b="1">
                <a:solidFill>
                  <a:srgbClr val="007A6E"/>
                </a:solidFill>
                <a:latin typeface="メイリオ"/>
                <a:ea typeface="メイリオ"/>
              </a:rPr>
              <a:t>【弊社が案を作成 → 打合せで完成】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566160"/>
            <a:ext cx="3200400" cy="457200"/>
          </a:xfrm>
          <a:prstGeom prst="roundRect">
            <a:avLst/>
          </a:prstGeom>
          <a:solidFill>
            <a:srgbClr val="FFF3E8"/>
          </a:solidFill>
          <a:ln w="1397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27432" lIns="73152"/>
          <a:lstStyle/>
          <a:p>
            <a:pPr algn="ctr"/>
            <a:r>
              <a:rPr sz="800" b="1">
                <a:solidFill>
                  <a:srgbClr val="E67E22"/>
                </a:solidFill>
                <a:latin typeface="メイリオ"/>
                <a:ea typeface="メイリオ"/>
              </a:rPr>
              <a:t>ご提供／ヒアリング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333333"/>
                </a:solidFill>
                <a:latin typeface="メイリオ"/>
                <a:ea typeface="メイリオ"/>
              </a:rPr>
              <a:t>・ヒアリング内容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703320" y="3712464"/>
            <a:ext cx="1143000" cy="164592"/>
          </a:xfrm>
          <a:prstGeom prst="right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98280" y="3538728"/>
            <a:ext cx="3657600" cy="512064"/>
          </a:xfrm>
          <a:prstGeom prst="roundRect">
            <a:avLst/>
          </a:prstGeom>
          <a:solidFill>
            <a:srgbClr val="E9F5EA"/>
          </a:solidFill>
          <a:ln w="1397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E7D32"/>
                </a:solidFill>
                <a:latin typeface="メイリオ"/>
                <a:ea typeface="メイリオ"/>
              </a:rPr>
              <a:t>▶ 要件定義書_画面機能設計書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E7D32"/>
                </a:solidFill>
                <a:latin typeface="メイリオ"/>
                <a:ea typeface="メイリオ"/>
              </a:rPr>
              <a:t>要件定義書_機能詳細設計書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622792" y="3712464"/>
            <a:ext cx="457200" cy="164592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766560" y="4215384"/>
            <a:ext cx="0" cy="320040"/>
          </a:xfrm>
          <a:prstGeom prst="line">
            <a:avLst/>
          </a:prstGeom>
          <a:ln w="31750">
            <a:solidFill>
              <a:srgbClr val="00A69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12280" y="42245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2E7D32"/>
                </a:solidFill>
                <a:latin typeface="メイリオ"/>
                <a:ea typeface="メイリオ"/>
              </a:rPr>
              <a:t>↑ この資料を次の工程の材料にする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0" y="4535424"/>
            <a:ext cx="3657600" cy="841248"/>
          </a:xfrm>
          <a:prstGeom prst="roundRect">
            <a:avLst/>
          </a:prstGeom>
          <a:solidFill>
            <a:srgbClr val="DFF4F1"/>
          </a:solidFill>
          <a:ln w="2032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7A6E"/>
                </a:solidFill>
                <a:latin typeface="メイリオ"/>
                <a:ea typeface="メイリオ"/>
              </a:rPr>
              <a:t>4. 非機能要件の検討</a:t>
            </a:r>
          </a:p>
          <a:p>
            <a:pPr algn="ctr"/>
            <a:r>
              <a:rPr sz="850" b="1">
                <a:solidFill>
                  <a:srgbClr val="007A6E"/>
                </a:solidFill>
                <a:latin typeface="メイリオ"/>
                <a:ea typeface="メイリオ"/>
              </a:rPr>
              <a:t>【弊社が案を作成 → 打合せで完成】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636008"/>
            <a:ext cx="3200400" cy="640080"/>
          </a:xfrm>
          <a:prstGeom prst="roundRect">
            <a:avLst/>
          </a:prstGeom>
          <a:solidFill>
            <a:srgbClr val="FFF3E8"/>
          </a:solidFill>
          <a:ln w="1397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27432" lIns="73152"/>
          <a:lstStyle/>
          <a:p>
            <a:pPr algn="ctr"/>
            <a:r>
              <a:rPr sz="800" b="1">
                <a:solidFill>
                  <a:srgbClr val="E67E22"/>
                </a:solidFill>
                <a:latin typeface="メイリオ"/>
                <a:ea typeface="メイリオ"/>
              </a:rPr>
              <a:t>ご提供／ヒアリング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333333"/>
                </a:solidFill>
                <a:latin typeface="メイリオ"/>
                <a:ea typeface="メイリオ"/>
              </a:rPr>
              <a:t>・不足分としてご提供いただく情報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333333"/>
                </a:solidFill>
                <a:latin typeface="メイリオ"/>
                <a:ea typeface="メイリオ"/>
              </a:rPr>
              <a:t>・（注文数・ピーク時間帯・取引先数 等）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703320" y="4873752"/>
            <a:ext cx="1143000" cy="164592"/>
          </a:xfrm>
          <a:prstGeom prst="right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98280" y="4700016"/>
            <a:ext cx="3657600" cy="384048"/>
          </a:xfrm>
          <a:prstGeom prst="roundRect">
            <a:avLst/>
          </a:prstGeom>
          <a:solidFill>
            <a:srgbClr val="E9F5EA"/>
          </a:solidFill>
          <a:ln w="1397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E7D32"/>
                </a:solidFill>
                <a:latin typeface="メイリオ"/>
                <a:ea typeface="メイリオ"/>
              </a:rPr>
              <a:t>▶ 要件定義書_非機能要件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622792" y="4873752"/>
            <a:ext cx="457200" cy="164592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6766560" y="5376672"/>
            <a:ext cx="0" cy="320040"/>
          </a:xfrm>
          <a:prstGeom prst="line">
            <a:avLst/>
          </a:prstGeom>
          <a:ln w="31750">
            <a:solidFill>
              <a:srgbClr val="00A69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12280" y="5385816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2E7D32"/>
                </a:solidFill>
                <a:latin typeface="メイリオ"/>
                <a:ea typeface="メイリオ"/>
              </a:rPr>
              <a:t>↑ この資料を次の工程の材料にする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37760" y="5696712"/>
            <a:ext cx="3657600" cy="841248"/>
          </a:xfrm>
          <a:prstGeom prst="roundRect">
            <a:avLst/>
          </a:prstGeom>
          <a:solidFill>
            <a:srgbClr val="DFF4F1"/>
          </a:solidFill>
          <a:ln w="2032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7A6E"/>
                </a:solidFill>
                <a:latin typeface="メイリオ"/>
                <a:ea typeface="メイリオ"/>
              </a:rPr>
              <a:t>5. 開発工程のご提案</a:t>
            </a:r>
          </a:p>
          <a:p>
            <a:pPr algn="ctr"/>
            <a:r>
              <a:rPr sz="850" b="1">
                <a:solidFill>
                  <a:srgbClr val="007A6E"/>
                </a:solidFill>
                <a:latin typeface="メイリオ"/>
                <a:ea typeface="メイリオ"/>
              </a:rPr>
              <a:t>【弊社】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5861304"/>
            <a:ext cx="3657600" cy="384048"/>
          </a:xfrm>
          <a:prstGeom prst="roundRect">
            <a:avLst/>
          </a:prstGeom>
          <a:solidFill>
            <a:srgbClr val="E9F5EA"/>
          </a:solidFill>
          <a:ln w="1397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E7D32"/>
                </a:solidFill>
                <a:latin typeface="メイリオ"/>
                <a:ea typeface="メイリオ"/>
              </a:rPr>
              <a:t>▶ 開発範囲・工程・正式お見積り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622792" y="6035040"/>
            <a:ext cx="457200" cy="164592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