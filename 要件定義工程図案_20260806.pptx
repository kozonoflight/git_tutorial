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64592"/>
            <a:ext cx="73152" cy="42976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メイリオ"/>
                <a:ea typeface="メイリオ"/>
              </a:rPr>
              <a:t>要件定義の進め方（Input → 工程 → Output）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94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メイリオ"/>
                <a:ea typeface="メイリオ"/>
              </a:rPr>
              <a:t>各工程に必要な情報を受領・整理し、成果物を次工程へ引き継ぎます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メイリオ"/>
                <a:ea typeface="メイリオ"/>
              </a:rPr>
              <a:t>Input（貴社からご提供いただく情報を含む）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8595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7A6E"/>
                </a:solidFill>
                <a:latin typeface="メイリオ"/>
                <a:ea typeface="メイリオ"/>
              </a:rPr>
              <a:t>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8595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メイリオ"/>
                <a:ea typeface="メイリオ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143000"/>
            <a:ext cx="3703320" cy="987552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950" b="1">
                <a:solidFill>
                  <a:srgbClr val="E67E22"/>
                </a:solidFill>
                <a:latin typeface="メイリオ"/>
                <a:ea typeface="メイリオ"/>
              </a:rPr>
              <a:t>Input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・概略業務フロー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・現状の要望・ヒアリング結果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・顧客／倉庫／仕入先マスタの項目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・現行のデータ・帳票類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78224" y="1554480"/>
            <a:ext cx="201168" cy="164592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252728"/>
            <a:ext cx="2971800" cy="768096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A6E"/>
                </a:solidFill>
                <a:latin typeface="メイリオ"/>
                <a:ea typeface="メイリオ"/>
              </a:rPr>
              <a:t>1. システム化する業務の整理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15200" y="1554480"/>
            <a:ext cx="201168" cy="164592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62088" y="1143000"/>
            <a:ext cx="4270248" cy="987552"/>
          </a:xfrm>
          <a:prstGeom prst="roundRect">
            <a:avLst/>
          </a:prstGeom>
          <a:solidFill>
            <a:srgbClr val="E9F5E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950" b="1">
                <a:solidFill>
                  <a:srgbClr val="2E7D32"/>
                </a:solidFill>
                <a:latin typeface="メイリオ"/>
                <a:ea typeface="メイリオ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・システム化の範囲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・業務上のルール（正常系・例外系）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・機能詳細フロー（案）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・画面機能設計書（案）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249424"/>
            <a:ext cx="3703320" cy="987552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950" b="1">
                <a:solidFill>
                  <a:srgbClr val="E67E22"/>
                </a:solidFill>
                <a:latin typeface="メイリオ"/>
                <a:ea typeface="メイリオ"/>
              </a:rPr>
              <a:t>Input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・基幹IF：一覧・詳細・各項目説明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・（商品／在庫／注文・納期回答・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 与信・出荷・取消・返品 等）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・EDI IF：一覧・詳細・各項目説明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・Excel等の管理データ・帳票類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660904"/>
            <a:ext cx="201168" cy="164592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2359152"/>
            <a:ext cx="2971800" cy="768096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A6E"/>
                </a:solidFill>
                <a:latin typeface="メイリオ"/>
                <a:ea typeface="メイリオ"/>
              </a:rPr>
              <a:t>2. 基幹システムの仕様の整理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2660904"/>
            <a:ext cx="201168" cy="164592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62088" y="2249424"/>
            <a:ext cx="4270248" cy="987552"/>
          </a:xfrm>
          <a:prstGeom prst="roundRect">
            <a:avLst/>
          </a:prstGeom>
          <a:solidFill>
            <a:srgbClr val="E9F5E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950" b="1">
                <a:solidFill>
                  <a:srgbClr val="2E7D32"/>
                </a:solidFill>
                <a:latin typeface="メイリオ"/>
                <a:ea typeface="メイリオ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・基幹／EDI／システム外データの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・仕様整理結果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・ECとの役割分担・連携対象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・連携要件（機能詳細設計へ反映）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3355848"/>
            <a:ext cx="3703320" cy="987552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950" b="1">
                <a:solidFill>
                  <a:srgbClr val="E67E22"/>
                </a:solidFill>
                <a:latin typeface="メイリオ"/>
                <a:ea typeface="メイリオ"/>
              </a:rPr>
              <a:t>Input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・機能詳細フロー（案）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・画面機能設計書（案）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・基幹・EDI等の仕様整理結果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78224" y="3767328"/>
            <a:ext cx="201168" cy="164592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5968" y="3465576"/>
            <a:ext cx="2971800" cy="768096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A6E"/>
                </a:solidFill>
                <a:latin typeface="メイリオ"/>
                <a:ea typeface="メイリオ"/>
              </a:rPr>
              <a:t>3. UIの検討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315200" y="3767328"/>
            <a:ext cx="201168" cy="164592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62088" y="3355848"/>
            <a:ext cx="4270248" cy="987552"/>
          </a:xfrm>
          <a:prstGeom prst="roundRect">
            <a:avLst/>
          </a:prstGeom>
          <a:solidFill>
            <a:srgbClr val="E9F5E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950" b="1">
                <a:solidFill>
                  <a:srgbClr val="2E7D32"/>
                </a:solidFill>
                <a:latin typeface="メイリオ"/>
                <a:ea typeface="メイリオ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・要件反映済み機能詳細フロー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・要件反映済み画面機能設計書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・画面の入出力・導線・表示項目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" y="4462272"/>
            <a:ext cx="3703320" cy="987552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950" b="1">
                <a:solidFill>
                  <a:srgbClr val="E67E22"/>
                </a:solidFill>
                <a:latin typeface="メイリオ"/>
                <a:ea typeface="メイリオ"/>
              </a:rPr>
              <a:t>Input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・ヒアリング結果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・注文数・ピーク時間帯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・取引先数・SKU数・利用者数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・性能／運用／セキュリティ前提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78224" y="4873752"/>
            <a:ext cx="201168" cy="164592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5968" y="4572000"/>
            <a:ext cx="2971800" cy="768096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7A6E"/>
                </a:solidFill>
                <a:latin typeface="メイリオ"/>
                <a:ea typeface="メイリオ"/>
              </a:rPr>
              <a:t>4. 非機能要件の検討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15200" y="4873752"/>
            <a:ext cx="201168" cy="164592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62088" y="4462272"/>
            <a:ext cx="4270248" cy="987552"/>
          </a:xfrm>
          <a:prstGeom prst="roundRect">
            <a:avLst/>
          </a:prstGeom>
          <a:solidFill>
            <a:srgbClr val="E9F5E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950" b="1">
                <a:solidFill>
                  <a:srgbClr val="2E7D32"/>
                </a:solidFill>
                <a:latin typeface="メイリオ"/>
                <a:ea typeface="メイリオ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・非機能要件定義書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333333"/>
                </a:solidFill>
                <a:latin typeface="メイリオ"/>
                <a:ea typeface="メイリオ"/>
              </a:rPr>
              <a:t>・（レビュー反映・完成版）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60527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7A6E"/>
                </a:solidFill>
                <a:latin typeface="メイリオ"/>
                <a:ea typeface="メイリオ"/>
              </a:rPr>
              <a:t>要件定義工程の完成成果物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5468112"/>
            <a:ext cx="9308592" cy="868680"/>
          </a:xfrm>
          <a:prstGeom prst="roundRect">
            <a:avLst/>
          </a:prstGeom>
          <a:solidFill>
            <a:srgbClr val="00A693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</a:rPr>
              <a:t>概略業務フロー　／　機能詳細設計書（連携インターフェイスを含む）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</a:rPr>
              <a:t>画面機能設計書　／　非機能要件定義書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