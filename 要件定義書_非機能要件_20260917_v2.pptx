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0"/>
  </p:notesMasterIdLst>
  <p:handoutMasterIdLst>
    <p:handoutMasterId r:id="rId21"/>
  </p:handoutMasterIdLst>
  <p:sldIdLst>
    <p:sldId id="647" r:id="rId5"/>
    <p:sldId id="265" r:id="rId6"/>
    <p:sldId id="266" r:id="rId7"/>
    <p:sldId id="263" r:id="rId8"/>
    <p:sldId id="405" r:id="rId9"/>
    <p:sldId id="553" r:id="rId10"/>
    <p:sldId id="552" r:id="rId11"/>
    <p:sldId id="554" r:id="rId12"/>
    <p:sldId id="555" r:id="rId13"/>
    <p:sldId id="556" r:id="rId14"/>
    <p:sldId id="557" r:id="rId15"/>
    <p:sldId id="558" r:id="rId16"/>
    <p:sldId id="1163" r:id="rId17"/>
    <p:sldId id="492" r:id="rId18"/>
    <p:sldId id="297" r:id="rId19"/>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p15:clr>
            <a:srgbClr val="A4A3A4"/>
          </p15:clr>
        </p15:guide>
        <p15:guide id="2" pos="278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市川 真悟" initials="市川"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0000"/>
    <a:srgbClr val="FFFFFF"/>
    <a:srgbClr val="FF6600"/>
    <a:srgbClr val="CCECFF"/>
    <a:srgbClr val="CCFF99"/>
    <a:srgbClr val="003399"/>
    <a:srgbClr val="0080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6" autoAdjust="0"/>
    <p:restoredTop sz="95373" autoAdjust="0"/>
  </p:normalViewPr>
  <p:slideViewPr>
    <p:cSldViewPr snapToGrid="0">
      <p:cViewPr varScale="1">
        <p:scale>
          <a:sx n="79" d="100"/>
          <a:sy n="79" d="100"/>
        </p:scale>
        <p:origin x="1526" y="43"/>
      </p:cViewPr>
      <p:guideLst>
        <p:guide orient="horz" pos="2176"/>
        <p:guide pos="278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866535" cy="534099"/>
          </a:xfrm>
          <a:prstGeom prst="rect">
            <a:avLst/>
          </a:prstGeom>
        </p:spPr>
        <p:txBody>
          <a:bodyPr vert="horz" lIns="91440" tIns="45720" rIns="91440" bIns="45720" rtlCol="0"/>
          <a:lstStyle>
            <a:lvl1pPr algn="l">
              <a:defRPr sz="1160"/>
            </a:lvl1pPr>
          </a:lstStyle>
          <a:p>
            <a:endParaRPr kumimoji="1" lang="ja-JP" altLang="en-US"/>
          </a:p>
        </p:txBody>
      </p:sp>
      <p:sp>
        <p:nvSpPr>
          <p:cNvPr id="3" name="日付プレースホルダー 2"/>
          <p:cNvSpPr>
            <a:spLocks noGrp="1"/>
          </p:cNvSpPr>
          <p:nvPr>
            <p:ph type="dt" sz="quarter" idx="1"/>
          </p:nvPr>
        </p:nvSpPr>
        <p:spPr>
          <a:xfrm>
            <a:off x="3747015" y="0"/>
            <a:ext cx="2866535" cy="534099"/>
          </a:xfrm>
          <a:prstGeom prst="rect">
            <a:avLst/>
          </a:prstGeom>
        </p:spPr>
        <p:txBody>
          <a:bodyPr vert="horz" lIns="91440" tIns="45720" rIns="91440" bIns="45720" rtlCol="0"/>
          <a:lstStyle>
            <a:lvl1pPr algn="r">
              <a:defRPr sz="1160"/>
            </a:lvl1pPr>
          </a:lstStyle>
          <a:p>
            <a:fld id="{CDF1FFE2-7EEC-412C-802C-6711DEB0A98D}" type="datetimeFigureOut">
              <a:rPr kumimoji="1" lang="ja-JP" altLang="en-US" smtClean="0"/>
              <a:t>2026/9/15</a:t>
            </a:fld>
            <a:endParaRPr kumimoji="1" lang="ja-JP" altLang="en-US"/>
          </a:p>
        </p:txBody>
      </p:sp>
      <p:sp>
        <p:nvSpPr>
          <p:cNvPr id="4" name="フッター プレースホルダー 3"/>
          <p:cNvSpPr>
            <a:spLocks noGrp="1"/>
          </p:cNvSpPr>
          <p:nvPr>
            <p:ph type="ftr" sz="quarter" idx="2"/>
          </p:nvPr>
        </p:nvSpPr>
        <p:spPr>
          <a:xfrm>
            <a:off x="0" y="10110900"/>
            <a:ext cx="2866535" cy="534097"/>
          </a:xfrm>
          <a:prstGeom prst="rect">
            <a:avLst/>
          </a:prstGeom>
        </p:spPr>
        <p:txBody>
          <a:bodyPr vert="horz" lIns="91440" tIns="45720" rIns="91440" bIns="45720" rtlCol="0" anchor="b"/>
          <a:lstStyle>
            <a:lvl1pPr algn="l">
              <a:defRPr sz="1160"/>
            </a:lvl1pPr>
          </a:lstStyle>
          <a:p>
            <a:endParaRPr kumimoji="1" lang="ja-JP" altLang="en-US"/>
          </a:p>
        </p:txBody>
      </p:sp>
      <p:sp>
        <p:nvSpPr>
          <p:cNvPr id="5" name="スライド番号プレースホルダー 4"/>
          <p:cNvSpPr>
            <a:spLocks noGrp="1"/>
          </p:cNvSpPr>
          <p:nvPr>
            <p:ph type="sldNum" sz="quarter" idx="3"/>
          </p:nvPr>
        </p:nvSpPr>
        <p:spPr>
          <a:xfrm>
            <a:off x="3747015" y="10110900"/>
            <a:ext cx="2866535" cy="534097"/>
          </a:xfrm>
          <a:prstGeom prst="rect">
            <a:avLst/>
          </a:prstGeom>
        </p:spPr>
        <p:txBody>
          <a:bodyPr vert="horz" lIns="91440" tIns="45720" rIns="91440" bIns="45720" rtlCol="0" anchor="b"/>
          <a:lstStyle>
            <a:lvl1pPr algn="r">
              <a:defRPr sz="1160"/>
            </a:lvl1pPr>
          </a:lstStyle>
          <a:p>
            <a:fld id="{6B00E365-854E-4DD7-A3B8-9E56379337CA}"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1"/>
            <a:ext cx="2918830" cy="493316"/>
          </a:xfrm>
          <a:prstGeom prst="rect">
            <a:avLst/>
          </a:prstGeom>
        </p:spPr>
        <p:txBody>
          <a:bodyPr vert="horz" lIns="90650" tIns="45325" rIns="90650" bIns="45325" rtlCol="0"/>
          <a:lstStyle>
            <a:lvl1pPr algn="l">
              <a:defRPr sz="1100"/>
            </a:lvl1pPr>
          </a:lstStyle>
          <a:p>
            <a:endParaRPr kumimoji="1" lang="ja-JP" altLang="en-US"/>
          </a:p>
        </p:txBody>
      </p:sp>
      <p:sp>
        <p:nvSpPr>
          <p:cNvPr id="3" name="日付プレースホルダ 2"/>
          <p:cNvSpPr>
            <a:spLocks noGrp="1"/>
          </p:cNvSpPr>
          <p:nvPr>
            <p:ph type="dt" idx="1"/>
          </p:nvPr>
        </p:nvSpPr>
        <p:spPr>
          <a:xfrm>
            <a:off x="3815374" y="1"/>
            <a:ext cx="2918830" cy="493316"/>
          </a:xfrm>
          <a:prstGeom prst="rect">
            <a:avLst/>
          </a:prstGeom>
        </p:spPr>
        <p:txBody>
          <a:bodyPr vert="horz" lIns="90650" tIns="45325" rIns="90650" bIns="45325" rtlCol="0"/>
          <a:lstStyle>
            <a:lvl1pPr algn="r">
              <a:defRPr sz="1100"/>
            </a:lvl1pPr>
          </a:lstStyle>
          <a:p>
            <a:fld id="{F6107BCC-152A-45C1-8FF0-BF513DDC9BFF}" type="datetimeFigureOut">
              <a:rPr kumimoji="1" lang="ja-JP" altLang="en-US" smtClean="0"/>
              <a:t>2026/9/15</a:t>
            </a:fld>
            <a:endParaRPr kumimoji="1" lang="ja-JP" altLang="en-US"/>
          </a:p>
        </p:txBody>
      </p:sp>
      <p:sp>
        <p:nvSpPr>
          <p:cNvPr id="4" name="スライド イメージ プレースホルダ 3"/>
          <p:cNvSpPr>
            <a:spLocks noGrp="1" noRot="1" noChangeAspect="1"/>
          </p:cNvSpPr>
          <p:nvPr>
            <p:ph type="sldImg" idx="2"/>
          </p:nvPr>
        </p:nvSpPr>
        <p:spPr>
          <a:xfrm>
            <a:off x="901700" y="739775"/>
            <a:ext cx="4933950" cy="3700463"/>
          </a:xfrm>
          <a:prstGeom prst="rect">
            <a:avLst/>
          </a:prstGeom>
          <a:noFill/>
          <a:ln w="12700">
            <a:solidFill>
              <a:prstClr val="black"/>
            </a:solidFill>
          </a:ln>
        </p:spPr>
        <p:txBody>
          <a:bodyPr vert="horz" lIns="90650" tIns="45325" rIns="90650" bIns="45325" rtlCol="0" anchor="ctr"/>
          <a:lstStyle/>
          <a:p>
            <a:endParaRPr lang="ja-JP" altLang="en-US"/>
          </a:p>
        </p:txBody>
      </p:sp>
      <p:sp>
        <p:nvSpPr>
          <p:cNvPr id="5" name="ノート プレースホルダ 4"/>
          <p:cNvSpPr>
            <a:spLocks noGrp="1"/>
          </p:cNvSpPr>
          <p:nvPr>
            <p:ph type="body" sz="quarter" idx="3"/>
          </p:nvPr>
        </p:nvSpPr>
        <p:spPr>
          <a:xfrm>
            <a:off x="673577" y="4686500"/>
            <a:ext cx="5388610" cy="4439841"/>
          </a:xfrm>
          <a:prstGeom prst="rect">
            <a:avLst/>
          </a:prstGeom>
        </p:spPr>
        <p:txBody>
          <a:bodyPr vert="horz" lIns="90650" tIns="45325" rIns="90650" bIns="45325"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2" y="9371286"/>
            <a:ext cx="2918830" cy="493316"/>
          </a:xfrm>
          <a:prstGeom prst="rect">
            <a:avLst/>
          </a:prstGeom>
        </p:spPr>
        <p:txBody>
          <a:bodyPr vert="horz" lIns="90650" tIns="45325" rIns="90650" bIns="45325" rtlCol="0" anchor="b"/>
          <a:lstStyle>
            <a:lvl1pPr algn="l">
              <a:defRPr sz="1100"/>
            </a:lvl1pPr>
          </a:lstStyle>
          <a:p>
            <a:endParaRPr kumimoji="1" lang="ja-JP" altLang="en-US"/>
          </a:p>
        </p:txBody>
      </p:sp>
      <p:sp>
        <p:nvSpPr>
          <p:cNvPr id="7" name="スライド番号プレースホルダ 6"/>
          <p:cNvSpPr>
            <a:spLocks noGrp="1"/>
          </p:cNvSpPr>
          <p:nvPr>
            <p:ph type="sldNum" sz="quarter" idx="5"/>
          </p:nvPr>
        </p:nvSpPr>
        <p:spPr>
          <a:xfrm>
            <a:off x="3815374" y="9371286"/>
            <a:ext cx="2918830" cy="493316"/>
          </a:xfrm>
          <a:prstGeom prst="rect">
            <a:avLst/>
          </a:prstGeom>
        </p:spPr>
        <p:txBody>
          <a:bodyPr vert="horz" lIns="90650" tIns="45325" rIns="90650" bIns="45325" rtlCol="0" anchor="b"/>
          <a:lstStyle>
            <a:lvl1pPr algn="r">
              <a:defRPr sz="1100"/>
            </a:lvl1pPr>
          </a:lstStyle>
          <a:p>
            <a:fld id="{1295083C-D7A7-493D-B72D-C9E63084AB5C}"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uFillTx/>
              </a:rPr>
              <a:t>【ASP</a:t>
            </a:r>
            <a:r>
              <a:rPr kumimoji="1" lang="ja-JP" altLang="en-US" dirty="0">
                <a:uFillTx/>
              </a:rPr>
              <a:t>サービスとしての</a:t>
            </a:r>
            <a:r>
              <a:rPr kumimoji="1" lang="en-US" altLang="ja-JP" dirty="0">
                <a:uFillTx/>
              </a:rPr>
              <a:t>SLA</a:t>
            </a:r>
            <a:r>
              <a:rPr kumimoji="1" lang="ja-JP" altLang="en-US" dirty="0">
                <a:uFillTx/>
              </a:rPr>
              <a:t>を提示</a:t>
            </a:r>
            <a:r>
              <a:rPr kumimoji="1" lang="en-US" altLang="ja-JP" dirty="0">
                <a:uFillTx/>
              </a:rPr>
              <a:t>】</a:t>
            </a:r>
          </a:p>
          <a:p>
            <a:r>
              <a:rPr kumimoji="1" lang="en-US" altLang="ja-JP" dirty="0">
                <a:uFillTx/>
              </a:rPr>
              <a:t>ASP</a:t>
            </a:r>
            <a:r>
              <a:rPr kumimoji="1" lang="ja-JP" altLang="en-US" dirty="0">
                <a:uFillTx/>
              </a:rPr>
              <a:t>としての可用性</a:t>
            </a:r>
            <a:r>
              <a:rPr kumimoji="1" lang="en-US" altLang="ja-JP" dirty="0">
                <a:uFillTx/>
              </a:rPr>
              <a:t>/</a:t>
            </a:r>
            <a:r>
              <a:rPr kumimoji="1" lang="ja-JP" altLang="en-US" dirty="0">
                <a:uFillTx/>
              </a:rPr>
              <a:t>信頼性</a:t>
            </a:r>
            <a:r>
              <a:rPr kumimoji="1" lang="en-US" altLang="ja-JP" dirty="0">
                <a:uFillTx/>
              </a:rPr>
              <a:t>/</a:t>
            </a:r>
            <a:r>
              <a:rPr kumimoji="1" lang="ja-JP" altLang="en-US" dirty="0">
                <a:uFillTx/>
              </a:rPr>
              <a:t>拡張性などを定義している</a:t>
            </a:r>
            <a:endParaRPr kumimoji="1" lang="en-US" altLang="ja-JP" dirty="0">
              <a:uFillTx/>
            </a:endParaRPr>
          </a:p>
          <a:p>
            <a:r>
              <a:rPr kumimoji="1" lang="ja-JP" altLang="en-US" dirty="0">
                <a:uFillTx/>
              </a:rPr>
              <a:t>貴社向けサービスも、本内容をベースに提供させていただく</a:t>
            </a:r>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uFillTx/>
              </a:rPr>
              <a:pPr/>
              <a:t>2</a:t>
            </a:fld>
            <a:endParaRPr kumimoji="1" lang="ja-JP" altLang="en-US">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uFillTx/>
            </a:endParaRPr>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uFillTx/>
              </a:rPr>
              <a:pPr/>
              <a:t>3</a:t>
            </a:fld>
            <a:endParaRPr kumimoji="1" lang="ja-JP" altLang="en-US">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uFillTx/>
              </a:rPr>
              <a:t>【ASP</a:t>
            </a:r>
            <a:r>
              <a:rPr kumimoji="1" lang="ja-JP" altLang="en-US" dirty="0">
                <a:uFillTx/>
              </a:rPr>
              <a:t>としてのサポート内容</a:t>
            </a:r>
            <a:r>
              <a:rPr kumimoji="1" lang="en-US" altLang="ja-JP" dirty="0">
                <a:uFillTx/>
              </a:rPr>
              <a:t>】</a:t>
            </a:r>
          </a:p>
          <a:p>
            <a:endParaRPr kumimoji="1" lang="en-US" altLang="ja-JP" dirty="0">
              <a:uFillTx/>
            </a:endParaRPr>
          </a:p>
          <a:p>
            <a:r>
              <a:rPr kumimoji="1" lang="ja-JP" altLang="en-US" dirty="0">
                <a:uFillTx/>
              </a:rPr>
              <a:t>■</a:t>
            </a:r>
            <a:r>
              <a:rPr kumimoji="1" lang="en-US" altLang="ja-JP" dirty="0">
                <a:uFillTx/>
              </a:rPr>
              <a:t>ASP</a:t>
            </a:r>
            <a:r>
              <a:rPr kumimoji="1" lang="ja-JP" altLang="en-US" dirty="0">
                <a:uFillTx/>
              </a:rPr>
              <a:t>サービスは当社でシステムの運用を行い、サービスとしてご提供するもの</a:t>
            </a:r>
            <a:endParaRPr kumimoji="1" lang="en-US" altLang="ja-JP" dirty="0">
              <a:uFillTx/>
            </a:endParaRPr>
          </a:p>
          <a:p>
            <a:r>
              <a:rPr kumimoji="1" lang="ja-JP" altLang="en-US" dirty="0">
                <a:uFillTx/>
              </a:rPr>
              <a:t>■</a:t>
            </a:r>
            <a:r>
              <a:rPr kumimoji="1" lang="en-US" altLang="ja-JP" dirty="0">
                <a:uFillTx/>
              </a:rPr>
              <a:t>ASP</a:t>
            </a:r>
            <a:r>
              <a:rPr kumimoji="1" lang="ja-JP" altLang="en-US" dirty="0">
                <a:uFillTx/>
              </a:rPr>
              <a:t>のご採用により、システム運営に必要な</a:t>
            </a:r>
            <a:r>
              <a:rPr kumimoji="1" lang="en-US" altLang="ja-JP" dirty="0">
                <a:uFillTx/>
              </a:rPr>
              <a:t>HW</a:t>
            </a:r>
            <a:r>
              <a:rPr kumimoji="1" lang="ja-JP" altLang="en-US" dirty="0">
                <a:uFillTx/>
              </a:rPr>
              <a:t>やファシリティのご用意は不要</a:t>
            </a:r>
            <a:endParaRPr kumimoji="1" lang="en-US" altLang="ja-JP" dirty="0">
              <a:uFillTx/>
            </a:endParaRPr>
          </a:p>
          <a:p>
            <a:r>
              <a:rPr kumimoji="1" lang="ja-JP" altLang="en-US" dirty="0">
                <a:uFillTx/>
              </a:rPr>
              <a:t>■通常運用や監視、異常検知時の対応などは当社のご提供</a:t>
            </a:r>
            <a:endParaRPr kumimoji="1" lang="en-US" altLang="ja-JP" dirty="0">
              <a:uFillTx/>
            </a:endParaRPr>
          </a:p>
          <a:p>
            <a:r>
              <a:rPr kumimoji="1" lang="ja-JP" altLang="en-US" dirty="0">
                <a:uFillTx/>
              </a:rPr>
              <a:t>■システムの管理は弊社要員にて対応するので、貴社要員は、サイト運営に集中できる</a:t>
            </a:r>
            <a:endParaRPr kumimoji="1" lang="en-US" altLang="ja-JP" dirty="0">
              <a:uFillTx/>
            </a:endParaRPr>
          </a:p>
          <a:p>
            <a:endParaRPr kumimoji="1" lang="en-US" altLang="ja-JP" dirty="0">
              <a:uFillTx/>
            </a:endParaRPr>
          </a:p>
          <a:p>
            <a:r>
              <a:rPr kumimoji="1" lang="en-US" altLang="ja-JP" dirty="0">
                <a:uFillTx/>
              </a:rPr>
              <a:t>ASP</a:t>
            </a:r>
            <a:r>
              <a:rPr kumimoji="1" lang="ja-JP" altLang="en-US" dirty="0">
                <a:uFillTx/>
              </a:rPr>
              <a:t>年額３０９万（パッケージは初期１００万＋年１２０万）</a:t>
            </a:r>
            <a:endParaRPr kumimoji="1" lang="en-US" altLang="ja-JP" dirty="0">
              <a:uFillTx/>
            </a:endParaRPr>
          </a:p>
          <a:p>
            <a:r>
              <a:rPr kumimoji="1" lang="ja-JP" altLang="en-US" dirty="0">
                <a:uFillTx/>
              </a:rPr>
              <a:t>・</a:t>
            </a:r>
            <a:r>
              <a:rPr kumimoji="1" lang="en-US" altLang="ja-JP" dirty="0">
                <a:uFillTx/>
              </a:rPr>
              <a:t>HW</a:t>
            </a:r>
            <a:r>
              <a:rPr kumimoji="1" lang="ja-JP" altLang="en-US" dirty="0">
                <a:uFillTx/>
              </a:rPr>
              <a:t>更新不要／ハード・ソフトの運用不要／監視不要／電気代不要</a:t>
            </a:r>
            <a:endParaRPr kumimoji="1" lang="en-US" altLang="ja-JP" dirty="0">
              <a:uFillTx/>
            </a:endParaRPr>
          </a:p>
          <a:p>
            <a:r>
              <a:rPr kumimoji="1" lang="ja-JP" altLang="en-US" dirty="0">
                <a:uFillTx/>
              </a:rPr>
              <a:t>　　⇒コストメリット、要員の効率配置</a:t>
            </a:r>
            <a:endParaRPr kumimoji="1" lang="en-US" altLang="ja-JP" dirty="0">
              <a:uFillTx/>
            </a:endParaRPr>
          </a:p>
          <a:p>
            <a:endParaRPr kumimoji="1" lang="en-US" altLang="ja-JP" dirty="0">
              <a:uFillTx/>
            </a:endParaRPr>
          </a:p>
          <a:p>
            <a:r>
              <a:rPr kumimoji="1" lang="en-US" altLang="ja-JP" dirty="0">
                <a:uFillTx/>
              </a:rPr>
              <a:t>EM</a:t>
            </a:r>
            <a:r>
              <a:rPr kumimoji="1" lang="ja-JP" altLang="en-US" dirty="0">
                <a:uFillTx/>
              </a:rPr>
              <a:t>指摘：</a:t>
            </a:r>
            <a:r>
              <a:rPr kumimoji="1" lang="en-US" altLang="ja-JP" dirty="0">
                <a:uFillTx/>
              </a:rPr>
              <a:t>ASP</a:t>
            </a:r>
            <a:r>
              <a:rPr kumimoji="1" lang="ja-JP" altLang="en-US" dirty="0">
                <a:uFillTx/>
              </a:rPr>
              <a:t>版の優位性を説明すると良い。特長だと思うのでその辺の備えがあったほうが良い。</a:t>
            </a:r>
          </a:p>
          <a:p>
            <a:endParaRPr kumimoji="1" lang="en-US" altLang="ja-JP" dirty="0">
              <a:uFillTx/>
            </a:endParaRPr>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uFillTx/>
              </a:rPr>
              <a:pPr/>
              <a:t>4</a:t>
            </a:fld>
            <a:endParaRPr kumimoji="1" lang="ja-JP" altLang="en-US">
              <a:uFillTx/>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pPr/>
              <a:t>14</a:t>
            </a:fld>
            <a:endParaRPr kumimoji="1" lang="ja-JP" altLang="en-US"/>
          </a:p>
        </p:txBody>
      </p:sp>
    </p:spTree>
    <p:extLst>
      <p:ext uri="{BB962C8B-B14F-4D97-AF65-F5344CB8AC3E}">
        <p14:creationId xmlns:p14="http://schemas.microsoft.com/office/powerpoint/2010/main" val="3322750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6E11B0DB-0F0E-4CEB-81F9-871F3865D7BC}"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9876AE50-DD4A-4E51-9A3C-7B56E06A170F}"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7CC4DE62-FE87-4348-9FEA-94E0548B0D4E}"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1454E833-AA3C-47EC-AB9E-84BD6DE11113}"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1EBB6039-1225-4FE5-A2BB-82E562B6BAE6}" type="datetime1">
              <a:rPr kumimoji="1" lang="ja-JP" altLang="en-US" smtClean="0"/>
              <a:t>2026/9/15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CE59E0CC-B163-4755-A415-C646239A226E}" type="datetime1">
              <a:rPr kumimoji="1" lang="ja-JP" altLang="en-US" smtClean="0"/>
              <a:t>2026/9/15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73562B13-2AFF-40C2-AF80-116B0B4FC762}" type="datetime1">
              <a:rPr kumimoji="1" lang="ja-JP" altLang="en-US" smtClean="0"/>
              <a:t>2026/9/15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55B1FDD3-EDE9-4452-9202-9A09A07B6170}"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8"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D1473908-6E66-407A-83D6-FA21C432522F}"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8"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975F3E6C-B5AE-4F16-9419-CB7E68A9BD04}"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DBF6FC4-6E07-4B28-A644-AC6A9CA73E8B}"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771556" y="142852"/>
            <a:ext cx="8229600" cy="582594"/>
          </a:xfrm>
          <a:prstGeom prst="rect">
            <a:avLst/>
          </a:prstGeom>
        </p:spPr>
        <p:txBody>
          <a:bodyPr/>
          <a:lstStyle>
            <a:lvl1pPr algn="l">
              <a:defRPr/>
            </a:lvl1pPr>
          </a:lstStyle>
          <a:p>
            <a:r>
              <a:rPr lang="ja-JP" altLang="en-US"/>
              <a:t>マスタ タイトルの書式設定</a:t>
            </a:r>
          </a:p>
        </p:txBody>
      </p:sp>
      <p:sp>
        <p:nvSpPr>
          <p:cNvPr id="5" name="直線コネクタ 13"/>
          <p:cNvSpPr>
            <a:spLocks noChangeShapeType="1"/>
          </p:cNvSpPr>
          <p:nvPr userDrawn="1"/>
        </p:nvSpPr>
        <p:spPr bwMode="auto">
          <a:xfrm>
            <a:off x="141257" y="674642"/>
            <a:ext cx="8785225" cy="0"/>
          </a:xfrm>
          <a:prstGeom prst="line">
            <a:avLst/>
          </a:prstGeom>
          <a:noFill/>
          <a:ln w="12700" cap="sq">
            <a:solidFill>
              <a:schemeClr val="tx1"/>
            </a:solidFill>
            <a:bevel/>
          </a:ln>
        </p:spPr>
        <p:txBody>
          <a:bodyPr/>
          <a:lstStyle/>
          <a:p>
            <a:endParaRPr lang="ja-JP" altLang="en-US"/>
          </a:p>
        </p:txBody>
      </p:sp>
      <p:sp>
        <p:nvSpPr>
          <p:cNvPr id="6" name="スライド番号プレースホルダ 21"/>
          <p:cNvSpPr txBox="1"/>
          <p:nvPr userDrawn="1"/>
        </p:nvSpPr>
        <p:spPr bwMode="auto">
          <a:xfrm>
            <a:off x="6970713" y="6492875"/>
            <a:ext cx="2133600" cy="365125"/>
          </a:xfrm>
          <a:prstGeom prst="rect">
            <a:avLst/>
          </a:prstGeom>
          <a:noFill/>
          <a:ln w="9525">
            <a:noFill/>
            <a:miter lim="800000"/>
          </a:ln>
        </p:spPr>
        <p:txBody>
          <a:bodyPr/>
          <a:lstStyle/>
          <a:p>
            <a:pPr algn="r"/>
            <a:fld id="{142D207C-8CDE-4337-AE95-AB99F8E46A13}" type="slidenum">
              <a:rPr lang="ja-JP" altLang="en-US"/>
              <a:t>‹#›</a:t>
            </a:fld>
            <a:endParaRPr lang="ja-JP" altLang="en-US"/>
          </a:p>
        </p:txBody>
      </p:sp>
      <p:pic>
        <p:nvPicPr>
          <p:cNvPr id="7" name="図 6" descr="アイコン&#10;&#10;自動的に生成された説明">
            <a:extLst>
              <a:ext uri="{FF2B5EF4-FFF2-40B4-BE49-F238E27FC236}">
                <a16:creationId xmlns:a16="http://schemas.microsoft.com/office/drawing/2014/main" id="{123A33FA-DFD3-E656-09E9-0DFDF513FB92}"/>
              </a:ext>
            </a:extLst>
          </p:cNvPr>
          <p:cNvPicPr>
            <a:picLocks noChangeAspect="1"/>
          </p:cNvPicPr>
          <p:nvPr userDrawn="1"/>
        </p:nvPicPr>
        <p:blipFill>
          <a:blip/>
          <a:stretch>
            <a:fillRect/>
          </a:stretch>
        </p:blipFill>
        <p:spPr>
          <a:xfrm>
            <a:off x="154748" y="142852"/>
            <a:ext cx="720000" cy="49227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2952128"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営業・営業事務</a:t>
            </a:r>
          </a:p>
        </p:txBody>
      </p:sp>
      <p:sp>
        <p:nvSpPr>
          <p:cNvPr id="9" name="正方形/長方形 8"/>
          <p:cNvSpPr/>
          <p:nvPr userDrawn="1"/>
        </p:nvSpPr>
        <p:spPr>
          <a:xfrm>
            <a:off x="5800448"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担当営業</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会員</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p:nvPicPr>
        <p:blipFill>
          <a:blip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5431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仕入先</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2948279"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21" name="角丸四角形 11"/>
          <p:cNvSpPr/>
          <p:nvPr userDrawn="1"/>
        </p:nvSpPr>
        <p:spPr>
          <a:xfrm>
            <a:off x="226605" y="2054914"/>
            <a:ext cx="820079" cy="140409"/>
          </a:xfrm>
          <a:prstGeom prst="roundRect">
            <a:avLst/>
          </a:prstGeom>
          <a:solidFill>
            <a:schemeClr val="accent6"/>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645">
                <a:solidFill>
                  <a:schemeClr val="tx1">
                    <a:lumMod val="75000"/>
                    <a:lumOff val="25000"/>
                  </a:schemeClr>
                </a:solidFill>
                <a:latin typeface="+mn-ea"/>
              </a:rPr>
              <a:t>EC-</a:t>
            </a:r>
            <a:r>
              <a:rPr kumimoji="1" lang="en-US" altLang="ja-JP" sz="645" err="1">
                <a:solidFill>
                  <a:schemeClr val="tx1">
                    <a:lumMod val="75000"/>
                    <a:lumOff val="25000"/>
                  </a:schemeClr>
                </a:solidFill>
                <a:latin typeface="+mn-ea"/>
              </a:rPr>
              <a:t>RIider</a:t>
            </a:r>
            <a:r>
              <a:rPr kumimoji="1" lang="ja-JP" altLang="en-US" sz="645">
                <a:solidFill>
                  <a:schemeClr val="tx1">
                    <a:lumMod val="75000"/>
                    <a:lumOff val="25000"/>
                  </a:schemeClr>
                </a:solidFill>
                <a:latin typeface="+mn-ea"/>
              </a:rPr>
              <a:t>機能</a:t>
            </a:r>
          </a:p>
        </p:txBody>
      </p:sp>
      <p:sp>
        <p:nvSpPr>
          <p:cNvPr id="22" name="角丸四角形 12"/>
          <p:cNvSpPr/>
          <p:nvPr userDrawn="1"/>
        </p:nvSpPr>
        <p:spPr>
          <a:xfrm>
            <a:off x="226605" y="2230543"/>
            <a:ext cx="820079" cy="140409"/>
          </a:xfrm>
          <a:prstGeom prst="roundRect">
            <a:avLst/>
          </a:prstGeom>
          <a:solidFill>
            <a:schemeClr val="accent5">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他システム機能</a:t>
            </a:r>
          </a:p>
        </p:txBody>
      </p:sp>
      <p:sp>
        <p:nvSpPr>
          <p:cNvPr id="23" name="角丸四角形 13"/>
          <p:cNvSpPr/>
          <p:nvPr userDrawn="1"/>
        </p:nvSpPr>
        <p:spPr>
          <a:xfrm>
            <a:off x="226604" y="2402231"/>
            <a:ext cx="831769" cy="145000"/>
          </a:xfrm>
          <a:prstGeom prst="roundRect">
            <a:avLst/>
          </a:prstGeom>
          <a:solidFill>
            <a:schemeClr val="tx2">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データ</a:t>
            </a:r>
          </a:p>
        </p:txBody>
      </p:sp>
      <p:sp>
        <p:nvSpPr>
          <p:cNvPr id="24" name="角丸四角形 14"/>
          <p:cNvSpPr/>
          <p:nvPr userDrawn="1"/>
        </p:nvSpPr>
        <p:spPr>
          <a:xfrm>
            <a:off x="226603" y="2573910"/>
            <a:ext cx="832926" cy="134929"/>
          </a:xfrm>
          <a:prstGeom prst="roundRec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非システム</a:t>
            </a:r>
          </a:p>
        </p:txBody>
      </p:sp>
      <p:sp>
        <p:nvSpPr>
          <p:cNvPr id="25" name="正方形/長方形 24"/>
          <p:cNvSpPr/>
          <p:nvPr userDrawn="1"/>
        </p:nvSpPr>
        <p:spPr>
          <a:xfrm>
            <a:off x="171268" y="1412776"/>
            <a:ext cx="939487" cy="27286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715">
                <a:solidFill>
                  <a:schemeClr val="tx1">
                    <a:lumMod val="75000"/>
                    <a:lumOff val="25000"/>
                  </a:schemeClr>
                </a:solidFill>
                <a:latin typeface="+mn-ea"/>
              </a:rPr>
              <a:t>凡例</a:t>
            </a:r>
            <a:endParaRPr kumimoji="1" lang="en-US" altLang="ja-JP" sz="715">
              <a:solidFill>
                <a:schemeClr val="tx1">
                  <a:lumMod val="75000"/>
                  <a:lumOff val="25000"/>
                </a:schemeClr>
              </a:solidFill>
              <a:latin typeface="+mn-ea"/>
            </a:endParaRPr>
          </a:p>
          <a:p>
            <a:pPr algn="l"/>
            <a:endParaRPr kumimoji="1" lang="ja-JP" altLang="en-US" sz="715">
              <a:solidFill>
                <a:schemeClr val="tx1">
                  <a:lumMod val="75000"/>
                  <a:lumOff val="25000"/>
                </a:schemeClr>
              </a:solidFill>
              <a:latin typeface="+mn-ea"/>
            </a:endParaRPr>
          </a:p>
        </p:txBody>
      </p:sp>
      <p:sp>
        <p:nvSpPr>
          <p:cNvPr id="26" name="テキスト ボックス 16"/>
          <p:cNvSpPr txBox="1"/>
          <p:nvPr userDrawn="1"/>
        </p:nvSpPr>
        <p:spPr>
          <a:xfrm>
            <a:off x="194919" y="2732096"/>
            <a:ext cx="870005" cy="27699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600">
                <a:solidFill>
                  <a:srgbClr val="FF0000"/>
                </a:solidFill>
                <a:latin typeface="+mn-ea"/>
              </a:rPr>
              <a:t>[</a:t>
            </a:r>
            <a:r>
              <a:rPr kumimoji="1" lang="ja-JP" altLang="en-US" sz="600">
                <a:solidFill>
                  <a:srgbClr val="FF0000"/>
                </a:solidFill>
                <a:latin typeface="+mn-ea"/>
              </a:rPr>
              <a:t>新</a:t>
            </a:r>
            <a:r>
              <a:rPr kumimoji="1" lang="en-US" altLang="ja-JP" sz="600">
                <a:solidFill>
                  <a:srgbClr val="FF0000"/>
                </a:solidFill>
                <a:latin typeface="+mn-ea"/>
              </a:rPr>
              <a:t>] </a:t>
            </a:r>
            <a:r>
              <a:rPr kumimoji="1" lang="ja-JP" altLang="en-US" sz="600">
                <a:solidFill>
                  <a:srgbClr val="FF0000"/>
                </a:solidFill>
                <a:latin typeface="+mn-ea"/>
              </a:rPr>
              <a:t>新規追加機能</a:t>
            </a:r>
            <a:endParaRPr kumimoji="1" lang="en-US" altLang="ja-JP" sz="600">
              <a:solidFill>
                <a:srgbClr val="FF0000"/>
              </a:solidFill>
              <a:latin typeface="+mn-ea"/>
            </a:endParaRPr>
          </a:p>
          <a:p>
            <a:r>
              <a:rPr kumimoji="1" lang="en-US" altLang="ja-JP" sz="600">
                <a:solidFill>
                  <a:srgbClr val="FF0000"/>
                </a:solidFill>
                <a:latin typeface="+mn-ea"/>
              </a:rPr>
              <a:t>[</a:t>
            </a:r>
            <a:r>
              <a:rPr kumimoji="1" lang="ja-JP" altLang="en-US" sz="600">
                <a:solidFill>
                  <a:srgbClr val="FF0000"/>
                </a:solidFill>
                <a:latin typeface="+mn-ea"/>
              </a:rPr>
              <a:t>カ</a:t>
            </a:r>
            <a:r>
              <a:rPr kumimoji="1" lang="en-US" altLang="ja-JP" sz="600">
                <a:solidFill>
                  <a:srgbClr val="FF0000"/>
                </a:solidFill>
                <a:latin typeface="+mn-ea"/>
              </a:rPr>
              <a:t>] </a:t>
            </a:r>
            <a:r>
              <a:rPr kumimoji="1" lang="ja-JP" altLang="en-US" sz="600">
                <a:solidFill>
                  <a:srgbClr val="FF0000"/>
                </a:solidFill>
                <a:latin typeface="+mn-ea"/>
              </a:rPr>
              <a:t>カスタマイズ機能</a:t>
            </a:r>
          </a:p>
        </p:txBody>
      </p:sp>
      <p:cxnSp>
        <p:nvCxnSpPr>
          <p:cNvPr id="27" name="カギ線コネクタ 33"/>
          <p:cNvCxnSpPr/>
          <p:nvPr userDrawn="1"/>
        </p:nvCxnSpPr>
        <p:spPr>
          <a:xfrm flipV="1">
            <a:off x="233175" y="3747743"/>
            <a:ext cx="260699" cy="3256"/>
          </a:xfrm>
          <a:prstGeom prst="straightConnector1">
            <a:avLst/>
          </a:prstGeom>
          <a:ln w="9525">
            <a:solidFill>
              <a:srgbClr val="000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18"/>
          <p:cNvSpPr txBox="1"/>
          <p:nvPr userDrawn="1"/>
        </p:nvSpPr>
        <p:spPr>
          <a:xfrm>
            <a:off x="540498" y="3662132"/>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業務の流れ</a:t>
            </a:r>
          </a:p>
        </p:txBody>
      </p:sp>
      <p:cxnSp>
        <p:nvCxnSpPr>
          <p:cNvPr id="29" name="カギ線コネクタ 33"/>
          <p:cNvCxnSpPr/>
          <p:nvPr userDrawn="1"/>
        </p:nvCxnSpPr>
        <p:spPr>
          <a:xfrm flipV="1">
            <a:off x="233175" y="3957468"/>
            <a:ext cx="260699" cy="2300"/>
          </a:xfrm>
          <a:prstGeom prst="straightConnector1">
            <a:avLst/>
          </a:prstGeom>
          <a:ln w="9525">
            <a:solidFill>
              <a:srgbClr val="000000"/>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0"/>
          <p:cNvSpPr txBox="1"/>
          <p:nvPr userDrawn="1"/>
        </p:nvSpPr>
        <p:spPr>
          <a:xfrm>
            <a:off x="517263" y="3846590"/>
            <a:ext cx="755037" cy="18009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画面・</a:t>
            </a:r>
            <a:endParaRPr kumimoji="1" lang="en-US" altLang="ja-JP" sz="570">
              <a:solidFill>
                <a:schemeClr val="tx1">
                  <a:lumMod val="75000"/>
                  <a:lumOff val="25000"/>
                </a:schemeClr>
              </a:solidFill>
              <a:latin typeface="+mn-ea"/>
            </a:endParaRPr>
          </a:p>
          <a:p>
            <a:r>
              <a:rPr kumimoji="1" lang="ja-JP" altLang="en-US" sz="570">
                <a:solidFill>
                  <a:schemeClr val="tx1">
                    <a:lumMod val="75000"/>
                    <a:lumOff val="25000"/>
                  </a:schemeClr>
                </a:solidFill>
                <a:latin typeface="+mn-ea"/>
              </a:rPr>
              <a:t>データアクセス</a:t>
            </a:r>
          </a:p>
        </p:txBody>
      </p:sp>
      <p:sp>
        <p:nvSpPr>
          <p:cNvPr id="31" name="円/楕円 21"/>
          <p:cNvSpPr/>
          <p:nvPr userDrawn="1"/>
        </p:nvSpPr>
        <p:spPr>
          <a:xfrm>
            <a:off x="356802" y="1635796"/>
            <a:ext cx="102857" cy="102857"/>
          </a:xfrm>
          <a:prstGeom prst="ellipse">
            <a:avLst/>
          </a:prstGeom>
          <a:solidFill>
            <a:srgbClr val="000000"/>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2" name="テキスト ボックス 22"/>
          <p:cNvSpPr txBox="1"/>
          <p:nvPr userDrawn="1"/>
        </p:nvSpPr>
        <p:spPr>
          <a:xfrm>
            <a:off x="494136" y="1605960"/>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業務開始点</a:t>
            </a:r>
          </a:p>
        </p:txBody>
      </p:sp>
      <p:sp>
        <p:nvSpPr>
          <p:cNvPr id="33" name="ドーナツ 23"/>
          <p:cNvSpPr/>
          <p:nvPr userDrawn="1"/>
        </p:nvSpPr>
        <p:spPr>
          <a:xfrm>
            <a:off x="357606" y="1781809"/>
            <a:ext cx="102857" cy="102857"/>
          </a:xfrm>
          <a:prstGeom prst="donut">
            <a:avLst/>
          </a:prstGeom>
          <a:solidFill>
            <a:srgbClr val="FFFFFF"/>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4" name="テキスト ボックス 24"/>
          <p:cNvSpPr txBox="1"/>
          <p:nvPr userDrawn="1"/>
        </p:nvSpPr>
        <p:spPr>
          <a:xfrm>
            <a:off x="494136" y="1749486"/>
            <a:ext cx="633437" cy="18284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業務終了点</a:t>
            </a:r>
          </a:p>
        </p:txBody>
      </p:sp>
      <p:grpSp>
        <p:nvGrpSpPr>
          <p:cNvPr id="35" name="グループ化 34"/>
          <p:cNvGrpSpPr/>
          <p:nvPr userDrawn="1"/>
        </p:nvGrpSpPr>
        <p:grpSpPr>
          <a:xfrm>
            <a:off x="178846" y="3409587"/>
            <a:ext cx="460242" cy="199416"/>
            <a:chOff x="82539" y="5336043"/>
            <a:chExt cx="1114424" cy="459100"/>
          </a:xfrm>
        </p:grpSpPr>
        <p:sp>
          <p:nvSpPr>
            <p:cNvPr id="36" name="フローチャート : 書類 26"/>
            <p:cNvSpPr/>
            <p:nvPr/>
          </p:nvSpPr>
          <p:spPr>
            <a:xfrm>
              <a:off x="273038" y="5383668"/>
              <a:ext cx="762000" cy="400050"/>
            </a:xfrm>
            <a:prstGeom prst="flowChartDocumen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50">
                <a:solidFill>
                  <a:schemeClr val="tx1">
                    <a:lumMod val="75000"/>
                    <a:lumOff val="25000"/>
                  </a:schemeClr>
                </a:solidFill>
                <a:latin typeface="+mn-ea"/>
              </a:endParaRPr>
            </a:p>
          </p:txBody>
        </p:sp>
        <p:sp>
          <p:nvSpPr>
            <p:cNvPr id="37" name="テキスト ボックス 27"/>
            <p:cNvSpPr txBox="1"/>
            <p:nvPr/>
          </p:nvSpPr>
          <p:spPr>
            <a:xfrm>
              <a:off x="82539" y="5336043"/>
              <a:ext cx="1114424" cy="459100"/>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ja-JP" altLang="en-US" sz="570">
                  <a:solidFill>
                    <a:schemeClr val="tx1">
                      <a:lumMod val="75000"/>
                      <a:lumOff val="25000"/>
                    </a:schemeClr>
                  </a:solidFill>
                  <a:latin typeface="+mn-ea"/>
                </a:rPr>
                <a:t>ファイル</a:t>
              </a:r>
            </a:p>
          </p:txBody>
        </p:sp>
      </p:grpSp>
      <p:pic>
        <p:nvPicPr>
          <p:cNvPr id="38" name="図 37"/>
          <p:cNvPicPr>
            <a:picLocks noChangeAspect="1"/>
          </p:cNvPicPr>
          <p:nvPr userDrawn="1"/>
        </p:nvPicPr>
        <p:blipFill>
          <a:blip cstate="print"/>
          <a:stretch>
            <a:fillRect/>
          </a:stretch>
        </p:blipFill>
        <p:spPr>
          <a:xfrm>
            <a:off x="720432" y="3091380"/>
            <a:ext cx="258536" cy="166631"/>
          </a:xfrm>
          <a:prstGeom prst="rect">
            <a:avLst/>
          </a:prstGeom>
        </p:spPr>
      </p:pic>
      <p:sp>
        <p:nvSpPr>
          <p:cNvPr id="39" name="テキスト ボックス 29"/>
          <p:cNvSpPr txBox="1"/>
          <p:nvPr userDrawn="1"/>
        </p:nvSpPr>
        <p:spPr>
          <a:xfrm>
            <a:off x="702326" y="3245245"/>
            <a:ext cx="383754" cy="189165"/>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メール</a:t>
            </a:r>
          </a:p>
        </p:txBody>
      </p:sp>
      <p:sp>
        <p:nvSpPr>
          <p:cNvPr id="40" name="フローチャート : 磁気ディスク 36"/>
          <p:cNvSpPr/>
          <p:nvPr userDrawn="1"/>
        </p:nvSpPr>
        <p:spPr>
          <a:xfrm>
            <a:off x="237222" y="3104312"/>
            <a:ext cx="335672" cy="219725"/>
          </a:xfrm>
          <a:prstGeom prst="flowChartMagneticDisk">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570">
                <a:solidFill>
                  <a:schemeClr val="tx1">
                    <a:lumMod val="75000"/>
                    <a:lumOff val="25000"/>
                  </a:schemeClr>
                </a:solidFill>
                <a:latin typeface="+mn-ea"/>
              </a:rPr>
              <a:t>データ</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2952128"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営業・営業事務</a:t>
            </a:r>
          </a:p>
        </p:txBody>
      </p:sp>
      <p:sp>
        <p:nvSpPr>
          <p:cNvPr id="9" name="正方形/長方形 8"/>
          <p:cNvSpPr/>
          <p:nvPr userDrawn="1"/>
        </p:nvSpPr>
        <p:spPr>
          <a:xfrm>
            <a:off x="5800448"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担当営業</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会員</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p:nvPicPr>
        <p:blipFill>
          <a:blip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5431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仕入先</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2948279"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21" name="角丸四角形 11"/>
          <p:cNvSpPr/>
          <p:nvPr userDrawn="1"/>
        </p:nvSpPr>
        <p:spPr>
          <a:xfrm>
            <a:off x="7999004" y="4431178"/>
            <a:ext cx="820079" cy="140409"/>
          </a:xfrm>
          <a:prstGeom prst="roundRect">
            <a:avLst/>
          </a:prstGeom>
          <a:solidFill>
            <a:schemeClr val="accent6"/>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645">
                <a:solidFill>
                  <a:schemeClr val="tx1">
                    <a:lumMod val="75000"/>
                    <a:lumOff val="25000"/>
                  </a:schemeClr>
                </a:solidFill>
                <a:latin typeface="+mn-ea"/>
              </a:rPr>
              <a:t>EC-</a:t>
            </a:r>
            <a:r>
              <a:rPr kumimoji="1" lang="en-US" altLang="ja-JP" sz="645" err="1">
                <a:solidFill>
                  <a:schemeClr val="tx1">
                    <a:lumMod val="75000"/>
                    <a:lumOff val="25000"/>
                  </a:schemeClr>
                </a:solidFill>
                <a:latin typeface="+mn-ea"/>
              </a:rPr>
              <a:t>RIider</a:t>
            </a:r>
            <a:r>
              <a:rPr kumimoji="1" lang="ja-JP" altLang="en-US" sz="645">
                <a:solidFill>
                  <a:schemeClr val="tx1">
                    <a:lumMod val="75000"/>
                    <a:lumOff val="25000"/>
                  </a:schemeClr>
                </a:solidFill>
                <a:latin typeface="+mn-ea"/>
              </a:rPr>
              <a:t>機能</a:t>
            </a:r>
          </a:p>
        </p:txBody>
      </p:sp>
      <p:sp>
        <p:nvSpPr>
          <p:cNvPr id="22" name="角丸四角形 12"/>
          <p:cNvSpPr/>
          <p:nvPr userDrawn="1"/>
        </p:nvSpPr>
        <p:spPr>
          <a:xfrm>
            <a:off x="7999004" y="4606807"/>
            <a:ext cx="820079" cy="140409"/>
          </a:xfrm>
          <a:prstGeom prst="roundRect">
            <a:avLst/>
          </a:prstGeom>
          <a:solidFill>
            <a:schemeClr val="accent5">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他システム機能</a:t>
            </a:r>
          </a:p>
        </p:txBody>
      </p:sp>
      <p:sp>
        <p:nvSpPr>
          <p:cNvPr id="23" name="角丸四角形 13"/>
          <p:cNvSpPr/>
          <p:nvPr userDrawn="1"/>
        </p:nvSpPr>
        <p:spPr>
          <a:xfrm>
            <a:off x="7999003" y="4778495"/>
            <a:ext cx="831769" cy="145000"/>
          </a:xfrm>
          <a:prstGeom prst="roundRect">
            <a:avLst/>
          </a:prstGeom>
          <a:solidFill>
            <a:schemeClr val="tx2">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データ</a:t>
            </a:r>
          </a:p>
        </p:txBody>
      </p:sp>
      <p:sp>
        <p:nvSpPr>
          <p:cNvPr id="24" name="角丸四角形 14"/>
          <p:cNvSpPr/>
          <p:nvPr userDrawn="1"/>
        </p:nvSpPr>
        <p:spPr>
          <a:xfrm>
            <a:off x="7999002" y="4950174"/>
            <a:ext cx="832926" cy="134929"/>
          </a:xfrm>
          <a:prstGeom prst="roundRec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非システム</a:t>
            </a:r>
          </a:p>
        </p:txBody>
      </p:sp>
      <p:sp>
        <p:nvSpPr>
          <p:cNvPr id="25" name="正方形/長方形 24"/>
          <p:cNvSpPr/>
          <p:nvPr userDrawn="1"/>
        </p:nvSpPr>
        <p:spPr>
          <a:xfrm>
            <a:off x="7943667" y="3789040"/>
            <a:ext cx="939487" cy="27286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715">
                <a:solidFill>
                  <a:schemeClr val="tx1">
                    <a:lumMod val="75000"/>
                    <a:lumOff val="25000"/>
                  </a:schemeClr>
                </a:solidFill>
                <a:latin typeface="+mn-ea"/>
              </a:rPr>
              <a:t>凡例</a:t>
            </a:r>
            <a:endParaRPr kumimoji="1" lang="en-US" altLang="ja-JP" sz="715">
              <a:solidFill>
                <a:schemeClr val="tx1">
                  <a:lumMod val="75000"/>
                  <a:lumOff val="25000"/>
                </a:schemeClr>
              </a:solidFill>
              <a:latin typeface="+mn-ea"/>
            </a:endParaRPr>
          </a:p>
          <a:p>
            <a:pPr algn="l"/>
            <a:endParaRPr kumimoji="1" lang="ja-JP" altLang="en-US" sz="715">
              <a:solidFill>
                <a:schemeClr val="tx1">
                  <a:lumMod val="75000"/>
                  <a:lumOff val="25000"/>
                </a:schemeClr>
              </a:solidFill>
              <a:latin typeface="+mn-ea"/>
            </a:endParaRPr>
          </a:p>
        </p:txBody>
      </p:sp>
      <p:sp>
        <p:nvSpPr>
          <p:cNvPr id="26" name="テキスト ボックス 16"/>
          <p:cNvSpPr txBox="1"/>
          <p:nvPr userDrawn="1"/>
        </p:nvSpPr>
        <p:spPr>
          <a:xfrm>
            <a:off x="7967318" y="5108360"/>
            <a:ext cx="870005" cy="27699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600">
                <a:solidFill>
                  <a:srgbClr val="FF0000"/>
                </a:solidFill>
                <a:latin typeface="+mn-ea"/>
              </a:rPr>
              <a:t>[</a:t>
            </a:r>
            <a:r>
              <a:rPr kumimoji="1" lang="ja-JP" altLang="en-US" sz="600">
                <a:solidFill>
                  <a:srgbClr val="FF0000"/>
                </a:solidFill>
                <a:latin typeface="+mn-ea"/>
              </a:rPr>
              <a:t>新</a:t>
            </a:r>
            <a:r>
              <a:rPr kumimoji="1" lang="en-US" altLang="ja-JP" sz="600">
                <a:solidFill>
                  <a:srgbClr val="FF0000"/>
                </a:solidFill>
                <a:latin typeface="+mn-ea"/>
              </a:rPr>
              <a:t>] </a:t>
            </a:r>
            <a:r>
              <a:rPr kumimoji="1" lang="ja-JP" altLang="en-US" sz="600">
                <a:solidFill>
                  <a:srgbClr val="FF0000"/>
                </a:solidFill>
                <a:latin typeface="+mn-ea"/>
              </a:rPr>
              <a:t>新規追加機能</a:t>
            </a:r>
            <a:endParaRPr kumimoji="1" lang="en-US" altLang="ja-JP" sz="600">
              <a:solidFill>
                <a:srgbClr val="FF0000"/>
              </a:solidFill>
              <a:latin typeface="+mn-ea"/>
            </a:endParaRPr>
          </a:p>
          <a:p>
            <a:r>
              <a:rPr kumimoji="1" lang="en-US" altLang="ja-JP" sz="600">
                <a:solidFill>
                  <a:srgbClr val="FF0000"/>
                </a:solidFill>
                <a:latin typeface="+mn-ea"/>
              </a:rPr>
              <a:t>[</a:t>
            </a:r>
            <a:r>
              <a:rPr kumimoji="1" lang="ja-JP" altLang="en-US" sz="600">
                <a:solidFill>
                  <a:srgbClr val="FF0000"/>
                </a:solidFill>
                <a:latin typeface="+mn-ea"/>
              </a:rPr>
              <a:t>カ</a:t>
            </a:r>
            <a:r>
              <a:rPr kumimoji="1" lang="en-US" altLang="ja-JP" sz="600">
                <a:solidFill>
                  <a:srgbClr val="FF0000"/>
                </a:solidFill>
                <a:latin typeface="+mn-ea"/>
              </a:rPr>
              <a:t>] </a:t>
            </a:r>
            <a:r>
              <a:rPr kumimoji="1" lang="ja-JP" altLang="en-US" sz="600">
                <a:solidFill>
                  <a:srgbClr val="FF0000"/>
                </a:solidFill>
                <a:latin typeface="+mn-ea"/>
              </a:rPr>
              <a:t>カスタマイズ機能</a:t>
            </a:r>
          </a:p>
        </p:txBody>
      </p:sp>
      <p:cxnSp>
        <p:nvCxnSpPr>
          <p:cNvPr id="27" name="カギ線コネクタ 33"/>
          <p:cNvCxnSpPr/>
          <p:nvPr userDrawn="1"/>
        </p:nvCxnSpPr>
        <p:spPr>
          <a:xfrm flipV="1">
            <a:off x="8005574" y="6124007"/>
            <a:ext cx="260699" cy="3256"/>
          </a:xfrm>
          <a:prstGeom prst="straightConnector1">
            <a:avLst/>
          </a:prstGeom>
          <a:ln w="9525">
            <a:solidFill>
              <a:srgbClr val="000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18"/>
          <p:cNvSpPr txBox="1"/>
          <p:nvPr userDrawn="1"/>
        </p:nvSpPr>
        <p:spPr>
          <a:xfrm>
            <a:off x="8312897" y="6038396"/>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業務の流れ</a:t>
            </a:r>
          </a:p>
        </p:txBody>
      </p:sp>
      <p:cxnSp>
        <p:nvCxnSpPr>
          <p:cNvPr id="29" name="カギ線コネクタ 33"/>
          <p:cNvCxnSpPr/>
          <p:nvPr userDrawn="1"/>
        </p:nvCxnSpPr>
        <p:spPr>
          <a:xfrm flipV="1">
            <a:off x="8005574" y="6333732"/>
            <a:ext cx="260699" cy="2300"/>
          </a:xfrm>
          <a:prstGeom prst="straightConnector1">
            <a:avLst/>
          </a:prstGeom>
          <a:ln w="9525">
            <a:solidFill>
              <a:srgbClr val="000000"/>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0"/>
          <p:cNvSpPr txBox="1"/>
          <p:nvPr userDrawn="1"/>
        </p:nvSpPr>
        <p:spPr>
          <a:xfrm>
            <a:off x="8289662" y="6222854"/>
            <a:ext cx="755037" cy="18009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画面・</a:t>
            </a:r>
            <a:endParaRPr kumimoji="1" lang="en-US" altLang="ja-JP" sz="570">
              <a:solidFill>
                <a:schemeClr val="tx1">
                  <a:lumMod val="75000"/>
                  <a:lumOff val="25000"/>
                </a:schemeClr>
              </a:solidFill>
              <a:latin typeface="+mn-ea"/>
            </a:endParaRPr>
          </a:p>
          <a:p>
            <a:r>
              <a:rPr kumimoji="1" lang="ja-JP" altLang="en-US" sz="570">
                <a:solidFill>
                  <a:schemeClr val="tx1">
                    <a:lumMod val="75000"/>
                    <a:lumOff val="25000"/>
                  </a:schemeClr>
                </a:solidFill>
                <a:latin typeface="+mn-ea"/>
              </a:rPr>
              <a:t>データアクセス</a:t>
            </a:r>
          </a:p>
        </p:txBody>
      </p:sp>
      <p:sp>
        <p:nvSpPr>
          <p:cNvPr id="31" name="円/楕円 21"/>
          <p:cNvSpPr/>
          <p:nvPr userDrawn="1"/>
        </p:nvSpPr>
        <p:spPr>
          <a:xfrm>
            <a:off x="8129201" y="4012060"/>
            <a:ext cx="102857" cy="102857"/>
          </a:xfrm>
          <a:prstGeom prst="ellipse">
            <a:avLst/>
          </a:prstGeom>
          <a:solidFill>
            <a:srgbClr val="000000"/>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2" name="テキスト ボックス 22"/>
          <p:cNvSpPr txBox="1"/>
          <p:nvPr userDrawn="1"/>
        </p:nvSpPr>
        <p:spPr>
          <a:xfrm>
            <a:off x="8266535" y="3982224"/>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業務開始点</a:t>
            </a:r>
          </a:p>
        </p:txBody>
      </p:sp>
      <p:sp>
        <p:nvSpPr>
          <p:cNvPr id="33" name="ドーナツ 23"/>
          <p:cNvSpPr/>
          <p:nvPr userDrawn="1"/>
        </p:nvSpPr>
        <p:spPr>
          <a:xfrm>
            <a:off x="8130005" y="4158073"/>
            <a:ext cx="102857" cy="102857"/>
          </a:xfrm>
          <a:prstGeom prst="donut">
            <a:avLst/>
          </a:prstGeom>
          <a:solidFill>
            <a:srgbClr val="FFFFFF"/>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4" name="テキスト ボックス 24"/>
          <p:cNvSpPr txBox="1"/>
          <p:nvPr userDrawn="1"/>
        </p:nvSpPr>
        <p:spPr>
          <a:xfrm>
            <a:off x="8266535" y="4125750"/>
            <a:ext cx="633437" cy="18284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業務終了点</a:t>
            </a:r>
          </a:p>
        </p:txBody>
      </p:sp>
      <p:grpSp>
        <p:nvGrpSpPr>
          <p:cNvPr id="35" name="グループ化 34"/>
          <p:cNvGrpSpPr/>
          <p:nvPr userDrawn="1"/>
        </p:nvGrpSpPr>
        <p:grpSpPr>
          <a:xfrm>
            <a:off x="7951245" y="5785851"/>
            <a:ext cx="460242" cy="199416"/>
            <a:chOff x="82539" y="5336043"/>
            <a:chExt cx="1114424" cy="459100"/>
          </a:xfrm>
        </p:grpSpPr>
        <p:sp>
          <p:nvSpPr>
            <p:cNvPr id="36" name="フローチャート : 書類 26"/>
            <p:cNvSpPr/>
            <p:nvPr/>
          </p:nvSpPr>
          <p:spPr>
            <a:xfrm>
              <a:off x="273038" y="5383668"/>
              <a:ext cx="762000" cy="400050"/>
            </a:xfrm>
            <a:prstGeom prst="flowChartDocumen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50">
                <a:solidFill>
                  <a:schemeClr val="tx1">
                    <a:lumMod val="75000"/>
                    <a:lumOff val="25000"/>
                  </a:schemeClr>
                </a:solidFill>
                <a:latin typeface="+mn-ea"/>
              </a:endParaRPr>
            </a:p>
          </p:txBody>
        </p:sp>
        <p:sp>
          <p:nvSpPr>
            <p:cNvPr id="37" name="テキスト ボックス 27"/>
            <p:cNvSpPr txBox="1"/>
            <p:nvPr/>
          </p:nvSpPr>
          <p:spPr>
            <a:xfrm>
              <a:off x="82539" y="5336043"/>
              <a:ext cx="1114424" cy="459100"/>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ja-JP" altLang="en-US" sz="570">
                  <a:solidFill>
                    <a:schemeClr val="tx1">
                      <a:lumMod val="75000"/>
                      <a:lumOff val="25000"/>
                    </a:schemeClr>
                  </a:solidFill>
                  <a:latin typeface="+mn-ea"/>
                </a:rPr>
                <a:t>ファイル</a:t>
              </a:r>
            </a:p>
          </p:txBody>
        </p:sp>
      </p:grpSp>
      <p:pic>
        <p:nvPicPr>
          <p:cNvPr id="38" name="図 37"/>
          <p:cNvPicPr>
            <a:picLocks noChangeAspect="1"/>
          </p:cNvPicPr>
          <p:nvPr userDrawn="1"/>
        </p:nvPicPr>
        <p:blipFill>
          <a:blip cstate="print"/>
          <a:stretch>
            <a:fillRect/>
          </a:stretch>
        </p:blipFill>
        <p:spPr>
          <a:xfrm>
            <a:off x="8492831" y="5467644"/>
            <a:ext cx="258536" cy="166631"/>
          </a:xfrm>
          <a:prstGeom prst="rect">
            <a:avLst/>
          </a:prstGeom>
        </p:spPr>
      </p:pic>
      <p:sp>
        <p:nvSpPr>
          <p:cNvPr id="39" name="テキスト ボックス 29"/>
          <p:cNvSpPr txBox="1"/>
          <p:nvPr userDrawn="1"/>
        </p:nvSpPr>
        <p:spPr>
          <a:xfrm>
            <a:off x="8474725" y="5621509"/>
            <a:ext cx="383754" cy="189165"/>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メール</a:t>
            </a:r>
          </a:p>
        </p:txBody>
      </p:sp>
      <p:sp>
        <p:nvSpPr>
          <p:cNvPr id="40" name="フローチャート : 磁気ディスク 36"/>
          <p:cNvSpPr/>
          <p:nvPr userDrawn="1"/>
        </p:nvSpPr>
        <p:spPr>
          <a:xfrm>
            <a:off x="8009621" y="5480576"/>
            <a:ext cx="335672" cy="219725"/>
          </a:xfrm>
          <a:prstGeom prst="flowChartMagneticDisk">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570">
                <a:solidFill>
                  <a:schemeClr val="tx1">
                    <a:lumMod val="75000"/>
                    <a:lumOff val="25000"/>
                  </a:schemeClr>
                </a:solidFill>
                <a:latin typeface="+mn-ea"/>
              </a:rPr>
              <a:t>データ</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3904148"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DTC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販売部 </a:t>
            </a: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EC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販売課</a:t>
            </a:r>
          </a:p>
        </p:txBody>
      </p:sp>
      <p:sp>
        <p:nvSpPr>
          <p:cNvPr id="9" name="正方形/長方形 8"/>
          <p:cNvSpPr/>
          <p:nvPr userDrawn="1"/>
        </p:nvSpPr>
        <p:spPr>
          <a:xfrm>
            <a:off x="5800448" y="74090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販売部</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4090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ユーザー</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userDrawn="1"/>
        </p:nvPicPr>
        <p:blipFill>
          <a:blip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userDrawn="1"/>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userDrawn="1"/>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4090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備考</a:t>
            </a: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1979712"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42" name="正方形/長方形 41"/>
          <p:cNvSpPr/>
          <p:nvPr userDrawn="1"/>
        </p:nvSpPr>
        <p:spPr>
          <a:xfrm>
            <a:off x="1996832"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EC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サイト</a:t>
            </a:r>
          </a:p>
        </p:txBody>
      </p:sp>
      <p:cxnSp>
        <p:nvCxnSpPr>
          <p:cNvPr id="43" name="直線コネクタ 42"/>
          <p:cNvCxnSpPr/>
          <p:nvPr userDrawn="1"/>
        </p:nvCxnSpPr>
        <p:spPr>
          <a:xfrm>
            <a:off x="3924035"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サブタイトル">
    <p:spTree>
      <p:nvGrpSpPr>
        <p:cNvPr id="1" name=""/>
        <p:cNvGrpSpPr/>
        <p:nvPr/>
      </p:nvGrpSpPr>
      <p:grpSpPr>
        <a:xfrm>
          <a:off x="0" y="0"/>
          <a:ext cx="0" cy="0"/>
          <a:chOff x="0" y="0"/>
          <a:chExt cx="0" cy="0"/>
        </a:xfrm>
      </p:grpSpPr>
      <p:sp>
        <p:nvSpPr>
          <p:cNvPr id="4" name="正方形/長方形 8"/>
          <p:cNvSpPr>
            <a:spLocks noChangeArrowheads="1"/>
          </p:cNvSpPr>
          <p:nvPr/>
        </p:nvSpPr>
        <p:spPr bwMode="auto">
          <a:xfrm>
            <a:off x="206376" y="728663"/>
            <a:ext cx="8821738" cy="585787"/>
          </a:xfrm>
          <a:prstGeom prst="rect">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lvl1pPr>
              <a:spcBef>
                <a:spcPct val="50000"/>
              </a:spcBef>
              <a:defRPr kumimoji="1" sz="1400">
                <a:solidFill>
                  <a:schemeClr val="tx1"/>
                </a:solidFill>
                <a:latin typeface="Arial" panose="020B0604020202020204" pitchFamily="34" charset="0"/>
                <a:ea typeface="HGP創英角ｺﾞｼｯｸUB" panose="020B0900000000000000" pitchFamily="50" charset="-128"/>
              </a:defRPr>
            </a:lvl1pPr>
            <a:lvl2pPr marL="742950" indent="-285750">
              <a:spcBef>
                <a:spcPct val="50000"/>
              </a:spcBef>
              <a:defRPr kumimoji="1" sz="1400">
                <a:solidFill>
                  <a:schemeClr val="tx1"/>
                </a:solidFill>
                <a:latin typeface="Arial" panose="020B0604020202020204" pitchFamily="34" charset="0"/>
                <a:ea typeface="HGP創英角ｺﾞｼｯｸUB" panose="020B0900000000000000" pitchFamily="50" charset="-128"/>
              </a:defRPr>
            </a:lvl2pPr>
            <a:lvl3pPr marL="11430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3pPr>
            <a:lvl4pPr marL="16002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4pPr>
            <a:lvl5pPr marL="20574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5pPr>
            <a:lvl6pPr marL="25146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6pPr>
            <a:lvl7pPr marL="29718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7pPr>
            <a:lvl8pPr marL="34290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8pPr>
            <a:lvl9pPr marL="38862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9pPr>
          </a:lstStyle>
          <a:p>
            <a:pPr algn="ctr" eaLnBrk="1" hangingPunct="1">
              <a:defRPr/>
            </a:pPr>
            <a:endParaRPr lang="ja-JP" altLang="en-US" sz="1477">
              <a:solidFill>
                <a:srgbClr val="2D2D87"/>
              </a:solidFill>
              <a:cs typeface="+mn-cs"/>
            </a:endParaRPr>
          </a:p>
        </p:txBody>
      </p:sp>
      <p:sp>
        <p:nvSpPr>
          <p:cNvPr id="3" name="テキスト プレースホルダ 2"/>
          <p:cNvSpPr>
            <a:spLocks noGrp="1"/>
          </p:cNvSpPr>
          <p:nvPr>
            <p:ph type="body" idx="1"/>
          </p:nvPr>
        </p:nvSpPr>
        <p:spPr>
          <a:xfrm>
            <a:off x="722313" y="2258872"/>
            <a:ext cx="7772400" cy="1500187"/>
          </a:xfrm>
        </p:spPr>
        <p:txBody>
          <a:bodyPr anchor="b"/>
          <a:lstStyle>
            <a:lvl1pPr marL="0" indent="0" algn="ctr">
              <a:buNone/>
              <a:defRPr sz="3692"/>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ja-JP" altLang="en-US"/>
              <a:t>マスター テキストの書式設定</a:t>
            </a:r>
          </a:p>
        </p:txBody>
      </p:sp>
      <p:sp>
        <p:nvSpPr>
          <p:cNvPr id="13" name="テキスト プレースホルダ 2"/>
          <p:cNvSpPr>
            <a:spLocks noGrp="1"/>
          </p:cNvSpPr>
          <p:nvPr>
            <p:ph type="body" idx="11"/>
          </p:nvPr>
        </p:nvSpPr>
        <p:spPr>
          <a:xfrm>
            <a:off x="722313" y="3789042"/>
            <a:ext cx="7772400" cy="1500187"/>
          </a:xfrm>
        </p:spPr>
        <p:txBody>
          <a:bodyPr/>
          <a:lstStyle>
            <a:lvl1pPr marL="0" indent="0" algn="ctr">
              <a:buNone/>
              <a:defRPr sz="2215">
                <a:solidFill>
                  <a:schemeClr val="tx1">
                    <a:lumMod val="50000"/>
                    <a:lumOff val="50000"/>
                  </a:schemeClr>
                </a:solidFill>
              </a:defRPr>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ja-JP" altLang="en-US"/>
              <a:t>マスター テキストの書式設定</a:t>
            </a:r>
          </a:p>
        </p:txBody>
      </p:sp>
      <p:sp>
        <p:nvSpPr>
          <p:cNvPr id="5" name="スライド番号プレースホルダ 12"/>
          <p:cNvSpPr>
            <a:spLocks noGrp="1"/>
          </p:cNvSpPr>
          <p:nvPr>
            <p:ph type="sldNum" sz="quarter" idx="12"/>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37918532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AFBB2C-C66B-4641-A283-C9B638AC71F2}" type="datetime1">
              <a:rPr kumimoji="1" lang="ja-JP" altLang="en-US" smtClean="0"/>
              <a:t>2026/9/15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D7C8B-752E-4A68-8D62-22DADB007538}" type="slidenum">
              <a:rPr kumimoji="1" lang="ja-JP" altLang="en-US" smtClean="0"/>
              <a:t>‹#›</a:t>
            </a:fld>
            <a:endParaRPr kumimoji="1" lang="ja-JP" altLang="en-US"/>
          </a:p>
        </p:txBody>
      </p:sp>
      <p:pic>
        <p:nvPicPr>
          <p:cNvPr id="8" name="Picture 71" descr="\\172.30.97.141\d$\ProjectData\80_個人WORK\shingo.ichikawa\FLIGHT-Logo.gif"/>
          <p:cNvPicPr>
            <a:picLocks noChangeAspect="1" noChangeArrowheads="1"/>
          </p:cNvPicPr>
          <p:nvPr userDrawn="1"/>
        </p:nvPicPr>
        <p:blipFill>
          <a:blip cstate="print"/>
          <a:srcRect/>
          <a:stretch>
            <a:fillRect/>
          </a:stretch>
        </p:blipFill>
        <p:spPr bwMode="auto">
          <a:xfrm>
            <a:off x="8271308" y="92076"/>
            <a:ext cx="706438" cy="568325"/>
          </a:xfrm>
          <a:prstGeom prst="rect">
            <a:avLst/>
          </a:prstGeom>
          <a:noFill/>
          <a:ln w="9525">
            <a:noFill/>
            <a:bevel/>
          </a:ln>
        </p:spPr>
      </p:pic>
      <p:sp>
        <p:nvSpPr>
          <p:cNvPr id="10" name="Text Box 6"/>
          <p:cNvSpPr>
            <a:spLocks noChangeArrowheads="1"/>
          </p:cNvSpPr>
          <p:nvPr userDrawn="1"/>
        </p:nvSpPr>
        <p:spPr bwMode="auto">
          <a:xfrm>
            <a:off x="2523991" y="6586538"/>
            <a:ext cx="4129955" cy="248402"/>
          </a:xfrm>
          <a:prstGeom prst="rect">
            <a:avLst/>
          </a:prstGeom>
          <a:noFill/>
          <a:ln w="9525">
            <a:noFill/>
            <a:bevel/>
          </a:ln>
        </p:spPr>
        <p:txBody>
          <a:bodyPr wrap="none" lIns="90000" tIns="46800" rIns="90000" bIns="46800">
            <a:spAutoFit/>
          </a:bodyPr>
          <a:lstStyle/>
          <a:p>
            <a:pPr marL="0" marR="0" lvl="0" indent="0" algn="l" rtl="0">
              <a:spcBef>
                <a:spcPts val="0"/>
              </a:spcBef>
              <a:spcAft>
                <a:spcPts val="0"/>
              </a:spcAft>
              <a:buNone/>
            </a:pPr>
            <a:r>
              <a:rPr lang="en-US" altLang="ja-JP" sz="1000" b="0" i="0" u="none" strike="noStrike" cap="none" dirty="0">
                <a:solidFill>
                  <a:srgbClr val="7F7F7F"/>
                </a:solidFill>
                <a:latin typeface="Meiryo"/>
                <a:ea typeface="Meiryo"/>
                <a:cs typeface="Meiryo"/>
                <a:sym typeface="Meiryo"/>
              </a:rPr>
              <a:t>Copyright ©  2026 FLIGHT SOLUTIONS Inc. All rights reserved</a:t>
            </a:r>
            <a:endParaRPr lang="en-US" altLang="ja-JP"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2"/>
          <p:cNvSpPr>
            <a:spLocks noChangeAspect="1" noChangeArrowheads="1"/>
          </p:cNvSpPr>
          <p:nvPr/>
        </p:nvSpPr>
        <p:spPr bwMode="auto">
          <a:xfrm>
            <a:off x="4562475" y="3419475"/>
            <a:ext cx="19050" cy="19050"/>
          </a:xfrm>
          <a:prstGeom prst="rect">
            <a:avLst/>
          </a:prstGeom>
          <a:noFill/>
          <a:ln w="9525">
            <a:noFill/>
            <a:bevel/>
          </a:ln>
        </p:spPr>
        <p:txBody>
          <a:bodyPr/>
          <a:lstStyle/>
          <a:p>
            <a:pPr eaLnBrk="1" hangingPunct="1"/>
            <a:endParaRPr lang="ja-JP" altLang="ja-JP">
              <a:ea typeface="ＭＳ Ｐゴシック" panose="020B0600070205080204" charset="-128"/>
            </a:endParaRPr>
          </a:p>
        </p:txBody>
      </p:sp>
      <p:sp>
        <p:nvSpPr>
          <p:cNvPr id="5" name="Rectangle 2"/>
          <p:cNvSpPr txBox="1">
            <a:spLocks noChangeArrowheads="1"/>
          </p:cNvSpPr>
          <p:nvPr/>
        </p:nvSpPr>
        <p:spPr bwMode="auto">
          <a:xfrm>
            <a:off x="553744" y="2002904"/>
            <a:ext cx="8153400" cy="1762125"/>
          </a:xfrm>
          <a:prstGeom prst="rect">
            <a:avLst/>
          </a:prstGeom>
          <a:noFill/>
          <a:ln>
            <a:miter lim="800000"/>
          </a:ln>
        </p:spPr>
        <p:txBody>
          <a:bodyPr vert="horz" lIns="91440" tIns="45720" rIns="91440" bIns="45720" rtlCol="0" anchor="ctr" anchorCtr="1">
            <a:normAutofit/>
          </a:bodyPr>
          <a:lstStyle/>
          <a:p>
            <a:pPr lvl="0" algn="ctr">
              <a:spcBef>
                <a:spcPct val="0"/>
              </a:spcBef>
              <a:defRPr/>
            </a:pPr>
            <a:r>
              <a:rPr lang="en-US" altLang="ja-JP" sz="3200" b="1" dirty="0" err="1">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BtoB</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サイト構築</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spcBef>
                <a:spcPct val="0"/>
              </a:spcBef>
              <a:defRPr/>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要件定義書</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spcBef>
                <a:spcPct val="0"/>
              </a:spcBef>
              <a:defRPr/>
            </a:pPr>
            <a:r>
              <a:rPr kumimoji="1" lang="ja-JP" altLang="en-US" sz="3200" b="1"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（非機能要件）</a:t>
            </a:r>
            <a:endParaRPr kumimoji="1" lang="ja-JP" altLang="en-US" sz="1200" b="1"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p:txBody>
      </p:sp>
      <p:sp>
        <p:nvSpPr>
          <p:cNvPr id="6" name="サブタイトル 3"/>
          <p:cNvSpPr txBox="1">
            <a:spLocks noChangeArrowheads="1"/>
          </p:cNvSpPr>
          <p:nvPr/>
        </p:nvSpPr>
        <p:spPr bwMode="auto">
          <a:xfrm>
            <a:off x="1430044" y="5085184"/>
            <a:ext cx="6400800" cy="1440160"/>
          </a:xfrm>
          <a:prstGeom prst="rect">
            <a:avLst/>
          </a:prstGeom>
          <a:noFill/>
          <a:ln>
            <a:miter lim="800000"/>
          </a:ln>
        </p:spPr>
        <p:txBody>
          <a:bodyPr vert="horz" lIns="91440" tIns="45720" rIns="91440" bIns="45720" rtlCol="0">
            <a:normAutofit/>
          </a:bodyPr>
          <a:lstStyle/>
          <a:p>
            <a:pPr lvl="0" algn="ctr">
              <a:lnSpc>
                <a:spcPct val="120000"/>
              </a:lnSpc>
              <a:spcBef>
                <a:spcPct val="20000"/>
              </a:spcBef>
              <a:defRPr/>
            </a:pPr>
            <a:r>
              <a:rPr lang="en-US" altLang="ja-JP" sz="20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2026</a:t>
            </a: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年</a:t>
            </a:r>
            <a:r>
              <a:rPr lang="en-US" altLang="ja-JP" sz="20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9</a:t>
            </a: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月</a:t>
            </a:r>
            <a:r>
              <a:rPr lang="en-US" altLang="ja-JP" sz="20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17</a:t>
            </a: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日</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lnSpc>
                <a:spcPct val="120000"/>
              </a:lnSpc>
              <a:spcBef>
                <a:spcPct val="20000"/>
              </a:spcBef>
              <a:defRPr/>
            </a:pPr>
            <a:endParaRPr kumimoji="1" lang="en-US" sz="12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marL="0" marR="0" lvl="0" indent="0" algn="ctr" defTabSz="914400" rtl="0" eaLnBrk="1" fontAlgn="auto" latinLnBrk="0" hangingPunct="1">
              <a:lnSpc>
                <a:spcPct val="120000"/>
              </a:lnSpc>
              <a:spcBef>
                <a:spcPct val="20000"/>
              </a:spcBef>
              <a:spcAft>
                <a:spcPts val="0"/>
              </a:spcAft>
              <a:buClrTx/>
              <a:buSzTx/>
              <a:buFontTx/>
              <a:buNone/>
              <a:defRPr/>
            </a:pPr>
            <a:r>
              <a:rPr kumimoji="1" lang="ja-JP" altLang="en-US" sz="20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株式会社フライトソリューションズ</a:t>
            </a:r>
          </a:p>
        </p:txBody>
      </p:sp>
      <p:sp>
        <p:nvSpPr>
          <p:cNvPr id="7" name="Rectangle 4"/>
          <p:cNvSpPr>
            <a:spLocks noChangeArrowheads="1"/>
          </p:cNvSpPr>
          <p:nvPr/>
        </p:nvSpPr>
        <p:spPr bwMode="auto">
          <a:xfrm>
            <a:off x="352425" y="980728"/>
            <a:ext cx="6624638" cy="936625"/>
          </a:xfrm>
          <a:prstGeom prst="rect">
            <a:avLst/>
          </a:prstGeom>
          <a:noFill/>
          <a:ln w="9525">
            <a:noFill/>
            <a:bevel/>
          </a:ln>
        </p:spPr>
        <p:txBody>
          <a:bodyPr anchor="ctr"/>
          <a:lstStyle/>
          <a:p>
            <a:pPr eaLnBrk="1" hangingPunct="1"/>
            <a:r>
              <a:rPr lang="ja-JP" altLang="en-US" sz="2400"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ローリングスジャパン合同会社 御中</a:t>
            </a:r>
            <a:endParaRPr lang="en-US" altLang="ja-JP" sz="2400"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p:txBody>
      </p:sp>
      <p:sp>
        <p:nvSpPr>
          <p:cNvPr id="8" name="正方形/長方形 7"/>
          <p:cNvSpPr/>
          <p:nvPr/>
        </p:nvSpPr>
        <p:spPr>
          <a:xfrm>
            <a:off x="1998955" y="4427820"/>
            <a:ext cx="5262979" cy="369332"/>
          </a:xfrm>
          <a:prstGeom prst="rect">
            <a:avLst/>
          </a:prstGeom>
        </p:spPr>
        <p:txBody>
          <a:bodyPr wrap="none">
            <a:spAutoFit/>
          </a:bodyPr>
          <a:lstStyle/>
          <a:p>
            <a:r>
              <a:rPr lang="ja-JP" altLang="en-US">
                <a:solidFill>
                  <a:srgbClr val="000000"/>
                </a:solidFill>
                <a:ea typeface="メイリオ" panose="020B0604030504040204" pitchFamily="50" charset="-128"/>
              </a:rPr>
              <a:t>確かな提案力とノウハウで貴社のビジネスを支援</a:t>
            </a:r>
            <a:r>
              <a:rPr lang="ja-JP" altLang="en-US">
                <a:latin typeface="メイリオ" panose="020B0604030504040204" pitchFamily="50" charset="-128"/>
                <a:ea typeface="メイリオ" panose="020B0604030504040204" pitchFamily="50" charset="-128"/>
              </a:rPr>
              <a:t>​</a:t>
            </a:r>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p:cNvGraphicFramePr>
            <a:graphicFrameLocks noGrp="1"/>
          </p:cNvGraphicFramePr>
          <p:nvPr>
            <p:extLst>
              <p:ext uri="{D42A27DB-BD31-4B8C-83A1-F6EECF244321}">
                <p14:modId xmlns:p14="http://schemas.microsoft.com/office/powerpoint/2010/main" val="2168921253"/>
              </p:ext>
            </p:extLst>
          </p:nvPr>
        </p:nvGraphicFramePr>
        <p:xfrm>
          <a:off x="256031" y="1207877"/>
          <a:ext cx="8622793" cy="5057834"/>
        </p:xfrm>
        <a:graphic>
          <a:graphicData uri="http://schemas.openxmlformats.org/drawingml/2006/table">
            <a:tbl>
              <a:tblPr firstRow="1" bandRow="1">
                <a:tableStyleId>{5C22544A-7EE6-4342-B048-85BDC9FD1C3A}</a:tableStyleId>
              </a:tblPr>
              <a:tblGrid>
                <a:gridCol w="356617">
                  <a:extLst>
                    <a:ext uri="{9D8B030D-6E8A-4147-A177-3AD203B41FA5}">
                      <a16:colId xmlns:a16="http://schemas.microsoft.com/office/drawing/2014/main" val="20000"/>
                    </a:ext>
                  </a:extLst>
                </a:gridCol>
                <a:gridCol w="2304288">
                  <a:extLst>
                    <a:ext uri="{9D8B030D-6E8A-4147-A177-3AD203B41FA5}">
                      <a16:colId xmlns:a16="http://schemas.microsoft.com/office/drawing/2014/main" val="20001"/>
                    </a:ext>
                  </a:extLst>
                </a:gridCol>
                <a:gridCol w="4481856">
                  <a:extLst>
                    <a:ext uri="{9D8B030D-6E8A-4147-A177-3AD203B41FA5}">
                      <a16:colId xmlns:a16="http://schemas.microsoft.com/office/drawing/2014/main" val="20002"/>
                    </a:ext>
                  </a:extLst>
                </a:gridCol>
                <a:gridCol w="1480032">
                  <a:extLst>
                    <a:ext uri="{9D8B030D-6E8A-4147-A177-3AD203B41FA5}">
                      <a16:colId xmlns:a16="http://schemas.microsoft.com/office/drawing/2014/main" val="20003"/>
                    </a:ext>
                  </a:extLst>
                </a:gridCol>
              </a:tblGrid>
              <a:tr h="145880">
                <a:tc>
                  <a:txBody>
                    <a:bodyPr/>
                    <a:lstStyle/>
                    <a:p>
                      <a:pPr marL="0" marR="0" lvl="0" indent="0" algn="ctr" defTabSz="914400" rtl="0" eaLnBrk="1" fontAlgn="auto" latinLnBrk="0" hangingPunct="1">
                        <a:lnSpc>
                          <a:spcPct val="100000"/>
                        </a:lnSpc>
                        <a:spcBef>
                          <a:spcPts val="0"/>
                        </a:spcBef>
                        <a:spcAft>
                          <a:spcPts val="0"/>
                        </a:spcAft>
                        <a:buFontTx/>
                        <a:buNone/>
                        <a:defRPr>
                          <a:uFillTx/>
                        </a:defRPr>
                      </a:pPr>
                      <a:endParaRPr kumimoji="1" lang="ja-JP" altLang="en-US" sz="1200" b="1" i="0" u="none" strike="noStrike" cap="none" normalizeH="0" baseline="0" dirty="0">
                        <a:ln>
                          <a:noFill/>
                        </a:ln>
                        <a:solidFill>
                          <a:schemeClr val="bg1"/>
                        </a:solidFill>
                        <a:effectLst/>
                        <a:uFillTx/>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FontTx/>
                        <a:buNone/>
                        <a:defRPr>
                          <a:uFillTx/>
                        </a:defRPr>
                      </a:pPr>
                      <a:r>
                        <a:rPr kumimoji="1" lang="ja-JP" altLang="en-US" sz="1200" dirty="0">
                          <a:uFillTx/>
                          <a:latin typeface="メイリオ" pitchFamily="50" charset="-128"/>
                          <a:ea typeface="メイリオ" pitchFamily="50" charset="-128"/>
                          <a:cs typeface="メイリオ" pitchFamily="50" charset="-128"/>
                        </a:rPr>
                        <a:t>項目</a:t>
                      </a:r>
                    </a:p>
                  </a:txBody>
                  <a:tcPr anchor="ctr"/>
                </a:tc>
                <a:tc>
                  <a:txBody>
                    <a:bodyPr/>
                    <a:lstStyle/>
                    <a:p>
                      <a:pPr marL="0" marR="0" lvl="0" indent="0" algn="ctr" defTabSz="914400" rtl="0" eaLnBrk="1" fontAlgn="auto" latinLnBrk="0" hangingPunct="1">
                        <a:lnSpc>
                          <a:spcPct val="100000"/>
                        </a:lnSpc>
                        <a:spcBef>
                          <a:spcPts val="0"/>
                        </a:spcBef>
                        <a:spcAft>
                          <a:spcPts val="0"/>
                        </a:spcAft>
                        <a:buFontTx/>
                        <a:buNone/>
                        <a:defRPr>
                          <a:uFillTx/>
                        </a:defRPr>
                      </a:pPr>
                      <a:r>
                        <a:rPr kumimoji="1" lang="ja-JP" altLang="en-US" sz="1200" dirty="0">
                          <a:uFillTx/>
                          <a:latin typeface="メイリオ" pitchFamily="50" charset="-128"/>
                          <a:ea typeface="メイリオ" pitchFamily="50" charset="-128"/>
                          <a:cs typeface="メイリオ" pitchFamily="50" charset="-128"/>
                        </a:rPr>
                        <a:t>内容</a:t>
                      </a:r>
                    </a:p>
                  </a:txBody>
                  <a:tcPr anchor="ctr"/>
                </a:tc>
                <a:tc>
                  <a:txBody>
                    <a:bodyPr/>
                    <a:lstStyle/>
                    <a:p>
                      <a:pPr marL="0" marR="0" lvl="0" indent="0" algn="ctr" defTabSz="914400" rtl="0" eaLnBrk="1" fontAlgn="auto" latinLnBrk="0" hangingPunct="1">
                        <a:lnSpc>
                          <a:spcPct val="100000"/>
                        </a:lnSpc>
                        <a:spcBef>
                          <a:spcPts val="0"/>
                        </a:spcBef>
                        <a:spcAft>
                          <a:spcPts val="0"/>
                        </a:spcAft>
                        <a:buFontTx/>
                        <a:buNone/>
                        <a:defRPr>
                          <a:uFillTx/>
                        </a:defRPr>
                      </a:pPr>
                      <a:r>
                        <a:rPr kumimoji="1" lang="ja-JP" altLang="en-US" sz="1200" dirty="0">
                          <a:uFillTx/>
                          <a:latin typeface="メイリオ" pitchFamily="50" charset="-128"/>
                          <a:ea typeface="メイリオ" pitchFamily="50" charset="-128"/>
                          <a:cs typeface="メイリオ" pitchFamily="50" charset="-128"/>
                        </a:rPr>
                        <a:t>備考</a:t>
                      </a:r>
                    </a:p>
                  </a:txBody>
                  <a:tcPr anchor="ctr"/>
                </a:tc>
                <a:extLst>
                  <a:ext uri="{0D108BD9-81ED-4DB2-BD59-A6C34878D82A}">
                    <a16:rowId xmlns:a16="http://schemas.microsoft.com/office/drawing/2014/main" val="10000"/>
                  </a:ext>
                </a:extLst>
              </a:tr>
              <a:tr h="129595">
                <a:tc rowSpan="5">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可用性</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サービス時間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24</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時間</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365</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日（計画停止</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定期保守を除く）</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緊急時を除く（</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1"/>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計画停止予定通知</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週間以上前にメールあるいはホームページで通知</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2"/>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重大障害時の代替手段</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直近のバックアップ取得時点の状態で別ハードウェアにて起動</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可能な範囲でバックアップからデータ復元</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3"/>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代替措置で提供するデータ形式</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バックアップデータから</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CSV</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あるいは</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Excel</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ファイルで提供</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4"/>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アップグレード方針</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システム基盤：ハードおよびインフラ関連で緊急性の高いパッチがリリースされた場合に実施</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EC</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システム：年</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回の定期バージョンアップを実施</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p>
                      <a:pPr marL="0" marR="0" lvl="0" indent="0" algn="l" defTabSz="179388" rtl="0" eaLnBrk="0" fontAlgn="base" latinLnBrk="0" hangingPunct="0">
                        <a:lnSpc>
                          <a:spcPct val="100000"/>
                        </a:lnSpc>
                        <a:spcBef>
                          <a:spcPct val="20000"/>
                        </a:spcBef>
                        <a:spcAft>
                          <a:spcPct val="0"/>
                        </a:spcAft>
                        <a:buClrTx/>
                        <a:buSzTx/>
                        <a:buFontTx/>
                        <a:buNone/>
                        <a:tabLst/>
                        <a:defRPr/>
                      </a:pPr>
                      <a:r>
                        <a:rPr kumimoji="1" lang="en-US" altLang="ja-JP" sz="100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rPr>
                        <a:t>EC</a:t>
                      </a:r>
                      <a:r>
                        <a:rPr kumimoji="1" lang="ja-JP" altLang="en-US" sz="100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rPr>
                        <a:t>システムの制限で必要なセキュリティパッチを適用することができない場合は、リスクが露呈しないよう別の方法で安全性を担保する方針</a:t>
                      </a:r>
                      <a:endParaRPr kumimoji="1" lang="ja-JP" altLang="en-US" sz="1000" b="0" i="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カスタマイズ有の場合は別途調整</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5"/>
                  </a:ext>
                </a:extLst>
              </a:tr>
              <a:tr h="129595">
                <a:tc rowSpan="6">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信頼性</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平均復旧時間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時間以内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6"/>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システム監視基準</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ベースサーバは、</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ping/URL/port</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監視を実施</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7"/>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障害通知プロセス</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指定された緊急連絡先にメールで連絡</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8"/>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障害通知時間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時間以内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9"/>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障害監視間隔</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10</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分</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0"/>
                  </a:ext>
                </a:extLst>
              </a:tr>
              <a:tr h="225811">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ログの取得</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セキュリティ（不正アクセス）ログ／バックアップログ取得結果を別途要望に応じて提供</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1"/>
                  </a:ext>
                </a:extLst>
              </a:tr>
              <a:tr h="129595">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性能</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オンライン応答時間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データセンタ内の平均応答時間</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3</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秒以内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2"/>
                  </a:ext>
                </a:extLst>
              </a:tr>
              <a:tr h="453963">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拡張性</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同時接続利用者数</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100</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名（最善努力型）</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カスタマイズ有の場合は別途調整</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同時セッション数は利用条件で別途調整</a:t>
                      </a:r>
                    </a:p>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本案件の想定は11.に記載</a:t>
                      </a:r>
                    </a:p>
                  </a:txBody>
                  <a:tcPr marT="45649" marB="45649" horzOverflow="overflow"/>
                </a:tc>
                <a:extLst>
                  <a:ext uri="{0D108BD9-81ED-4DB2-BD59-A6C34878D82A}">
                    <a16:rowId xmlns:a16="http://schemas.microsoft.com/office/drawing/2014/main" val="10013"/>
                  </a:ext>
                </a:extLst>
              </a:tr>
            </a:tbl>
          </a:graphicData>
        </a:graphic>
      </p:graphicFrame>
      <p:sp>
        <p:nvSpPr>
          <p:cNvPr id="4" name="テキスト ボックス 28"/>
          <p:cNvSpPr txBox="1">
            <a:spLocks noChangeArrowheads="1"/>
          </p:cNvSpPr>
          <p:nvPr/>
        </p:nvSpPr>
        <p:spPr bwMode="auto">
          <a:xfrm>
            <a:off x="179512" y="800564"/>
            <a:ext cx="8372475" cy="307777"/>
          </a:xfrm>
          <a:prstGeom prst="rect">
            <a:avLst/>
          </a:prstGeom>
          <a:noFill/>
          <a:ln w="9525">
            <a:noFill/>
            <a:miter lim="800000"/>
          </a:ln>
        </p:spPr>
        <p:txBody>
          <a:bodyPr>
            <a:spAutoFit/>
          </a:bodyPr>
          <a:lstStyle/>
          <a:p>
            <a:pPr algn="l">
              <a:spcBef>
                <a:spcPts val="300"/>
              </a:spcBef>
            </a:pPr>
            <a:r>
              <a:rPr lang="en-US" altLang="ja-JP" sz="1400" dirty="0">
                <a:uFillTx/>
                <a:latin typeface="メイリオ" pitchFamily="50" charset="-128"/>
                <a:ea typeface="メイリオ" pitchFamily="50" charset="-128"/>
                <a:cs typeface="メイリオ" pitchFamily="50" charset="-128"/>
              </a:rPr>
              <a:t>EC-Rider </a:t>
            </a:r>
            <a:r>
              <a:rPr lang="en-US" altLang="ja-JP" sz="1400" dirty="0">
                <a:latin typeface="メイリオ" pitchFamily="50" charset="-128"/>
                <a:ea typeface="メイリオ" pitchFamily="50" charset="-128"/>
                <a:cs typeface="メイリオ" pitchFamily="50" charset="-128"/>
              </a:rPr>
              <a:t>Primo</a:t>
            </a:r>
            <a:r>
              <a:rPr lang="ja-JP" altLang="en-US" sz="1400" dirty="0">
                <a:uFillTx/>
                <a:latin typeface="メイリオ" pitchFamily="50" charset="-128"/>
                <a:ea typeface="メイリオ" pitchFamily="50" charset="-128"/>
                <a:cs typeface="メイリオ" pitchFamily="50" charset="-128"/>
              </a:rPr>
              <a:t> </a:t>
            </a:r>
            <a:r>
              <a:rPr lang="en-US" altLang="ja-JP" sz="1400" dirty="0">
                <a:uFillTx/>
                <a:latin typeface="メイリオ" pitchFamily="50" charset="-128"/>
                <a:ea typeface="メイリオ" pitchFamily="50" charset="-128"/>
                <a:cs typeface="メイリオ" pitchFamily="50" charset="-128"/>
              </a:rPr>
              <a:t>ASP</a:t>
            </a:r>
            <a:r>
              <a:rPr lang="ja-JP" altLang="en-US" sz="1400" dirty="0">
                <a:uFillTx/>
                <a:latin typeface="メイリオ" pitchFamily="50" charset="-128"/>
                <a:ea typeface="メイリオ" pitchFamily="50" charset="-128"/>
                <a:cs typeface="メイリオ" pitchFamily="50" charset="-128"/>
              </a:rPr>
              <a:t>のサービスレベルは以下のとおりです。</a:t>
            </a:r>
          </a:p>
        </p:txBody>
      </p:sp>
      <p:sp>
        <p:nvSpPr>
          <p:cNvPr id="5" name="テキスト ボックス 28"/>
          <p:cNvSpPr txBox="1">
            <a:spLocks noChangeArrowheads="1"/>
          </p:cNvSpPr>
          <p:nvPr/>
        </p:nvSpPr>
        <p:spPr bwMode="auto">
          <a:xfrm>
            <a:off x="258296" y="6279670"/>
            <a:ext cx="8647960" cy="430887"/>
          </a:xfrm>
          <a:prstGeom prst="rect">
            <a:avLst/>
          </a:prstGeom>
          <a:noFill/>
          <a:ln w="9525">
            <a:noFill/>
            <a:miter lim="800000"/>
          </a:ln>
        </p:spPr>
        <p:txBody>
          <a:bodyPr wrap="square">
            <a:spAutoFit/>
          </a:bodyPr>
          <a:lstStyle/>
          <a:p>
            <a:pPr marL="804863" indent="-804863" algn="l">
              <a:spcBef>
                <a:spcPts val="300"/>
              </a:spcBef>
            </a:pPr>
            <a:r>
              <a:rPr lang="en-US" altLang="ja-JP" sz="1100" dirty="0">
                <a:uFillTx/>
                <a:latin typeface="メイリオ" pitchFamily="50" charset="-128"/>
                <a:ea typeface="メイリオ" pitchFamily="50" charset="-128"/>
                <a:cs typeface="メイリオ" pitchFamily="50" charset="-128"/>
              </a:rPr>
              <a:t>※1.</a:t>
            </a:r>
            <a:r>
              <a:rPr lang="ja-JP" altLang="en-US" sz="1100" dirty="0">
                <a:uFillTx/>
                <a:latin typeface="メイリオ" pitchFamily="50" charset="-128"/>
                <a:ea typeface="メイリオ" pitchFamily="50" charset="-128"/>
                <a:cs typeface="メイリオ" pitchFamily="50" charset="-128"/>
              </a:rPr>
              <a:t>緊急時：本サービスが利用する</a:t>
            </a:r>
            <a:r>
              <a:rPr lang="en-US" altLang="ja-JP" sz="1100" dirty="0">
                <a:uFillTx/>
                <a:latin typeface="メイリオ" pitchFamily="50" charset="-128"/>
                <a:ea typeface="メイリオ" pitchFamily="50" charset="-128"/>
                <a:cs typeface="メイリオ" pitchFamily="50" charset="-128"/>
              </a:rPr>
              <a:t>OS</a:t>
            </a:r>
            <a:r>
              <a:rPr lang="ja-JP" altLang="en-US" sz="1100" dirty="0" err="1">
                <a:uFillTx/>
                <a:latin typeface="メイリオ" pitchFamily="50" charset="-128"/>
                <a:ea typeface="メイリオ" pitchFamily="50" charset="-128"/>
                <a:cs typeface="メイリオ" pitchFamily="50" charset="-128"/>
              </a:rPr>
              <a:t>、</a:t>
            </a:r>
            <a:r>
              <a:rPr lang="ja-JP" altLang="en-US" sz="1100" dirty="0">
                <a:uFillTx/>
                <a:latin typeface="メイリオ" pitchFamily="50" charset="-128"/>
                <a:ea typeface="メイリオ" pitchFamily="50" charset="-128"/>
                <a:cs typeface="メイリオ" pitchFamily="50" charset="-128"/>
              </a:rPr>
              <a:t>データベース等の脆弱性への対応、ウィルス等の外部要因による損害を未然に防ぐための予期しない作業の発生時</a:t>
            </a:r>
            <a:endParaRPr lang="en-US" altLang="ja-JP" sz="1100" dirty="0">
              <a:uFillTx/>
              <a:latin typeface="メイリオ" pitchFamily="50" charset="-128"/>
              <a:ea typeface="メイリオ" pitchFamily="50" charset="-128"/>
              <a:cs typeface="メイリオ" pitchFamily="50" charset="-128"/>
            </a:endParaRPr>
          </a:p>
        </p:txBody>
      </p:sp>
      <p:sp>
        <p:nvSpPr>
          <p:cNvPr id="7" name="タイトル 1">
            <a:extLst>
              <a:ext uri="{FF2B5EF4-FFF2-40B4-BE49-F238E27FC236}">
                <a16:creationId xmlns:a16="http://schemas.microsoft.com/office/drawing/2014/main" id="{902C11D5-1FC3-45D3-B574-B06029C96C0A}"/>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ja-JP" altLang="en-US" sz="2800" b="0" dirty="0"/>
              <a:t>1.（参考）SLA（1/2）</a:t>
            </a:r>
            <a:endParaRPr lang="ja-JP" altLang="en-US" sz="2800" b="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6"/>
          <p:cNvGraphicFramePr>
            <a:graphicFrameLocks noGrp="1"/>
          </p:cNvGraphicFramePr>
          <p:nvPr>
            <p:extLst>
              <p:ext uri="{D42A27DB-BD31-4B8C-83A1-F6EECF244321}">
                <p14:modId xmlns:p14="http://schemas.microsoft.com/office/powerpoint/2010/main" val="808374219"/>
              </p:ext>
            </p:extLst>
          </p:nvPr>
        </p:nvGraphicFramePr>
        <p:xfrm>
          <a:off x="237743" y="768418"/>
          <a:ext cx="8622793" cy="5802748"/>
        </p:xfrm>
        <a:graphic>
          <a:graphicData uri="http://schemas.openxmlformats.org/drawingml/2006/table">
            <a:tbl>
              <a:tblPr firstRow="1" bandRow="1">
                <a:tableStyleId>{5C22544A-7EE6-4342-B048-85BDC9FD1C3A}</a:tableStyleId>
              </a:tblPr>
              <a:tblGrid>
                <a:gridCol w="356617">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4362984">
                  <a:extLst>
                    <a:ext uri="{9D8B030D-6E8A-4147-A177-3AD203B41FA5}">
                      <a16:colId xmlns:a16="http://schemas.microsoft.com/office/drawing/2014/main" val="20002"/>
                    </a:ext>
                  </a:extLst>
                </a:gridCol>
                <a:gridCol w="1480032">
                  <a:extLst>
                    <a:ext uri="{9D8B030D-6E8A-4147-A177-3AD203B41FA5}">
                      <a16:colId xmlns:a16="http://schemas.microsoft.com/office/drawing/2014/main" val="20003"/>
                    </a:ext>
                  </a:extLst>
                </a:gridCol>
              </a:tblGrid>
              <a:tr h="145880">
                <a:tc>
                  <a:txBody>
                    <a:bodyPr/>
                    <a:lstStyle/>
                    <a:p>
                      <a:pPr marL="0" marR="0" lvl="0" indent="0" algn="ctr" defTabSz="914400" rtl="0" eaLnBrk="1" fontAlgn="auto" latinLnBrk="0" hangingPunct="1">
                        <a:lnSpc>
                          <a:spcPct val="100000"/>
                        </a:lnSpc>
                        <a:spcBef>
                          <a:spcPts val="0"/>
                        </a:spcBef>
                        <a:spcAft>
                          <a:spcPts val="0"/>
                        </a:spcAft>
                        <a:buFontTx/>
                        <a:buNone/>
                        <a:defRPr>
                          <a:uFillTx/>
                        </a:defRPr>
                      </a:pPr>
                      <a:endParaRPr kumimoji="1" lang="ja-JP" altLang="en-US" sz="1200" b="1" i="0" u="none" strike="noStrike" cap="none" normalizeH="0" baseline="0" dirty="0">
                        <a:ln>
                          <a:noFill/>
                        </a:ln>
                        <a:solidFill>
                          <a:schemeClr val="bg1"/>
                        </a:solidFill>
                        <a:effectLst/>
                        <a:uFillTx/>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FontTx/>
                        <a:buNone/>
                        <a:defRPr>
                          <a:uFillTx/>
                        </a:defRPr>
                      </a:pPr>
                      <a:r>
                        <a:rPr kumimoji="1" lang="ja-JP" altLang="en-US" sz="1200" dirty="0">
                          <a:uFillTx/>
                          <a:latin typeface="メイリオ" pitchFamily="50" charset="-128"/>
                          <a:ea typeface="メイリオ" pitchFamily="50" charset="-128"/>
                          <a:cs typeface="メイリオ" pitchFamily="50" charset="-128"/>
                        </a:rPr>
                        <a:t>項目</a:t>
                      </a:r>
                    </a:p>
                  </a:txBody>
                  <a:tcPr anchor="ctr"/>
                </a:tc>
                <a:tc>
                  <a:txBody>
                    <a:bodyPr/>
                    <a:lstStyle/>
                    <a:p>
                      <a:pPr marL="0" marR="0" lvl="0" indent="0" algn="ctr" defTabSz="914400" rtl="0" eaLnBrk="1" fontAlgn="auto" latinLnBrk="0" hangingPunct="1">
                        <a:lnSpc>
                          <a:spcPct val="100000"/>
                        </a:lnSpc>
                        <a:spcBef>
                          <a:spcPts val="0"/>
                        </a:spcBef>
                        <a:spcAft>
                          <a:spcPts val="0"/>
                        </a:spcAft>
                        <a:buFontTx/>
                        <a:buNone/>
                        <a:defRPr>
                          <a:uFillTx/>
                        </a:defRPr>
                      </a:pPr>
                      <a:r>
                        <a:rPr kumimoji="1" lang="ja-JP" altLang="en-US" sz="1200" dirty="0">
                          <a:uFillTx/>
                          <a:latin typeface="メイリオ" pitchFamily="50" charset="-128"/>
                          <a:ea typeface="メイリオ" pitchFamily="50" charset="-128"/>
                          <a:cs typeface="メイリオ" pitchFamily="50" charset="-128"/>
                        </a:rPr>
                        <a:t>内容</a:t>
                      </a:r>
                    </a:p>
                  </a:txBody>
                  <a:tcPr anchor="ctr"/>
                </a:tc>
                <a:tc>
                  <a:txBody>
                    <a:bodyPr/>
                    <a:lstStyle/>
                    <a:p>
                      <a:pPr marL="0" marR="0" lvl="0" indent="0" algn="ctr" defTabSz="914400" rtl="0" eaLnBrk="1" fontAlgn="auto" latinLnBrk="0" hangingPunct="1">
                        <a:lnSpc>
                          <a:spcPct val="100000"/>
                        </a:lnSpc>
                        <a:spcBef>
                          <a:spcPts val="0"/>
                        </a:spcBef>
                        <a:spcAft>
                          <a:spcPts val="0"/>
                        </a:spcAft>
                        <a:buFontTx/>
                        <a:buNone/>
                        <a:defRPr>
                          <a:uFillTx/>
                        </a:defRPr>
                      </a:pPr>
                      <a:r>
                        <a:rPr kumimoji="1" lang="ja-JP" altLang="en-US" sz="1200" dirty="0">
                          <a:uFillTx/>
                          <a:latin typeface="メイリオ" pitchFamily="50" charset="-128"/>
                          <a:ea typeface="メイリオ" pitchFamily="50" charset="-128"/>
                          <a:cs typeface="メイリオ" pitchFamily="50" charset="-128"/>
                        </a:rPr>
                        <a:t>備考</a:t>
                      </a:r>
                    </a:p>
                  </a:txBody>
                  <a:tcPr anchor="ctr"/>
                </a:tc>
                <a:extLst>
                  <a:ext uri="{0D108BD9-81ED-4DB2-BD59-A6C34878D82A}">
                    <a16:rowId xmlns:a16="http://schemas.microsoft.com/office/drawing/2014/main" val="10000"/>
                  </a:ext>
                </a:extLst>
              </a:tr>
              <a:tr h="927794">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サポート</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サービス提供時間帯（問合せ）</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弊社営業時間内（メール）</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年末年始・土日・祝祭日を除く</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1"/>
                  </a:ext>
                </a:extLst>
              </a:tr>
              <a:tr h="129595">
                <a:tc rowSpan="5">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データ管理</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イメージバックアップの方法</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リリース時に</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OS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全体について実施する</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なお障害発生時は、格納されたバックアップデータを使い、システム復旧する</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2"/>
                  </a:ext>
                </a:extLst>
              </a:tr>
              <a:tr h="129595">
                <a:tc vMerge="1">
                  <a:txBody>
                    <a:bodyPr/>
                    <a:lstStyle/>
                    <a:p>
                      <a:endParaRPr kumimoji="1" lang="ja-JP"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データバックアップの方法</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標準で1日に1回データについてバックアップを実施する。なお、障害発生時は、格納されたバックアップデータを使い、システム復旧する</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943330510"/>
                  </a:ext>
                </a:extLst>
              </a:tr>
              <a:tr h="129595">
                <a:tc vMerge="1">
                  <a:txBody>
                    <a:bodyPr/>
                    <a:lstStyle/>
                    <a:p>
                      <a:endParaRPr kumimoji="1" lang="ja-JP"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イメージバックアップの保存期間</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5</a:t>
                      </a: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世代</a:t>
                      </a: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2602260433"/>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データバックアップの保存期間</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データ種別により7日間または30日間保持する（詳細は8.）</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3"/>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データ消去の要件</a:t>
                      </a:r>
                      <a:endParaRPr kumimoji="1" lang="en-US" altLang="ja-JP" sz="1000" u="none" strike="noStrike" cap="none" normalizeH="0" baseline="0" dirty="0">
                        <a:ln>
                          <a:noFill/>
                        </a:ln>
                        <a:effectLst/>
                        <a:latin typeface="メイリオ" panose="020B0604030504040204" pitchFamily="50" charset="-128"/>
                        <a:ea typeface="メイリオ" panose="020B0604030504040204"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サービス解約後一定期間以内にデータおよび保管媒体を破棄</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4"/>
                  </a:ext>
                </a:extLst>
              </a:tr>
              <a:tr h="129595">
                <a:tc rowSpan="5">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セキュリティ</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公的認証取得の要件</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プライバシーマーク、</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PCIDSS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ISMS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認証取得</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利用インフラの要件</a:t>
                      </a:r>
                    </a:p>
                  </a:txBody>
                  <a:tcPr marT="45649" marB="45649" horzOverflow="overflow"/>
                </a:tc>
                <a:extLst>
                  <a:ext uri="{0D108BD9-81ED-4DB2-BD59-A6C34878D82A}">
                    <a16:rowId xmlns:a16="http://schemas.microsoft.com/office/drawing/2014/main" val="10005"/>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アプリケーションに関する第三者評価</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要望により別途対応可能</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6"/>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情報取扱者の制限</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有（利用者のデータにアクセスできる社員等はセキュリティ管理者の許可を得た者に限る）</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7"/>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情報取扱い環境</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有（執務室は社員及びセキュリティに関する誓約書提示済のパートナーのみ入室可能とし、対象者を最小限に制限）</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8"/>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通信の暗号化レベル</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ja-JP"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TLS</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9"/>
                  </a:ext>
                </a:extLst>
              </a:tr>
              <a:tr h="129595">
                <a:tc rowSpan="3">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その他</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メジャーバージョンアップ</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メジャーバージョンアップはサービス対象外（別サービス）</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乗換えについては別途ご相談</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0"/>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カスタマイズ</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カスタマイズについては別途請負契約により定める。保守はカスタマイズ費用の年額10%とする。</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1"/>
                  </a:ext>
                </a:extLst>
              </a:tr>
              <a:tr h="129595">
                <a:tc vMerge="1">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DB</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構造の公開</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原則公開しないが、第三者へ公開しないことを条件に覚書を交わすことにより許可する場合あり</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2"/>
                  </a:ext>
                </a:extLst>
              </a:tr>
            </a:tbl>
          </a:graphicData>
        </a:graphic>
      </p:graphicFrame>
      <p:sp>
        <p:nvSpPr>
          <p:cNvPr id="4" name="タイトル 1">
            <a:extLst>
              <a:ext uri="{FF2B5EF4-FFF2-40B4-BE49-F238E27FC236}">
                <a16:creationId xmlns:a16="http://schemas.microsoft.com/office/drawing/2014/main" id="{A8E1EE97-87EC-4512-AE51-A03BA79E996B}"/>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ja-JP" altLang="en-US" sz="2800" b="0" dirty="0"/>
              <a:t>2.（参考）SLA（2/2）</a:t>
            </a:r>
            <a:endParaRPr lang="ja-JP" altLang="en-US" sz="2800" b="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タイトル 1">
            <a:extLst>
              <a:ext uri="{FF2B5EF4-FFF2-40B4-BE49-F238E27FC236}">
                <a16:creationId xmlns:a16="http://schemas.microsoft.com/office/drawing/2014/main" id="{B9F07135-16C8-4B1A-ACC0-E7CBC8724DAE}"/>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ja-JP" altLang="en-US" sz="2800" b="0" dirty="0"/>
              <a:t>3.（参考）サービス対応</a:t>
            </a:r>
          </a:p>
        </p:txBody>
      </p:sp>
      <p:sp>
        <p:nvSpPr>
          <p:cNvPr id="42" name="テキスト ボックス 41">
            <a:extLst>
              <a:ext uri="{FF2B5EF4-FFF2-40B4-BE49-F238E27FC236}">
                <a16:creationId xmlns:a16="http://schemas.microsoft.com/office/drawing/2014/main" id="{A5F312A1-8ED1-6BF9-09E6-D9D4184DDFE8}"/>
              </a:ext>
            </a:extLst>
          </p:cNvPr>
          <p:cNvSpPr txBox="1"/>
          <p:nvPr/>
        </p:nvSpPr>
        <p:spPr>
          <a:xfrm>
            <a:off x="381105" y="4239076"/>
            <a:ext cx="8381790" cy="1583767"/>
          </a:xfrm>
          <a:prstGeom prst="rect">
            <a:avLst/>
          </a:prstGeom>
          <a:noFill/>
        </p:spPr>
        <p:txBody>
          <a:bodyPr wrap="square" rtlCol="0">
            <a:spAutoFit/>
          </a:bodyPr>
          <a:lstStyle/>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※1</a:t>
            </a:r>
            <a:r>
              <a:rPr lang="ja-JP" altLang="en-US" sz="969" dirty="0">
                <a:solidFill>
                  <a:prstClr val="black"/>
                </a:solidFill>
                <a:latin typeface="メイリオ"/>
                <a:ea typeface="メイリオ"/>
                <a:cs typeface="メイリオ"/>
              </a:rPr>
              <a:t>）   </a:t>
            </a:r>
            <a:r>
              <a:rPr lang="en-US" altLang="ja-JP" sz="969" dirty="0">
                <a:solidFill>
                  <a:prstClr val="black"/>
                </a:solidFill>
                <a:latin typeface="メイリオ"/>
                <a:ea typeface="メイリオ"/>
                <a:cs typeface="メイリオ"/>
              </a:rPr>
              <a:t>24</a:t>
            </a:r>
            <a:r>
              <a:rPr lang="ja-JP" altLang="en-US" sz="969" dirty="0">
                <a:solidFill>
                  <a:prstClr val="black"/>
                </a:solidFill>
                <a:latin typeface="メイリオ"/>
                <a:ea typeface="メイリオ"/>
                <a:cs typeface="メイリオ"/>
              </a:rPr>
              <a:t>時間</a:t>
            </a:r>
            <a:r>
              <a:rPr lang="en-US" altLang="ja-JP" sz="969" dirty="0">
                <a:solidFill>
                  <a:prstClr val="black"/>
                </a:solidFill>
                <a:latin typeface="メイリオ"/>
                <a:ea typeface="メイリオ"/>
                <a:cs typeface="メイリオ"/>
              </a:rPr>
              <a:t>365</a:t>
            </a:r>
            <a:r>
              <a:rPr lang="ja-JP" altLang="en-US" sz="969" dirty="0">
                <a:solidFill>
                  <a:prstClr val="black"/>
                </a:solidFill>
                <a:latin typeface="メイリオ"/>
                <a:ea typeface="メイリオ"/>
                <a:cs typeface="メイリオ"/>
              </a:rPr>
              <a:t>日サーバーおよびサイト死活監視を行います。性能・容量は閾値監視を行います。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※2</a:t>
            </a:r>
            <a:r>
              <a:rPr lang="ja-JP" altLang="en-US" sz="969" dirty="0">
                <a:solidFill>
                  <a:prstClr val="black"/>
                </a:solidFill>
                <a:latin typeface="メイリオ"/>
                <a:ea typeface="メイリオ"/>
                <a:cs typeface="メイリオ"/>
              </a:rPr>
              <a:t>）   営業時間外の対応は別途契約となります。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※3</a:t>
            </a:r>
            <a:r>
              <a:rPr lang="ja-JP" altLang="en-US" sz="969" dirty="0">
                <a:solidFill>
                  <a:prstClr val="black"/>
                </a:solidFill>
                <a:latin typeface="メイリオ"/>
                <a:ea typeface="メイリオ"/>
                <a:cs typeface="メイリオ"/>
              </a:rPr>
              <a:t>）   システム運用における貴社役割は障害時の連絡のみとなります。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※4</a:t>
            </a:r>
            <a:r>
              <a:rPr lang="ja-JP" altLang="en-US" sz="969" dirty="0">
                <a:solidFill>
                  <a:prstClr val="black"/>
                </a:solidFill>
                <a:latin typeface="メイリオ"/>
                <a:ea typeface="メイリオ"/>
                <a:cs typeface="メイリオ"/>
              </a:rPr>
              <a:t>）   良くある質問を</a:t>
            </a:r>
            <a:r>
              <a:rPr lang="en-US" altLang="ja-JP" sz="969" dirty="0">
                <a:solidFill>
                  <a:prstClr val="black"/>
                </a:solidFill>
                <a:latin typeface="メイリオ"/>
                <a:ea typeface="メイリオ"/>
                <a:cs typeface="メイリオ"/>
              </a:rPr>
              <a:t>FAQ</a:t>
            </a:r>
            <a:r>
              <a:rPr lang="ja-JP" altLang="en-US" sz="969" dirty="0">
                <a:solidFill>
                  <a:prstClr val="black"/>
                </a:solidFill>
                <a:latin typeface="メイリオ"/>
                <a:ea typeface="メイリオ"/>
                <a:cs typeface="メイリオ"/>
              </a:rPr>
              <a:t>に纏めました。質問が</a:t>
            </a:r>
            <a:r>
              <a:rPr lang="en-US" altLang="ja-JP" sz="969" dirty="0">
                <a:solidFill>
                  <a:prstClr val="black"/>
                </a:solidFill>
                <a:latin typeface="メイリオ"/>
                <a:ea typeface="メイリオ"/>
                <a:cs typeface="メイリオ"/>
              </a:rPr>
              <a:t>FAQ</a:t>
            </a:r>
            <a:r>
              <a:rPr lang="ja-JP" altLang="en-US" sz="969" dirty="0">
                <a:solidFill>
                  <a:prstClr val="black"/>
                </a:solidFill>
                <a:latin typeface="メイリオ"/>
                <a:ea typeface="メイリオ"/>
                <a:cs typeface="メイリオ"/>
              </a:rPr>
              <a:t>にない場合、要望事項などの有人対応は、弊社営業日の</a:t>
            </a:r>
            <a:r>
              <a:rPr lang="en-US" altLang="ja-JP" sz="969" dirty="0">
                <a:solidFill>
                  <a:prstClr val="black"/>
                </a:solidFill>
                <a:latin typeface="メイリオ"/>
                <a:ea typeface="メイリオ"/>
                <a:cs typeface="メイリオ"/>
              </a:rPr>
              <a:t>10:00</a:t>
            </a: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18:00</a:t>
            </a:r>
            <a:r>
              <a:rPr lang="ja-JP" altLang="en-US" sz="969" dirty="0">
                <a:solidFill>
                  <a:prstClr val="black"/>
                </a:solidFill>
                <a:latin typeface="メイリオ"/>
                <a:ea typeface="メイリオ"/>
                <a:cs typeface="メイリオ"/>
              </a:rPr>
              <a:t>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※5</a:t>
            </a:r>
            <a:r>
              <a:rPr lang="ja-JP" altLang="en-US" sz="969" dirty="0">
                <a:solidFill>
                  <a:prstClr val="black"/>
                </a:solidFill>
                <a:latin typeface="メイリオ"/>
                <a:ea typeface="メイリオ"/>
                <a:cs typeface="メイリオ"/>
              </a:rPr>
              <a:t>） 「標準機能保守」とは非カスタマイズ機能が仕様通りに動作しない場合の不具合対応及びリカバリー、小規模の法改正対応、セキュリティパッチ対応、</a:t>
            </a:r>
            <a:r>
              <a:rPr lang="en-US" altLang="ja-JP" sz="969" dirty="0">
                <a:solidFill>
                  <a:prstClr val="black"/>
                </a:solidFill>
                <a:latin typeface="メイリオ"/>
                <a:ea typeface="メイリオ"/>
                <a:cs typeface="メイリオ"/>
              </a:rPr>
              <a:t>OS</a:t>
            </a:r>
            <a:r>
              <a:rPr lang="ja-JP" altLang="en-US" sz="969" dirty="0">
                <a:solidFill>
                  <a:prstClr val="black"/>
                </a:solidFill>
                <a:latin typeface="メイリオ"/>
                <a:ea typeface="メイリオ"/>
                <a:cs typeface="メイリオ"/>
              </a:rPr>
              <a:t>・ミドルウェアのバージョンアップとなります。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※6</a:t>
            </a:r>
            <a:r>
              <a:rPr lang="ja-JP" altLang="en-US" sz="969" dirty="0">
                <a:solidFill>
                  <a:prstClr val="black"/>
                </a:solidFill>
                <a:latin typeface="メイリオ"/>
                <a:ea typeface="メイリオ"/>
                <a:cs typeface="メイリオ"/>
              </a:rPr>
              <a:t>） 「カスタマイズ機能保守」とはカスタマイズを行っている機能が仕様通りに動作しない場合の不具合対応及びリカバリー対応となります。</a:t>
            </a:r>
            <a:endParaRPr lang="en-US" altLang="ja-JP" sz="969" dirty="0">
              <a:solidFill>
                <a:prstClr val="black"/>
              </a:solidFill>
              <a:latin typeface="メイリオ"/>
              <a:ea typeface="メイリオ"/>
              <a:cs typeface="メイリオ"/>
            </a:endParaRPr>
          </a:p>
          <a:p>
            <a:pPr defTabSz="422041">
              <a:defRPr/>
            </a:pPr>
            <a:r>
              <a:rPr lang="en-US" altLang="ja-JP" sz="969" dirty="0">
                <a:solidFill>
                  <a:prstClr val="black"/>
                </a:solidFill>
                <a:latin typeface="メイリオ"/>
                <a:ea typeface="メイリオ"/>
                <a:cs typeface="メイリオ"/>
              </a:rPr>
              <a:t>2</a:t>
            </a:r>
            <a:r>
              <a:rPr lang="ja-JP" altLang="en-US" sz="969" dirty="0">
                <a:solidFill>
                  <a:prstClr val="black"/>
                </a:solidFill>
                <a:latin typeface="メイリオ"/>
                <a:ea typeface="メイリオ"/>
                <a:cs typeface="メイリオ"/>
              </a:rPr>
              <a:t>年目以降はチケット制による対応となります。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※7</a:t>
            </a:r>
            <a:r>
              <a:rPr lang="ja-JP" altLang="en-US" sz="969" dirty="0">
                <a:solidFill>
                  <a:prstClr val="black"/>
                </a:solidFill>
                <a:latin typeface="メイリオ"/>
                <a:ea typeface="メイリオ"/>
                <a:cs typeface="メイリオ"/>
              </a:rPr>
              <a:t>） 「保守契約以外の付帯作業」とはカスタマイズ機能の保守、システム全般の問合せ、小規模改修、データパッチ等の作業をいいます。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※8</a:t>
            </a:r>
            <a:r>
              <a:rPr lang="ja-JP" altLang="en-US" sz="969" dirty="0">
                <a:solidFill>
                  <a:prstClr val="black"/>
                </a:solidFill>
                <a:latin typeface="メイリオ"/>
                <a:ea typeface="メイリオ"/>
                <a:cs typeface="メイリオ"/>
              </a:rPr>
              <a:t>）  チケット制によるサポートは、カスタマイズ機能の保守、システム全般の問合せ、小規模改修、データパッチ等の作業を行います。</a:t>
            </a:r>
          </a:p>
        </p:txBody>
      </p:sp>
      <p:grpSp>
        <p:nvGrpSpPr>
          <p:cNvPr id="2" name="Google Shape;954;p31">
            <a:extLst>
              <a:ext uri="{FF2B5EF4-FFF2-40B4-BE49-F238E27FC236}">
                <a16:creationId xmlns:a16="http://schemas.microsoft.com/office/drawing/2014/main" id="{E255128B-A8A2-2092-682F-3BE689348DDF}"/>
              </a:ext>
            </a:extLst>
          </p:cNvPr>
          <p:cNvGrpSpPr/>
          <p:nvPr/>
        </p:nvGrpSpPr>
        <p:grpSpPr>
          <a:xfrm>
            <a:off x="789283" y="962862"/>
            <a:ext cx="7051882" cy="3122978"/>
            <a:chOff x="855056" y="1185115"/>
            <a:chExt cx="7639539" cy="3383226"/>
          </a:xfrm>
        </p:grpSpPr>
        <p:sp>
          <p:nvSpPr>
            <p:cNvPr id="15" name="Google Shape;955;p31">
              <a:extLst>
                <a:ext uri="{FF2B5EF4-FFF2-40B4-BE49-F238E27FC236}">
                  <a16:creationId xmlns:a16="http://schemas.microsoft.com/office/drawing/2014/main" id="{19F83A27-E31E-9D8C-2CC1-1327AF2B71A7}"/>
                </a:ext>
              </a:extLst>
            </p:cNvPr>
            <p:cNvSpPr/>
            <p:nvPr/>
          </p:nvSpPr>
          <p:spPr>
            <a:xfrm>
              <a:off x="3006258" y="1185115"/>
              <a:ext cx="2708308" cy="332308"/>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1</a:t>
              </a:r>
              <a:r>
                <a:rPr lang="ja-JP" altLang="en-US" sz="1023" b="1">
                  <a:solidFill>
                    <a:schemeClr val="lt1"/>
                  </a:solidFill>
                  <a:latin typeface="Meiryo"/>
                  <a:ea typeface="Meiryo"/>
                  <a:cs typeface="Meiryo"/>
                  <a:sym typeface="Meiryo"/>
                </a:rPr>
                <a:t>年目</a:t>
              </a:r>
              <a:endParaRPr sz="1662"/>
            </a:p>
          </p:txBody>
        </p:sp>
        <p:sp>
          <p:nvSpPr>
            <p:cNvPr id="16" name="Google Shape;956;p31">
              <a:extLst>
                <a:ext uri="{FF2B5EF4-FFF2-40B4-BE49-F238E27FC236}">
                  <a16:creationId xmlns:a16="http://schemas.microsoft.com/office/drawing/2014/main" id="{68D18239-3AB2-CAF5-E0B8-D2437162B8D2}"/>
                </a:ext>
              </a:extLst>
            </p:cNvPr>
            <p:cNvSpPr/>
            <p:nvPr/>
          </p:nvSpPr>
          <p:spPr>
            <a:xfrm>
              <a:off x="5785655" y="1185115"/>
              <a:ext cx="2708308" cy="332308"/>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2</a:t>
              </a:r>
              <a:r>
                <a:rPr lang="ja-JP" altLang="en-US" sz="1023" b="1">
                  <a:solidFill>
                    <a:schemeClr val="lt1"/>
                  </a:solidFill>
                  <a:latin typeface="Meiryo"/>
                  <a:ea typeface="Meiryo"/>
                  <a:cs typeface="Meiryo"/>
                  <a:sym typeface="Meiryo"/>
                </a:rPr>
                <a:t>年目以降</a:t>
              </a:r>
              <a:endParaRPr sz="1662"/>
            </a:p>
          </p:txBody>
        </p:sp>
        <p:sp>
          <p:nvSpPr>
            <p:cNvPr id="17" name="Google Shape;957;p31">
              <a:extLst>
                <a:ext uri="{FF2B5EF4-FFF2-40B4-BE49-F238E27FC236}">
                  <a16:creationId xmlns:a16="http://schemas.microsoft.com/office/drawing/2014/main" id="{B94D6519-48B2-58F2-B9C3-EBCA10456924}"/>
                </a:ext>
              </a:extLst>
            </p:cNvPr>
            <p:cNvSpPr/>
            <p:nvPr/>
          </p:nvSpPr>
          <p:spPr>
            <a:xfrm>
              <a:off x="1743349" y="3076698"/>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標準機能保守</a:t>
              </a:r>
              <a:r>
                <a:rPr lang="ja-JP" altLang="en-US" sz="1023" b="1">
                  <a:solidFill>
                    <a:schemeClr val="lt1"/>
                  </a:solidFill>
                  <a:latin typeface="Meiryo"/>
                  <a:ea typeface="Meiryo"/>
                  <a:cs typeface="Meiryo"/>
                  <a:sym typeface="Meiryo"/>
                </a:rPr>
                <a:t> </a:t>
              </a:r>
              <a:r>
                <a:rPr lang="en-US" altLang="ja-JP" sz="1023" b="1" baseline="30000">
                  <a:solidFill>
                    <a:schemeClr val="lt1"/>
                  </a:solidFill>
                  <a:latin typeface="Meiryo"/>
                  <a:ea typeface="Meiryo"/>
                  <a:cs typeface="Meiryo"/>
                  <a:sym typeface="Meiryo"/>
                </a:rPr>
                <a:t>※5</a:t>
              </a:r>
              <a:endParaRPr sz="1023" b="1" baseline="30000">
                <a:solidFill>
                  <a:schemeClr val="lt1"/>
                </a:solidFill>
                <a:latin typeface="Meiryo"/>
                <a:ea typeface="Meiryo"/>
                <a:cs typeface="Meiryo"/>
                <a:sym typeface="Meiryo"/>
              </a:endParaRPr>
            </a:p>
          </p:txBody>
        </p:sp>
        <p:sp>
          <p:nvSpPr>
            <p:cNvPr id="18" name="Google Shape;958;p31">
              <a:extLst>
                <a:ext uri="{FF2B5EF4-FFF2-40B4-BE49-F238E27FC236}">
                  <a16:creationId xmlns:a16="http://schemas.microsoft.com/office/drawing/2014/main" id="{E3ADCCDF-A559-B812-A312-9953B860BFCD}"/>
                </a:ext>
              </a:extLst>
            </p:cNvPr>
            <p:cNvSpPr/>
            <p:nvPr/>
          </p:nvSpPr>
          <p:spPr>
            <a:xfrm>
              <a:off x="1742106" y="3586130"/>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カスタマイズ</a:t>
              </a:r>
              <a:endParaRPr sz="851" b="1">
                <a:solidFill>
                  <a:schemeClr val="lt1"/>
                </a:solidFill>
                <a:latin typeface="Meiryo"/>
                <a:ea typeface="Meiryo"/>
                <a:cs typeface="Meiryo"/>
                <a:sym typeface="Meiryo"/>
              </a:endParaRPr>
            </a:p>
            <a:p>
              <a:pPr algn="ctr"/>
              <a:r>
                <a:rPr lang="ja-JP" altLang="en-US" sz="851" b="1">
                  <a:solidFill>
                    <a:schemeClr val="lt1"/>
                  </a:solidFill>
                  <a:latin typeface="Meiryo"/>
                  <a:ea typeface="Meiryo"/>
                  <a:cs typeface="Meiryo"/>
                  <a:sym typeface="Meiryo"/>
                </a:rPr>
                <a:t>機能保守</a:t>
              </a:r>
              <a:r>
                <a:rPr lang="ja-JP" altLang="en-US" sz="1023" b="1">
                  <a:solidFill>
                    <a:schemeClr val="lt1"/>
                  </a:solidFill>
                  <a:latin typeface="Meiryo"/>
                  <a:ea typeface="Meiryo"/>
                  <a:cs typeface="Meiryo"/>
                  <a:sym typeface="Meiryo"/>
                </a:rPr>
                <a:t> </a:t>
              </a:r>
              <a:r>
                <a:rPr lang="en-US" altLang="ja-JP" sz="1023" b="1" baseline="30000">
                  <a:solidFill>
                    <a:schemeClr val="lt1"/>
                  </a:solidFill>
                  <a:latin typeface="Meiryo"/>
                  <a:ea typeface="Meiryo"/>
                  <a:cs typeface="Meiryo"/>
                  <a:sym typeface="Meiryo"/>
                </a:rPr>
                <a:t>※6</a:t>
              </a:r>
              <a:endParaRPr sz="1023" b="1" baseline="30000">
                <a:solidFill>
                  <a:schemeClr val="lt1"/>
                </a:solidFill>
                <a:latin typeface="Meiryo"/>
                <a:ea typeface="Meiryo"/>
                <a:cs typeface="Meiryo"/>
                <a:sym typeface="Meiryo"/>
              </a:endParaRPr>
            </a:p>
          </p:txBody>
        </p:sp>
        <p:sp>
          <p:nvSpPr>
            <p:cNvPr id="19" name="Google Shape;959;p31">
              <a:extLst>
                <a:ext uri="{FF2B5EF4-FFF2-40B4-BE49-F238E27FC236}">
                  <a16:creationId xmlns:a16="http://schemas.microsoft.com/office/drawing/2014/main" id="{F4D020E8-1625-1C0F-92A0-FDE42F1A67AD}"/>
                </a:ext>
              </a:extLst>
            </p:cNvPr>
            <p:cNvSpPr/>
            <p:nvPr/>
          </p:nvSpPr>
          <p:spPr>
            <a:xfrm>
              <a:off x="3006258" y="3080329"/>
              <a:ext cx="5483077"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endParaRPr sz="1662"/>
            </a:p>
          </p:txBody>
        </p:sp>
        <p:sp>
          <p:nvSpPr>
            <p:cNvPr id="20" name="Google Shape;960;p31">
              <a:extLst>
                <a:ext uri="{FF2B5EF4-FFF2-40B4-BE49-F238E27FC236}">
                  <a16:creationId xmlns:a16="http://schemas.microsoft.com/office/drawing/2014/main" id="{66FA6B81-677B-0D2E-B379-A4BA53BBA068}"/>
                </a:ext>
              </a:extLst>
            </p:cNvPr>
            <p:cNvSpPr/>
            <p:nvPr/>
          </p:nvSpPr>
          <p:spPr>
            <a:xfrm>
              <a:off x="3006258" y="3589116"/>
              <a:ext cx="2708308"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瑕疵担保期間（無償）</a:t>
              </a:r>
              <a:endParaRPr sz="1662"/>
            </a:p>
          </p:txBody>
        </p:sp>
        <p:sp>
          <p:nvSpPr>
            <p:cNvPr id="22" name="Google Shape;961;p31">
              <a:extLst>
                <a:ext uri="{FF2B5EF4-FFF2-40B4-BE49-F238E27FC236}">
                  <a16:creationId xmlns:a16="http://schemas.microsoft.com/office/drawing/2014/main" id="{45CA03B3-A2FA-E014-56FF-9DF2F8FF6464}"/>
                </a:ext>
              </a:extLst>
            </p:cNvPr>
            <p:cNvSpPr/>
            <p:nvPr/>
          </p:nvSpPr>
          <p:spPr>
            <a:xfrm>
              <a:off x="855056" y="1552543"/>
              <a:ext cx="830769" cy="1993846"/>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ASP</a:t>
              </a:r>
              <a:endParaRPr sz="1023" b="1">
                <a:solidFill>
                  <a:schemeClr val="lt1"/>
                </a:solidFill>
                <a:latin typeface="Meiryo"/>
                <a:ea typeface="Meiryo"/>
                <a:cs typeface="Meiryo"/>
                <a:sym typeface="Meiryo"/>
              </a:endParaRPr>
            </a:p>
          </p:txBody>
        </p:sp>
        <p:sp>
          <p:nvSpPr>
            <p:cNvPr id="30" name="Google Shape;962;p31">
              <a:extLst>
                <a:ext uri="{FF2B5EF4-FFF2-40B4-BE49-F238E27FC236}">
                  <a16:creationId xmlns:a16="http://schemas.microsoft.com/office/drawing/2014/main" id="{DA2E8230-CC4F-C170-7639-38510519F02C}"/>
                </a:ext>
              </a:extLst>
            </p:cNvPr>
            <p:cNvSpPr/>
            <p:nvPr/>
          </p:nvSpPr>
          <p:spPr>
            <a:xfrm>
              <a:off x="3006258" y="2570829"/>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契約サイトに設置のチャットボット：</a:t>
              </a:r>
              <a:r>
                <a:rPr lang="en-US" altLang="ja-JP" sz="1023" b="1">
                  <a:solidFill>
                    <a:srgbClr val="333333"/>
                  </a:solidFill>
                  <a:latin typeface="Meiryo"/>
                  <a:ea typeface="Meiryo"/>
                  <a:cs typeface="Meiryo"/>
                  <a:sym typeface="Meiryo"/>
                </a:rPr>
                <a:t>24</a:t>
              </a:r>
              <a:r>
                <a:rPr lang="ja-JP" altLang="en-US" sz="1023" b="1">
                  <a:solidFill>
                    <a:srgbClr val="333333"/>
                  </a:solidFill>
                  <a:latin typeface="Meiryo"/>
                  <a:ea typeface="Meiryo"/>
                  <a:cs typeface="Meiryo"/>
                  <a:sym typeface="Meiryo"/>
                </a:rPr>
                <a:t>時間</a:t>
              </a:r>
              <a:r>
                <a:rPr lang="en-US" altLang="ja-JP" sz="1023" b="1">
                  <a:solidFill>
                    <a:srgbClr val="333333"/>
                  </a:solidFill>
                  <a:latin typeface="Meiryo"/>
                  <a:ea typeface="Meiryo"/>
                  <a:cs typeface="Meiryo"/>
                  <a:sym typeface="Meiryo"/>
                </a:rPr>
                <a:t>365</a:t>
              </a:r>
              <a:r>
                <a:rPr lang="ja-JP" altLang="en-US" sz="1023" b="1">
                  <a:solidFill>
                    <a:srgbClr val="333333"/>
                  </a:solidFill>
                  <a:latin typeface="Meiryo"/>
                  <a:ea typeface="Meiryo"/>
                  <a:cs typeface="Meiryo"/>
                  <a:sym typeface="Meiryo"/>
                </a:rPr>
                <a:t>日受付 </a:t>
              </a:r>
              <a:r>
                <a:rPr lang="en-US" altLang="ja-JP" sz="1023" b="1" baseline="30000">
                  <a:solidFill>
                    <a:srgbClr val="333333"/>
                  </a:solidFill>
                  <a:latin typeface="Meiryo"/>
                  <a:ea typeface="Meiryo"/>
                  <a:cs typeface="Meiryo"/>
                  <a:sym typeface="Meiryo"/>
                </a:rPr>
                <a:t>※4</a:t>
              </a:r>
              <a:endParaRPr sz="1023" b="1" baseline="30000">
                <a:solidFill>
                  <a:srgbClr val="333333"/>
                </a:solidFill>
                <a:latin typeface="Meiryo"/>
                <a:ea typeface="Meiryo"/>
                <a:cs typeface="Meiryo"/>
                <a:sym typeface="Meiryo"/>
              </a:endParaRPr>
            </a:p>
          </p:txBody>
        </p:sp>
        <p:sp>
          <p:nvSpPr>
            <p:cNvPr id="31" name="Google Shape;963;p31">
              <a:extLst>
                <a:ext uri="{FF2B5EF4-FFF2-40B4-BE49-F238E27FC236}">
                  <a16:creationId xmlns:a16="http://schemas.microsoft.com/office/drawing/2014/main" id="{ED12A9F3-D83E-5CBE-0A93-0ED88F8B25EB}"/>
                </a:ext>
              </a:extLst>
            </p:cNvPr>
            <p:cNvSpPr/>
            <p:nvPr/>
          </p:nvSpPr>
          <p:spPr>
            <a:xfrm>
              <a:off x="1743349" y="2570829"/>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851" b="1">
                  <a:solidFill>
                    <a:srgbClr val="333333"/>
                  </a:solidFill>
                  <a:latin typeface="Meiryo"/>
                  <a:ea typeface="Meiryo"/>
                  <a:cs typeface="Meiryo"/>
                  <a:sym typeface="Meiryo"/>
                </a:rPr>
                <a:t>操作に関する</a:t>
              </a:r>
              <a:r>
                <a:rPr lang="en-US" altLang="ja-JP" sz="851" b="1">
                  <a:solidFill>
                    <a:srgbClr val="333333"/>
                  </a:solidFill>
                  <a:latin typeface="Meiryo"/>
                  <a:ea typeface="Meiryo"/>
                  <a:cs typeface="Meiryo"/>
                  <a:sym typeface="Meiryo"/>
                </a:rPr>
                <a:t>Q&amp;A</a:t>
              </a:r>
              <a:r>
                <a:rPr lang="ja-JP" altLang="en-US" sz="851" b="1">
                  <a:solidFill>
                    <a:srgbClr val="333333"/>
                  </a:solidFill>
                  <a:latin typeface="Meiryo"/>
                  <a:ea typeface="Meiryo"/>
                  <a:cs typeface="Meiryo"/>
                  <a:sym typeface="Meiryo"/>
                </a:rPr>
                <a:t>サポート対応</a:t>
              </a:r>
              <a:endParaRPr sz="1662"/>
            </a:p>
          </p:txBody>
        </p:sp>
        <p:sp>
          <p:nvSpPr>
            <p:cNvPr id="32" name="Google Shape;964;p31">
              <a:extLst>
                <a:ext uri="{FF2B5EF4-FFF2-40B4-BE49-F238E27FC236}">
                  <a16:creationId xmlns:a16="http://schemas.microsoft.com/office/drawing/2014/main" id="{208D3429-51BA-515D-43F4-AE8D423A2E4A}"/>
                </a:ext>
              </a:extLst>
            </p:cNvPr>
            <p:cNvSpPr/>
            <p:nvPr/>
          </p:nvSpPr>
          <p:spPr>
            <a:xfrm>
              <a:off x="3006258" y="1556539"/>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en-US" altLang="ja-JP" sz="1023" b="1" dirty="0">
                  <a:solidFill>
                    <a:srgbClr val="333333"/>
                  </a:solidFill>
                  <a:latin typeface="Meiryo"/>
                  <a:ea typeface="Meiryo"/>
                  <a:cs typeface="Meiryo"/>
                  <a:sym typeface="Meiryo"/>
                </a:rPr>
                <a:t>24</a:t>
              </a:r>
              <a:r>
                <a:rPr lang="ja-JP" altLang="en-US" sz="1023" b="1" dirty="0">
                  <a:solidFill>
                    <a:srgbClr val="333333"/>
                  </a:solidFill>
                  <a:latin typeface="Meiryo"/>
                  <a:ea typeface="Meiryo"/>
                  <a:cs typeface="Meiryo"/>
                  <a:sym typeface="Meiryo"/>
                </a:rPr>
                <a:t>時間</a:t>
              </a:r>
              <a:r>
                <a:rPr lang="en-US" altLang="ja-JP" sz="1023" b="1" dirty="0">
                  <a:solidFill>
                    <a:srgbClr val="333333"/>
                  </a:solidFill>
                  <a:latin typeface="Meiryo"/>
                  <a:ea typeface="Meiryo"/>
                  <a:cs typeface="Meiryo"/>
                  <a:sym typeface="Meiryo"/>
                </a:rPr>
                <a:t>365</a:t>
              </a:r>
              <a:r>
                <a:rPr lang="ja-JP" altLang="en-US" sz="1023" b="1" dirty="0">
                  <a:solidFill>
                    <a:srgbClr val="333333"/>
                  </a:solidFill>
                  <a:latin typeface="Meiryo"/>
                  <a:ea typeface="Meiryo"/>
                  <a:cs typeface="Meiryo"/>
                  <a:sym typeface="Meiryo"/>
                </a:rPr>
                <a:t>日（</a:t>
              </a:r>
              <a:r>
                <a:rPr lang="en-US" altLang="ja-JP" sz="1023" b="1" dirty="0">
                  <a:solidFill>
                    <a:srgbClr val="333333"/>
                  </a:solidFill>
                  <a:latin typeface="Meiryo"/>
                  <a:ea typeface="Meiryo"/>
                  <a:cs typeface="Meiryo"/>
                  <a:sym typeface="Meiryo"/>
                </a:rPr>
                <a:t>ASP</a:t>
              </a:r>
              <a:r>
                <a:rPr lang="ja-JP" altLang="en-US" sz="1023" b="1" dirty="0">
                  <a:solidFill>
                    <a:srgbClr val="333333"/>
                  </a:solidFill>
                  <a:latin typeface="Meiryo"/>
                  <a:ea typeface="Meiryo"/>
                  <a:cs typeface="Meiryo"/>
                  <a:sym typeface="Meiryo"/>
                </a:rPr>
                <a:t>サービスに含む）</a:t>
              </a:r>
              <a:endParaRPr sz="1023" b="1" dirty="0">
                <a:solidFill>
                  <a:srgbClr val="333333"/>
                </a:solidFill>
                <a:latin typeface="Meiryo"/>
                <a:ea typeface="Meiryo"/>
                <a:cs typeface="Meiryo"/>
                <a:sym typeface="Meiryo"/>
              </a:endParaRPr>
            </a:p>
          </p:txBody>
        </p:sp>
        <p:sp>
          <p:nvSpPr>
            <p:cNvPr id="33" name="Google Shape;965;p31">
              <a:extLst>
                <a:ext uri="{FF2B5EF4-FFF2-40B4-BE49-F238E27FC236}">
                  <a16:creationId xmlns:a16="http://schemas.microsoft.com/office/drawing/2014/main" id="{FD04ED0B-93B4-FF83-2F90-7E680B4C938B}"/>
                </a:ext>
              </a:extLst>
            </p:cNvPr>
            <p:cNvSpPr/>
            <p:nvPr/>
          </p:nvSpPr>
          <p:spPr>
            <a:xfrm>
              <a:off x="1743349" y="1552543"/>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運用監視 </a:t>
              </a:r>
              <a:r>
                <a:rPr lang="en-US" altLang="ja-JP" sz="1023" b="1" baseline="30000">
                  <a:solidFill>
                    <a:srgbClr val="333333"/>
                  </a:solidFill>
                  <a:latin typeface="Meiryo"/>
                  <a:ea typeface="Meiryo"/>
                  <a:cs typeface="Meiryo"/>
                  <a:sym typeface="Meiryo"/>
                </a:rPr>
                <a:t>※1</a:t>
              </a:r>
              <a:endParaRPr sz="1023" b="1" baseline="30000">
                <a:solidFill>
                  <a:srgbClr val="333333"/>
                </a:solidFill>
                <a:latin typeface="Meiryo"/>
                <a:ea typeface="Meiryo"/>
                <a:cs typeface="Meiryo"/>
                <a:sym typeface="Meiryo"/>
              </a:endParaRPr>
            </a:p>
          </p:txBody>
        </p:sp>
        <p:sp>
          <p:nvSpPr>
            <p:cNvPr id="34" name="Google Shape;966;p31">
              <a:extLst>
                <a:ext uri="{FF2B5EF4-FFF2-40B4-BE49-F238E27FC236}">
                  <a16:creationId xmlns:a16="http://schemas.microsoft.com/office/drawing/2014/main" id="{7A8DC070-903B-6BCF-FCDD-FAB006279550}"/>
                </a:ext>
              </a:extLst>
            </p:cNvPr>
            <p:cNvSpPr/>
            <p:nvPr/>
          </p:nvSpPr>
          <p:spPr>
            <a:xfrm>
              <a:off x="3011518" y="2065326"/>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一次対応：</a:t>
              </a:r>
              <a:r>
                <a:rPr lang="en-US" altLang="ja-JP" sz="1023" b="1">
                  <a:solidFill>
                    <a:srgbClr val="333333"/>
                  </a:solidFill>
                  <a:latin typeface="Meiryo"/>
                  <a:ea typeface="Meiryo"/>
                  <a:cs typeface="Meiryo"/>
                  <a:sym typeface="Meiryo"/>
                </a:rPr>
                <a:t>24</a:t>
              </a:r>
              <a:r>
                <a:rPr lang="ja-JP" altLang="en-US" sz="1023" b="1">
                  <a:solidFill>
                    <a:srgbClr val="333333"/>
                  </a:solidFill>
                  <a:latin typeface="Meiryo"/>
                  <a:ea typeface="Meiryo"/>
                  <a:cs typeface="Meiryo"/>
                  <a:sym typeface="Meiryo"/>
                </a:rPr>
                <a:t>時間</a:t>
              </a:r>
              <a:r>
                <a:rPr lang="en-US" altLang="ja-JP" sz="1023" b="1">
                  <a:solidFill>
                    <a:srgbClr val="333333"/>
                  </a:solidFill>
                  <a:latin typeface="Meiryo"/>
                  <a:ea typeface="Meiryo"/>
                  <a:cs typeface="Meiryo"/>
                  <a:sym typeface="Meiryo"/>
                </a:rPr>
                <a:t>365</a:t>
              </a:r>
              <a:r>
                <a:rPr lang="ja-JP" altLang="en-US" sz="1023" b="1">
                  <a:solidFill>
                    <a:srgbClr val="333333"/>
                  </a:solidFill>
                  <a:latin typeface="Meiryo"/>
                  <a:ea typeface="Meiryo"/>
                  <a:cs typeface="Meiryo"/>
                  <a:sym typeface="Meiryo"/>
                </a:rPr>
                <a:t>日（</a:t>
              </a: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endParaRPr sz="1023" b="1">
                <a:solidFill>
                  <a:srgbClr val="333333"/>
                </a:solidFill>
                <a:latin typeface="Meiryo"/>
                <a:ea typeface="Meiryo"/>
                <a:cs typeface="Meiryo"/>
                <a:sym typeface="Meiryo"/>
              </a:endParaRPr>
            </a:p>
            <a:p>
              <a:pPr algn="ctr"/>
              <a:r>
                <a:rPr lang="ja-JP" altLang="en-US" sz="1023" b="1">
                  <a:solidFill>
                    <a:srgbClr val="333333"/>
                  </a:solidFill>
                  <a:latin typeface="Meiryo"/>
                  <a:ea typeface="Meiryo"/>
                  <a:cs typeface="Meiryo"/>
                  <a:sym typeface="Meiryo"/>
                </a:rPr>
                <a:t>二次対応：弊社営業時間内（</a:t>
              </a: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r>
                <a:rPr lang="en-US" altLang="ja-JP" sz="1023" b="1" baseline="30000">
                  <a:solidFill>
                    <a:srgbClr val="333333"/>
                  </a:solidFill>
                  <a:latin typeface="Meiryo"/>
                  <a:ea typeface="Meiryo"/>
                  <a:cs typeface="Meiryo"/>
                  <a:sym typeface="Meiryo"/>
                </a:rPr>
                <a:t>※2※3</a:t>
              </a:r>
              <a:endParaRPr sz="1662"/>
            </a:p>
          </p:txBody>
        </p:sp>
        <p:sp>
          <p:nvSpPr>
            <p:cNvPr id="35" name="Google Shape;967;p31">
              <a:extLst>
                <a:ext uri="{FF2B5EF4-FFF2-40B4-BE49-F238E27FC236}">
                  <a16:creationId xmlns:a16="http://schemas.microsoft.com/office/drawing/2014/main" id="{B962CF2B-2B41-A374-C290-81349D390B90}"/>
                </a:ext>
              </a:extLst>
            </p:cNvPr>
            <p:cNvSpPr/>
            <p:nvPr/>
          </p:nvSpPr>
          <p:spPr>
            <a:xfrm>
              <a:off x="1743349" y="2061686"/>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851" b="1">
                  <a:solidFill>
                    <a:srgbClr val="333333"/>
                  </a:solidFill>
                  <a:latin typeface="Meiryo"/>
                  <a:ea typeface="Meiryo"/>
                  <a:cs typeface="Meiryo"/>
                  <a:sym typeface="Meiryo"/>
                </a:rPr>
                <a:t>システム異常時の対応</a:t>
              </a:r>
              <a:endParaRPr sz="1662"/>
            </a:p>
          </p:txBody>
        </p:sp>
        <p:sp>
          <p:nvSpPr>
            <p:cNvPr id="36" name="Google Shape;968;p31">
              <a:extLst>
                <a:ext uri="{FF2B5EF4-FFF2-40B4-BE49-F238E27FC236}">
                  <a16:creationId xmlns:a16="http://schemas.microsoft.com/office/drawing/2014/main" id="{C86823CB-E07A-3D6A-7B43-88E47FBE06EA}"/>
                </a:ext>
              </a:extLst>
            </p:cNvPr>
            <p:cNvSpPr/>
            <p:nvPr/>
          </p:nvSpPr>
          <p:spPr>
            <a:xfrm>
              <a:off x="1743349" y="4103109"/>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保守を含む</a:t>
              </a:r>
              <a:endParaRPr sz="851" b="1">
                <a:solidFill>
                  <a:schemeClr val="lt1"/>
                </a:solidFill>
                <a:latin typeface="Meiryo"/>
                <a:ea typeface="Meiryo"/>
                <a:cs typeface="Meiryo"/>
                <a:sym typeface="Meiryo"/>
              </a:endParaRPr>
            </a:p>
            <a:p>
              <a:pPr algn="ctr">
                <a:spcBef>
                  <a:spcPts val="511"/>
                </a:spcBef>
              </a:pPr>
              <a:r>
                <a:rPr lang="ja-JP" altLang="en-US" sz="851" b="1">
                  <a:solidFill>
                    <a:schemeClr val="lt1"/>
                  </a:solidFill>
                  <a:latin typeface="Meiryo"/>
                  <a:ea typeface="Meiryo"/>
                  <a:cs typeface="Meiryo"/>
                  <a:sym typeface="Meiryo"/>
                </a:rPr>
                <a:t>付帯作業 </a:t>
              </a:r>
              <a:r>
                <a:rPr lang="en-US" altLang="ja-JP" sz="1023" b="1" baseline="30000">
                  <a:solidFill>
                    <a:schemeClr val="lt1"/>
                  </a:solidFill>
                  <a:latin typeface="Meiryo"/>
                  <a:ea typeface="Meiryo"/>
                  <a:cs typeface="Meiryo"/>
                  <a:sym typeface="Meiryo"/>
                </a:rPr>
                <a:t>※7</a:t>
              </a:r>
              <a:endParaRPr sz="851" b="1">
                <a:solidFill>
                  <a:schemeClr val="lt1"/>
                </a:solidFill>
                <a:latin typeface="Meiryo"/>
                <a:ea typeface="Meiryo"/>
                <a:cs typeface="Meiryo"/>
                <a:sym typeface="Meiryo"/>
              </a:endParaRPr>
            </a:p>
          </p:txBody>
        </p:sp>
        <p:sp>
          <p:nvSpPr>
            <p:cNvPr id="37" name="Google Shape;969;p31">
              <a:extLst>
                <a:ext uri="{FF2B5EF4-FFF2-40B4-BE49-F238E27FC236}">
                  <a16:creationId xmlns:a16="http://schemas.microsoft.com/office/drawing/2014/main" id="{06028FD8-0C9C-2DF1-AE7A-24387C428F56}"/>
                </a:ext>
              </a:extLst>
            </p:cNvPr>
            <p:cNvSpPr/>
            <p:nvPr/>
          </p:nvSpPr>
          <p:spPr>
            <a:xfrm>
              <a:off x="3006232" y="4103109"/>
              <a:ext cx="5483077"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チケット制によるサポート（有償）</a:t>
              </a:r>
              <a:r>
                <a:rPr lang="en-US" altLang="ja-JP" sz="1023" b="1" baseline="30000">
                  <a:solidFill>
                    <a:srgbClr val="333333"/>
                  </a:solidFill>
                  <a:latin typeface="Meiryo"/>
                  <a:ea typeface="Meiryo"/>
                  <a:cs typeface="Meiryo"/>
                  <a:sym typeface="Meiryo"/>
                </a:rPr>
                <a:t>※8</a:t>
              </a:r>
              <a:endParaRPr sz="1023" b="1" baseline="30000">
                <a:solidFill>
                  <a:srgbClr val="333333"/>
                </a:solidFill>
                <a:latin typeface="Meiryo"/>
                <a:ea typeface="Meiryo"/>
                <a:cs typeface="Meiryo"/>
                <a:sym typeface="Meiryo"/>
              </a:endParaRPr>
            </a:p>
          </p:txBody>
        </p:sp>
        <p:sp>
          <p:nvSpPr>
            <p:cNvPr id="38" name="Google Shape;970;p31">
              <a:extLst>
                <a:ext uri="{FF2B5EF4-FFF2-40B4-BE49-F238E27FC236}">
                  <a16:creationId xmlns:a16="http://schemas.microsoft.com/office/drawing/2014/main" id="{D5751ABD-F5B6-16AD-577F-61BE4492DA30}"/>
                </a:ext>
              </a:extLst>
            </p:cNvPr>
            <p:cNvSpPr/>
            <p:nvPr/>
          </p:nvSpPr>
          <p:spPr>
            <a:xfrm>
              <a:off x="5782277" y="3591719"/>
              <a:ext cx="2708308"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チケット制によるサポート（有償）</a:t>
              </a:r>
              <a:r>
                <a:rPr lang="ja-JP" altLang="en-US" sz="1023" b="1" baseline="30000">
                  <a:solidFill>
                    <a:srgbClr val="333333"/>
                  </a:solidFill>
                  <a:latin typeface="Meiryo"/>
                  <a:ea typeface="Meiryo"/>
                  <a:cs typeface="Meiryo"/>
                  <a:sym typeface="Meiryo"/>
                </a:rPr>
                <a:t> </a:t>
              </a:r>
              <a:r>
                <a:rPr lang="en-US" altLang="ja-JP" sz="1023" b="1" baseline="30000">
                  <a:solidFill>
                    <a:srgbClr val="333333"/>
                  </a:solidFill>
                  <a:latin typeface="Meiryo"/>
                  <a:ea typeface="Meiryo"/>
                  <a:cs typeface="Meiryo"/>
                  <a:sym typeface="Meiryo"/>
                </a:rPr>
                <a:t>※8</a:t>
              </a:r>
              <a:endParaRPr sz="1023" b="1">
                <a:solidFill>
                  <a:srgbClr val="333333"/>
                </a:solidFill>
                <a:latin typeface="Meiryo"/>
                <a:ea typeface="Meiryo"/>
                <a:cs typeface="Meiryo"/>
                <a:sym typeface="Meiryo"/>
              </a:endParaRPr>
            </a:p>
          </p:txBody>
        </p:sp>
        <p:sp>
          <p:nvSpPr>
            <p:cNvPr id="39" name="Google Shape;971;p31">
              <a:extLst>
                <a:ext uri="{FF2B5EF4-FFF2-40B4-BE49-F238E27FC236}">
                  <a16:creationId xmlns:a16="http://schemas.microsoft.com/office/drawing/2014/main" id="{2343FDB6-9A94-C48E-9737-EE498F278B15}"/>
                </a:ext>
              </a:extLst>
            </p:cNvPr>
            <p:cNvSpPr/>
            <p:nvPr/>
          </p:nvSpPr>
          <p:spPr>
            <a:xfrm>
              <a:off x="859248" y="3589116"/>
              <a:ext cx="830769" cy="979225"/>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ja-JP" altLang="en-US" sz="1023" b="1">
                  <a:solidFill>
                    <a:schemeClr val="lt1"/>
                  </a:solidFill>
                  <a:latin typeface="Meiryo"/>
                  <a:ea typeface="Meiryo"/>
                  <a:cs typeface="Meiryo"/>
                  <a:sym typeface="Meiryo"/>
                </a:rPr>
                <a:t>サポート対応</a:t>
              </a:r>
              <a:endParaRPr sz="1662"/>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ja-JP" altLang="en-US" sz="2800" dirty="0">
                <a:latin typeface="メイリオ" panose="020B0604030504040204" pitchFamily="50" charset="-128"/>
                <a:ea typeface="メイリオ" panose="020B0604030504040204" pitchFamily="50" charset="-128"/>
              </a:rPr>
              <a:t>4.全体俯瞰</a:t>
            </a:r>
          </a:p>
        </p:txBody>
      </p:sp>
      <p:sp>
        <p:nvSpPr>
          <p:cNvPr id="227" name="テキスト ボックス 226"/>
          <p:cNvSpPr txBox="1"/>
          <p:nvPr/>
        </p:nvSpPr>
        <p:spPr>
          <a:xfrm>
            <a:off x="428596" y="785795"/>
            <a:ext cx="8463884" cy="307777"/>
          </a:xfrm>
          <a:prstGeom prst="rect">
            <a:avLst/>
          </a:prstGeom>
          <a:noFill/>
        </p:spPr>
        <p:txBody>
          <a:bodyPr wrap="square" rtlCol="0">
            <a:spAutoFit/>
          </a:bodyPr>
          <a:lstStyle/>
          <a:p>
            <a:r>
              <a:rPr lang="ja-JP" altLang="en-US" sz="1400" dirty="0">
                <a:latin typeface="メイリオ"/>
                <a:ea typeface="メイリオ"/>
                <a:cs typeface="メイリオ"/>
              </a:rPr>
              <a:t>非機能要件項目を以下に示します。本書では、赤字箇所を対象とした対応内容を記載します。</a:t>
            </a:r>
            <a:endParaRPr lang="en-US" altLang="ja-JP" sz="1400" dirty="0">
              <a:latin typeface="メイリオ"/>
              <a:ea typeface="メイリオ"/>
              <a:cs typeface="メイリオ"/>
            </a:endParaRPr>
          </a:p>
        </p:txBody>
      </p:sp>
      <p:graphicFrame>
        <p:nvGraphicFramePr>
          <p:cNvPr id="11" name="表 10"/>
          <p:cNvGraphicFramePr>
            <a:graphicFrameLocks noGrp="1"/>
          </p:cNvGraphicFramePr>
          <p:nvPr>
            <p:extLst>
              <p:ext uri="{D42A27DB-BD31-4B8C-83A1-F6EECF244321}">
                <p14:modId xmlns:p14="http://schemas.microsoft.com/office/powerpoint/2010/main" val="3698445121"/>
              </p:ext>
            </p:extLst>
          </p:nvPr>
        </p:nvGraphicFramePr>
        <p:xfrm>
          <a:off x="611560" y="1268760"/>
          <a:ext cx="7992888" cy="494284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gridCol w="1944216">
                  <a:extLst>
                    <a:ext uri="{9D8B030D-6E8A-4147-A177-3AD203B41FA5}">
                      <a16:colId xmlns:a16="http://schemas.microsoft.com/office/drawing/2014/main" val="20001"/>
                    </a:ext>
                  </a:extLst>
                </a:gridCol>
                <a:gridCol w="2538282">
                  <a:extLst>
                    <a:ext uri="{9D8B030D-6E8A-4147-A177-3AD203B41FA5}">
                      <a16:colId xmlns:a16="http://schemas.microsoft.com/office/drawing/2014/main" val="20002"/>
                    </a:ext>
                  </a:extLst>
                </a:gridCol>
                <a:gridCol w="1998222">
                  <a:extLst>
                    <a:ext uri="{9D8B030D-6E8A-4147-A177-3AD203B41FA5}">
                      <a16:colId xmlns:a16="http://schemas.microsoft.com/office/drawing/2014/main" val="20003"/>
                    </a:ext>
                  </a:extLst>
                </a:gridCol>
              </a:tblGrid>
              <a:tr h="370840">
                <a:tc>
                  <a:txBody>
                    <a:bodyPr/>
                    <a:lstStyle/>
                    <a:p>
                      <a:r>
                        <a:rPr kumimoji="1" lang="ja-JP" altLang="en-US" sz="1050" dirty="0">
                          <a:latin typeface="メイリオ" panose="020B0604030504040204" pitchFamily="50" charset="-128"/>
                          <a:ea typeface="メイリオ" panose="020B0604030504040204" pitchFamily="50" charset="-128"/>
                        </a:rPr>
                        <a:t>非機能要件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内容</a:t>
                      </a:r>
                    </a:p>
                  </a:txBody>
                  <a:tcPr/>
                </a:tc>
                <a:tc>
                  <a:txBody>
                    <a:bodyPr/>
                    <a:lstStyle/>
                    <a:p>
                      <a:r>
                        <a:rPr kumimoji="1" lang="ja-JP" altLang="en-US" sz="1050" dirty="0">
                          <a:latin typeface="メイリオ" panose="020B0604030504040204" pitchFamily="50" charset="-128"/>
                          <a:ea typeface="メイリオ" panose="020B0604030504040204" pitchFamily="50" charset="-128"/>
                        </a:rPr>
                        <a:t>詳細</a:t>
                      </a:r>
                    </a:p>
                  </a:txBody>
                  <a:tcPr/>
                </a:tc>
                <a:tc>
                  <a:txBody>
                    <a:bodyPr/>
                    <a:lstStyle/>
                    <a:p>
                      <a:r>
                        <a:rPr kumimoji="1" lang="ja-JP" altLang="en-US" sz="105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システム運用要件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システム運用管理</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・アプリケーション運用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・ハードウェア運用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・ミドルウェア運用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監視</a:t>
                      </a:r>
                      <a:endParaRPr kumimoji="1" lang="en-US" altLang="ja-JP"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システムを円滑に管理・運営する為の要件を定める</a:t>
                      </a:r>
                    </a:p>
                  </a:txBody>
                  <a:tcPr/>
                </a:tc>
                <a:tc>
                  <a:txBody>
                    <a:bodyPr/>
                    <a:lstStyle/>
                    <a:p>
                      <a:r>
                        <a:rPr kumimoji="1" lang="en-US" altLang="ja-JP" sz="1050" dirty="0">
                          <a:latin typeface="メイリオ" panose="020B0604030504040204" pitchFamily="50" charset="-128"/>
                          <a:ea typeface="メイリオ" panose="020B0604030504040204" pitchFamily="50" charset="-128"/>
                        </a:rPr>
                        <a:t>7.に記載</a:t>
                      </a:r>
                    </a:p>
                  </a:txBody>
                  <a:tcPr/>
                </a:tc>
                <a:extLst>
                  <a:ext uri="{0D108BD9-81ED-4DB2-BD59-A6C34878D82A}">
                    <a16:rowId xmlns:a16="http://schemas.microsoft.com/office/drawing/2014/main" val="10001"/>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保守要件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保守対象</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保守業務</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システムおよびソフトウェアを正常に運営する為に実施する予防保全</a:t>
                      </a:r>
                      <a:r>
                        <a:rPr kumimoji="1" lang="ja-JP" altLang="en-US" sz="1050" dirty="0">
                          <a:solidFill>
                            <a:srgbClr val="FF0000"/>
                          </a:solidFill>
                          <a:latin typeface="メイリオ" panose="020B0604030504040204" pitchFamily="50" charset="-128"/>
                          <a:ea typeface="メイリオ" panose="020B0604030504040204" pitchFamily="50" charset="-128"/>
                        </a:rPr>
                        <a:t>、障害解析、復旧を行う為の要件</a:t>
                      </a:r>
                      <a:r>
                        <a:rPr kumimoji="1" lang="ja-JP" altLang="en-US" sz="1050" dirty="0">
                          <a:latin typeface="メイリオ" panose="020B0604030504040204" pitchFamily="50" charset="-128"/>
                          <a:ea typeface="メイリオ" panose="020B0604030504040204" pitchFamily="50" charset="-128"/>
                        </a:rPr>
                        <a:t>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8.に記載</a:t>
                      </a:r>
                    </a:p>
                  </a:txBody>
                  <a:tcPr/>
                </a:tc>
                <a:extLst>
                  <a:ext uri="{0D108BD9-81ED-4DB2-BD59-A6C34878D82A}">
                    <a16:rowId xmlns:a16="http://schemas.microsoft.com/office/drawing/2014/main" val="10002"/>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信頼性</a:t>
                      </a:r>
                    </a:p>
                  </a:txBody>
                  <a:tcPr/>
                </a:tc>
                <a:tc>
                  <a:txBody>
                    <a:bodyPr/>
                    <a:lstStyle/>
                    <a:p>
                      <a:r>
                        <a:rPr kumimoji="1" lang="ja-JP" altLang="en-US" sz="1050" dirty="0">
                          <a:latin typeface="メイリオ" panose="020B0604030504040204" pitchFamily="50" charset="-128"/>
                          <a:ea typeface="メイリオ" panose="020B0604030504040204" pitchFamily="50" charset="-128"/>
                        </a:rPr>
                        <a:t>信頼性要件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システムの品質および障害の起こりにくさ、障害発生時の影響範囲および回復度合いを定める</a:t>
                      </a:r>
                    </a:p>
                  </a:txBody>
                  <a:tcPr/>
                </a:tc>
                <a:tc>
                  <a:txBody>
                    <a:bodyPr/>
                    <a:lstStyle/>
                    <a:p>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安全性</a:t>
                      </a:r>
                    </a:p>
                  </a:txBody>
                  <a:tcPr/>
                </a:tc>
                <a:tc>
                  <a:txBody>
                    <a:bodyPr/>
                    <a:lstStyle/>
                    <a:p>
                      <a:r>
                        <a:rPr kumimoji="1" lang="ja-JP" altLang="en-US" sz="1050" dirty="0">
                          <a:latin typeface="メイリオ" panose="020B0604030504040204" pitchFamily="50" charset="-128"/>
                          <a:ea typeface="メイリオ" panose="020B0604030504040204" pitchFamily="50" charset="-128"/>
                        </a:rPr>
                        <a:t>安全性要件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システムの自然災害、</a:t>
                      </a:r>
                      <a:r>
                        <a:rPr kumimoji="1" lang="ja-JP" altLang="en-US" sz="1050" dirty="0">
                          <a:solidFill>
                            <a:srgbClr val="FF0000"/>
                          </a:solidFill>
                          <a:latin typeface="メイリオ" panose="020B0604030504040204" pitchFamily="50" charset="-128"/>
                          <a:ea typeface="メイリオ" panose="020B0604030504040204" pitchFamily="50" charset="-128"/>
                        </a:rPr>
                        <a:t>不正アクセスからの保護</a:t>
                      </a:r>
                      <a:r>
                        <a:rPr kumimoji="1" lang="ja-JP" altLang="en-US" sz="1050" dirty="0">
                          <a:latin typeface="メイリオ" panose="020B0604030504040204" pitchFamily="50" charset="-128"/>
                          <a:ea typeface="メイリオ" panose="020B0604030504040204" pitchFamily="50" charset="-128"/>
                        </a:rPr>
                        <a:t>の度合に対する要件を定める</a:t>
                      </a:r>
                    </a:p>
                  </a:txBody>
                  <a:tcPr/>
                </a:tc>
                <a:tc>
                  <a:txBody>
                    <a:bodyPr/>
                    <a:lstStyle/>
                    <a:p>
                      <a:r>
                        <a:rPr kumimoji="1" lang="en-US" altLang="ja-JP" sz="1050" dirty="0">
                          <a:latin typeface="メイリオ" panose="020B0604030504040204" pitchFamily="50" charset="-128"/>
                          <a:ea typeface="メイリオ" panose="020B0604030504040204" pitchFamily="50" charset="-128"/>
                        </a:rPr>
                        <a:t>9.10.に記載</a:t>
                      </a:r>
                    </a:p>
                  </a:txBody>
                  <a:tcPr/>
                </a:tc>
                <a:extLst>
                  <a:ext uri="{0D108BD9-81ED-4DB2-BD59-A6C34878D82A}">
                    <a16:rowId xmlns:a16="http://schemas.microsoft.com/office/drawing/2014/main" val="10004"/>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セキュリティ要件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セキュリティ要件</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システムの完全性・可用性・</a:t>
                      </a:r>
                      <a:r>
                        <a:rPr kumimoji="1" lang="ja-JP" altLang="en-US" sz="1050" dirty="0">
                          <a:solidFill>
                            <a:srgbClr val="FF0000"/>
                          </a:solidFill>
                          <a:latin typeface="メイリオ" panose="020B0604030504040204" pitchFamily="50" charset="-128"/>
                          <a:ea typeface="メイリオ" panose="020B0604030504040204" pitchFamily="50" charset="-128"/>
                        </a:rPr>
                        <a:t>機密性</a:t>
                      </a:r>
                      <a:r>
                        <a:rPr kumimoji="1" lang="ja-JP" altLang="en-US" sz="1050" dirty="0">
                          <a:latin typeface="メイリオ" panose="020B0604030504040204" pitchFamily="50" charset="-128"/>
                          <a:ea typeface="メイリオ" panose="020B0604030504040204" pitchFamily="50" charset="-128"/>
                        </a:rPr>
                        <a:t>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9.10.に記載</a:t>
                      </a:r>
                    </a:p>
                  </a:txBody>
                  <a:tcPr/>
                </a:tc>
                <a:extLst>
                  <a:ext uri="{0D108BD9-81ED-4DB2-BD59-A6C34878D82A}">
                    <a16:rowId xmlns:a16="http://schemas.microsoft.com/office/drawing/2014/main" val="10005"/>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拡張性</a:t>
                      </a: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ハードウェア拡張性</a:t>
                      </a:r>
                      <a:endParaRPr kumimoji="1" lang="en-US" altLang="ja-JP" sz="1050" dirty="0">
                        <a:solidFill>
                          <a:srgbClr val="FF0000"/>
                        </a:solidFill>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アプリケーション拡張性</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ミドルウェア拡張性</a:t>
                      </a: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システムの許容量</a:t>
                      </a:r>
                      <a:r>
                        <a:rPr kumimoji="1" lang="ja-JP" altLang="en-US" sz="1050" dirty="0">
                          <a:latin typeface="メイリオ" panose="020B0604030504040204" pitchFamily="50" charset="-128"/>
                          <a:ea typeface="メイリオ" panose="020B0604030504040204" pitchFamily="50" charset="-128"/>
                        </a:rPr>
                        <a:t>およびその方法に対する要件を定める。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11.12.13.に記載</a:t>
                      </a:r>
                    </a:p>
                  </a:txBody>
                  <a:tcPr/>
                </a:tc>
                <a:extLst>
                  <a:ext uri="{0D108BD9-81ED-4DB2-BD59-A6C34878D82A}">
                    <a16:rowId xmlns:a16="http://schemas.microsoft.com/office/drawing/2014/main" val="10006"/>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品質要件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品質特性要件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システムの機能性・信頼性・効率性・保守性・移植性に対する要件を定める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endParaRPr kumimoji="1" lang="en-US" altLang="ja-JP" sz="1050" kern="1200" dirty="0">
                        <a:solidFill>
                          <a:schemeClr val="dk1"/>
                        </a:solidFill>
                        <a:latin typeface="メイリオ" panose="020B0604030504040204" pitchFamily="50" charset="-128"/>
                        <a:ea typeface="メイリオ" panose="020B0604030504040204" pitchFamily="50" charset="-128"/>
                        <a:cs typeface="+mn-cs"/>
                      </a:endParaRPr>
                    </a:p>
                  </a:txBody>
                  <a:tcPr/>
                </a:tc>
                <a:extLst>
                  <a:ext uri="{0D108BD9-81ED-4DB2-BD59-A6C34878D82A}">
                    <a16:rowId xmlns:a16="http://schemas.microsoft.com/office/drawing/2014/main" val="10007"/>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性能要件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容量</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オンライン性能要件</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バッチ性能要件</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測定方法</a:t>
                      </a:r>
                    </a:p>
                  </a:txBody>
                  <a:tcPr/>
                </a:tc>
                <a:tc>
                  <a:txBody>
                    <a:bodyPr/>
                    <a:lstStyle/>
                    <a:p>
                      <a:r>
                        <a:rPr kumimoji="1" lang="ja-JP" altLang="en-US" sz="1050" dirty="0">
                          <a:latin typeface="メイリオ" panose="020B0604030504040204" pitchFamily="50" charset="-128"/>
                          <a:ea typeface="メイリオ" panose="020B0604030504040204" pitchFamily="50" charset="-128"/>
                        </a:rPr>
                        <a:t>負荷の想定量およびその応答性能に対する要件およびその測定方法を定める。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endParaRPr kumimoji="1" lang="en-US" altLang="ja-JP" sz="1050" kern="1200" dirty="0">
                        <a:solidFill>
                          <a:schemeClr val="dk1"/>
                        </a:solidFill>
                        <a:latin typeface="メイリオ" panose="020B0604030504040204" pitchFamily="50" charset="-128"/>
                        <a:ea typeface="メイリオ" panose="020B0604030504040204" pitchFamily="50" charset="-128"/>
                        <a:cs typeface="+mn-cs"/>
                      </a:endParaRP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ja-JP" altLang="en-US" sz="2800" dirty="0">
                <a:latin typeface="メイリオ" panose="020B0604030504040204" pitchFamily="50" charset="-128"/>
                <a:ea typeface="メイリオ" panose="020B0604030504040204" pitchFamily="50" charset="-128"/>
              </a:rPr>
              <a:t>5.対応内容一覧（1/2）</a:t>
            </a:r>
          </a:p>
        </p:txBody>
      </p:sp>
      <p:graphicFrame>
        <p:nvGraphicFramePr>
          <p:cNvPr id="11" name="表 10"/>
          <p:cNvGraphicFramePr>
            <a:graphicFrameLocks noGrp="1"/>
          </p:cNvGraphicFramePr>
          <p:nvPr>
            <p:extLst>
              <p:ext uri="{D42A27DB-BD31-4B8C-83A1-F6EECF244321}">
                <p14:modId xmlns:p14="http://schemas.microsoft.com/office/powerpoint/2010/main" val="2594164465"/>
              </p:ext>
            </p:extLst>
          </p:nvPr>
        </p:nvGraphicFramePr>
        <p:xfrm>
          <a:off x="312506" y="1256648"/>
          <a:ext cx="8291942" cy="3974192"/>
        </p:xfrm>
        <a:graphic>
          <a:graphicData uri="http://schemas.openxmlformats.org/drawingml/2006/table">
            <a:tbl>
              <a:tblPr firstRow="1" bandRow="1">
                <a:tableStyleId>{5C22544A-7EE6-4342-B048-85BDC9FD1C3A}</a:tableStyleId>
              </a:tblPr>
              <a:tblGrid>
                <a:gridCol w="1120533">
                  <a:extLst>
                    <a:ext uri="{9D8B030D-6E8A-4147-A177-3AD203B41FA5}">
                      <a16:colId xmlns:a16="http://schemas.microsoft.com/office/drawing/2014/main" val="20000"/>
                    </a:ext>
                  </a:extLst>
                </a:gridCol>
                <a:gridCol w="2465171">
                  <a:extLst>
                    <a:ext uri="{9D8B030D-6E8A-4147-A177-3AD203B41FA5}">
                      <a16:colId xmlns:a16="http://schemas.microsoft.com/office/drawing/2014/main" val="20001"/>
                    </a:ext>
                  </a:extLst>
                </a:gridCol>
                <a:gridCol w="2633252">
                  <a:extLst>
                    <a:ext uri="{9D8B030D-6E8A-4147-A177-3AD203B41FA5}">
                      <a16:colId xmlns:a16="http://schemas.microsoft.com/office/drawing/2014/main" val="20002"/>
                    </a:ext>
                  </a:extLst>
                </a:gridCol>
                <a:gridCol w="2072986">
                  <a:extLst>
                    <a:ext uri="{9D8B030D-6E8A-4147-A177-3AD203B41FA5}">
                      <a16:colId xmlns:a16="http://schemas.microsoft.com/office/drawing/2014/main" val="20003"/>
                    </a:ext>
                  </a:extLst>
                </a:gridCol>
              </a:tblGrid>
              <a:tr h="370840">
                <a:tc>
                  <a:txBody>
                    <a:bodyPr/>
                    <a:lstStyle/>
                    <a:p>
                      <a:r>
                        <a:rPr kumimoji="1" lang="ja-JP" altLang="en-US" sz="1050" dirty="0">
                          <a:latin typeface="メイリオ" panose="020B0604030504040204" pitchFamily="50" charset="-128"/>
                          <a:ea typeface="メイリオ" panose="020B0604030504040204" pitchFamily="50" charset="-128"/>
                        </a:rPr>
                        <a:t>非機能要件項目</a:t>
                      </a:r>
                    </a:p>
                  </a:txBody>
                  <a:tcPr/>
                </a:tc>
                <a:tc>
                  <a:txBody>
                    <a:bodyPr/>
                    <a:lstStyle/>
                    <a:p>
                      <a:r>
                        <a:rPr kumimoji="1" lang="ja-JP" altLang="en-US" sz="1050" dirty="0">
                          <a:latin typeface="メイリオ" panose="020B0604030504040204" pitchFamily="50" charset="-128"/>
                          <a:ea typeface="メイリオ" panose="020B0604030504040204" pitchFamily="50" charset="-128"/>
                        </a:rPr>
                        <a:t>内容</a:t>
                      </a:r>
                    </a:p>
                  </a:txBody>
                  <a:tcPr/>
                </a:tc>
                <a:tc>
                  <a:txBody>
                    <a:bodyPr/>
                    <a:lstStyle/>
                    <a:p>
                      <a:r>
                        <a:rPr kumimoji="1" lang="ja-JP" altLang="en-US" sz="1050" dirty="0">
                          <a:latin typeface="メイリオ" panose="020B0604030504040204" pitchFamily="50" charset="-128"/>
                          <a:ea typeface="メイリオ" panose="020B0604030504040204" pitchFamily="50" charset="-128"/>
                        </a:rPr>
                        <a:t>対応</a:t>
                      </a:r>
                    </a:p>
                  </a:txBody>
                  <a:tcPr/>
                </a:tc>
                <a:tc>
                  <a:txBody>
                    <a:bodyPr/>
                    <a:lstStyle/>
                    <a:p>
                      <a:r>
                        <a:rPr kumimoji="1" lang="ja-JP" altLang="en-US" sz="105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277232">
                <a:tc rowSpan="2">
                  <a:txBody>
                    <a:bodyPr/>
                    <a:lstStyle/>
                    <a:p>
                      <a:r>
                        <a:rPr kumimoji="1" lang="ja-JP" altLang="en-US" sz="1050" dirty="0">
                          <a:latin typeface="メイリオ" panose="020B0604030504040204" pitchFamily="50" charset="-128"/>
                          <a:ea typeface="メイリオ" panose="020B0604030504040204" pitchFamily="50" charset="-128"/>
                        </a:rPr>
                        <a:t>監視</a:t>
                      </a: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ja-JP" sz="1050" kern="1200" dirty="0">
                          <a:solidFill>
                            <a:schemeClr val="dk1"/>
                          </a:solidFill>
                          <a:latin typeface="メイリオ" panose="020B0604030504040204" pitchFamily="50" charset="-128"/>
                          <a:ea typeface="メイリオ" panose="020B0604030504040204" pitchFamily="50" charset="-128"/>
                          <a:cs typeface="+mn-cs"/>
                        </a:rPr>
                        <a:t>システム管理者においては、システムが正常に動作しているか各種ログを参照し、下記監視をする。</a:t>
                      </a:r>
                    </a:p>
                    <a:p>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a:t>
                      </a:r>
                      <a:endParaRPr kumimoji="1" lang="en-US" altLang="ja-JP" sz="1050" dirty="0">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外部に設置した監視サーバによって、サーバのリソース（</a:t>
                      </a:r>
                      <a:r>
                        <a:rPr kumimoji="1" lang="en-US" altLang="ja-JP" sz="1050" dirty="0">
                          <a:latin typeface="メイリオ" panose="020B0604030504040204" pitchFamily="50" charset="-128"/>
                          <a:ea typeface="メイリオ" panose="020B0604030504040204" pitchFamily="50" charset="-128"/>
                        </a:rPr>
                        <a:t>CPU</a:t>
                      </a:r>
                      <a:r>
                        <a:rPr kumimoji="1" lang="ja-JP" altLang="en-US" sz="1050" dirty="0" err="1">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メモリ、ディスク容量）を監視し、定められた負荷上限を超過した場合、負荷低減を図る。</a:t>
                      </a:r>
                      <a:endParaRPr kumimoji="1" lang="en-US" altLang="ja-JP" sz="1050" dirty="0">
                        <a:latin typeface="メイリオ" panose="020B0604030504040204" pitchFamily="50" charset="-128"/>
                        <a:ea typeface="メイリオ" panose="020B0604030504040204" pitchFamily="50" charset="-128"/>
                      </a:endParaRPr>
                    </a:p>
                  </a:txBody>
                  <a:tcPr>
                    <a:solidFill>
                      <a:srgbClr val="D0D8E8"/>
                    </a:solidFill>
                  </a:tcPr>
                </a:tc>
                <a:tc>
                  <a:txBody>
                    <a:bodyPr/>
                    <a:lstStyle/>
                    <a:p>
                      <a:endParaRPr kumimoji="1" lang="ja-JP" altLang="en-US" sz="1050" dirty="0">
                        <a:latin typeface="メイリオ" panose="020B0604030504040204" pitchFamily="50" charset="-128"/>
                        <a:ea typeface="メイリオ" panose="020B0604030504040204" pitchFamily="50" charset="-128"/>
                      </a:endParaRPr>
                    </a:p>
                  </a:txBody>
                  <a:tcPr>
                    <a:solidFill>
                      <a:srgbClr val="D0D8E8"/>
                    </a:solidFill>
                  </a:tcPr>
                </a:tc>
                <a:extLst>
                  <a:ext uri="{0D108BD9-81ED-4DB2-BD59-A6C34878D82A}">
                    <a16:rowId xmlns:a16="http://schemas.microsoft.com/office/drawing/2014/main" val="10001"/>
                  </a:ext>
                </a:extLst>
              </a:tr>
              <a:tr h="357232">
                <a:tc vMerge="1">
                  <a:txBody>
                    <a:bodyPr/>
                    <a:lstStyle/>
                    <a:p>
                      <a:endParaRPr kumimoji="1" lang="ja-JP" altLang="en-US" sz="900" dirty="0">
                        <a:latin typeface="+mn-ea"/>
                        <a:ea typeface="+mn-ea"/>
                      </a:endParaRPr>
                    </a:p>
                  </a:txBody>
                  <a:tcPr/>
                </a:tc>
                <a:tc vMerge="1">
                  <a:txBody>
                    <a:bodyPr/>
                    <a:lstStyle/>
                    <a:p>
                      <a:endParaRPr kumimoji="1" lang="ja-JP" altLang="en-US" sz="900" dirty="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（オプション）</a:t>
                      </a:r>
                      <a:endParaRPr kumimoji="1" lang="en-US" altLang="ja-JP" sz="1050" dirty="0">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システム内に設置した監視サーバによって、サーバのリソース（</a:t>
                      </a:r>
                      <a:r>
                        <a:rPr kumimoji="1" lang="en-US" altLang="ja-JP" sz="1050" dirty="0">
                          <a:latin typeface="メイリオ" panose="020B0604030504040204" pitchFamily="50" charset="-128"/>
                          <a:ea typeface="メイリオ" panose="020B0604030504040204" pitchFamily="50" charset="-128"/>
                        </a:rPr>
                        <a:t>CPU</a:t>
                      </a:r>
                      <a:r>
                        <a:rPr kumimoji="1" lang="ja-JP" altLang="en-US" sz="1050" dirty="0" err="1">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メモリ、ディスク容量）を監視し、定められた負荷上限を超過した場合、負荷低減を図る。</a:t>
                      </a:r>
                      <a:endParaRPr kumimoji="1" lang="en-US" altLang="ja-JP" sz="1050" dirty="0">
                        <a:latin typeface="メイリオ" panose="020B0604030504040204" pitchFamily="50" charset="-128"/>
                        <a:ea typeface="メイリオ" panose="020B0604030504040204" pitchFamily="50" charset="-128"/>
                      </a:endParaRPr>
                    </a:p>
                  </a:txBody>
                  <a:tcPr>
                    <a:solidFill>
                      <a:schemeClr val="bg1">
                        <a:lumMod val="65000"/>
                      </a:schemeClr>
                    </a:solidFill>
                  </a:tcPr>
                </a:tc>
                <a:tc>
                  <a:txBody>
                    <a:bodyPr/>
                    <a:lstStyle/>
                    <a:p>
                      <a:r>
                        <a:rPr kumimoji="1" lang="ja-JP" altLang="en-US" sz="1050" dirty="0">
                          <a:latin typeface="メイリオ" panose="020B0604030504040204" pitchFamily="50" charset="-128"/>
                          <a:ea typeface="メイリオ" panose="020B0604030504040204" pitchFamily="50" charset="-128"/>
                        </a:rPr>
                        <a:t>別途サーバ費用</a:t>
                      </a:r>
                    </a:p>
                  </a:txBody>
                  <a:tcPr>
                    <a:solidFill>
                      <a:schemeClr val="bg1">
                        <a:lumMod val="65000"/>
                      </a:schemeClr>
                    </a:solidFill>
                  </a:tcPr>
                </a:tc>
                <a:extLst>
                  <a:ext uri="{0D108BD9-81ED-4DB2-BD59-A6C34878D82A}">
                    <a16:rowId xmlns:a16="http://schemas.microsoft.com/office/drawing/2014/main" val="10002"/>
                  </a:ext>
                </a:extLst>
              </a:tr>
              <a:tr h="357232">
                <a:tc rowSpan="3">
                  <a:txBody>
                    <a:bodyPr/>
                    <a:lstStyle/>
                    <a:p>
                      <a:r>
                        <a:rPr kumimoji="1" lang="ja-JP" altLang="en-US" sz="1050" dirty="0">
                          <a:latin typeface="メイリオ" panose="020B0604030504040204" pitchFamily="50" charset="-128"/>
                          <a:ea typeface="メイリオ" panose="020B0604030504040204" pitchFamily="50" charset="-128"/>
                        </a:rPr>
                        <a:t>障害解析・復旧</a:t>
                      </a:r>
                    </a:p>
                  </a:txBody>
                  <a:tcPr/>
                </a:tc>
                <a:tc gridSpan="3">
                  <a:txBody>
                    <a:bodyPr/>
                    <a:lstStyle/>
                    <a:p>
                      <a:r>
                        <a:rPr kumimoji="1" lang="ja-JP" altLang="en-US" sz="1050" dirty="0">
                          <a:latin typeface="メイリオ" panose="020B0604030504040204" pitchFamily="50" charset="-128"/>
                          <a:ea typeface="メイリオ" panose="020B0604030504040204" pitchFamily="50" charset="-128"/>
                        </a:rPr>
                        <a:t>障害の解析および復旧は、バックアップを用いて、復元する方法を用いる</a:t>
                      </a:r>
                      <a:endParaRPr kumimoji="1" lang="en-US" altLang="ja-JP" sz="1050" dirty="0">
                        <a:latin typeface="メイリオ" panose="020B0604030504040204" pitchFamily="50" charset="-128"/>
                        <a:ea typeface="メイリオ" panose="020B0604030504040204" pitchFamily="50" charset="-128"/>
                      </a:endParaRPr>
                    </a:p>
                  </a:txBody>
                  <a:tcPr/>
                </a:tc>
                <a:tc hMerge="1">
                  <a:txBody>
                    <a:bodyPr/>
                    <a:lstStyle/>
                    <a:p>
                      <a:endParaRPr kumimoji="1" lang="en-US" altLang="ja-JP" sz="900" dirty="0">
                        <a:latin typeface="+mn-ea"/>
                        <a:ea typeface="+mn-ea"/>
                      </a:endParaRPr>
                    </a:p>
                  </a:txBody>
                  <a:tcPr/>
                </a:tc>
                <a:tc hMerge="1">
                  <a:txBody>
                    <a:bodyPr/>
                    <a:lstStyle/>
                    <a:p>
                      <a:endParaRPr kumimoji="1" lang="ja-JP" altLang="en-US" sz="900" dirty="0">
                        <a:latin typeface="+mn-ea"/>
                        <a:ea typeface="+mn-ea"/>
                      </a:endParaRPr>
                    </a:p>
                  </a:txBody>
                  <a:tcPr/>
                </a:tc>
                <a:extLst>
                  <a:ext uri="{0D108BD9-81ED-4DB2-BD59-A6C34878D82A}">
                    <a16:rowId xmlns:a16="http://schemas.microsoft.com/office/drawing/2014/main" val="1193301915"/>
                  </a:ext>
                </a:extLst>
              </a:tr>
              <a:tr h="357232">
                <a:tc vMerge="1">
                  <a:txBody>
                    <a:bodyPr/>
                    <a:lstStyle/>
                    <a:p>
                      <a:endParaRPr kumimoji="1" lang="ja-JP" altLang="en-US" sz="900" dirty="0">
                        <a:latin typeface="+mn-ea"/>
                        <a:ea typeface="+mn-ea"/>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OS</a:t>
                      </a:r>
                      <a:r>
                        <a:rPr kumimoji="1" lang="ja-JP" altLang="en-US" sz="1050" dirty="0">
                          <a:latin typeface="メイリオ" panose="020B0604030504040204" pitchFamily="50" charset="-128"/>
                          <a:ea typeface="メイリオ" panose="020B0604030504040204" pitchFamily="50" charset="-128"/>
                        </a:rPr>
                        <a:t>ごとのバックアップを取得し、復旧時間を最小限にする。</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 インスタンスバックアップ</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（標準対応）</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・クラウドのサービスを利用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・リリース時に取得</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703513572"/>
                  </a:ext>
                </a:extLst>
              </a:tr>
              <a:tr h="357232">
                <a:tc vMerge="1">
                  <a:txBody>
                    <a:bodyPr/>
                    <a:lstStyle/>
                    <a:p>
                      <a:endParaRPr kumimoji="1" lang="ja-JP" altLang="en-US" sz="900" dirty="0">
                        <a:latin typeface="+mn-ea"/>
                        <a:ea typeface="+mn-ea"/>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障害調査、局所的なリカバリーを行う為、ファイルごとのバックアップを取得する</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 ファイルバックアップ</a:t>
                      </a:r>
                    </a:p>
                  </a:txBody>
                  <a:tcPr/>
                </a:tc>
                <a:tc>
                  <a:txBody>
                    <a:bodyPr/>
                    <a:lstStyle/>
                    <a:p>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（標準対応）</a:t>
                      </a:r>
                      <a:endParaRPr kumimoji="1" lang="en-US" altLang="ja-JP" sz="1050" dirty="0">
                        <a:latin typeface="メイリオ" panose="020B0604030504040204" pitchFamily="50" charset="-128"/>
                        <a:ea typeface="メイリオ" panose="020B0604030504040204" pitchFamily="50" charset="-128"/>
                      </a:endParaRPr>
                    </a:p>
                    <a:p>
                      <a:pPr marL="92075" indent="-92075"/>
                      <a:r>
                        <a:rPr kumimoji="1" lang="ja-JP" altLang="en-US" sz="1050" dirty="0">
                          <a:latin typeface="メイリオ" panose="020B0604030504040204" pitchFamily="50" charset="-128"/>
                          <a:ea typeface="メイリオ" panose="020B0604030504040204" pitchFamily="50" charset="-128"/>
                        </a:rPr>
                        <a:t>・対象は、</a:t>
                      </a:r>
                      <a:r>
                        <a:rPr kumimoji="1" lang="en-US" altLang="ja-JP" sz="1050" dirty="0">
                          <a:latin typeface="メイリオ" panose="020B0604030504040204" pitchFamily="50" charset="-128"/>
                          <a:ea typeface="メイリオ" panose="020B0604030504040204" pitchFamily="50" charset="-128"/>
                        </a:rPr>
                        <a:t>CMS</a:t>
                      </a:r>
                      <a:r>
                        <a:rPr kumimoji="1" lang="ja-JP" altLang="en-US" sz="1050" dirty="0">
                          <a:latin typeface="メイリオ" panose="020B0604030504040204" pitchFamily="50" charset="-128"/>
                          <a:ea typeface="メイリオ" panose="020B0604030504040204" pitchFamily="50" charset="-128"/>
                        </a:rPr>
                        <a:t>データ、データベース、ログとする</a:t>
                      </a:r>
                      <a:endParaRPr kumimoji="1" lang="en-US" altLang="ja-JP" sz="1050" dirty="0">
                        <a:latin typeface="メイリオ" panose="020B0604030504040204" pitchFamily="50" charset="-128"/>
                        <a:ea typeface="メイリオ" panose="020B0604030504040204" pitchFamily="50" charset="-128"/>
                      </a:endParaRPr>
                    </a:p>
                    <a:p>
                      <a:pPr marL="92075" indent="-92075"/>
                      <a:r>
                        <a:rPr kumimoji="1" lang="ja-JP" altLang="en-US" sz="1050" dirty="0">
                          <a:latin typeface="メイリオ" panose="020B0604030504040204" pitchFamily="50" charset="-128"/>
                          <a:ea typeface="メイリオ" panose="020B0604030504040204" pitchFamily="50" charset="-128"/>
                        </a:rPr>
                        <a:t>・取得したバックアップは、</a:t>
                      </a:r>
                      <a:r>
                        <a:rPr kumimoji="1" lang="en-US" altLang="ja-JP" sz="1050" dirty="0">
                          <a:latin typeface="メイリオ" panose="020B0604030504040204" pitchFamily="50" charset="-128"/>
                          <a:ea typeface="メイリオ" panose="020B0604030504040204" pitchFamily="50" charset="-128"/>
                        </a:rPr>
                        <a:t>EC</a:t>
                      </a:r>
                      <a:r>
                        <a:rPr kumimoji="1" lang="ja-JP" altLang="en-US" sz="1050" dirty="0">
                          <a:latin typeface="メイリオ" panose="020B0604030504040204" pitchFamily="50" charset="-128"/>
                          <a:ea typeface="メイリオ" panose="020B0604030504040204" pitchFamily="50" charset="-128"/>
                        </a:rPr>
                        <a:t>システム内で管理する。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保管場所はクラウドサービス内</a:t>
                      </a:r>
                    </a:p>
                  </a:txBody>
                  <a:tcPr/>
                </a:tc>
                <a:extLst>
                  <a:ext uri="{0D108BD9-81ED-4DB2-BD59-A6C34878D82A}">
                    <a16:rowId xmlns:a16="http://schemas.microsoft.com/office/drawing/2014/main" val="509695056"/>
                  </a:ext>
                </a:extLst>
              </a:tr>
            </a:tbl>
          </a:graphicData>
        </a:graphic>
      </p:graphicFrame>
      <p:sp>
        <p:nvSpPr>
          <p:cNvPr id="4" name="テキスト ボックス 3"/>
          <p:cNvSpPr txBox="1"/>
          <p:nvPr/>
        </p:nvSpPr>
        <p:spPr>
          <a:xfrm>
            <a:off x="140564" y="779740"/>
            <a:ext cx="8463884" cy="307777"/>
          </a:xfrm>
          <a:prstGeom prst="rect">
            <a:avLst/>
          </a:prstGeom>
          <a:noFill/>
        </p:spPr>
        <p:txBody>
          <a:bodyPr wrap="square" rtlCol="0">
            <a:spAutoFit/>
          </a:bodyPr>
          <a:lstStyle/>
          <a:p>
            <a:r>
              <a:rPr lang="ja-JP" altLang="en-US" sz="1400" dirty="0">
                <a:latin typeface="メイリオ"/>
                <a:ea typeface="メイリオ"/>
                <a:cs typeface="メイリオ"/>
              </a:rPr>
              <a:t>全体俯瞰における対象項目に関して、以下に詳細内容を記載します。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ja-JP" altLang="en-US" sz="2800" dirty="0">
                <a:latin typeface="メイリオ" panose="020B0604030504040204" pitchFamily="50" charset="-128"/>
                <a:ea typeface="メイリオ" panose="020B0604030504040204" pitchFamily="50" charset="-128"/>
              </a:rPr>
              <a:t>6.対応内容一覧（2/2）</a:t>
            </a:r>
          </a:p>
        </p:txBody>
      </p:sp>
      <p:graphicFrame>
        <p:nvGraphicFramePr>
          <p:cNvPr id="11" name="表 10"/>
          <p:cNvGraphicFramePr>
            <a:graphicFrameLocks noGrp="1"/>
          </p:cNvGraphicFramePr>
          <p:nvPr>
            <p:extLst>
              <p:ext uri="{D42A27DB-BD31-4B8C-83A1-F6EECF244321}">
                <p14:modId xmlns:p14="http://schemas.microsoft.com/office/powerpoint/2010/main" val="1974978693"/>
              </p:ext>
            </p:extLst>
          </p:nvPr>
        </p:nvGraphicFramePr>
        <p:xfrm>
          <a:off x="278501" y="799719"/>
          <a:ext cx="8496106" cy="5704840"/>
        </p:xfrm>
        <a:graphic>
          <a:graphicData uri="http://schemas.openxmlformats.org/drawingml/2006/table">
            <a:tbl>
              <a:tblPr firstRow="1" bandRow="1">
                <a:tableStyleId>{5C22544A-7EE6-4342-B048-85BDC9FD1C3A}</a:tableStyleId>
              </a:tblPr>
              <a:tblGrid>
                <a:gridCol w="1023460">
                  <a:extLst>
                    <a:ext uri="{9D8B030D-6E8A-4147-A177-3AD203B41FA5}">
                      <a16:colId xmlns:a16="http://schemas.microsoft.com/office/drawing/2014/main" val="20000"/>
                    </a:ext>
                  </a:extLst>
                </a:gridCol>
                <a:gridCol w="1659242">
                  <a:extLst>
                    <a:ext uri="{9D8B030D-6E8A-4147-A177-3AD203B41FA5}">
                      <a16:colId xmlns:a16="http://schemas.microsoft.com/office/drawing/2014/main" val="20001"/>
                    </a:ext>
                  </a:extLst>
                </a:gridCol>
                <a:gridCol w="3342707">
                  <a:extLst>
                    <a:ext uri="{9D8B030D-6E8A-4147-A177-3AD203B41FA5}">
                      <a16:colId xmlns:a16="http://schemas.microsoft.com/office/drawing/2014/main" val="2917382390"/>
                    </a:ext>
                  </a:extLst>
                </a:gridCol>
                <a:gridCol w="2470697">
                  <a:extLst>
                    <a:ext uri="{9D8B030D-6E8A-4147-A177-3AD203B41FA5}">
                      <a16:colId xmlns:a16="http://schemas.microsoft.com/office/drawing/2014/main" val="214903997"/>
                    </a:ext>
                  </a:extLst>
                </a:gridCol>
              </a:tblGrid>
              <a:tr h="370840">
                <a:tc>
                  <a:txBody>
                    <a:bodyPr/>
                    <a:lstStyle/>
                    <a:p>
                      <a:r>
                        <a:rPr kumimoji="1" lang="ja-JP" altLang="en-US" sz="1000" dirty="0">
                          <a:latin typeface="メイリオ" panose="020B0604030504040204" pitchFamily="50" charset="-128"/>
                          <a:ea typeface="メイリオ" panose="020B0604030504040204" pitchFamily="50" charset="-128"/>
                        </a:rPr>
                        <a:t>非機能要件</a:t>
                      </a:r>
                    </a:p>
                  </a:txBody>
                  <a:tcPr/>
                </a:tc>
                <a:tc>
                  <a:txBody>
                    <a:bodyPr/>
                    <a:lstStyle/>
                    <a:p>
                      <a:r>
                        <a:rPr kumimoji="1" lang="ja-JP" altLang="en-US" sz="1000" dirty="0">
                          <a:latin typeface="メイリオ" panose="020B0604030504040204" pitchFamily="50" charset="-128"/>
                          <a:ea typeface="メイリオ" panose="020B0604030504040204" pitchFamily="50" charset="-128"/>
                        </a:rPr>
                        <a:t>要求</a:t>
                      </a:r>
                    </a:p>
                  </a:txBody>
                  <a:tcPr/>
                </a:tc>
                <a:tc>
                  <a:txBody>
                    <a:bodyPr/>
                    <a:lstStyle/>
                    <a:p>
                      <a:r>
                        <a:rPr kumimoji="1" lang="ja-JP" altLang="en-US" sz="1000" dirty="0">
                          <a:latin typeface="メイリオ" panose="020B0604030504040204" pitchFamily="50" charset="-128"/>
                          <a:ea typeface="メイリオ" panose="020B0604030504040204" pitchFamily="50" charset="-128"/>
                        </a:rPr>
                        <a:t>対応</a:t>
                      </a:r>
                    </a:p>
                  </a:txBody>
                  <a:tcPr/>
                </a:tc>
                <a:tc>
                  <a:txBody>
                    <a:bodyPr/>
                    <a:lstStyle/>
                    <a:p>
                      <a:r>
                        <a:rPr kumimoji="1" lang="ja-JP" altLang="en-US" sz="100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0">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メイリオ" panose="020B0604030504040204" pitchFamily="50" charset="-128"/>
                          <a:ea typeface="メイリオ" panose="020B0604030504040204" pitchFamily="50" charset="-128"/>
                        </a:rPr>
                        <a:t>不正アクセスからの保護</a:t>
                      </a:r>
                    </a:p>
                  </a:txBody>
                  <a:tcPr/>
                </a:tc>
                <a:tc gridSpan="3">
                  <a:txBody>
                    <a:bodyPr/>
                    <a:lstStyle/>
                    <a:p>
                      <a:r>
                        <a:rPr kumimoji="1" lang="ja-JP" altLang="en-US" sz="1000" dirty="0">
                          <a:latin typeface="メイリオ" panose="020B0604030504040204" pitchFamily="50" charset="-128"/>
                          <a:ea typeface="メイリオ" panose="020B0604030504040204" pitchFamily="50" charset="-128"/>
                        </a:rPr>
                        <a:t>システムの脆弱性対策、不正侵入からの防止・予防を行う</a:t>
                      </a:r>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4"/>
                  </a:ext>
                </a:extLst>
              </a:tr>
              <a:tr h="370840">
                <a:tc vMerge="1">
                  <a:txBody>
                    <a:bodyPr/>
                    <a:lstStyle/>
                    <a:p>
                      <a:endParaRPr kumimoji="1" lang="ja-JP" altLang="en-US" sz="900" dirty="0">
                        <a:latin typeface="+mn-ea"/>
                        <a:ea typeface="+mn-ea"/>
                      </a:endParaRPr>
                    </a:p>
                  </a:txBody>
                  <a:tcPr/>
                </a:tc>
                <a:tc rowSpan="2">
                  <a:txBody>
                    <a:bodyPr/>
                    <a:lstStyle/>
                    <a:p>
                      <a:r>
                        <a:rPr kumimoji="1" lang="ja-JP" altLang="en-US" sz="1000" dirty="0">
                          <a:latin typeface="メイリオ" panose="020B0604030504040204" pitchFamily="50" charset="-128"/>
                          <a:ea typeface="メイリオ" panose="020B0604030504040204" pitchFamily="50" charset="-128"/>
                        </a:rPr>
                        <a:t>脆弱性診断</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r>
                        <a:rPr kumimoji="1" lang="en-US" altLang="ja-JP" sz="1000" dirty="0">
                          <a:latin typeface="メイリオ" panose="020B0604030504040204" pitchFamily="50" charset="-128"/>
                          <a:ea typeface="メイリオ" panose="020B0604030504040204" pitchFamily="50" charset="-128"/>
                        </a:rPr>
                        <a:t>OSS</a:t>
                      </a:r>
                      <a:r>
                        <a:rPr kumimoji="1" lang="ja-JP" altLang="en-US" sz="1000" dirty="0">
                          <a:latin typeface="メイリオ" panose="020B0604030504040204" pitchFamily="50" charset="-128"/>
                          <a:ea typeface="メイリオ" panose="020B0604030504040204" pitchFamily="50" charset="-128"/>
                        </a:rPr>
                        <a:t>ツールを用いた検証を行う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OWASP ZAP</a:t>
                      </a:r>
                      <a:r>
                        <a:rPr kumimoji="1" lang="ja-JP" altLang="en-US" sz="1000" dirty="0">
                          <a:latin typeface="メイリオ" panose="020B0604030504040204" pitchFamily="50" charset="-128"/>
                          <a:ea typeface="メイリオ" panose="020B0604030504040204" pitchFamily="50" charset="-128"/>
                        </a:rPr>
                        <a:t>による静的、動的診断の実施</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err="1">
                          <a:latin typeface="メイリオ" panose="020B0604030504040204" pitchFamily="50" charset="-128"/>
                          <a:ea typeface="メイリオ" panose="020B0604030504040204" pitchFamily="50" charset="-128"/>
                        </a:rPr>
                        <a:t>Vuls</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CVE</a:t>
                      </a:r>
                      <a:r>
                        <a:rPr kumimoji="1" lang="ja-JP" altLang="en-US" sz="1000" dirty="0">
                          <a:latin typeface="メイリオ" panose="020B0604030504040204" pitchFamily="50" charset="-128"/>
                          <a:ea typeface="メイリオ" panose="020B0604030504040204" pitchFamily="50" charset="-128"/>
                        </a:rPr>
                        <a:t>を対象に</a:t>
                      </a:r>
                      <a:r>
                        <a:rPr kumimoji="1" lang="en-US" altLang="ja-JP" sz="1000" dirty="0">
                          <a:latin typeface="メイリオ" panose="020B0604030504040204" pitchFamily="50" charset="-128"/>
                          <a:ea typeface="メイリオ" panose="020B0604030504040204" pitchFamily="50" charset="-128"/>
                        </a:rPr>
                        <a:t>OS</a:t>
                      </a:r>
                      <a:r>
                        <a:rPr kumimoji="1" lang="ja-JP" altLang="en-US" sz="1000" dirty="0">
                          <a:latin typeface="メイリオ" panose="020B0604030504040204" pitchFamily="50" charset="-128"/>
                          <a:ea typeface="メイリオ" panose="020B0604030504040204" pitchFamily="50" charset="-128"/>
                        </a:rPr>
                        <a:t>、ミドルウェアの脆弱性検査を実施</a:t>
                      </a:r>
                    </a:p>
                  </a:txBody>
                  <a:tcPr/>
                </a:tc>
                <a:tc>
                  <a:txBody>
                    <a:bodyPr/>
                    <a:lstStyle/>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実装者は、</a:t>
                      </a:r>
                      <a:r>
                        <a:rPr kumimoji="1" lang="en-US" altLang="ja-JP" sz="1000" dirty="0">
                          <a:latin typeface="メイリオ" panose="020B0604030504040204" pitchFamily="50" charset="-128"/>
                          <a:ea typeface="メイリオ" panose="020B0604030504040204" pitchFamily="50" charset="-128"/>
                        </a:rPr>
                        <a:t>IPA</a:t>
                      </a:r>
                      <a:r>
                        <a:rPr kumimoji="1" lang="ja-JP" altLang="en-US" sz="1000" dirty="0">
                          <a:latin typeface="メイリオ" panose="020B0604030504040204" pitchFamily="50" charset="-128"/>
                          <a:ea typeface="メイリオ" panose="020B0604030504040204" pitchFamily="50" charset="-128"/>
                        </a:rPr>
                        <a:t>策定セキュアプログラミングに関する社内教育を受講</a:t>
                      </a:r>
                    </a:p>
                  </a:txBody>
                  <a:tcPr/>
                </a:tc>
                <a:extLst>
                  <a:ext uri="{0D108BD9-81ED-4DB2-BD59-A6C34878D82A}">
                    <a16:rowId xmlns:a16="http://schemas.microsoft.com/office/drawing/2014/main" val="10005"/>
                  </a:ext>
                </a:extLst>
              </a:tr>
              <a:tr h="370840">
                <a:tc vMerge="1">
                  <a:txBody>
                    <a:bodyPr/>
                    <a:lstStyle/>
                    <a:p>
                      <a:endParaRPr kumimoji="1" lang="ja-JP" altLang="en-US" sz="900">
                        <a:latin typeface="+mn-ea"/>
                        <a:ea typeface="+mn-ea"/>
                      </a:endParaRPr>
                    </a:p>
                  </a:txBody>
                  <a:tcPr/>
                </a:tc>
                <a:tc vMerge="1">
                  <a:txBody>
                    <a:bodyPr/>
                    <a:lstStyle/>
                    <a:p>
                      <a:endParaRPr kumimoji="1" lang="ja-JP" altLang="en-US" sz="900">
                        <a:latin typeface="+mn-ea"/>
                        <a:ea typeface="+mn-ea"/>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（オプション（有償））</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・第</a:t>
                      </a:r>
                      <a:r>
                        <a:rPr kumimoji="1" lang="en-US" altLang="ja-JP" sz="1000" dirty="0">
                          <a:latin typeface="メイリオ" panose="020B0604030504040204" pitchFamily="50" charset="-128"/>
                          <a:ea typeface="メイリオ" panose="020B0604030504040204" pitchFamily="50" charset="-128"/>
                        </a:rPr>
                        <a:t>3</a:t>
                      </a:r>
                      <a:r>
                        <a:rPr kumimoji="1" lang="ja-JP" altLang="en-US" sz="1000" dirty="0">
                          <a:latin typeface="メイリオ" panose="020B0604030504040204" pitchFamily="50" charset="-128"/>
                          <a:ea typeface="メイリオ" panose="020B0604030504040204" pitchFamily="50" charset="-128"/>
                        </a:rPr>
                        <a:t>者による脆弱性診断を受診</a:t>
                      </a:r>
                      <a:endParaRPr kumimoji="1" lang="ja-JP" altLang="en-US" sz="1600" dirty="0"/>
                    </a:p>
                  </a:txBody>
                  <a:tcPr>
                    <a:solidFill>
                      <a:schemeClr val="bg1">
                        <a:lumMod val="65000"/>
                      </a:schemeClr>
                    </a:solidFill>
                  </a:tcPr>
                </a:tc>
                <a:tc>
                  <a:txBody>
                    <a:bodyPr/>
                    <a:lstStyle/>
                    <a:p>
                      <a:endParaRPr kumimoji="1" lang="ja-JP" altLang="en-US" sz="1600" dirty="0"/>
                    </a:p>
                  </a:txBody>
                  <a:tcPr>
                    <a:solidFill>
                      <a:schemeClr val="bg1">
                        <a:lumMod val="65000"/>
                      </a:schemeClr>
                    </a:solidFill>
                  </a:tcPr>
                </a:tc>
                <a:extLst>
                  <a:ext uri="{0D108BD9-81ED-4DB2-BD59-A6C34878D82A}">
                    <a16:rowId xmlns:a16="http://schemas.microsoft.com/office/drawing/2014/main" val="10006"/>
                  </a:ext>
                </a:extLst>
              </a:tr>
              <a:tr h="370840">
                <a:tc vMerge="1">
                  <a:txBody>
                    <a:bodyPr/>
                    <a:lstStyle/>
                    <a:p>
                      <a:endParaRPr kumimoji="1" lang="ja-JP" altLang="en-US" sz="900">
                        <a:latin typeface="+mn-ea"/>
                        <a:ea typeface="+mn-ea"/>
                      </a:endParaRPr>
                    </a:p>
                  </a:txBody>
                  <a:tcPr/>
                </a:tc>
                <a:tc rowSpan="2">
                  <a:txBody>
                    <a:bodyPr/>
                    <a:lstStyle/>
                    <a:p>
                      <a:r>
                        <a:rPr kumimoji="1" lang="en-US" altLang="ja-JP" sz="1000" dirty="0">
                          <a:latin typeface="メイリオ" panose="020B0604030504040204" pitchFamily="50" charset="-128"/>
                          <a:ea typeface="メイリオ" panose="020B0604030504040204" pitchFamily="50" charset="-128"/>
                        </a:rPr>
                        <a:t>IDS/IPS</a:t>
                      </a:r>
                      <a:endParaRPr kumimoji="1" lang="ja-JP" altLang="en-US" sz="1000" dirty="0">
                        <a:latin typeface="メイリオ" panose="020B0604030504040204" pitchFamily="50" charset="-128"/>
                        <a:ea typeface="メイリオ" panose="020B0604030504040204" pitchFamily="50" charset="-128"/>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r>
                        <a:rPr kumimoji="1" lang="en-US" altLang="ja-JP" sz="1000" dirty="0">
                          <a:latin typeface="メイリオ" panose="020B0604030504040204" pitchFamily="50" charset="-128"/>
                          <a:ea typeface="メイリオ" panose="020B0604030504040204" pitchFamily="50" charset="-128"/>
                        </a:rPr>
                        <a:t>OSS</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IDS/IPS</a:t>
                      </a:r>
                      <a:r>
                        <a:rPr kumimoji="1" lang="ja-JP" altLang="en-US" sz="1000" dirty="0">
                          <a:latin typeface="メイリオ" panose="020B0604030504040204" pitchFamily="50" charset="-128"/>
                          <a:ea typeface="メイリオ" panose="020B0604030504040204" pitchFamily="50" charset="-128"/>
                        </a:rPr>
                        <a:t>対応を行う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tripwire</a:t>
                      </a:r>
                      <a:r>
                        <a:rPr kumimoji="1" lang="ja-JP" altLang="en-US" sz="1000" dirty="0">
                          <a:latin typeface="メイリオ" panose="020B0604030504040204" pitchFamily="50" charset="-128"/>
                          <a:ea typeface="メイリオ" panose="020B0604030504040204" pitchFamily="50" charset="-128"/>
                        </a:rPr>
                        <a:t>による改ざん検出を実施</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fail2ban</a:t>
                      </a:r>
                      <a:r>
                        <a:rPr kumimoji="1" lang="ja-JP" altLang="en-US" sz="1000" dirty="0">
                          <a:latin typeface="メイリオ" panose="020B0604030504040204" pitchFamily="50" charset="-128"/>
                          <a:ea typeface="メイリオ" panose="020B0604030504040204" pitchFamily="50" charset="-128"/>
                        </a:rPr>
                        <a:t>によるブルートフォース対策を実施</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err="1">
                          <a:latin typeface="メイリオ" panose="020B0604030504040204" pitchFamily="50" charset="-128"/>
                          <a:ea typeface="メイリオ" panose="020B0604030504040204" pitchFamily="50" charset="-128"/>
                        </a:rPr>
                        <a:t>clamAV</a:t>
                      </a:r>
                      <a:r>
                        <a:rPr kumimoji="1" lang="ja-JP" altLang="en-US" sz="1000" dirty="0">
                          <a:latin typeface="メイリオ" panose="020B0604030504040204" pitchFamily="50" charset="-128"/>
                          <a:ea typeface="メイリオ" panose="020B0604030504040204" pitchFamily="50" charset="-128"/>
                        </a:rPr>
                        <a:t>によるウィルス検出を実施</a:t>
                      </a: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err="1">
                          <a:latin typeface="メイリオ" panose="020B0604030504040204" pitchFamily="50" charset="-128"/>
                          <a:ea typeface="メイリオ" panose="020B0604030504040204" pitchFamily="50" charset="-128"/>
                        </a:rPr>
                        <a:t>Modsecurity</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WAF</a:t>
                      </a:r>
                      <a:r>
                        <a:rPr kumimoji="1" lang="ja-JP" altLang="en-US" sz="1000" dirty="0">
                          <a:latin typeface="メイリオ" panose="020B0604030504040204" pitchFamily="50" charset="-128"/>
                          <a:ea typeface="メイリオ" panose="020B0604030504040204" pitchFamily="50" charset="-128"/>
                        </a:rPr>
                        <a:t>を</a:t>
                      </a:r>
                      <a:r>
                        <a:rPr kumimoji="1" lang="en-US" altLang="ja-JP" sz="1000" dirty="0">
                          <a:latin typeface="メイリオ" panose="020B0604030504040204" pitchFamily="50" charset="-128"/>
                          <a:ea typeface="メイリオ" panose="020B0604030504040204" pitchFamily="50" charset="-128"/>
                        </a:rPr>
                        <a:t>LB</a:t>
                      </a:r>
                      <a:r>
                        <a:rPr kumimoji="1" lang="ja-JP" altLang="en-US" sz="1000" dirty="0">
                          <a:latin typeface="メイリオ" panose="020B0604030504040204" pitchFamily="50" charset="-128"/>
                          <a:ea typeface="メイリオ" panose="020B0604030504040204" pitchFamily="50" charset="-128"/>
                        </a:rPr>
                        <a:t>サーバに設置</a:t>
                      </a:r>
                    </a:p>
                  </a:txBody>
                  <a:tcPr/>
                </a:tc>
                <a:tc>
                  <a:txBody>
                    <a:bodyPr/>
                    <a:lstStyle/>
                    <a:p>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7"/>
                  </a:ext>
                </a:extLst>
              </a:tr>
              <a:tr h="370840">
                <a:tc vMerge="1">
                  <a:txBody>
                    <a:bodyPr/>
                    <a:lstStyle/>
                    <a:p>
                      <a:endParaRPr kumimoji="1" lang="ja-JP" altLang="en-US" sz="900">
                        <a:latin typeface="+mn-ea"/>
                        <a:ea typeface="+mn-ea"/>
                      </a:endParaRPr>
                    </a:p>
                  </a:txBody>
                  <a:tcPr/>
                </a:tc>
                <a:tc vMerge="1">
                  <a:txBody>
                    <a:bodyPr/>
                    <a:lstStyle/>
                    <a:p>
                      <a:endParaRPr kumimoji="1" lang="ja-JP" altLang="en-US" sz="900" dirty="0">
                        <a:latin typeface="+mn-ea"/>
                        <a:ea typeface="+mn-ea"/>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オプション</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有償））</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・製品を用いた</a:t>
                      </a:r>
                      <a:r>
                        <a:rPr kumimoji="1" lang="en-US" altLang="ja-JP" sz="1000" dirty="0">
                          <a:latin typeface="メイリオ" panose="020B0604030504040204" pitchFamily="50" charset="-128"/>
                          <a:ea typeface="メイリオ" panose="020B0604030504040204" pitchFamily="50" charset="-128"/>
                        </a:rPr>
                        <a:t>IDS/IPS</a:t>
                      </a:r>
                      <a:r>
                        <a:rPr kumimoji="1" lang="ja-JP" altLang="en-US" sz="1000" dirty="0">
                          <a:latin typeface="メイリオ" panose="020B0604030504040204" pitchFamily="50" charset="-128"/>
                          <a:ea typeface="メイリオ" panose="020B0604030504040204" pitchFamily="50" charset="-128"/>
                        </a:rPr>
                        <a:t>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・クラウドサービス提供の</a:t>
                      </a:r>
                      <a:r>
                        <a:rPr kumimoji="1" lang="en-US" altLang="ja-JP" sz="1000" dirty="0">
                          <a:latin typeface="メイリオ" panose="020B0604030504040204" pitchFamily="50" charset="-128"/>
                          <a:ea typeface="メイリオ" panose="020B0604030504040204" pitchFamily="50" charset="-128"/>
                        </a:rPr>
                        <a:t>WAF</a:t>
                      </a:r>
                      <a:r>
                        <a:rPr kumimoji="1" lang="ja-JP" altLang="en-US" sz="1000" dirty="0">
                          <a:latin typeface="メイリオ" panose="020B0604030504040204" pitchFamily="50" charset="-128"/>
                          <a:ea typeface="メイリオ" panose="020B0604030504040204" pitchFamily="50" charset="-128"/>
                        </a:rPr>
                        <a:t>を適用</a:t>
                      </a:r>
                      <a:endParaRPr kumimoji="1" lang="ja-JP" altLang="en-US" sz="1600" dirty="0"/>
                    </a:p>
                  </a:txBody>
                  <a:tcPr>
                    <a:solidFill>
                      <a:schemeClr val="bg1">
                        <a:lumMod val="65000"/>
                      </a:schemeClr>
                    </a:solidFill>
                  </a:tcPr>
                </a:tc>
                <a:tc>
                  <a:txBody>
                    <a:bodyPr/>
                    <a:lstStyle/>
                    <a:p>
                      <a:r>
                        <a:rPr kumimoji="1" lang="ja-JP" altLang="en-US" sz="1000" kern="1200" dirty="0">
                          <a:latin typeface="メイリオ" panose="020B0604030504040204" pitchFamily="50" charset="-128"/>
                          <a:ea typeface="メイリオ" panose="020B0604030504040204" pitchFamily="50" charset="-128"/>
                        </a:rPr>
                        <a:t>・サーバ側</a:t>
                      </a:r>
                      <a:r>
                        <a:rPr kumimoji="1" lang="en-US" altLang="ja-JP" sz="1000" kern="1200" dirty="0">
                          <a:latin typeface="メイリオ" panose="020B0604030504040204" pitchFamily="50" charset="-128"/>
                          <a:ea typeface="メイリオ" panose="020B0604030504040204" pitchFamily="50" charset="-128"/>
                        </a:rPr>
                        <a:t>IDS/IPS</a:t>
                      </a:r>
                      <a:r>
                        <a:rPr kumimoji="1" lang="ja-JP" altLang="en-US" sz="1000" kern="1200" dirty="0">
                          <a:latin typeface="メイリオ" panose="020B0604030504040204" pitchFamily="50" charset="-128"/>
                          <a:ea typeface="メイリオ" panose="020B0604030504040204" pitchFamily="50" charset="-128"/>
                        </a:rPr>
                        <a:t>は「</a:t>
                      </a:r>
                      <a:r>
                        <a:rPr kumimoji="1" lang="en-US" altLang="ja-JP" sz="1000" kern="1200" dirty="0" err="1">
                          <a:latin typeface="メイリオ" panose="020B0604030504040204" pitchFamily="50" charset="-128"/>
                          <a:ea typeface="メイリオ" panose="020B0604030504040204" pitchFamily="50" charset="-128"/>
                        </a:rPr>
                        <a:t>ServerProtect</a:t>
                      </a:r>
                      <a:r>
                        <a:rPr kumimoji="1" lang="en-US" altLang="ja-JP" sz="1000" kern="1200" dirty="0">
                          <a:latin typeface="メイリオ" panose="020B0604030504040204" pitchFamily="50" charset="-128"/>
                          <a:ea typeface="メイリオ" panose="020B0604030504040204" pitchFamily="50" charset="-128"/>
                        </a:rPr>
                        <a:t>™ for Linux</a:t>
                      </a:r>
                      <a:r>
                        <a:rPr kumimoji="1" lang="ja-JP" altLang="en-US" sz="1000" kern="1200" dirty="0">
                          <a:latin typeface="メイリオ" panose="020B0604030504040204" pitchFamily="50" charset="-128"/>
                          <a:ea typeface="メイリオ" panose="020B0604030504040204" pitchFamily="50" charset="-128"/>
                        </a:rPr>
                        <a:t>」、「</a:t>
                      </a:r>
                      <a:r>
                        <a:rPr kumimoji="1" lang="en-US" altLang="ja-JP" sz="1000" kern="1200" dirty="0">
                          <a:latin typeface="メイリオ" panose="020B0604030504040204" pitchFamily="50" charset="-128"/>
                          <a:ea typeface="メイリオ" panose="020B0604030504040204" pitchFamily="50" charset="-128"/>
                        </a:rPr>
                        <a:t>Trend Micro Deep Security</a:t>
                      </a:r>
                      <a:r>
                        <a:rPr kumimoji="1" lang="ja-JP" altLang="en-US" sz="1000" kern="1200" dirty="0">
                          <a:latin typeface="メイリオ" panose="020B0604030504040204" pitchFamily="50" charset="-128"/>
                          <a:ea typeface="メイリオ" panose="020B0604030504040204" pitchFamily="50" charset="-128"/>
                        </a:rPr>
                        <a:t>」を想定</a:t>
                      </a:r>
                      <a:endParaRPr kumimoji="1" lang="ja-JP" altLang="en-US" sz="1600" dirty="0"/>
                    </a:p>
                  </a:txBody>
                  <a:tcPr>
                    <a:solidFill>
                      <a:schemeClr val="bg1">
                        <a:lumMod val="65000"/>
                      </a:schemeClr>
                    </a:solidFill>
                  </a:tcPr>
                </a:tc>
                <a:extLst>
                  <a:ext uri="{0D108BD9-81ED-4DB2-BD59-A6C34878D82A}">
                    <a16:rowId xmlns:a16="http://schemas.microsoft.com/office/drawing/2014/main" val="10008"/>
                  </a:ext>
                </a:extLst>
              </a:tr>
              <a:tr h="0">
                <a:tc rowSpan="5">
                  <a:txBody>
                    <a:bodyPr/>
                    <a:lstStyle/>
                    <a:p>
                      <a:r>
                        <a:rPr kumimoji="1" lang="ja-JP" altLang="en-US" sz="1000" dirty="0">
                          <a:latin typeface="メイリオ" panose="020B0604030504040204" pitchFamily="50" charset="-128"/>
                          <a:ea typeface="メイリオ" panose="020B0604030504040204" pitchFamily="50" charset="-128"/>
                        </a:rPr>
                        <a:t>ハードウェア</a:t>
                      </a:r>
                      <a:br>
                        <a:rPr kumimoji="1" lang="en-US" altLang="ja-JP" sz="1000" dirty="0">
                          <a:latin typeface="メイリオ" panose="020B0604030504040204" pitchFamily="50" charset="-128"/>
                          <a:ea typeface="メイリオ" panose="020B0604030504040204" pitchFamily="50" charset="-128"/>
                        </a:rPr>
                      </a:br>
                      <a:r>
                        <a:rPr kumimoji="1" lang="ja-JP" altLang="en-US" sz="1000" dirty="0">
                          <a:latin typeface="メイリオ" panose="020B0604030504040204" pitchFamily="50" charset="-128"/>
                          <a:ea typeface="メイリオ" panose="020B0604030504040204" pitchFamily="50" charset="-128"/>
                        </a:rPr>
                        <a:t>拡張</a:t>
                      </a:r>
                    </a:p>
                  </a:txBody>
                  <a:tcPr/>
                </a:tc>
                <a:tc gridSpan="3">
                  <a:txBody>
                    <a:bodyPr/>
                    <a:lstStyle/>
                    <a:p>
                      <a:r>
                        <a:rPr kumimoji="1" lang="ja-JP" altLang="en-US" sz="1000" dirty="0">
                          <a:latin typeface="メイリオ" panose="020B0604030504040204" pitchFamily="50" charset="-128"/>
                          <a:ea typeface="メイリオ" panose="020B0604030504040204" pitchFamily="50" charset="-128"/>
                        </a:rPr>
                        <a:t>ハードウェアの拡張要件は以下のとおり。</a:t>
                      </a:r>
                      <a:endParaRPr kumimoji="1" lang="en-US" altLang="ja-JP" sz="10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38351949"/>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スケールアウト構成</a:t>
                      </a:r>
                      <a:endParaRPr kumimoji="1" lang="en-US" altLang="ja-JP" sz="1000" dirty="0">
                        <a:latin typeface="メイリオ" panose="020B0604030504040204" pitchFamily="50" charset="-128"/>
                        <a:ea typeface="メイリオ" panose="020B0604030504040204" pitchFamily="50" charset="-128"/>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3663" indent="-93663"/>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AP</a:t>
                      </a:r>
                      <a:r>
                        <a:rPr kumimoji="1" lang="ja-JP" altLang="en-US" sz="1000" dirty="0">
                          <a:latin typeface="メイリオ" panose="020B0604030504040204" pitchFamily="50" charset="-128"/>
                          <a:ea typeface="メイリオ" panose="020B0604030504040204" pitchFamily="50" charset="-128"/>
                        </a:rPr>
                        <a:t>サーバクラスタ構成とし、スケールアウトを可能とする。</a:t>
                      </a:r>
                      <a:endParaRPr kumimoji="1" lang="en-US" altLang="ja-JP" sz="1000" dirty="0">
                        <a:latin typeface="メイリオ" panose="020B0604030504040204" pitchFamily="50" charset="-128"/>
                        <a:ea typeface="メイリオ" panose="020B0604030504040204" pitchFamily="50" charset="-128"/>
                      </a:endParaRPr>
                    </a:p>
                    <a:p>
                      <a:pPr marL="93663" indent="-93663"/>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DB</a:t>
                      </a:r>
                      <a:r>
                        <a:rPr kumimoji="1" lang="ja-JP" altLang="en-US" sz="1000" dirty="0">
                          <a:latin typeface="メイリオ" panose="020B0604030504040204" pitchFamily="50" charset="-128"/>
                          <a:ea typeface="メイリオ" panose="020B0604030504040204" pitchFamily="50" charset="-128"/>
                        </a:rPr>
                        <a:t>サーバは</a:t>
                      </a:r>
                      <a:r>
                        <a:rPr kumimoji="1" lang="en-US" altLang="ja-JP" sz="1000" dirty="0">
                          <a:latin typeface="メイリオ" panose="020B0604030504040204" pitchFamily="50" charset="-128"/>
                          <a:ea typeface="メイリオ" panose="020B0604030504040204" pitchFamily="50" charset="-128"/>
                        </a:rPr>
                        <a:t>2</a:t>
                      </a:r>
                      <a:r>
                        <a:rPr kumimoji="1" lang="ja-JP" altLang="en-US" sz="1000" dirty="0">
                          <a:latin typeface="メイリオ" panose="020B0604030504040204" pitchFamily="50" charset="-128"/>
                          <a:ea typeface="メイリオ" panose="020B0604030504040204" pitchFamily="50" charset="-128"/>
                        </a:rPr>
                        <a:t>重化構成とし、クラスタ化はオプション（有償）で対応可能とする。</a:t>
                      </a:r>
                      <a:endParaRPr kumimoji="1" lang="en-US" altLang="ja-JP" sz="1000" dirty="0">
                        <a:latin typeface="メイリオ" panose="020B0604030504040204" pitchFamily="50" charset="-128"/>
                        <a:ea typeface="メイリオ" panose="020B0604030504040204" pitchFamily="50" charset="-128"/>
                      </a:endParaRPr>
                    </a:p>
                  </a:txBody>
                  <a:tcPr/>
                </a:tc>
                <a:tc rowSpan="4">
                  <a:txBody>
                    <a:bodyPr/>
                    <a:lstStyle/>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初期のシステム構成は、サイジングする。</a:t>
                      </a:r>
                      <a:endParaRPr kumimoji="1" lang="en-US" altLang="ja-JP" sz="1000" dirty="0">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初期からの構成変更はオプション（有償）対応です。</a:t>
                      </a:r>
                      <a:endParaRPr kumimoji="1" lang="en-US" altLang="ja-JP"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070441500"/>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スケールアップの可能性</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VPS</a:t>
                      </a:r>
                      <a:r>
                        <a:rPr kumimoji="1" lang="ja-JP" altLang="en-US" sz="1000" dirty="0">
                          <a:latin typeface="メイリオ" panose="020B0604030504040204" pitchFamily="50" charset="-128"/>
                          <a:ea typeface="メイリオ" panose="020B0604030504040204" pitchFamily="50" charset="-128"/>
                        </a:rPr>
                        <a:t>の構成変更によって対応する。</a:t>
                      </a:r>
                    </a:p>
                  </a:txBody>
                  <a:tcPr/>
                </a:tc>
                <a:tc vMerge="1">
                  <a:txBody>
                    <a:bodyPr/>
                    <a:lstStyle/>
                    <a:p>
                      <a:pPr marL="92075" indent="-92075"/>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267714150"/>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動的なリソース拡張</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VPS</a:t>
                      </a:r>
                      <a:r>
                        <a:rPr kumimoji="1" lang="ja-JP" altLang="en-US" sz="1000" dirty="0">
                          <a:latin typeface="メイリオ" panose="020B0604030504040204" pitchFamily="50" charset="-128"/>
                          <a:ea typeface="メイリオ" panose="020B0604030504040204" pitchFamily="50" charset="-128"/>
                        </a:rPr>
                        <a:t>の構成変更によって対応する。</a:t>
                      </a:r>
                    </a:p>
                  </a:txBody>
                  <a:tcPr/>
                </a:tc>
                <a:tc vMerge="1">
                  <a:txBody>
                    <a:bodyPr/>
                    <a:lstStyle/>
                    <a:p>
                      <a:pPr marL="92075" indent="-92075"/>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682979115"/>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動的なリソース再編成</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VPS</a:t>
                      </a:r>
                      <a:r>
                        <a:rPr kumimoji="1" lang="ja-JP" altLang="en-US" sz="1000" dirty="0">
                          <a:latin typeface="メイリオ" panose="020B0604030504040204" pitchFamily="50" charset="-128"/>
                          <a:ea typeface="メイリオ" panose="020B0604030504040204" pitchFamily="50" charset="-128"/>
                        </a:rPr>
                        <a:t>の構成変更によって対応する。</a:t>
                      </a:r>
                    </a:p>
                  </a:txBody>
                  <a:tcPr/>
                </a:tc>
                <a:tc vMerge="1">
                  <a:txBody>
                    <a:bodyPr/>
                    <a:lstStyle/>
                    <a:p>
                      <a:pPr marL="92075" indent="-92075"/>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6130357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8200900" cy="533400"/>
          </a:xfrm>
          <a:prstGeom prst="rect">
            <a:avLst/>
          </a:prstGeom>
          <a:noFill/>
          <a:ln>
            <a:miter lim="800000"/>
            <a:headEnd/>
            <a:tailEnd/>
          </a:ln>
        </p:spPr>
        <p:txBody>
          <a:bodyPr>
            <a:normAutofit/>
          </a:bodyPr>
          <a:lstStyle/>
          <a:p>
            <a:pPr algn="l" eaLnBrk="1" hangingPunct="1">
              <a:lnSpc>
                <a:spcPct val="75000"/>
              </a:lnSpc>
            </a:pPr>
            <a:r>
              <a:rPr lang="en-US" altLang="ja-JP" sz="2800" dirty="0">
                <a:latin typeface="メイリオ" panose="020B0604030504040204" pitchFamily="50" charset="-128"/>
                <a:ea typeface="メイリオ" panose="020B0604030504040204" pitchFamily="50" charset="-128"/>
              </a:rPr>
              <a:t>7.対応内容説明 - 監視（システム構成）</a:t>
            </a:r>
          </a:p>
        </p:txBody>
      </p:sp>
      <p:sp>
        <p:nvSpPr>
          <p:cNvPr id="4" name="テキスト ボックス 3"/>
          <p:cNvSpPr txBox="1"/>
          <p:nvPr/>
        </p:nvSpPr>
        <p:spPr>
          <a:xfrm>
            <a:off x="428596" y="785795"/>
            <a:ext cx="8463884" cy="738664"/>
          </a:xfrm>
          <a:prstGeom prst="rect">
            <a:avLst/>
          </a:prstGeom>
          <a:noFill/>
        </p:spPr>
        <p:txBody>
          <a:bodyPr wrap="square" rtlCol="0">
            <a:spAutoFit/>
          </a:bodyPr>
          <a:lstStyle/>
          <a:p>
            <a:r>
              <a:rPr lang="ja-JP" altLang="en-US" sz="1400" dirty="0">
                <a:latin typeface="メイリオ"/>
                <a:ea typeface="メイリオ"/>
                <a:cs typeface="メイリオ"/>
              </a:rPr>
              <a:t>監視は、以下の２パターンをご用意しています。標準で①、オプションで②の監視体制を提供します。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異常値を検出した場合、異常内容を解析の上、手順に従った対処を行います。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①当社共用の監視サーバにて監視</a:t>
            </a:r>
          </a:p>
        </p:txBody>
      </p:sp>
      <p:pic>
        <p:nvPicPr>
          <p:cNvPr id="5" name="図 4" descr="ericlemerdy-Server-1-800px.png"/>
          <p:cNvPicPr>
            <a:picLocks noChangeAspect="1"/>
          </p:cNvPicPr>
          <p:nvPr/>
        </p:nvPicPr>
        <p:blipFill>
          <a:blip cstate="print"/>
          <a:stretch>
            <a:fillRect/>
          </a:stretch>
        </p:blipFill>
        <p:spPr>
          <a:xfrm>
            <a:off x="1043608" y="1628800"/>
            <a:ext cx="422253" cy="650872"/>
          </a:xfrm>
          <a:prstGeom prst="rect">
            <a:avLst/>
          </a:prstGeom>
        </p:spPr>
      </p:pic>
      <p:pic>
        <p:nvPicPr>
          <p:cNvPr id="6" name="図 5" descr="ericlemerdy-Server-1-800px.png"/>
          <p:cNvPicPr>
            <a:picLocks noChangeAspect="1"/>
          </p:cNvPicPr>
          <p:nvPr/>
        </p:nvPicPr>
        <p:blipFill>
          <a:blip cstate="print"/>
          <a:stretch>
            <a:fillRect/>
          </a:stretch>
        </p:blipFill>
        <p:spPr>
          <a:xfrm>
            <a:off x="1845491" y="1628800"/>
            <a:ext cx="422253" cy="650872"/>
          </a:xfrm>
          <a:prstGeom prst="rect">
            <a:avLst/>
          </a:prstGeom>
        </p:spPr>
      </p:pic>
      <p:sp>
        <p:nvSpPr>
          <p:cNvPr id="7" name="正方形/長方形 6"/>
          <p:cNvSpPr/>
          <p:nvPr/>
        </p:nvSpPr>
        <p:spPr>
          <a:xfrm>
            <a:off x="683568" y="1484784"/>
            <a:ext cx="1872208" cy="108012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755576" y="2276872"/>
            <a:ext cx="1665841" cy="253916"/>
          </a:xfrm>
          <a:prstGeom prst="rect">
            <a:avLst/>
          </a:prstGeom>
          <a:noFill/>
        </p:spPr>
        <p:txBody>
          <a:bodyPr wrap="none" rtlCol="0">
            <a:spAutoFit/>
          </a:bodyPr>
          <a:lstStyle/>
          <a:p>
            <a:r>
              <a:rPr kumimoji="1" lang="ja-JP" altLang="en-US" sz="1050" dirty="0"/>
              <a:t>当社監視サーバクラスタ</a:t>
            </a:r>
          </a:p>
        </p:txBody>
      </p:sp>
      <p:sp>
        <p:nvSpPr>
          <p:cNvPr id="9" name="正方形/長方形 8"/>
          <p:cNvSpPr/>
          <p:nvPr/>
        </p:nvSpPr>
        <p:spPr>
          <a:xfrm>
            <a:off x="4499992" y="1484784"/>
            <a:ext cx="3600400" cy="108012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descr="ericlemerdy-Server-1-800px.png"/>
          <p:cNvPicPr>
            <a:picLocks noChangeAspect="1"/>
          </p:cNvPicPr>
          <p:nvPr/>
        </p:nvPicPr>
        <p:blipFill>
          <a:blip cstate="print"/>
          <a:stretch>
            <a:fillRect/>
          </a:stretch>
        </p:blipFill>
        <p:spPr>
          <a:xfrm>
            <a:off x="5940152" y="1628800"/>
            <a:ext cx="422253" cy="650872"/>
          </a:xfrm>
          <a:prstGeom prst="rect">
            <a:avLst/>
          </a:prstGeom>
        </p:spPr>
      </p:pic>
      <p:pic>
        <p:nvPicPr>
          <p:cNvPr id="11" name="図 10" descr="ericlemerdy-Server-1-800px.png"/>
          <p:cNvPicPr>
            <a:picLocks noChangeAspect="1"/>
          </p:cNvPicPr>
          <p:nvPr/>
        </p:nvPicPr>
        <p:blipFill>
          <a:blip cstate="print"/>
          <a:stretch>
            <a:fillRect/>
          </a:stretch>
        </p:blipFill>
        <p:spPr>
          <a:xfrm>
            <a:off x="6588224" y="1628800"/>
            <a:ext cx="422253" cy="650872"/>
          </a:xfrm>
          <a:prstGeom prst="rect">
            <a:avLst/>
          </a:prstGeom>
        </p:spPr>
      </p:pic>
      <p:pic>
        <p:nvPicPr>
          <p:cNvPr id="12" name="図 11" descr="ericlemerdy-Server-1-800px.png"/>
          <p:cNvPicPr>
            <a:picLocks noChangeAspect="1"/>
          </p:cNvPicPr>
          <p:nvPr/>
        </p:nvPicPr>
        <p:blipFill>
          <a:blip cstate="print"/>
          <a:stretch>
            <a:fillRect/>
          </a:stretch>
        </p:blipFill>
        <p:spPr>
          <a:xfrm>
            <a:off x="7236296" y="1628800"/>
            <a:ext cx="422253" cy="650872"/>
          </a:xfrm>
          <a:prstGeom prst="rect">
            <a:avLst/>
          </a:prstGeom>
        </p:spPr>
      </p:pic>
      <p:sp>
        <p:nvSpPr>
          <p:cNvPr id="13" name="テキスト ボックス 12"/>
          <p:cNvSpPr txBox="1"/>
          <p:nvPr/>
        </p:nvSpPr>
        <p:spPr>
          <a:xfrm>
            <a:off x="4572000" y="2276872"/>
            <a:ext cx="861133" cy="253916"/>
          </a:xfrm>
          <a:prstGeom prst="rect">
            <a:avLst/>
          </a:prstGeom>
          <a:noFill/>
        </p:spPr>
        <p:txBody>
          <a:bodyPr wrap="none" rtlCol="0">
            <a:spAutoFit/>
          </a:bodyPr>
          <a:lstStyle/>
          <a:p>
            <a:r>
              <a:rPr kumimoji="1" lang="en-US" altLang="ja-JP" sz="1050" dirty="0"/>
              <a:t>EC</a:t>
            </a:r>
            <a:r>
              <a:rPr kumimoji="1" lang="ja-JP" altLang="en-US" sz="1050" dirty="0"/>
              <a:t>システム</a:t>
            </a:r>
          </a:p>
        </p:txBody>
      </p:sp>
      <p:cxnSp>
        <p:nvCxnSpPr>
          <p:cNvPr id="16" name="直線矢印コネクタ 15"/>
          <p:cNvCxnSpPr>
            <a:stCxn id="14" idx="1"/>
            <a:endCxn id="7" idx="3"/>
          </p:cNvCxnSpPr>
          <p:nvPr/>
        </p:nvCxnSpPr>
        <p:spPr>
          <a:xfrm flipH="1">
            <a:off x="2555776" y="2024844"/>
            <a:ext cx="43204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14" name="図 13" descr="Internet-800px.png"/>
          <p:cNvPicPr>
            <a:picLocks noChangeAspect="1"/>
          </p:cNvPicPr>
          <p:nvPr/>
        </p:nvPicPr>
        <p:blipFill>
          <a:blip cstate="print"/>
          <a:stretch>
            <a:fillRect/>
          </a:stretch>
        </p:blipFill>
        <p:spPr>
          <a:xfrm>
            <a:off x="2987824" y="1628800"/>
            <a:ext cx="1168993" cy="792088"/>
          </a:xfrm>
          <a:prstGeom prst="rect">
            <a:avLst/>
          </a:prstGeom>
        </p:spPr>
      </p:pic>
      <p:cxnSp>
        <p:nvCxnSpPr>
          <p:cNvPr id="18" name="直線矢印コネクタ 17"/>
          <p:cNvCxnSpPr>
            <a:stCxn id="9" idx="1"/>
            <a:endCxn id="14" idx="3"/>
          </p:cNvCxnSpPr>
          <p:nvPr/>
        </p:nvCxnSpPr>
        <p:spPr>
          <a:xfrm flipH="1">
            <a:off x="4156817" y="2024844"/>
            <a:ext cx="343175"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3131840" y="2420888"/>
            <a:ext cx="787395" cy="253916"/>
          </a:xfrm>
          <a:prstGeom prst="rect">
            <a:avLst/>
          </a:prstGeom>
          <a:noFill/>
        </p:spPr>
        <p:txBody>
          <a:bodyPr wrap="none" rtlCol="0">
            <a:spAutoFit/>
          </a:bodyPr>
          <a:lstStyle/>
          <a:p>
            <a:r>
              <a:rPr kumimoji="1" lang="en-US" altLang="ja-JP" sz="1050" dirty="0"/>
              <a:t>SNMP</a:t>
            </a:r>
            <a:r>
              <a:rPr kumimoji="1" lang="ja-JP" altLang="en-US" sz="1050" dirty="0"/>
              <a:t>送信</a:t>
            </a:r>
          </a:p>
        </p:txBody>
      </p:sp>
      <p:sp>
        <p:nvSpPr>
          <p:cNvPr id="25" name="円/楕円 24"/>
          <p:cNvSpPr/>
          <p:nvPr/>
        </p:nvSpPr>
        <p:spPr>
          <a:xfrm>
            <a:off x="5724128"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6" name="円/楕円 25"/>
          <p:cNvSpPr/>
          <p:nvPr/>
        </p:nvSpPr>
        <p:spPr>
          <a:xfrm>
            <a:off x="6372200"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7" name="円/楕円 26"/>
          <p:cNvSpPr/>
          <p:nvPr/>
        </p:nvSpPr>
        <p:spPr>
          <a:xfrm>
            <a:off x="7020272"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8" name="テキスト ボックス 27"/>
          <p:cNvSpPr txBox="1"/>
          <p:nvPr/>
        </p:nvSpPr>
        <p:spPr>
          <a:xfrm>
            <a:off x="2267744" y="2636912"/>
            <a:ext cx="2304256" cy="1277273"/>
          </a:xfrm>
          <a:prstGeom prst="rect">
            <a:avLst/>
          </a:prstGeom>
          <a:noFill/>
        </p:spPr>
        <p:txBody>
          <a:bodyPr wrap="square" rtlCol="0">
            <a:spAutoFit/>
          </a:bodyPr>
          <a:lstStyle/>
          <a:p>
            <a:r>
              <a:rPr lang="ja-JP" altLang="en-US" sz="1100" dirty="0">
                <a:latin typeface="メイリオ"/>
                <a:ea typeface="メイリオ"/>
                <a:cs typeface="メイリオ"/>
              </a:rPr>
              <a:t>監視対象</a:t>
            </a:r>
            <a:endParaRPr lang="en-US" altLang="ja-JP" sz="1100" dirty="0">
              <a:latin typeface="メイリオ"/>
              <a:ea typeface="メイリオ"/>
              <a:cs typeface="メイリオ"/>
            </a:endParaRPr>
          </a:p>
          <a:p>
            <a:r>
              <a:rPr lang="ja-JP" altLang="en-US" sz="1100" dirty="0">
                <a:latin typeface="メイリオ"/>
                <a:ea typeface="メイリオ"/>
                <a:cs typeface="メイリオ"/>
              </a:rPr>
              <a:t>・死活監視（プロセス、ポート）</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CPU</a:t>
            </a:r>
            <a:r>
              <a:rPr lang="ja-JP" altLang="en-US" sz="1100" dirty="0">
                <a:latin typeface="メイリオ"/>
                <a:ea typeface="メイリオ"/>
                <a:cs typeface="メイリオ"/>
              </a:rPr>
              <a:t>負荷</a:t>
            </a:r>
            <a:endParaRPr lang="en-US" altLang="ja-JP" sz="1100" dirty="0">
              <a:latin typeface="メイリオ"/>
              <a:ea typeface="メイリオ"/>
              <a:cs typeface="メイリオ"/>
            </a:endParaRPr>
          </a:p>
          <a:p>
            <a:r>
              <a:rPr lang="ja-JP" altLang="en-US" sz="1100" dirty="0">
                <a:latin typeface="メイリオ"/>
                <a:ea typeface="メイリオ"/>
                <a:cs typeface="メイリオ"/>
              </a:rPr>
              <a:t>・メモリ使用状況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・ディスク使用状況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・エラーログ監視</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WEB</a:t>
            </a:r>
            <a:r>
              <a:rPr lang="ja-JP" altLang="en-US" sz="1100" dirty="0">
                <a:latin typeface="メイリオ"/>
                <a:ea typeface="メイリオ"/>
                <a:cs typeface="メイリオ"/>
              </a:rPr>
              <a:t>応答性能監視</a:t>
            </a:r>
            <a:endParaRPr lang="en-US" altLang="ja-JP" sz="1100" dirty="0">
              <a:latin typeface="メイリオ"/>
              <a:ea typeface="メイリオ"/>
              <a:cs typeface="メイリオ"/>
            </a:endParaRPr>
          </a:p>
        </p:txBody>
      </p:sp>
      <p:sp>
        <p:nvSpPr>
          <p:cNvPr id="29" name="テキスト ボックス 28"/>
          <p:cNvSpPr txBox="1"/>
          <p:nvPr/>
        </p:nvSpPr>
        <p:spPr>
          <a:xfrm>
            <a:off x="4716016" y="2636912"/>
            <a:ext cx="4143404" cy="769441"/>
          </a:xfrm>
          <a:prstGeom prst="rect">
            <a:avLst/>
          </a:prstGeom>
          <a:noFill/>
        </p:spPr>
        <p:txBody>
          <a:bodyPr wrap="square" rtlCol="0">
            <a:spAutoFit/>
          </a:bodyPr>
          <a:lstStyle/>
          <a:p>
            <a:r>
              <a:rPr lang="ja-JP" altLang="en-US" sz="1100" b="1" dirty="0">
                <a:latin typeface="メイリオ"/>
                <a:ea typeface="メイリオ"/>
                <a:cs typeface="メイリオ"/>
              </a:rPr>
              <a:t>特記事項</a:t>
            </a:r>
            <a:endParaRPr lang="en-US" altLang="ja-JP" sz="1100" b="1" dirty="0">
              <a:latin typeface="メイリオ"/>
              <a:ea typeface="メイリオ"/>
              <a:cs typeface="メイリオ"/>
            </a:endParaRPr>
          </a:p>
          <a:p>
            <a:r>
              <a:rPr lang="en-US" altLang="ja-JP" sz="1100" dirty="0">
                <a:latin typeface="メイリオ"/>
                <a:ea typeface="メイリオ"/>
                <a:cs typeface="メイリオ"/>
              </a:rPr>
              <a:t>EC</a:t>
            </a:r>
            <a:r>
              <a:rPr lang="ja-JP" altLang="en-US" sz="1100" dirty="0">
                <a:latin typeface="メイリオ"/>
                <a:ea typeface="メイリオ"/>
                <a:cs typeface="メイリオ"/>
              </a:rPr>
              <a:t>システムからインターネットに</a:t>
            </a:r>
            <a:r>
              <a:rPr lang="en-US" altLang="ja-JP" sz="1100" dirty="0">
                <a:latin typeface="メイリオ"/>
                <a:ea typeface="メイリオ"/>
                <a:cs typeface="メイリオ"/>
              </a:rPr>
              <a:t>SNMP</a:t>
            </a:r>
            <a:r>
              <a:rPr lang="ja-JP" altLang="en-US" sz="1100" dirty="0">
                <a:latin typeface="メイリオ"/>
                <a:ea typeface="メイリオ"/>
                <a:cs typeface="メイリオ"/>
              </a:rPr>
              <a:t>および</a:t>
            </a:r>
            <a:r>
              <a:rPr lang="en-US" altLang="ja-JP" sz="1100" dirty="0">
                <a:latin typeface="メイリオ"/>
                <a:ea typeface="メイリオ"/>
                <a:cs typeface="メイリオ"/>
              </a:rPr>
              <a:t>SNMP</a:t>
            </a:r>
            <a:r>
              <a:rPr lang="ja-JP" altLang="en-US" sz="1100" dirty="0">
                <a:latin typeface="メイリオ"/>
                <a:ea typeface="メイリオ"/>
                <a:cs typeface="メイリオ"/>
              </a:rPr>
              <a:t>トラップポート（デフォルトでは、</a:t>
            </a:r>
            <a:r>
              <a:rPr lang="en-US" altLang="ja-JP" sz="1100" dirty="0">
                <a:latin typeface="メイリオ"/>
                <a:ea typeface="メイリオ"/>
                <a:cs typeface="メイリオ"/>
              </a:rPr>
              <a:t>161,162)</a:t>
            </a:r>
            <a:r>
              <a:rPr lang="ja-JP" altLang="en-US" sz="1100" dirty="0">
                <a:latin typeface="メイリオ"/>
                <a:ea typeface="メイリオ"/>
                <a:cs typeface="メイリオ"/>
              </a:rPr>
              <a:t>を開ける必要があります。</a:t>
            </a:r>
            <a:endParaRPr lang="en-US" altLang="ja-JP" sz="1100" dirty="0">
              <a:latin typeface="メイリオ"/>
              <a:ea typeface="メイリオ"/>
              <a:cs typeface="メイリオ"/>
            </a:endParaRPr>
          </a:p>
          <a:p>
            <a:r>
              <a:rPr lang="ja-JP" altLang="en-US" sz="1100" dirty="0">
                <a:latin typeface="メイリオ"/>
                <a:ea typeface="メイリオ"/>
                <a:cs typeface="メイリオ"/>
              </a:rPr>
              <a:t>その際に、接続許可はホワイトリストで指定します。</a:t>
            </a:r>
            <a:endParaRPr lang="en-US" altLang="ja-JP" sz="1100" dirty="0">
              <a:latin typeface="メイリオ"/>
              <a:ea typeface="メイリオ"/>
              <a:cs typeface="メイリオ"/>
            </a:endParaRPr>
          </a:p>
        </p:txBody>
      </p:sp>
      <p:sp>
        <p:nvSpPr>
          <p:cNvPr id="30" name="円/楕円 29"/>
          <p:cNvSpPr/>
          <p:nvPr/>
        </p:nvSpPr>
        <p:spPr>
          <a:xfrm>
            <a:off x="683568" y="1556792"/>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sp>
        <p:nvSpPr>
          <p:cNvPr id="31" name="円/楕円 30"/>
          <p:cNvSpPr/>
          <p:nvPr/>
        </p:nvSpPr>
        <p:spPr>
          <a:xfrm>
            <a:off x="1485451" y="1556792"/>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pic>
        <p:nvPicPr>
          <p:cNvPr id="32" name="図 31" descr="simplePc-800px.png"/>
          <p:cNvPicPr>
            <a:picLocks noChangeAspect="1"/>
          </p:cNvPicPr>
          <p:nvPr/>
        </p:nvPicPr>
        <p:blipFill>
          <a:blip cstate="print"/>
          <a:stretch>
            <a:fillRect/>
          </a:stretch>
        </p:blipFill>
        <p:spPr>
          <a:xfrm>
            <a:off x="1248746" y="2802416"/>
            <a:ext cx="744269" cy="914616"/>
          </a:xfrm>
          <a:prstGeom prst="rect">
            <a:avLst/>
          </a:prstGeom>
        </p:spPr>
      </p:pic>
      <p:cxnSp>
        <p:nvCxnSpPr>
          <p:cNvPr id="33" name="直線矢印コネクタ 32"/>
          <p:cNvCxnSpPr>
            <a:stCxn id="7" idx="2"/>
            <a:endCxn id="32" idx="0"/>
          </p:cNvCxnSpPr>
          <p:nvPr/>
        </p:nvCxnSpPr>
        <p:spPr>
          <a:xfrm>
            <a:off x="1619672" y="2564904"/>
            <a:ext cx="1209" cy="2375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7" name="テキスト ボックス 36"/>
          <p:cNvSpPr txBox="1"/>
          <p:nvPr/>
        </p:nvSpPr>
        <p:spPr>
          <a:xfrm>
            <a:off x="1068504" y="3645024"/>
            <a:ext cx="1127232" cy="253916"/>
          </a:xfrm>
          <a:prstGeom prst="rect">
            <a:avLst/>
          </a:prstGeom>
          <a:noFill/>
        </p:spPr>
        <p:txBody>
          <a:bodyPr wrap="none" rtlCol="0">
            <a:spAutoFit/>
          </a:bodyPr>
          <a:lstStyle/>
          <a:p>
            <a:r>
              <a:rPr lang="ja-JP" altLang="en-US" sz="1050" dirty="0"/>
              <a:t>当社監視担当者</a:t>
            </a:r>
            <a:endParaRPr kumimoji="1" lang="ja-JP" altLang="en-US" sz="1050" dirty="0"/>
          </a:p>
        </p:txBody>
      </p:sp>
      <p:sp>
        <p:nvSpPr>
          <p:cNvPr id="38" name="テキスト ボックス 37"/>
          <p:cNvSpPr txBox="1"/>
          <p:nvPr/>
        </p:nvSpPr>
        <p:spPr>
          <a:xfrm>
            <a:off x="428596" y="3933056"/>
            <a:ext cx="8463884" cy="307777"/>
          </a:xfrm>
          <a:prstGeom prst="rect">
            <a:avLst/>
          </a:prstGeom>
          <a:noFill/>
        </p:spPr>
        <p:txBody>
          <a:bodyPr wrap="square" rtlCol="0">
            <a:spAutoFit/>
          </a:bodyPr>
          <a:lstStyle/>
          <a:p>
            <a:r>
              <a:rPr lang="ja-JP" altLang="en-US" sz="1400" dirty="0">
                <a:latin typeface="メイリオ"/>
                <a:ea typeface="メイリオ"/>
                <a:cs typeface="メイリオ"/>
              </a:rPr>
              <a:t>②</a:t>
            </a:r>
            <a:r>
              <a:rPr lang="en-US" altLang="ja-JP" sz="1400" dirty="0">
                <a:latin typeface="メイリオ"/>
                <a:ea typeface="メイリオ"/>
                <a:cs typeface="メイリオ"/>
              </a:rPr>
              <a:t>EC</a:t>
            </a:r>
            <a:r>
              <a:rPr lang="ja-JP" altLang="en-US" sz="1400" dirty="0">
                <a:latin typeface="メイリオ"/>
                <a:ea typeface="メイリオ"/>
                <a:cs typeface="メイリオ"/>
              </a:rPr>
              <a:t>システム内に専用の監視サーバにて監視</a:t>
            </a:r>
          </a:p>
        </p:txBody>
      </p:sp>
      <p:sp>
        <p:nvSpPr>
          <p:cNvPr id="43" name="正方形/長方形 42"/>
          <p:cNvSpPr/>
          <p:nvPr/>
        </p:nvSpPr>
        <p:spPr>
          <a:xfrm>
            <a:off x="4499992" y="4005064"/>
            <a:ext cx="3600400" cy="1368152"/>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4" name="図 43" descr="ericlemerdy-Server-1-800px.png"/>
          <p:cNvPicPr>
            <a:picLocks noChangeAspect="1"/>
          </p:cNvPicPr>
          <p:nvPr/>
        </p:nvPicPr>
        <p:blipFill>
          <a:blip cstate="print"/>
          <a:stretch>
            <a:fillRect/>
          </a:stretch>
        </p:blipFill>
        <p:spPr>
          <a:xfrm>
            <a:off x="5940152" y="4437112"/>
            <a:ext cx="422253" cy="650872"/>
          </a:xfrm>
          <a:prstGeom prst="rect">
            <a:avLst/>
          </a:prstGeom>
        </p:spPr>
      </p:pic>
      <p:pic>
        <p:nvPicPr>
          <p:cNvPr id="45" name="図 44" descr="ericlemerdy-Server-1-800px.png"/>
          <p:cNvPicPr>
            <a:picLocks noChangeAspect="1"/>
          </p:cNvPicPr>
          <p:nvPr/>
        </p:nvPicPr>
        <p:blipFill>
          <a:blip cstate="print"/>
          <a:stretch>
            <a:fillRect/>
          </a:stretch>
        </p:blipFill>
        <p:spPr>
          <a:xfrm>
            <a:off x="6588224" y="4437112"/>
            <a:ext cx="422253" cy="650872"/>
          </a:xfrm>
          <a:prstGeom prst="rect">
            <a:avLst/>
          </a:prstGeom>
        </p:spPr>
      </p:pic>
      <p:pic>
        <p:nvPicPr>
          <p:cNvPr id="46" name="図 45" descr="ericlemerdy-Server-1-800px.png"/>
          <p:cNvPicPr>
            <a:picLocks noChangeAspect="1"/>
          </p:cNvPicPr>
          <p:nvPr/>
        </p:nvPicPr>
        <p:blipFill>
          <a:blip cstate="print"/>
          <a:stretch>
            <a:fillRect/>
          </a:stretch>
        </p:blipFill>
        <p:spPr>
          <a:xfrm>
            <a:off x="7236296" y="4437112"/>
            <a:ext cx="422253" cy="650872"/>
          </a:xfrm>
          <a:prstGeom prst="rect">
            <a:avLst/>
          </a:prstGeom>
        </p:spPr>
      </p:pic>
      <p:sp>
        <p:nvSpPr>
          <p:cNvPr id="47" name="テキスト ボックス 46"/>
          <p:cNvSpPr txBox="1"/>
          <p:nvPr/>
        </p:nvSpPr>
        <p:spPr>
          <a:xfrm>
            <a:off x="4572000" y="5085184"/>
            <a:ext cx="861133" cy="253916"/>
          </a:xfrm>
          <a:prstGeom prst="rect">
            <a:avLst/>
          </a:prstGeom>
          <a:noFill/>
        </p:spPr>
        <p:txBody>
          <a:bodyPr wrap="none" rtlCol="0">
            <a:spAutoFit/>
          </a:bodyPr>
          <a:lstStyle/>
          <a:p>
            <a:r>
              <a:rPr kumimoji="1" lang="en-US" altLang="ja-JP" sz="1050" dirty="0"/>
              <a:t>EC</a:t>
            </a:r>
            <a:r>
              <a:rPr kumimoji="1" lang="ja-JP" altLang="en-US" sz="1050" dirty="0"/>
              <a:t>システム</a:t>
            </a:r>
          </a:p>
        </p:txBody>
      </p:sp>
      <p:sp>
        <p:nvSpPr>
          <p:cNvPr id="51" name="テキスト ボックス 50"/>
          <p:cNvSpPr txBox="1"/>
          <p:nvPr/>
        </p:nvSpPr>
        <p:spPr>
          <a:xfrm>
            <a:off x="3131840" y="5229200"/>
            <a:ext cx="787395" cy="253916"/>
          </a:xfrm>
          <a:prstGeom prst="rect">
            <a:avLst/>
          </a:prstGeom>
          <a:noFill/>
        </p:spPr>
        <p:txBody>
          <a:bodyPr wrap="none" rtlCol="0">
            <a:spAutoFit/>
          </a:bodyPr>
          <a:lstStyle/>
          <a:p>
            <a:r>
              <a:rPr kumimoji="1" lang="en-US" altLang="ja-JP" sz="1050" dirty="0"/>
              <a:t>SNMP</a:t>
            </a:r>
            <a:r>
              <a:rPr kumimoji="1" lang="ja-JP" altLang="en-US" sz="1050" dirty="0"/>
              <a:t>送信</a:t>
            </a:r>
          </a:p>
        </p:txBody>
      </p:sp>
      <p:sp>
        <p:nvSpPr>
          <p:cNvPr id="52" name="円/楕円 51"/>
          <p:cNvSpPr/>
          <p:nvPr/>
        </p:nvSpPr>
        <p:spPr>
          <a:xfrm>
            <a:off x="5724128"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3" name="円/楕円 52"/>
          <p:cNvSpPr/>
          <p:nvPr/>
        </p:nvSpPr>
        <p:spPr>
          <a:xfrm>
            <a:off x="6372200"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4" name="円/楕円 53"/>
          <p:cNvSpPr/>
          <p:nvPr/>
        </p:nvSpPr>
        <p:spPr>
          <a:xfrm>
            <a:off x="7020272"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5" name="テキスト ボックス 54"/>
          <p:cNvSpPr txBox="1"/>
          <p:nvPr/>
        </p:nvSpPr>
        <p:spPr>
          <a:xfrm>
            <a:off x="899592" y="5445224"/>
            <a:ext cx="2304256" cy="1277273"/>
          </a:xfrm>
          <a:prstGeom prst="rect">
            <a:avLst/>
          </a:prstGeom>
          <a:noFill/>
        </p:spPr>
        <p:txBody>
          <a:bodyPr wrap="square" rtlCol="0">
            <a:spAutoFit/>
          </a:bodyPr>
          <a:lstStyle/>
          <a:p>
            <a:r>
              <a:rPr lang="ja-JP" altLang="en-US" sz="1100" dirty="0">
                <a:latin typeface="メイリオ"/>
                <a:ea typeface="メイリオ"/>
                <a:cs typeface="メイリオ"/>
              </a:rPr>
              <a:t>監視対象</a:t>
            </a:r>
            <a:endParaRPr lang="en-US" altLang="ja-JP" sz="1100" dirty="0">
              <a:latin typeface="メイリオ"/>
              <a:ea typeface="メイリオ"/>
              <a:cs typeface="メイリオ"/>
            </a:endParaRPr>
          </a:p>
          <a:p>
            <a:r>
              <a:rPr lang="ja-JP" altLang="en-US" sz="1100" dirty="0">
                <a:latin typeface="メイリオ"/>
                <a:ea typeface="メイリオ"/>
                <a:cs typeface="メイリオ"/>
              </a:rPr>
              <a:t>・死活監視（プロセス、ポート）</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CPU</a:t>
            </a:r>
            <a:r>
              <a:rPr lang="ja-JP" altLang="en-US" sz="1100" dirty="0">
                <a:latin typeface="メイリオ"/>
                <a:ea typeface="メイリオ"/>
                <a:cs typeface="メイリオ"/>
              </a:rPr>
              <a:t>負荷</a:t>
            </a:r>
            <a:endParaRPr lang="en-US" altLang="ja-JP" sz="1100" dirty="0">
              <a:latin typeface="メイリオ"/>
              <a:ea typeface="メイリオ"/>
              <a:cs typeface="メイリオ"/>
            </a:endParaRPr>
          </a:p>
          <a:p>
            <a:r>
              <a:rPr lang="ja-JP" altLang="en-US" sz="1100" dirty="0">
                <a:latin typeface="メイリオ"/>
                <a:ea typeface="メイリオ"/>
                <a:cs typeface="メイリオ"/>
              </a:rPr>
              <a:t>・メモリ使用状況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・ディスク使用状況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・エラーログ監視</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WEB</a:t>
            </a:r>
            <a:r>
              <a:rPr lang="ja-JP" altLang="en-US" sz="1100" dirty="0">
                <a:latin typeface="メイリオ"/>
                <a:ea typeface="メイリオ"/>
                <a:cs typeface="メイリオ"/>
              </a:rPr>
              <a:t>応答性能監視</a:t>
            </a:r>
            <a:endParaRPr lang="en-US" altLang="ja-JP" sz="1100" dirty="0">
              <a:latin typeface="メイリオ"/>
              <a:ea typeface="メイリオ"/>
              <a:cs typeface="メイリオ"/>
            </a:endParaRPr>
          </a:p>
        </p:txBody>
      </p:sp>
      <p:sp>
        <p:nvSpPr>
          <p:cNvPr id="56" name="テキスト ボックス 55"/>
          <p:cNvSpPr txBox="1"/>
          <p:nvPr/>
        </p:nvSpPr>
        <p:spPr>
          <a:xfrm>
            <a:off x="4716016" y="5445224"/>
            <a:ext cx="4143404" cy="769441"/>
          </a:xfrm>
          <a:prstGeom prst="rect">
            <a:avLst/>
          </a:prstGeom>
          <a:noFill/>
        </p:spPr>
        <p:txBody>
          <a:bodyPr wrap="square" rtlCol="0">
            <a:spAutoFit/>
          </a:bodyPr>
          <a:lstStyle/>
          <a:p>
            <a:r>
              <a:rPr lang="ja-JP" altLang="en-US" sz="1100" b="1" dirty="0">
                <a:latin typeface="メイリオ"/>
                <a:ea typeface="メイリオ"/>
                <a:cs typeface="メイリオ"/>
              </a:rPr>
              <a:t>特記事項</a:t>
            </a:r>
            <a:endParaRPr lang="en-US" altLang="ja-JP" sz="1100" b="1" dirty="0">
              <a:latin typeface="メイリオ"/>
              <a:ea typeface="メイリオ"/>
              <a:cs typeface="メイリオ"/>
            </a:endParaRPr>
          </a:p>
          <a:p>
            <a:r>
              <a:rPr lang="ja-JP" altLang="en-US" sz="1100" dirty="0">
                <a:latin typeface="メイリオ"/>
                <a:ea typeface="メイリオ"/>
                <a:cs typeface="メイリオ"/>
              </a:rPr>
              <a:t>監視サーバは、シングルとします。</a:t>
            </a:r>
            <a:br>
              <a:rPr lang="en-US" altLang="ja-JP" sz="1100" dirty="0">
                <a:latin typeface="メイリオ"/>
                <a:ea typeface="メイリオ"/>
                <a:cs typeface="メイリオ"/>
              </a:rPr>
            </a:br>
            <a:r>
              <a:rPr lang="ja-JP" altLang="en-US" sz="1100" dirty="0">
                <a:latin typeface="メイリオ"/>
                <a:ea typeface="メイリオ"/>
                <a:cs typeface="メイリオ"/>
              </a:rPr>
              <a:t>物理故障時は、自動的にフェールオーバーを行わないので、</a:t>
            </a:r>
            <a:endParaRPr lang="en-US" altLang="ja-JP" sz="1100" dirty="0">
              <a:latin typeface="メイリオ"/>
              <a:ea typeface="メイリオ"/>
              <a:cs typeface="メイリオ"/>
            </a:endParaRPr>
          </a:p>
          <a:p>
            <a:r>
              <a:rPr lang="ja-JP" altLang="en-US" sz="1100" dirty="0">
                <a:latin typeface="メイリオ"/>
                <a:ea typeface="メイリオ"/>
                <a:cs typeface="メイリオ"/>
              </a:rPr>
              <a:t>手動でのリカバリーが必要となります。</a:t>
            </a:r>
            <a:endParaRPr lang="en-US" altLang="ja-JP" sz="1100" dirty="0">
              <a:latin typeface="メイリオ"/>
              <a:ea typeface="メイリオ"/>
              <a:cs typeface="メイリオ"/>
            </a:endParaRPr>
          </a:p>
        </p:txBody>
      </p:sp>
      <p:pic>
        <p:nvPicPr>
          <p:cNvPr id="59" name="図 58" descr="simplePc-800px.png"/>
          <p:cNvPicPr>
            <a:picLocks noChangeAspect="1"/>
          </p:cNvPicPr>
          <p:nvPr/>
        </p:nvPicPr>
        <p:blipFill>
          <a:blip cstate="print"/>
          <a:stretch>
            <a:fillRect/>
          </a:stretch>
        </p:blipFill>
        <p:spPr>
          <a:xfrm>
            <a:off x="1248746" y="4375990"/>
            <a:ext cx="744269" cy="914616"/>
          </a:xfrm>
          <a:prstGeom prst="rect">
            <a:avLst/>
          </a:prstGeom>
        </p:spPr>
      </p:pic>
      <p:cxnSp>
        <p:nvCxnSpPr>
          <p:cNvPr id="60" name="直線矢印コネクタ 59"/>
          <p:cNvCxnSpPr>
            <a:stCxn id="68" idx="1"/>
            <a:endCxn id="59" idx="3"/>
          </p:cNvCxnSpPr>
          <p:nvPr/>
        </p:nvCxnSpPr>
        <p:spPr>
          <a:xfrm flipH="1">
            <a:off x="1993015" y="4833156"/>
            <a:ext cx="994809" cy="14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068504" y="5218598"/>
            <a:ext cx="1127232" cy="253916"/>
          </a:xfrm>
          <a:prstGeom prst="rect">
            <a:avLst/>
          </a:prstGeom>
          <a:noFill/>
        </p:spPr>
        <p:txBody>
          <a:bodyPr wrap="none" rtlCol="0">
            <a:spAutoFit/>
          </a:bodyPr>
          <a:lstStyle/>
          <a:p>
            <a:r>
              <a:rPr lang="ja-JP" altLang="en-US" sz="1050" dirty="0"/>
              <a:t>当社監視担当者</a:t>
            </a:r>
            <a:endParaRPr kumimoji="1" lang="ja-JP" altLang="en-US" sz="1050" dirty="0"/>
          </a:p>
        </p:txBody>
      </p:sp>
      <p:pic>
        <p:nvPicPr>
          <p:cNvPr id="62" name="図 61" descr="ericlemerdy-Server-1-800px.png"/>
          <p:cNvPicPr>
            <a:picLocks noChangeAspect="1"/>
          </p:cNvPicPr>
          <p:nvPr/>
        </p:nvPicPr>
        <p:blipFill>
          <a:blip cstate="print"/>
          <a:stretch>
            <a:fillRect/>
          </a:stretch>
        </p:blipFill>
        <p:spPr>
          <a:xfrm>
            <a:off x="5076056" y="4437112"/>
            <a:ext cx="422253" cy="650872"/>
          </a:xfrm>
          <a:prstGeom prst="rect">
            <a:avLst/>
          </a:prstGeom>
        </p:spPr>
      </p:pic>
      <p:sp>
        <p:nvSpPr>
          <p:cNvPr id="63" name="円/楕円 62"/>
          <p:cNvSpPr/>
          <p:nvPr/>
        </p:nvSpPr>
        <p:spPr>
          <a:xfrm>
            <a:off x="4716016" y="4365104"/>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pic>
        <p:nvPicPr>
          <p:cNvPr id="68" name="図 67" descr="Internet-800px.png"/>
          <p:cNvPicPr>
            <a:picLocks noChangeAspect="1"/>
          </p:cNvPicPr>
          <p:nvPr/>
        </p:nvPicPr>
        <p:blipFill>
          <a:blip cstate="print"/>
          <a:stretch>
            <a:fillRect/>
          </a:stretch>
        </p:blipFill>
        <p:spPr>
          <a:xfrm>
            <a:off x="2987824" y="4437112"/>
            <a:ext cx="1168993" cy="792088"/>
          </a:xfrm>
          <a:prstGeom prst="rect">
            <a:avLst/>
          </a:prstGeom>
        </p:spPr>
      </p:pic>
      <p:cxnSp>
        <p:nvCxnSpPr>
          <p:cNvPr id="70" name="直線矢印コネクタ 69"/>
          <p:cNvCxnSpPr>
            <a:stCxn id="63" idx="2"/>
            <a:endCxn id="68" idx="3"/>
          </p:cNvCxnSpPr>
          <p:nvPr/>
        </p:nvCxnSpPr>
        <p:spPr>
          <a:xfrm rot="10800000" flipV="1">
            <a:off x="4156818" y="4581128"/>
            <a:ext cx="559199" cy="252028"/>
          </a:xfrm>
          <a:prstGeom prst="bentConnector3">
            <a:avLst>
              <a:gd name="adj1" fmla="val 50000"/>
            </a:avLst>
          </a:prstGeom>
          <a:ln w="38100">
            <a:tailEnd type="none"/>
          </a:ln>
        </p:spPr>
        <p:style>
          <a:lnRef idx="1">
            <a:schemeClr val="accent1"/>
          </a:lnRef>
          <a:fillRef idx="0">
            <a:schemeClr val="accent1"/>
          </a:fillRef>
          <a:effectRef idx="0">
            <a:schemeClr val="accent1"/>
          </a:effectRef>
          <a:fontRef idx="minor">
            <a:schemeClr val="tx1"/>
          </a:fontRef>
        </p:style>
      </p:cxnSp>
      <p:sp>
        <p:nvSpPr>
          <p:cNvPr id="78" name="正方形/長方形 77"/>
          <p:cNvSpPr/>
          <p:nvPr/>
        </p:nvSpPr>
        <p:spPr>
          <a:xfrm>
            <a:off x="4644008" y="4365104"/>
            <a:ext cx="1008112" cy="72008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テキスト ボックス 78"/>
          <p:cNvSpPr txBox="1"/>
          <p:nvPr/>
        </p:nvSpPr>
        <p:spPr>
          <a:xfrm>
            <a:off x="4650177" y="4077072"/>
            <a:ext cx="857927" cy="253916"/>
          </a:xfrm>
          <a:prstGeom prst="rect">
            <a:avLst/>
          </a:prstGeom>
          <a:noFill/>
        </p:spPr>
        <p:txBody>
          <a:bodyPr wrap="none" rtlCol="0">
            <a:spAutoFit/>
          </a:bodyPr>
          <a:lstStyle/>
          <a:p>
            <a:r>
              <a:rPr kumimoji="1" lang="ja-JP" altLang="en-US" sz="1050" dirty="0"/>
              <a:t>監視サーバ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6537325"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8.対応内容説明 - バックアップ</a:t>
            </a:r>
          </a:p>
        </p:txBody>
      </p:sp>
      <p:sp>
        <p:nvSpPr>
          <p:cNvPr id="4" name="テキスト ボックス 3"/>
          <p:cNvSpPr txBox="1"/>
          <p:nvPr/>
        </p:nvSpPr>
        <p:spPr>
          <a:xfrm>
            <a:off x="216649" y="764704"/>
            <a:ext cx="8463884" cy="307777"/>
          </a:xfrm>
          <a:prstGeom prst="rect">
            <a:avLst/>
          </a:prstGeom>
          <a:noFill/>
        </p:spPr>
        <p:txBody>
          <a:bodyPr wrap="square" rtlCol="0">
            <a:spAutoFit/>
          </a:bodyPr>
          <a:lstStyle/>
          <a:p>
            <a:r>
              <a:rPr lang="ja-JP" altLang="en-US" sz="1400" dirty="0">
                <a:latin typeface="メイリオ"/>
                <a:ea typeface="メイリオ"/>
                <a:cs typeface="メイリオ"/>
              </a:rPr>
              <a:t>バックアップは、以下とします。</a:t>
            </a:r>
          </a:p>
        </p:txBody>
      </p:sp>
      <p:graphicFrame>
        <p:nvGraphicFramePr>
          <p:cNvPr id="5" name="表 4"/>
          <p:cNvGraphicFramePr>
            <a:graphicFrameLocks noGrp="1"/>
          </p:cNvGraphicFramePr>
          <p:nvPr>
            <p:extLst>
              <p:ext uri="{D42A27DB-BD31-4B8C-83A1-F6EECF244321}">
                <p14:modId xmlns:p14="http://schemas.microsoft.com/office/powerpoint/2010/main" val="459969174"/>
              </p:ext>
            </p:extLst>
          </p:nvPr>
        </p:nvGraphicFramePr>
        <p:xfrm>
          <a:off x="327605" y="1178585"/>
          <a:ext cx="8647505" cy="2057400"/>
        </p:xfrm>
        <a:graphic>
          <a:graphicData uri="http://schemas.openxmlformats.org/drawingml/2006/table">
            <a:tbl>
              <a:tblPr firstRow="1" bandRow="1">
                <a:tableStyleId>{5C22544A-7EE6-4342-B048-85BDC9FD1C3A}</a:tableStyleId>
              </a:tblPr>
              <a:tblGrid>
                <a:gridCol w="1210525">
                  <a:extLst>
                    <a:ext uri="{9D8B030D-6E8A-4147-A177-3AD203B41FA5}">
                      <a16:colId xmlns:a16="http://schemas.microsoft.com/office/drawing/2014/main" val="20000"/>
                    </a:ext>
                  </a:extLst>
                </a:gridCol>
                <a:gridCol w="1696227">
                  <a:extLst>
                    <a:ext uri="{9D8B030D-6E8A-4147-A177-3AD203B41FA5}">
                      <a16:colId xmlns:a16="http://schemas.microsoft.com/office/drawing/2014/main" val="20001"/>
                    </a:ext>
                  </a:extLst>
                </a:gridCol>
                <a:gridCol w="1416709">
                  <a:extLst>
                    <a:ext uri="{9D8B030D-6E8A-4147-A177-3AD203B41FA5}">
                      <a16:colId xmlns:a16="http://schemas.microsoft.com/office/drawing/2014/main" val="20002"/>
                    </a:ext>
                  </a:extLst>
                </a:gridCol>
                <a:gridCol w="1416709">
                  <a:extLst>
                    <a:ext uri="{9D8B030D-6E8A-4147-A177-3AD203B41FA5}">
                      <a16:colId xmlns:a16="http://schemas.microsoft.com/office/drawing/2014/main" val="20003"/>
                    </a:ext>
                  </a:extLst>
                </a:gridCol>
                <a:gridCol w="1416709">
                  <a:extLst>
                    <a:ext uri="{9D8B030D-6E8A-4147-A177-3AD203B41FA5}">
                      <a16:colId xmlns:a16="http://schemas.microsoft.com/office/drawing/2014/main" val="20004"/>
                    </a:ext>
                  </a:extLst>
                </a:gridCol>
                <a:gridCol w="1490626">
                  <a:extLst>
                    <a:ext uri="{9D8B030D-6E8A-4147-A177-3AD203B41FA5}">
                      <a16:colId xmlns:a16="http://schemas.microsoft.com/office/drawing/2014/main" val="20005"/>
                    </a:ext>
                  </a:extLst>
                </a:gridCol>
              </a:tblGrid>
              <a:tr h="144016">
                <a:tc>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tc>
                <a:tc>
                  <a:txBody>
                    <a:bodyPr/>
                    <a:lstStyle/>
                    <a:p>
                      <a:r>
                        <a:rPr kumimoji="1" lang="ja-JP" altLang="en-US" sz="1050" dirty="0">
                          <a:latin typeface="メイリオ" panose="020B0604030504040204" pitchFamily="50" charset="-128"/>
                          <a:ea typeface="メイリオ" panose="020B0604030504040204" pitchFamily="50" charset="-128"/>
                        </a:rPr>
                        <a:t>バックアップ対象</a:t>
                      </a:r>
                    </a:p>
                  </a:txBody>
                  <a:tcPr/>
                </a:tc>
                <a:tc>
                  <a:txBody>
                    <a:bodyPr/>
                    <a:lstStyle/>
                    <a:p>
                      <a:r>
                        <a:rPr kumimoji="1" lang="ja-JP" altLang="en-US" sz="1050" dirty="0">
                          <a:latin typeface="メイリオ" panose="020B0604030504040204" pitchFamily="50" charset="-128"/>
                          <a:ea typeface="メイリオ" panose="020B0604030504040204" pitchFamily="50" charset="-128"/>
                        </a:rPr>
                        <a:t>バックアップ方法</a:t>
                      </a:r>
                    </a:p>
                  </a:txBody>
                  <a:tcPr/>
                </a:tc>
                <a:tc>
                  <a:txBody>
                    <a:bodyPr/>
                    <a:lstStyle/>
                    <a:p>
                      <a:r>
                        <a:rPr kumimoji="1" lang="ja-JP" altLang="en-US" sz="1050" dirty="0">
                          <a:latin typeface="メイリオ" panose="020B0604030504040204" pitchFamily="50" charset="-128"/>
                          <a:ea typeface="メイリオ" panose="020B0604030504040204" pitchFamily="50" charset="-128"/>
                        </a:rPr>
                        <a:t>タイミング</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保管場所</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保管世代数</a:t>
                      </a:r>
                    </a:p>
                  </a:txBody>
                  <a:tcPr/>
                </a:tc>
                <a:extLst>
                  <a:ext uri="{0D108BD9-81ED-4DB2-BD59-A6C34878D82A}">
                    <a16:rowId xmlns:a16="http://schemas.microsoft.com/office/drawing/2014/main" val="10000"/>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全サーバ</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lang="ja-JP" altLang="en-US" sz="1050" dirty="0">
                          <a:latin typeface="メイリオ" panose="020B0604030504040204" pitchFamily="50" charset="-128"/>
                          <a:ea typeface="メイリオ" panose="020B0604030504040204" pitchFamily="50" charset="-128"/>
                        </a:rPr>
                        <a:t>インスタンス・イメージ</a:t>
                      </a:r>
                    </a:p>
                  </a:txBody>
                  <a:tcPr/>
                </a:tc>
                <a:tc>
                  <a:txBody>
                    <a:bodyPr/>
                    <a:lstStyle/>
                    <a:p>
                      <a:r>
                        <a:rPr kumimoji="1" lang="ja-JP" altLang="en-US" sz="1050" dirty="0">
                          <a:latin typeface="メイリオ" panose="020B0604030504040204" pitchFamily="50" charset="-128"/>
                          <a:ea typeface="メイリオ" panose="020B0604030504040204" pitchFamily="50" charset="-128"/>
                        </a:rPr>
                        <a:t>インスタンスバックアップ</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リリース時</a:t>
                      </a:r>
                    </a:p>
                  </a:txBody>
                  <a:tcPr/>
                </a:tc>
                <a:tc>
                  <a:txBody>
                    <a:bodyPr/>
                    <a:lstStyle/>
                    <a:p>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世代</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LB</a:t>
                      </a:r>
                      <a:r>
                        <a:rPr kumimoji="1" lang="ja-JP" altLang="en-US" sz="1050" dirty="0">
                          <a:latin typeface="メイリオ" panose="020B0604030504040204" pitchFamily="50" charset="-128"/>
                          <a:ea typeface="メイリオ" panose="020B0604030504040204" pitchFamily="50" charset="-128"/>
                        </a:rPr>
                        <a:t>サーバ</a:t>
                      </a:r>
                    </a:p>
                  </a:txBody>
                  <a:tcPr/>
                </a:tc>
                <a:tc>
                  <a:txBody>
                    <a:bodyPr/>
                    <a:lstStyle/>
                    <a:p>
                      <a:r>
                        <a:rPr kumimoji="1" lang="ja-JP" altLang="en-US" sz="1050" dirty="0">
                          <a:latin typeface="メイリオ" panose="020B0604030504040204" pitchFamily="50" charset="-128"/>
                          <a:ea typeface="メイリオ" panose="020B0604030504040204" pitchFamily="50" charset="-128"/>
                        </a:rPr>
                        <a:t>アクセスログ</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エラーログ</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30</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rowSpan="2">
                  <a:txBody>
                    <a:bodyPr/>
                    <a:lstStyle/>
                    <a:p>
                      <a:r>
                        <a:rPr kumimoji="1" lang="en-US" altLang="ja-JP" sz="1050" dirty="0">
                          <a:latin typeface="メイリオ" panose="020B0604030504040204" pitchFamily="50" charset="-128"/>
                          <a:ea typeface="メイリオ" panose="020B0604030504040204" pitchFamily="50" charset="-128"/>
                        </a:rPr>
                        <a:t>WEB</a:t>
                      </a:r>
                      <a:r>
                        <a:rPr kumimoji="1" lang="ja-JP" altLang="en-US" sz="1050" dirty="0">
                          <a:latin typeface="メイリオ" panose="020B0604030504040204" pitchFamily="50" charset="-128"/>
                          <a:ea typeface="メイリオ" panose="020B0604030504040204" pitchFamily="50" charset="-128"/>
                        </a:rPr>
                        <a:t>サーバ</a:t>
                      </a:r>
                      <a:br>
                        <a:rPr kumimoji="1" lang="en-US" altLang="ja-JP" sz="1050" dirty="0">
                          <a:latin typeface="メイリオ" panose="020B0604030504040204" pitchFamily="50" charset="-128"/>
                          <a:ea typeface="メイリオ" panose="020B0604030504040204" pitchFamily="50" charset="-128"/>
                        </a:rPr>
                      </a:br>
                      <a:r>
                        <a:rPr kumimoji="1" lang="ja-JP" altLang="en-US" sz="1050" dirty="0">
                          <a:latin typeface="メイリオ" panose="020B0604030504040204" pitchFamily="50" charset="-128"/>
                          <a:ea typeface="メイリオ" panose="020B0604030504040204" pitchFamily="50" charset="-128"/>
                        </a:rPr>
                        <a:t>（</a:t>
                      </a:r>
                      <a:r>
                        <a:rPr kumimoji="1" lang="en-US" altLang="ja-JP" sz="1050" dirty="0">
                          <a:latin typeface="メイリオ" panose="020B0604030504040204" pitchFamily="50" charset="-128"/>
                          <a:ea typeface="メイリオ" panose="020B0604030504040204" pitchFamily="50" charset="-128"/>
                        </a:rPr>
                        <a:t>AP</a:t>
                      </a:r>
                      <a:r>
                        <a:rPr kumimoji="1" lang="ja-JP" altLang="en-US" sz="1050" dirty="0">
                          <a:latin typeface="メイリオ" panose="020B0604030504040204" pitchFamily="50" charset="-128"/>
                          <a:ea typeface="メイリオ" panose="020B0604030504040204" pitchFamily="50" charset="-128"/>
                        </a:rPr>
                        <a:t>＋</a:t>
                      </a:r>
                      <a:r>
                        <a:rPr kumimoji="1" lang="en-US" altLang="ja-JP" sz="1050" dirty="0">
                          <a:latin typeface="メイリオ" panose="020B0604030504040204" pitchFamily="50" charset="-128"/>
                          <a:ea typeface="メイリオ" panose="020B0604030504040204" pitchFamily="50" charset="-128"/>
                        </a:rPr>
                        <a:t>DB</a:t>
                      </a:r>
                      <a:r>
                        <a:rPr kumimoji="1" lang="ja-JP" altLang="en-US" sz="1050" dirty="0">
                          <a:latin typeface="メイリオ" panose="020B0604030504040204" pitchFamily="50" charset="-128"/>
                          <a:ea typeface="メイリオ" panose="020B0604030504040204" pitchFamily="50" charset="-128"/>
                        </a:rPr>
                        <a:t>）</a:t>
                      </a:r>
                    </a:p>
                  </a:txBody>
                  <a:tcPr/>
                </a:tc>
                <a:tc>
                  <a:txBody>
                    <a:bodyPr/>
                    <a:lstStyle/>
                    <a:p>
                      <a:r>
                        <a:rPr kumimoji="1" lang="ja-JP" altLang="en-US" sz="1050" dirty="0">
                          <a:latin typeface="メイリオ" panose="020B0604030504040204" pitchFamily="50" charset="-128"/>
                          <a:ea typeface="メイリオ" panose="020B0604030504040204" pitchFamily="50" charset="-128"/>
                        </a:rPr>
                        <a:t>アクセスログ</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エラーログ</a:t>
                      </a:r>
                    </a:p>
                    <a:p>
                      <a:r>
                        <a:rPr kumimoji="1" lang="en-US" altLang="ja-JP" sz="1050" dirty="0">
                          <a:latin typeface="メイリオ" panose="020B0604030504040204" pitchFamily="50" charset="-128"/>
                          <a:ea typeface="メイリオ" panose="020B0604030504040204" pitchFamily="50" charset="-128"/>
                        </a:rPr>
                        <a:t>CMS</a:t>
                      </a:r>
                      <a:r>
                        <a:rPr kumimoji="1" lang="ja-JP" altLang="en-US" sz="1050" dirty="0">
                          <a:latin typeface="メイリオ" panose="020B0604030504040204" pitchFamily="50" charset="-128"/>
                          <a:ea typeface="メイリオ" panose="020B0604030504040204" pitchFamily="50" charset="-128"/>
                        </a:rPr>
                        <a:t>データ</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30</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vMerge="1">
                  <a:txBody>
                    <a:bodyPr/>
                    <a:lstStyle/>
                    <a:p>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DB</a:t>
                      </a:r>
                      <a:r>
                        <a:rPr kumimoji="1" lang="ja-JP" altLang="en-US" sz="1050" dirty="0">
                          <a:latin typeface="メイリオ" panose="020B0604030504040204" pitchFamily="50" charset="-128"/>
                          <a:ea typeface="メイリオ" panose="020B0604030504040204" pitchFamily="50" charset="-128"/>
                        </a:rPr>
                        <a:t>フルダンプデータ</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7</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1744888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25380"/>
            <a:ext cx="8128892"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9.対応内容説明 - セキュリティ（1/2）</a:t>
            </a:r>
          </a:p>
        </p:txBody>
      </p:sp>
      <p:sp>
        <p:nvSpPr>
          <p:cNvPr id="4" name="テキスト ボックス 3"/>
          <p:cNvSpPr txBox="1"/>
          <p:nvPr/>
        </p:nvSpPr>
        <p:spPr>
          <a:xfrm>
            <a:off x="196041" y="758780"/>
            <a:ext cx="8463884" cy="738664"/>
          </a:xfrm>
          <a:prstGeom prst="rect">
            <a:avLst/>
          </a:prstGeom>
          <a:noFill/>
        </p:spPr>
        <p:txBody>
          <a:bodyPr wrap="square" rtlCol="0">
            <a:spAutoFit/>
          </a:bodyPr>
          <a:lstStyle/>
          <a:p>
            <a:r>
              <a:rPr lang="ja-JP" altLang="en-US" sz="1400" dirty="0">
                <a:latin typeface="メイリオ"/>
                <a:ea typeface="メイリオ"/>
                <a:cs typeface="メイリオ"/>
              </a:rPr>
              <a:t>セキュリティ対策として、以下を標準対応としています。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①実装者に対して、</a:t>
            </a:r>
            <a:r>
              <a:rPr lang="en-US" altLang="ja-JP" sz="1400" dirty="0">
                <a:latin typeface="メイリオ"/>
                <a:ea typeface="メイリオ"/>
                <a:cs typeface="メイリオ"/>
              </a:rPr>
              <a:t>IPA</a:t>
            </a:r>
            <a:r>
              <a:rPr lang="ja-JP" altLang="en-US" sz="1400" dirty="0">
                <a:latin typeface="メイリオ"/>
                <a:ea typeface="メイリオ"/>
                <a:cs typeface="メイリオ"/>
              </a:rPr>
              <a:t>策定セキュアプログラムに関する教育を受けた者のみをアサインします。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②オープンソースツールを用いた</a:t>
            </a:r>
            <a:r>
              <a:rPr lang="en-US" altLang="ja-JP" sz="1400" dirty="0">
                <a:latin typeface="メイリオ"/>
                <a:ea typeface="メイリオ"/>
                <a:cs typeface="メイリオ"/>
              </a:rPr>
              <a:t>IDS/IPS</a:t>
            </a:r>
            <a:r>
              <a:rPr lang="ja-JP" altLang="en-US" sz="1400" dirty="0">
                <a:latin typeface="メイリオ"/>
                <a:ea typeface="メイリオ"/>
                <a:cs typeface="メイリオ"/>
              </a:rPr>
              <a:t>および</a:t>
            </a:r>
            <a:r>
              <a:rPr lang="en-US" altLang="ja-JP" sz="1400" dirty="0">
                <a:latin typeface="メイリオ"/>
                <a:ea typeface="メイリオ"/>
                <a:cs typeface="メイリオ"/>
              </a:rPr>
              <a:t>WAF</a:t>
            </a:r>
            <a:r>
              <a:rPr lang="ja-JP" altLang="en-US" sz="1400" dirty="0">
                <a:latin typeface="メイリオ"/>
                <a:ea typeface="メイリオ"/>
                <a:cs typeface="メイリオ"/>
              </a:rPr>
              <a:t>を設置します。</a:t>
            </a:r>
          </a:p>
        </p:txBody>
      </p:sp>
      <p:graphicFrame>
        <p:nvGraphicFramePr>
          <p:cNvPr id="11" name="表 10"/>
          <p:cNvGraphicFramePr>
            <a:graphicFrameLocks noGrp="1"/>
          </p:cNvGraphicFramePr>
          <p:nvPr>
            <p:extLst>
              <p:ext uri="{D42A27DB-BD31-4B8C-83A1-F6EECF244321}">
                <p14:modId xmlns:p14="http://schemas.microsoft.com/office/powerpoint/2010/main" val="2056403243"/>
              </p:ext>
            </p:extLst>
          </p:nvPr>
        </p:nvGraphicFramePr>
        <p:xfrm>
          <a:off x="460887" y="1497444"/>
          <a:ext cx="8331285" cy="2707640"/>
        </p:xfrm>
        <a:graphic>
          <a:graphicData uri="http://schemas.openxmlformats.org/drawingml/2006/table">
            <a:tbl>
              <a:tblPr firstRow="1" bandRow="1">
                <a:tableStyleId>{5C22544A-7EE6-4342-B048-85BDC9FD1C3A}</a:tableStyleId>
              </a:tblPr>
              <a:tblGrid>
                <a:gridCol w="1556172">
                  <a:extLst>
                    <a:ext uri="{9D8B030D-6E8A-4147-A177-3AD203B41FA5}">
                      <a16:colId xmlns:a16="http://schemas.microsoft.com/office/drawing/2014/main" val="20000"/>
                    </a:ext>
                  </a:extLst>
                </a:gridCol>
                <a:gridCol w="1145628">
                  <a:extLst>
                    <a:ext uri="{9D8B030D-6E8A-4147-A177-3AD203B41FA5}">
                      <a16:colId xmlns:a16="http://schemas.microsoft.com/office/drawing/2014/main" val="20001"/>
                    </a:ext>
                  </a:extLst>
                </a:gridCol>
                <a:gridCol w="1065641">
                  <a:extLst>
                    <a:ext uri="{9D8B030D-6E8A-4147-A177-3AD203B41FA5}">
                      <a16:colId xmlns:a16="http://schemas.microsoft.com/office/drawing/2014/main" val="20002"/>
                    </a:ext>
                  </a:extLst>
                </a:gridCol>
                <a:gridCol w="1065641">
                  <a:extLst>
                    <a:ext uri="{9D8B030D-6E8A-4147-A177-3AD203B41FA5}">
                      <a16:colId xmlns:a16="http://schemas.microsoft.com/office/drawing/2014/main" val="20003"/>
                    </a:ext>
                  </a:extLst>
                </a:gridCol>
                <a:gridCol w="3498203">
                  <a:extLst>
                    <a:ext uri="{9D8B030D-6E8A-4147-A177-3AD203B41FA5}">
                      <a16:colId xmlns:a16="http://schemas.microsoft.com/office/drawing/2014/main" val="20006"/>
                    </a:ext>
                  </a:extLst>
                </a:gridCol>
              </a:tblGrid>
              <a:tr h="213360">
                <a:tc rowSpan="2">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rowSpan="2">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gridSpan="2">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hMerge="1">
                  <a:txBody>
                    <a:bodyPr/>
                    <a:lstStyle/>
                    <a:p>
                      <a:endParaRPr kumimoji="1" lang="ja-JP" altLang="en-US" sz="1100" dirty="0"/>
                    </a:p>
                  </a:txBody>
                  <a:tcPr>
                    <a:lnB w="12700" cap="flat" cmpd="sng" algn="ctr">
                      <a:solidFill>
                        <a:schemeClr val="bg1"/>
                      </a:solidFill>
                      <a:prstDash val="solid"/>
                      <a:round/>
                      <a:headEnd type="none" w="med" len="med"/>
                      <a:tailEnd type="none" w="med" len="med"/>
                    </a:lnB>
                  </a:tcPr>
                </a:tc>
                <a:tc rowSpan="2">
                  <a:txBody>
                    <a:bodyPr/>
                    <a:lstStyle/>
                    <a:p>
                      <a:r>
                        <a:rPr kumimoji="1" lang="ja-JP" altLang="en-US" sz="1050" dirty="0">
                          <a:latin typeface="メイリオ" panose="020B0604030504040204" pitchFamily="50" charset="-128"/>
                          <a:ea typeface="メイリオ" panose="020B0604030504040204" pitchFamily="50" charset="-128"/>
                        </a:rPr>
                        <a:t>備考</a:t>
                      </a:r>
                    </a:p>
                  </a:txBody>
                  <a:tcP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0"/>
                  </a:ext>
                </a:extLst>
              </a:tr>
              <a:tr h="213360">
                <a:tc vMerge="1">
                  <a:txBody>
                    <a:bodyPr/>
                    <a:lstStyle/>
                    <a:p>
                      <a:endParaRPr kumimoji="1" lang="ja-JP" altLang="en-US"/>
                    </a:p>
                  </a:txBody>
                  <a:tcPr/>
                </a:tc>
                <a:tc vMerge="1">
                  <a:txBody>
                    <a:bodyPr/>
                    <a:lstStyle/>
                    <a:p>
                      <a:endParaRPr kumimoji="1" lang="ja-JP" altLang="en-US"/>
                    </a:p>
                  </a:txBody>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LB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WEB</a:t>
                      </a:r>
                    </a:p>
                    <a:p>
                      <a:r>
                        <a:rPr kumimoji="1" lang="en-US" altLang="ja-JP" sz="1050" b="1" dirty="0">
                          <a:solidFill>
                            <a:schemeClr val="bg1"/>
                          </a:solidFill>
                          <a:latin typeface="メイリオ" panose="020B0604030504040204" pitchFamily="50" charset="-128"/>
                          <a:ea typeface="メイリオ" panose="020B0604030504040204" pitchFamily="50" charset="-128"/>
                        </a:rPr>
                        <a:t>(AP+DB)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v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改ざん防止</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tripwire</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a:t>
                      </a:r>
                    </a:p>
                  </a:txBody>
                  <a:tcPr>
                    <a:lnT w="19050" cap="flat" cmpd="sng" algn="ctr">
                      <a:solidFill>
                        <a:schemeClr val="bg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a:t>
                      </a:r>
                    </a:p>
                  </a:txBody>
                  <a:tcPr>
                    <a:lnT w="19050" cap="flat" cmpd="sng" algn="ctr">
                      <a:solidFill>
                        <a:schemeClr val="bg1"/>
                      </a:solidFill>
                      <a:prstDash val="solid"/>
                      <a:round/>
                      <a:headEnd type="none" w="med" len="med"/>
                      <a:tailEnd type="none" w="med" len="med"/>
                    </a:lnT>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夜間バッチにて実施。静的検査のみ可能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ブルートフォース対策</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fail2ban</a:t>
                      </a: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不正なアクセスが同一IPアドレスから複数回発生した場合、アクセスをブロックする</a:t>
                      </a:r>
                    </a:p>
                  </a:txBody>
                  <a:tcPr/>
                </a:tc>
                <a:extLst>
                  <a:ext uri="{0D108BD9-81ED-4DB2-BD59-A6C34878D82A}">
                    <a16:rowId xmlns:a16="http://schemas.microsoft.com/office/drawing/2014/main" val="10003"/>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ウィルス監視</a:t>
                      </a:r>
                    </a:p>
                  </a:txBody>
                  <a:tcPr/>
                </a:tc>
                <a:tc>
                  <a:txBody>
                    <a:bodyPr/>
                    <a:lstStyle/>
                    <a:p>
                      <a:r>
                        <a:rPr kumimoji="1" lang="en-US" altLang="ja-JP" sz="1050" dirty="0" err="1">
                          <a:solidFill>
                            <a:schemeClr val="tx1"/>
                          </a:solidFill>
                          <a:latin typeface="メイリオ" panose="020B0604030504040204" pitchFamily="50" charset="-128"/>
                          <a:ea typeface="メイリオ" panose="020B0604030504040204" pitchFamily="50" charset="-128"/>
                        </a:rPr>
                        <a:t>clamAV</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夜間バッチにて実施。静的検査のみ可能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WAF</a:t>
                      </a:r>
                      <a:r>
                        <a:rPr kumimoji="1" lang="ja-JP" altLang="en-US" sz="1050" dirty="0">
                          <a:latin typeface="メイリオ" panose="020B0604030504040204" pitchFamily="50" charset="-128"/>
                          <a:ea typeface="メイリオ" panose="020B0604030504040204" pitchFamily="50" charset="-128"/>
                        </a:rPr>
                        <a:t>機能</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err="1">
                          <a:latin typeface="メイリオ" panose="020B0604030504040204" pitchFamily="50" charset="-128"/>
                          <a:ea typeface="メイリオ" panose="020B0604030504040204" pitchFamily="50" charset="-128"/>
                        </a:rPr>
                        <a:t>Modsecurity</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XSS</a:t>
                      </a:r>
                      <a:r>
                        <a:rPr kumimoji="1" lang="ja-JP" altLang="en-US" sz="1050" dirty="0">
                          <a:solidFill>
                            <a:schemeClr val="tx1"/>
                          </a:solidFill>
                          <a:latin typeface="メイリオ" panose="020B0604030504040204" pitchFamily="50" charset="-128"/>
                          <a:ea typeface="メイリオ" panose="020B0604030504040204" pitchFamily="50" charset="-128"/>
                        </a:rPr>
                        <a:t>および</a:t>
                      </a:r>
                      <a:r>
                        <a:rPr kumimoji="1" lang="en-US" altLang="ja-JP" sz="1050" dirty="0">
                          <a:solidFill>
                            <a:schemeClr val="tx1"/>
                          </a:solidFill>
                          <a:latin typeface="メイリオ" panose="020B0604030504040204" pitchFamily="50" charset="-128"/>
                          <a:ea typeface="メイリオ" panose="020B0604030504040204" pitchFamily="50" charset="-128"/>
                        </a:rPr>
                        <a:t>SQL</a:t>
                      </a:r>
                      <a:r>
                        <a:rPr kumimoji="1" lang="ja-JP" altLang="en-US" sz="1050" dirty="0">
                          <a:solidFill>
                            <a:schemeClr val="tx1"/>
                          </a:solidFill>
                          <a:latin typeface="メイリオ" panose="020B0604030504040204" pitchFamily="50" charset="-128"/>
                          <a:ea typeface="メイリオ" panose="020B0604030504040204" pitchFamily="50" charset="-128"/>
                        </a:rPr>
                        <a:t>インジェクションに該当するアクセスをネガティブルールに登録</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en-US" altLang="ja-JP" sz="1050" dirty="0">
                          <a:solidFill>
                            <a:schemeClr val="tx1"/>
                          </a:solidFill>
                          <a:latin typeface="メイリオ" panose="020B0604030504040204" pitchFamily="50" charset="-128"/>
                          <a:ea typeface="メイリオ" panose="020B0604030504040204" pitchFamily="50" charset="-128"/>
                        </a:rPr>
                        <a:t>OSS</a:t>
                      </a:r>
                      <a:r>
                        <a:rPr kumimoji="1" lang="ja-JP" altLang="en-US" sz="1050" dirty="0">
                          <a:solidFill>
                            <a:schemeClr val="tx1"/>
                          </a:solidFill>
                          <a:latin typeface="メイリオ" panose="020B0604030504040204" pitchFamily="50" charset="-128"/>
                          <a:ea typeface="メイリオ" panose="020B0604030504040204" pitchFamily="50" charset="-128"/>
                        </a:rPr>
                        <a:t>であり、仕様が公開されている為、万能ではありませんがロボットによる総当たりのアクセスには効果が期待できます。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
        <p:nvSpPr>
          <p:cNvPr id="12" name="テキスト ボックス 11"/>
          <p:cNvSpPr txBox="1"/>
          <p:nvPr/>
        </p:nvSpPr>
        <p:spPr>
          <a:xfrm>
            <a:off x="196041" y="4480168"/>
            <a:ext cx="8463884" cy="307777"/>
          </a:xfrm>
          <a:prstGeom prst="rect">
            <a:avLst/>
          </a:prstGeom>
          <a:noFill/>
        </p:spPr>
        <p:txBody>
          <a:bodyPr wrap="square" rtlCol="0">
            <a:spAutoFit/>
          </a:bodyPr>
          <a:lstStyle/>
          <a:p>
            <a:r>
              <a:rPr lang="ja-JP" altLang="en-US" sz="1400" dirty="0">
                <a:latin typeface="メイリオ"/>
                <a:ea typeface="メイリオ"/>
                <a:cs typeface="メイリオ"/>
              </a:rPr>
              <a:t>③オープンソースツールを用いた脆弱性診断を行います。</a:t>
            </a:r>
          </a:p>
        </p:txBody>
      </p:sp>
      <p:graphicFrame>
        <p:nvGraphicFramePr>
          <p:cNvPr id="13" name="表 12"/>
          <p:cNvGraphicFramePr>
            <a:graphicFrameLocks noGrp="1"/>
          </p:cNvGraphicFramePr>
          <p:nvPr>
            <p:extLst>
              <p:ext uri="{D42A27DB-BD31-4B8C-83A1-F6EECF244321}">
                <p14:modId xmlns:p14="http://schemas.microsoft.com/office/powerpoint/2010/main" val="1816811979"/>
              </p:ext>
            </p:extLst>
          </p:nvPr>
        </p:nvGraphicFramePr>
        <p:xfrm>
          <a:off x="467543" y="4779647"/>
          <a:ext cx="8331284" cy="1661160"/>
        </p:xfrm>
        <a:graphic>
          <a:graphicData uri="http://schemas.openxmlformats.org/drawingml/2006/table">
            <a:tbl>
              <a:tblPr firstRow="1" bandRow="1">
                <a:tableStyleId>{5C22544A-7EE6-4342-B048-85BDC9FD1C3A}</a:tableStyleId>
              </a:tblPr>
              <a:tblGrid>
                <a:gridCol w="1997272">
                  <a:extLst>
                    <a:ext uri="{9D8B030D-6E8A-4147-A177-3AD203B41FA5}">
                      <a16:colId xmlns:a16="http://schemas.microsoft.com/office/drawing/2014/main" val="20000"/>
                    </a:ext>
                  </a:extLst>
                </a:gridCol>
                <a:gridCol w="1766818">
                  <a:extLst>
                    <a:ext uri="{9D8B030D-6E8A-4147-A177-3AD203B41FA5}">
                      <a16:colId xmlns:a16="http://schemas.microsoft.com/office/drawing/2014/main" val="20001"/>
                    </a:ext>
                  </a:extLst>
                </a:gridCol>
                <a:gridCol w="4567194">
                  <a:extLst>
                    <a:ext uri="{9D8B030D-6E8A-4147-A177-3AD203B41FA5}">
                      <a16:colId xmlns:a16="http://schemas.microsoft.com/office/drawing/2014/main" val="20002"/>
                    </a:ext>
                  </a:extLst>
                </a:gridCol>
              </a:tblGrid>
              <a:tr h="426720">
                <a:tc>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a:txBody>
                    <a:bodyPr/>
                    <a:lstStyle/>
                    <a:p>
                      <a:r>
                        <a:rPr kumimoji="1" lang="ja-JP" altLang="en-US" sz="1050" dirty="0">
                          <a:latin typeface="メイリオ" panose="020B0604030504040204" pitchFamily="50" charset="-128"/>
                          <a:ea typeface="メイリオ" panose="020B0604030504040204" pitchFamily="50" charset="-128"/>
                        </a:rPr>
                        <a:t>説明</a:t>
                      </a:r>
                    </a:p>
                  </a:txBody>
                  <a:tcPr/>
                </a:tc>
                <a:extLst>
                  <a:ext uri="{0D108BD9-81ED-4DB2-BD59-A6C34878D82A}">
                    <a16:rowId xmlns:a16="http://schemas.microsoft.com/office/drawing/2014/main" val="10000"/>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脆弱性診断</a:t>
                      </a:r>
                    </a:p>
                    <a:p>
                      <a:r>
                        <a:rPr lang="ja-JP" altLang="en-US" sz="1050" dirty="0">
                          <a:solidFill>
                            <a:schemeClr val="tx1"/>
                          </a:solidFill>
                          <a:latin typeface="メイリオ" panose="020B0604030504040204" pitchFamily="50" charset="-128"/>
                          <a:ea typeface="メイリオ" panose="020B0604030504040204" pitchFamily="50" charset="-128"/>
                        </a:rPr>
                        <a:t>（開発完了時）</a:t>
                      </a:r>
                    </a:p>
                  </a:txBody>
                  <a:tcPr/>
                </a:tc>
                <a:tc>
                  <a:txBody>
                    <a:bodyPr/>
                    <a:lstStyle/>
                    <a:p>
                      <a:r>
                        <a:rPr kumimoji="1" lang="en-US" altLang="ja-JP" sz="1050" dirty="0">
                          <a:latin typeface="メイリオ" panose="020B0604030504040204" pitchFamily="50" charset="-128"/>
                          <a:ea typeface="メイリオ" panose="020B0604030504040204" pitchFamily="50" charset="-128"/>
                        </a:rPr>
                        <a:t>OWASP ZAP</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XSS,SQLインジェクション,CSRF,セッション関連,パラメータ不良を対象に脆弱性検査を行い、不良箇所の対策を行います。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脆弱性診断</a:t>
                      </a: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（システムテスト時）</a:t>
                      </a:r>
                    </a:p>
                  </a:txBody>
                  <a:tcPr/>
                </a:tc>
                <a:tc>
                  <a:txBody>
                    <a:bodyPr/>
                    <a:lstStyle/>
                    <a:p>
                      <a:r>
                        <a:rPr kumimoji="1" lang="en-US" altLang="ja-JP" sz="1050" dirty="0">
                          <a:latin typeface="メイリオ" panose="020B0604030504040204" pitchFamily="50" charset="-128"/>
                          <a:ea typeface="メイリオ" panose="020B0604030504040204" pitchFamily="50" charset="-128"/>
                        </a:rPr>
                        <a:t>OWASP ZAP</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システムテスト時に、本ツールを設置し、実アクセスに対する動的検査を行い、不良箇所の対策を行います。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セキュリティホール検査</a:t>
                      </a:r>
                    </a:p>
                  </a:txBody>
                  <a:tcPr/>
                </a:tc>
                <a:tc>
                  <a:txBody>
                    <a:bodyPr/>
                    <a:lstStyle/>
                    <a:p>
                      <a:r>
                        <a:rPr kumimoji="1" lang="en-US" altLang="ja-JP" sz="1050" dirty="0">
                          <a:latin typeface="メイリオ" panose="020B0604030504040204" pitchFamily="50" charset="-128"/>
                          <a:ea typeface="メイリオ" panose="020B0604030504040204" pitchFamily="50" charset="-128"/>
                        </a:rPr>
                        <a:t>Vuls</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CVE</a:t>
                      </a:r>
                      <a:r>
                        <a:rPr kumimoji="1" lang="ja-JP" altLang="en-US" sz="1050" dirty="0">
                          <a:solidFill>
                            <a:schemeClr val="tx1"/>
                          </a:solidFill>
                          <a:latin typeface="メイリオ" panose="020B0604030504040204" pitchFamily="50" charset="-128"/>
                          <a:ea typeface="メイリオ" panose="020B0604030504040204" pitchFamily="50" charset="-128"/>
                        </a:rPr>
                        <a:t>（脆弱性データベース）に登録されているセキュリティホールが存在していないか？の検査を行い、不良箇所の対策を行います。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7840860"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10.対応内容説明 - セキュリティ（2/2）</a:t>
            </a:r>
          </a:p>
        </p:txBody>
      </p:sp>
      <p:sp>
        <p:nvSpPr>
          <p:cNvPr id="4" name="テキスト ボックス 3"/>
          <p:cNvSpPr txBox="1"/>
          <p:nvPr/>
        </p:nvSpPr>
        <p:spPr>
          <a:xfrm>
            <a:off x="140564" y="765285"/>
            <a:ext cx="8463884" cy="523220"/>
          </a:xfrm>
          <a:prstGeom prst="rect">
            <a:avLst/>
          </a:prstGeom>
          <a:noFill/>
        </p:spPr>
        <p:txBody>
          <a:bodyPr wrap="square" rtlCol="0">
            <a:spAutoFit/>
          </a:bodyPr>
          <a:lstStyle/>
          <a:p>
            <a:r>
              <a:rPr lang="ja-JP" altLang="en-US" sz="1400" dirty="0">
                <a:latin typeface="メイリオ"/>
                <a:ea typeface="メイリオ"/>
                <a:cs typeface="メイリオ"/>
              </a:rPr>
              <a:t>セキュリティ対策として、以下をオプション（有償）をご用意しています。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①製品を用いた</a:t>
            </a:r>
            <a:r>
              <a:rPr lang="en-US" altLang="ja-JP" sz="1400" dirty="0">
                <a:latin typeface="メイリオ"/>
                <a:ea typeface="メイリオ"/>
                <a:cs typeface="メイリオ"/>
              </a:rPr>
              <a:t>IDS/IPS</a:t>
            </a:r>
            <a:r>
              <a:rPr lang="ja-JP" altLang="en-US" sz="1400" dirty="0">
                <a:latin typeface="メイリオ"/>
                <a:ea typeface="メイリオ"/>
                <a:cs typeface="メイリオ"/>
              </a:rPr>
              <a:t>を設置します。</a:t>
            </a:r>
          </a:p>
        </p:txBody>
      </p:sp>
      <p:graphicFrame>
        <p:nvGraphicFramePr>
          <p:cNvPr id="11" name="表 10"/>
          <p:cNvGraphicFramePr>
            <a:graphicFrameLocks noGrp="1"/>
          </p:cNvGraphicFramePr>
          <p:nvPr>
            <p:extLst>
              <p:ext uri="{D42A27DB-BD31-4B8C-83A1-F6EECF244321}">
                <p14:modId xmlns:p14="http://schemas.microsoft.com/office/powerpoint/2010/main" val="1790713400"/>
              </p:ext>
            </p:extLst>
          </p:nvPr>
        </p:nvGraphicFramePr>
        <p:xfrm>
          <a:off x="467544" y="1340768"/>
          <a:ext cx="8136904" cy="2588260"/>
        </p:xfrm>
        <a:graphic>
          <a:graphicData uri="http://schemas.openxmlformats.org/drawingml/2006/table">
            <a:tbl>
              <a:tblPr firstRow="1" bandRow="1">
                <a:tableStyleId>{5C22544A-7EE6-4342-B048-85BDC9FD1C3A}</a:tableStyleId>
              </a:tblPr>
              <a:tblGrid>
                <a:gridCol w="1350628">
                  <a:extLst>
                    <a:ext uri="{9D8B030D-6E8A-4147-A177-3AD203B41FA5}">
                      <a16:colId xmlns:a16="http://schemas.microsoft.com/office/drawing/2014/main" val="20000"/>
                    </a:ext>
                  </a:extLst>
                </a:gridCol>
                <a:gridCol w="1530712">
                  <a:extLst>
                    <a:ext uri="{9D8B030D-6E8A-4147-A177-3AD203B41FA5}">
                      <a16:colId xmlns:a16="http://schemas.microsoft.com/office/drawing/2014/main" val="20001"/>
                    </a:ext>
                  </a:extLst>
                </a:gridCol>
                <a:gridCol w="1018914">
                  <a:extLst>
                    <a:ext uri="{9D8B030D-6E8A-4147-A177-3AD203B41FA5}">
                      <a16:colId xmlns:a16="http://schemas.microsoft.com/office/drawing/2014/main" val="20002"/>
                    </a:ext>
                  </a:extLst>
                </a:gridCol>
                <a:gridCol w="1018914">
                  <a:extLst>
                    <a:ext uri="{9D8B030D-6E8A-4147-A177-3AD203B41FA5}">
                      <a16:colId xmlns:a16="http://schemas.microsoft.com/office/drawing/2014/main" val="20003"/>
                    </a:ext>
                  </a:extLst>
                </a:gridCol>
                <a:gridCol w="3217736">
                  <a:extLst>
                    <a:ext uri="{9D8B030D-6E8A-4147-A177-3AD203B41FA5}">
                      <a16:colId xmlns:a16="http://schemas.microsoft.com/office/drawing/2014/main" val="20006"/>
                    </a:ext>
                  </a:extLst>
                </a:gridCol>
              </a:tblGrid>
              <a:tr h="213360">
                <a:tc rowSpan="2">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rowSpan="2">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gridSpan="2">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hMerge="1">
                  <a:txBody>
                    <a:bodyPr/>
                    <a:lstStyle/>
                    <a:p>
                      <a:endParaRPr kumimoji="1" lang="ja-JP" altLang="en-US" sz="1100" dirty="0"/>
                    </a:p>
                  </a:txBody>
                  <a:tcPr>
                    <a:lnB w="12700" cap="flat" cmpd="sng" algn="ctr">
                      <a:solidFill>
                        <a:schemeClr val="bg1"/>
                      </a:solidFill>
                      <a:prstDash val="solid"/>
                      <a:round/>
                      <a:headEnd type="none" w="med" len="med"/>
                      <a:tailEnd type="none" w="med" len="med"/>
                    </a:lnB>
                  </a:tcPr>
                </a:tc>
                <a:tc rowSpan="2">
                  <a:txBody>
                    <a:bodyPr/>
                    <a:lstStyle/>
                    <a:p>
                      <a:r>
                        <a:rPr kumimoji="1" lang="ja-JP" altLang="en-US" sz="1050" dirty="0">
                          <a:latin typeface="メイリオ" panose="020B0604030504040204" pitchFamily="50" charset="-128"/>
                          <a:ea typeface="メイリオ" panose="020B0604030504040204" pitchFamily="50" charset="-128"/>
                        </a:rPr>
                        <a:t>備考</a:t>
                      </a:r>
                    </a:p>
                  </a:txBody>
                  <a:tcP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0"/>
                  </a:ext>
                </a:extLst>
              </a:tr>
              <a:tr h="213360">
                <a:tc vMerge="1">
                  <a:txBody>
                    <a:bodyPr/>
                    <a:lstStyle/>
                    <a:p>
                      <a:endParaRPr kumimoji="1" lang="ja-JP" altLang="en-US"/>
                    </a:p>
                  </a:txBody>
                  <a:tcPr/>
                </a:tc>
                <a:tc vMerge="1">
                  <a:txBody>
                    <a:bodyPr/>
                    <a:lstStyle/>
                    <a:p>
                      <a:endParaRPr kumimoji="1" lang="ja-JP" altLang="en-US"/>
                    </a:p>
                  </a:txBody>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LB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WEB</a:t>
                      </a:r>
                    </a:p>
                    <a:p>
                      <a:r>
                        <a:rPr kumimoji="1" lang="en-US" altLang="ja-JP" sz="1050" b="1" dirty="0">
                          <a:solidFill>
                            <a:schemeClr val="bg1"/>
                          </a:solidFill>
                          <a:latin typeface="メイリオ" panose="020B0604030504040204" pitchFamily="50" charset="-128"/>
                          <a:ea typeface="メイリオ" panose="020B0604030504040204" pitchFamily="50" charset="-128"/>
                        </a:rPr>
                        <a:t>(AP+DB)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v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改ざん防止</a:t>
                      </a:r>
                    </a:p>
                  </a:txBody>
                  <a:tcPr/>
                </a:tc>
                <a:tc rowSpan="2">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Trend micro Deep Security</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lnT w="19050" cap="flat" cmpd="sng" algn="ctr">
                      <a:solidFill>
                        <a:schemeClr val="bg1"/>
                      </a:solidFill>
                      <a:prstDash val="solid"/>
                      <a:round/>
                      <a:headEnd type="none" w="med" len="med"/>
                      <a:tailEnd type="none" w="med" len="med"/>
                    </a:lnT>
                  </a:tcPr>
                </a:tc>
                <a:tc>
                  <a:txBody>
                    <a:bodyPr/>
                    <a:lstStyle/>
                    <a:p>
                      <a:pPr algn="ct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lnT w="19050" cap="flat" cmpd="sng" algn="ctr">
                      <a:solidFill>
                        <a:schemeClr val="bg1"/>
                      </a:solidFill>
                      <a:prstDash val="solid"/>
                      <a:round/>
                      <a:headEnd type="none" w="med" len="med"/>
                      <a:tailEnd type="none" w="med" len="med"/>
                    </a:lnT>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不正アクセス防止（ブルートフォース他）</a:t>
                      </a:r>
                    </a:p>
                  </a:txBody>
                  <a:tcPr/>
                </a:tc>
                <a:tc vMerge="1">
                  <a:txBody>
                    <a:bodyPr/>
                    <a:lstStyle/>
                    <a:p>
                      <a:endParaRPr kumimoji="1" lang="en-US" altLang="ja-JP" sz="1000" dirty="0">
                        <a:solidFill>
                          <a:schemeClr val="tx1"/>
                        </a:solidFill>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ウィルス監視</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Trend micro Server protection</a:t>
                      </a: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WAF</a:t>
                      </a:r>
                      <a:r>
                        <a:rPr kumimoji="1" lang="ja-JP" altLang="en-US" sz="1050" dirty="0">
                          <a:latin typeface="メイリオ" panose="020B0604030504040204" pitchFamily="50" charset="-128"/>
                          <a:ea typeface="メイリオ" panose="020B0604030504040204" pitchFamily="50" charset="-128"/>
                        </a:rPr>
                        <a:t>機能</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a:t>
                      </a:r>
                      <a:r>
                        <a:rPr kumimoji="1" lang="ja-JP" altLang="en-US" sz="1050" baseline="0" dirty="0">
                          <a:latin typeface="メイリオ" panose="020B0604030504040204" pitchFamily="50" charset="-128"/>
                          <a:ea typeface="メイリオ" panose="020B0604030504040204" pitchFamily="50" charset="-128"/>
                        </a:rPr>
                        <a:t>提供</a:t>
                      </a:r>
                      <a:r>
                        <a:rPr kumimoji="1" lang="en-US" altLang="ja-JP" sz="1050" baseline="0" dirty="0">
                          <a:latin typeface="メイリオ" panose="020B0604030504040204" pitchFamily="50" charset="-128"/>
                          <a:ea typeface="メイリオ" panose="020B0604030504040204" pitchFamily="50" charset="-128"/>
                        </a:rPr>
                        <a:t>WAF</a:t>
                      </a:r>
                      <a:r>
                        <a:rPr kumimoji="1" lang="ja-JP" altLang="en-US" sz="1050" baseline="0" dirty="0">
                          <a:latin typeface="メイリオ" panose="020B0604030504040204" pitchFamily="50" charset="-128"/>
                          <a:ea typeface="メイリオ" panose="020B0604030504040204" pitchFamily="50" charset="-128"/>
                        </a:rPr>
                        <a:t>機能</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アプリケーション脆弱性攻撃に対する措置以外に、</a:t>
                      </a:r>
                      <a:r>
                        <a:rPr kumimoji="1" lang="en-US" altLang="ja-JP" sz="1050" dirty="0">
                          <a:solidFill>
                            <a:schemeClr val="tx1"/>
                          </a:solidFill>
                          <a:latin typeface="メイリオ" panose="020B0604030504040204" pitchFamily="50" charset="-128"/>
                          <a:ea typeface="メイリオ" panose="020B0604030504040204" pitchFamily="50" charset="-128"/>
                        </a:rPr>
                        <a:t>DDOS</a:t>
                      </a:r>
                      <a:r>
                        <a:rPr kumimoji="1" lang="ja-JP" altLang="en-US" sz="1050" dirty="0" err="1">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ネットワークレイヤーへの攻撃（</a:t>
                      </a:r>
                      <a:r>
                        <a:rPr kumimoji="1" lang="en-US" altLang="ja-JP" sz="1050" dirty="0">
                          <a:solidFill>
                            <a:schemeClr val="tx1"/>
                          </a:solidFill>
                          <a:latin typeface="メイリオ" panose="020B0604030504040204" pitchFamily="50" charset="-128"/>
                          <a:ea typeface="メイリオ" panose="020B0604030504040204" pitchFamily="50" charset="-128"/>
                        </a:rPr>
                        <a:t>UDP</a:t>
                      </a:r>
                      <a:r>
                        <a:rPr kumimoji="1" lang="ja-JP" altLang="en-US" sz="1050" baseline="0" dirty="0">
                          <a:solidFill>
                            <a:schemeClr val="tx1"/>
                          </a:solidFill>
                          <a:latin typeface="メイリオ" panose="020B0604030504040204" pitchFamily="50" charset="-128"/>
                          <a:ea typeface="メイリオ" panose="020B0604030504040204" pitchFamily="50" charset="-128"/>
                        </a:rPr>
                        <a:t> </a:t>
                      </a:r>
                      <a:r>
                        <a:rPr kumimoji="1" lang="en-US" altLang="ja-JP" sz="1050" baseline="0" dirty="0">
                          <a:solidFill>
                            <a:schemeClr val="tx1"/>
                          </a:solidFill>
                          <a:latin typeface="メイリオ" panose="020B0604030504040204" pitchFamily="50" charset="-128"/>
                          <a:ea typeface="メイリオ" panose="020B0604030504040204" pitchFamily="50" charset="-128"/>
                        </a:rPr>
                        <a:t>flood</a:t>
                      </a:r>
                      <a:r>
                        <a:rPr kumimoji="1" lang="ja-JP" altLang="en-US" sz="1050" baseline="0" dirty="0">
                          <a:solidFill>
                            <a:schemeClr val="tx1"/>
                          </a:solidFill>
                          <a:latin typeface="メイリオ" panose="020B0604030504040204" pitchFamily="50" charset="-128"/>
                          <a:ea typeface="メイリオ" panose="020B0604030504040204" pitchFamily="50" charset="-128"/>
                        </a:rPr>
                        <a:t>など</a:t>
                      </a:r>
                      <a:r>
                        <a:rPr kumimoji="1" lang="en-US" altLang="ja-JP" sz="1050" baseline="0" dirty="0">
                          <a:solidFill>
                            <a:schemeClr val="tx1"/>
                          </a:solidFill>
                          <a:latin typeface="メイリオ" panose="020B0604030504040204" pitchFamily="50" charset="-128"/>
                          <a:ea typeface="メイリオ" panose="020B0604030504040204" pitchFamily="50" charset="-128"/>
                        </a:rPr>
                        <a:t>)</a:t>
                      </a:r>
                      <a:r>
                        <a:rPr kumimoji="1" lang="ja-JP" altLang="en-US" sz="1050" baseline="0" dirty="0">
                          <a:solidFill>
                            <a:schemeClr val="tx1"/>
                          </a:solidFill>
                          <a:latin typeface="メイリオ" panose="020B0604030504040204" pitchFamily="50" charset="-128"/>
                          <a:ea typeface="メイリオ" panose="020B0604030504040204" pitchFamily="50" charset="-128"/>
                        </a:rPr>
                        <a:t>にも対応します。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
        <p:nvSpPr>
          <p:cNvPr id="12" name="テキスト ボックス 11"/>
          <p:cNvSpPr txBox="1"/>
          <p:nvPr/>
        </p:nvSpPr>
        <p:spPr>
          <a:xfrm>
            <a:off x="140564" y="4141163"/>
            <a:ext cx="8463884" cy="307777"/>
          </a:xfrm>
          <a:prstGeom prst="rect">
            <a:avLst/>
          </a:prstGeom>
          <a:noFill/>
        </p:spPr>
        <p:txBody>
          <a:bodyPr wrap="square" rtlCol="0">
            <a:spAutoFit/>
          </a:bodyPr>
          <a:lstStyle/>
          <a:p>
            <a:r>
              <a:rPr lang="ja-JP" altLang="en-US" sz="1400" dirty="0">
                <a:latin typeface="メイリオ"/>
                <a:ea typeface="メイリオ"/>
                <a:cs typeface="メイリオ"/>
              </a:rPr>
              <a:t>②第</a:t>
            </a:r>
            <a:r>
              <a:rPr lang="en-US" altLang="ja-JP" sz="1400" dirty="0">
                <a:latin typeface="メイリオ"/>
                <a:ea typeface="メイリオ"/>
                <a:cs typeface="メイリオ"/>
              </a:rPr>
              <a:t>3</a:t>
            </a:r>
            <a:r>
              <a:rPr lang="ja-JP" altLang="en-US" sz="1400" dirty="0">
                <a:latin typeface="メイリオ"/>
                <a:ea typeface="メイリオ"/>
                <a:cs typeface="メイリオ"/>
              </a:rPr>
              <a:t>者による脆弱性診断を受診し、不良箇所の対策を行います。</a:t>
            </a:r>
          </a:p>
        </p:txBody>
      </p:sp>
      <p:graphicFrame>
        <p:nvGraphicFramePr>
          <p:cNvPr id="13" name="表 12"/>
          <p:cNvGraphicFramePr>
            <a:graphicFrameLocks noGrp="1"/>
          </p:cNvGraphicFramePr>
          <p:nvPr>
            <p:extLst>
              <p:ext uri="{D42A27DB-BD31-4B8C-83A1-F6EECF244321}">
                <p14:modId xmlns:p14="http://schemas.microsoft.com/office/powerpoint/2010/main" val="3357165519"/>
              </p:ext>
            </p:extLst>
          </p:nvPr>
        </p:nvGraphicFramePr>
        <p:xfrm>
          <a:off x="467544" y="4483096"/>
          <a:ext cx="8136904" cy="1867603"/>
        </p:xfrm>
        <a:graphic>
          <a:graphicData uri="http://schemas.openxmlformats.org/drawingml/2006/table">
            <a:tbl>
              <a:tblPr firstRow="1" bandRow="1">
                <a:tableStyleId>{5C22544A-7EE6-4342-B048-85BDC9FD1C3A}</a:tableStyleId>
              </a:tblPr>
              <a:tblGrid>
                <a:gridCol w="1950673">
                  <a:extLst>
                    <a:ext uri="{9D8B030D-6E8A-4147-A177-3AD203B41FA5}">
                      <a16:colId xmlns:a16="http://schemas.microsoft.com/office/drawing/2014/main" val="20000"/>
                    </a:ext>
                  </a:extLst>
                </a:gridCol>
                <a:gridCol w="1725596">
                  <a:extLst>
                    <a:ext uri="{9D8B030D-6E8A-4147-A177-3AD203B41FA5}">
                      <a16:colId xmlns:a16="http://schemas.microsoft.com/office/drawing/2014/main" val="20001"/>
                    </a:ext>
                  </a:extLst>
                </a:gridCol>
                <a:gridCol w="4460635">
                  <a:extLst>
                    <a:ext uri="{9D8B030D-6E8A-4147-A177-3AD203B41FA5}">
                      <a16:colId xmlns:a16="http://schemas.microsoft.com/office/drawing/2014/main" val="20002"/>
                    </a:ext>
                  </a:extLst>
                </a:gridCol>
              </a:tblGrid>
              <a:tr h="426720">
                <a:tc>
                  <a:txBody>
                    <a:bodyPr/>
                    <a:lstStyle/>
                    <a:p>
                      <a:r>
                        <a:rPr kumimoji="1" lang="ja-JP" altLang="en-US" sz="1050" dirty="0">
                          <a:latin typeface="メイリオ" panose="020B0604030504040204" pitchFamily="50" charset="-128"/>
                          <a:ea typeface="メイリオ" panose="020B0604030504040204" pitchFamily="50" charset="-128"/>
                        </a:rPr>
                        <a:t>ベンダー例</a:t>
                      </a:r>
                    </a:p>
                  </a:txBody>
                  <a:tcPr/>
                </a:tc>
                <a:tc>
                  <a:txBody>
                    <a:bodyPr/>
                    <a:lstStyle/>
                    <a:p>
                      <a:r>
                        <a:rPr kumimoji="1" lang="ja-JP" altLang="en-US" sz="1050" dirty="0">
                          <a:latin typeface="メイリオ" panose="020B0604030504040204" pitchFamily="50" charset="-128"/>
                          <a:ea typeface="メイリオ" panose="020B0604030504040204" pitchFamily="50" charset="-128"/>
                        </a:rPr>
                        <a:t>費用感</a:t>
                      </a:r>
                    </a:p>
                  </a:txBody>
                  <a:tcPr/>
                </a:tc>
                <a:tc>
                  <a:txBody>
                    <a:bodyPr/>
                    <a:lstStyle/>
                    <a:p>
                      <a:r>
                        <a:rPr kumimoji="1" lang="ja-JP" altLang="en-US" sz="1050" dirty="0">
                          <a:latin typeface="メイリオ" panose="020B0604030504040204" pitchFamily="50" charset="-128"/>
                          <a:ea typeface="メイリオ" panose="020B0604030504040204" pitchFamily="50" charset="-128"/>
                        </a:rPr>
                        <a:t>説明（当社判定）</a:t>
                      </a:r>
                    </a:p>
                  </a:txBody>
                  <a:tcPr/>
                </a:tc>
                <a:extLst>
                  <a:ext uri="{0D108BD9-81ED-4DB2-BD59-A6C34878D82A}">
                    <a16:rowId xmlns:a16="http://schemas.microsoft.com/office/drawing/2014/main" val="10000"/>
                  </a:ext>
                </a:extLst>
              </a:tr>
              <a:tr h="370840">
                <a:tc>
                  <a:txBody>
                    <a:bodyPr/>
                    <a:lstStyle/>
                    <a:p>
                      <a:r>
                        <a:rPr lang="en-US" altLang="ja-JP" sz="1050" dirty="0">
                          <a:solidFill>
                            <a:schemeClr val="tx1"/>
                          </a:solidFill>
                          <a:latin typeface="メイリオ" panose="020B0604030504040204" pitchFamily="50" charset="-128"/>
                          <a:ea typeface="メイリオ" panose="020B0604030504040204" pitchFamily="50" charset="-128"/>
                        </a:rPr>
                        <a:t>NRI</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数百万</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ロボットおよび人間系による仮想攻撃によって、ほぼすべての脆弱性を検出します。国内最強のサービスですが、高額である上、１－２ヶ月の期間を要します。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4579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z.com cloud</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要見積</a:t>
                      </a:r>
                      <a:endParaRPr kumimoji="1" lang="en-US" altLang="ja-JP" sz="1050" dirty="0">
                        <a:solidFill>
                          <a:srgbClr val="FF0000"/>
                        </a:solidFill>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ロボットによる診断です。トリッキーな攻撃には対処できませんが、リーズナブルで、最低限の脆弱性検出を行えます。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ラック</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100~200</a:t>
                      </a:r>
                      <a:r>
                        <a:rPr kumimoji="1" lang="ja-JP" altLang="en-US" sz="1050" dirty="0">
                          <a:solidFill>
                            <a:schemeClr val="tx1"/>
                          </a:solidFill>
                          <a:latin typeface="メイリオ" panose="020B0604030504040204" pitchFamily="50" charset="-128"/>
                          <a:ea typeface="メイリオ" panose="020B0604030504040204" pitchFamily="50" charset="-128"/>
                        </a:rPr>
                        <a:t>万</a:t>
                      </a:r>
                      <a:endParaRPr kumimoji="1" lang="en-US" altLang="ja-JP" sz="1050" dirty="0">
                        <a:solidFill>
                          <a:schemeClr val="tx1"/>
                        </a:solidFill>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ロボットおよび人間系による仮想攻撃によって脆弱性検出を行います。</a:t>
                      </a:r>
                      <a:r>
                        <a:rPr kumimoji="1" lang="en-US" altLang="ja-JP" sz="1050" dirty="0">
                          <a:solidFill>
                            <a:schemeClr val="tx1"/>
                          </a:solidFill>
                          <a:latin typeface="メイリオ" panose="020B0604030504040204" pitchFamily="50" charset="-128"/>
                          <a:ea typeface="メイリオ" panose="020B0604030504040204" pitchFamily="50" charset="-128"/>
                        </a:rPr>
                        <a:t>NRI</a:t>
                      </a:r>
                      <a:r>
                        <a:rPr kumimoji="1" lang="ja-JP" altLang="en-US" sz="1050" dirty="0" err="1">
                          <a:solidFill>
                            <a:schemeClr val="tx1"/>
                          </a:solidFill>
                          <a:latin typeface="メイリオ" panose="020B0604030504040204" pitchFamily="50" charset="-128"/>
                          <a:ea typeface="メイリオ" panose="020B0604030504040204" pitchFamily="50" charset="-128"/>
                        </a:rPr>
                        <a:t>には</a:t>
                      </a:r>
                      <a:r>
                        <a:rPr kumimoji="1" lang="ja-JP" altLang="en-US" sz="1050" dirty="0">
                          <a:solidFill>
                            <a:schemeClr val="tx1"/>
                          </a:solidFill>
                          <a:latin typeface="メイリオ" panose="020B0604030504040204" pitchFamily="50" charset="-128"/>
                          <a:ea typeface="メイリオ" panose="020B0604030504040204" pitchFamily="50" charset="-128"/>
                        </a:rPr>
                        <a:t>劣りますが、必要十分な脆弱性検出を行えます。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円/楕円 103">
            <a:extLst>
              <a:ext uri="{FF2B5EF4-FFF2-40B4-BE49-F238E27FC236}">
                <a16:creationId xmlns:a16="http://schemas.microsoft.com/office/drawing/2014/main" id="{22F60B6A-5141-46C6-A58C-8CAF6CA8A132}"/>
              </a:ext>
            </a:extLst>
          </p:cNvPr>
          <p:cNvSpPr/>
          <p:nvPr/>
        </p:nvSpPr>
        <p:spPr>
          <a:xfrm>
            <a:off x="6465591" y="4974620"/>
            <a:ext cx="72008" cy="7200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10">
            <a:extLst>
              <a:ext uri="{FF2B5EF4-FFF2-40B4-BE49-F238E27FC236}">
                <a16:creationId xmlns:a16="http://schemas.microsoft.com/office/drawing/2014/main" id="{EA67A01C-6679-4172-BC03-341C831C80B5}"/>
              </a:ext>
            </a:extLst>
          </p:cNvPr>
          <p:cNvSpPr txBox="1">
            <a:spLocks noChangeArrowheads="1"/>
          </p:cNvSpPr>
          <p:nvPr/>
        </p:nvSpPr>
        <p:spPr bwMode="auto">
          <a:xfrm>
            <a:off x="206724" y="734613"/>
            <a:ext cx="8730552" cy="1600438"/>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marL="342900" indent="-342900" fontAlgn="t">
              <a:spcBef>
                <a:spcPct val="50000"/>
              </a:spcBef>
              <a:buFont typeface="+mj-ea"/>
              <a:buAutoNum type="circleNumDbPlain"/>
              <a:defRPr/>
            </a:pPr>
            <a:r>
              <a:rPr lang="ja-JP" altLang="en-US" dirty="0">
                <a:latin typeface="メイリオ"/>
                <a:ea typeface="メイリオ"/>
                <a:cs typeface="メイリオ"/>
              </a:rPr>
              <a:t>サーバサイジングの要素となる同時アクセス数（ログインして画面を開いている人数）の根拠を以下のとおり想定しました。</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リリース時のアクティブユーザ数は</a:t>
            </a:r>
            <a:r>
              <a:rPr lang="en-US" altLang="ja-JP" dirty="0">
                <a:latin typeface="メイリオ"/>
                <a:ea typeface="メイリオ"/>
                <a:cs typeface="メイリオ"/>
              </a:rPr>
              <a:t>3,400</a:t>
            </a:r>
            <a:r>
              <a:rPr lang="ja-JP" altLang="en-US" dirty="0">
                <a:latin typeface="メイリオ"/>
                <a:ea typeface="メイリオ"/>
                <a:cs typeface="メイリオ"/>
              </a:rPr>
              <a:t>名</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リリース</a:t>
            </a:r>
            <a:r>
              <a:rPr lang="en-US" altLang="ja-JP" dirty="0">
                <a:latin typeface="メイリオ"/>
                <a:ea typeface="メイリオ"/>
                <a:cs typeface="メイリオ"/>
              </a:rPr>
              <a:t>5</a:t>
            </a:r>
            <a:r>
              <a:rPr lang="ja-JP" altLang="en-US" dirty="0">
                <a:latin typeface="メイリオ"/>
                <a:ea typeface="メイリオ"/>
                <a:cs typeface="メイリオ"/>
              </a:rPr>
              <a:t>年後、アクティブユーザ数が</a:t>
            </a:r>
            <a:r>
              <a:rPr lang="en-US" altLang="ja-JP" dirty="0">
                <a:latin typeface="メイリオ"/>
                <a:ea typeface="メイリオ"/>
                <a:cs typeface="メイリオ"/>
              </a:rPr>
              <a:t>20</a:t>
            </a:r>
            <a:r>
              <a:rPr lang="ja-JP" altLang="en-US" dirty="0">
                <a:latin typeface="メイリオ"/>
                <a:ea typeface="メイリオ"/>
                <a:cs typeface="メイリオ"/>
              </a:rPr>
              <a:t>％増加する想定</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フロントサイトの想定同時アクセス（ログイン）数は</a:t>
            </a:r>
            <a:r>
              <a:rPr lang="en-US" altLang="ja-JP" dirty="0">
                <a:latin typeface="メイリオ"/>
                <a:ea typeface="メイリオ"/>
                <a:cs typeface="メイリオ"/>
              </a:rPr>
              <a:t>3%</a:t>
            </a:r>
            <a:r>
              <a:rPr lang="ja-JP" altLang="en-US" dirty="0">
                <a:latin typeface="メイリオ"/>
                <a:ea typeface="メイリオ"/>
                <a:cs typeface="メイリオ"/>
              </a:rPr>
              <a:t>と想定（弊社ユーザ企業の平均実績）</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管理サイトの想定同時アクセス（ログイン）数は各担当2名と想定（5年後も据え置き）</a:t>
            </a:r>
            <a:endParaRPr lang="en-US" altLang="ja-JP" dirty="0">
              <a:latin typeface="メイリオ"/>
              <a:ea typeface="メイリオ"/>
              <a:cs typeface="メイリオ"/>
            </a:endParaRPr>
          </a:p>
        </p:txBody>
      </p:sp>
      <p:graphicFrame>
        <p:nvGraphicFramePr>
          <p:cNvPr id="5" name="表 4">
            <a:extLst>
              <a:ext uri="{FF2B5EF4-FFF2-40B4-BE49-F238E27FC236}">
                <a16:creationId xmlns:a16="http://schemas.microsoft.com/office/drawing/2014/main" id="{3C89A41F-7895-4A14-933C-14508DD35181}"/>
              </a:ext>
            </a:extLst>
          </p:cNvPr>
          <p:cNvGraphicFramePr>
            <a:graphicFrameLocks noGrp="1"/>
          </p:cNvGraphicFramePr>
          <p:nvPr>
            <p:extLst>
              <p:ext uri="{D42A27DB-BD31-4B8C-83A1-F6EECF244321}">
                <p14:modId xmlns:p14="http://schemas.microsoft.com/office/powerpoint/2010/main" val="3749650424"/>
              </p:ext>
            </p:extLst>
          </p:nvPr>
        </p:nvGraphicFramePr>
        <p:xfrm>
          <a:off x="488230" y="2420849"/>
          <a:ext cx="7588968" cy="3886200"/>
        </p:xfrm>
        <a:graphic>
          <a:graphicData uri="http://schemas.openxmlformats.org/drawingml/2006/table">
            <a:tbl>
              <a:tblPr firstRow="1" bandRow="1">
                <a:tableStyleId>{5C22544A-7EE6-4342-B048-85BDC9FD1C3A}</a:tableStyleId>
              </a:tblPr>
              <a:tblGrid>
                <a:gridCol w="1780149">
                  <a:extLst>
                    <a:ext uri="{9D8B030D-6E8A-4147-A177-3AD203B41FA5}">
                      <a16:colId xmlns:a16="http://schemas.microsoft.com/office/drawing/2014/main" val="20000"/>
                    </a:ext>
                  </a:extLst>
                </a:gridCol>
                <a:gridCol w="1100526">
                  <a:extLst>
                    <a:ext uri="{9D8B030D-6E8A-4147-A177-3AD203B41FA5}">
                      <a16:colId xmlns:a16="http://schemas.microsoft.com/office/drawing/2014/main" val="52937638"/>
                    </a:ext>
                  </a:extLst>
                </a:gridCol>
                <a:gridCol w="934034">
                  <a:extLst>
                    <a:ext uri="{9D8B030D-6E8A-4147-A177-3AD203B41FA5}">
                      <a16:colId xmlns:a16="http://schemas.microsoft.com/office/drawing/2014/main" val="378807749"/>
                    </a:ext>
                  </a:extLst>
                </a:gridCol>
                <a:gridCol w="1260810">
                  <a:extLst>
                    <a:ext uri="{9D8B030D-6E8A-4147-A177-3AD203B41FA5}">
                      <a16:colId xmlns:a16="http://schemas.microsoft.com/office/drawing/2014/main" val="3267060346"/>
                    </a:ext>
                  </a:extLst>
                </a:gridCol>
                <a:gridCol w="1186664">
                  <a:extLst>
                    <a:ext uri="{9D8B030D-6E8A-4147-A177-3AD203B41FA5}">
                      <a16:colId xmlns:a16="http://schemas.microsoft.com/office/drawing/2014/main" val="2239304346"/>
                    </a:ext>
                  </a:extLst>
                </a:gridCol>
                <a:gridCol w="1326785">
                  <a:extLst>
                    <a:ext uri="{9D8B030D-6E8A-4147-A177-3AD203B41FA5}">
                      <a16:colId xmlns:a16="http://schemas.microsoft.com/office/drawing/2014/main" val="2906314388"/>
                    </a:ext>
                  </a:extLst>
                </a:gridCol>
              </a:tblGrid>
              <a:tr h="259080">
                <a:tc rowSpan="2">
                  <a:txBody>
                    <a:bodyPr/>
                    <a:lstStyle/>
                    <a:p>
                      <a:pPr algn="ctr"/>
                      <a:r>
                        <a:rPr kumimoji="1" lang="ja-JP" altLang="en-US" sz="1050" dirty="0">
                          <a:latin typeface="メイリオ" panose="020B0604030504040204" pitchFamily="50" charset="-128"/>
                          <a:ea typeface="メイリオ" panose="020B0604030504040204" pitchFamily="50" charset="-128"/>
                        </a:rPr>
                        <a:t>利用者</a:t>
                      </a:r>
                    </a:p>
                  </a:txBody>
                  <a:tcPr anchor="ctr"/>
                </a:tc>
                <a:tc rowSpan="2">
                  <a:txBody>
                    <a:bodyPr/>
                    <a:lstStyle/>
                    <a:p>
                      <a:pPr algn="ctr"/>
                      <a:r>
                        <a:rPr kumimoji="1" lang="ja-JP" altLang="en-US" sz="1050" dirty="0">
                          <a:latin typeface="メイリオ" panose="020B0604030504040204" pitchFamily="50" charset="-128"/>
                          <a:ea typeface="メイリオ" panose="020B0604030504040204" pitchFamily="50" charset="-128"/>
                        </a:rPr>
                        <a:t>想定</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利用者数</a:t>
                      </a:r>
                    </a:p>
                  </a:txBody>
                  <a:tcPr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リリース時の想定</a:t>
                      </a: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リリース</a:t>
                      </a:r>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年後の想定利用者数</a:t>
                      </a: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259080">
                <a:tc vMerge="1">
                  <a:txBody>
                    <a:bodyPr/>
                    <a:lstStyle/>
                    <a:p>
                      <a:pPr algn="ctr"/>
                      <a:endParaRPr kumimoji="1" lang="ja-JP" altLang="en-US" sz="1050" dirty="0">
                        <a:latin typeface="メイリオ" panose="020B0604030504040204" pitchFamily="50" charset="-128"/>
                        <a:ea typeface="メイリオ" panose="020B0604030504040204" pitchFamily="50" charset="-128"/>
                      </a:endParaRPr>
                    </a:p>
                  </a:txBody>
                  <a:tcPr/>
                </a:tc>
                <a:tc vMerge="1">
                  <a:txBody>
                    <a:bodyPr/>
                    <a:lstStyle/>
                    <a:p>
                      <a:pPr algn="ct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利用者数</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利用者数</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p>
                  </a:txBody>
                  <a:tcPr/>
                </a:tc>
                <a:extLst>
                  <a:ext uri="{0D108BD9-81ED-4DB2-BD59-A6C34878D82A}">
                    <a16:rowId xmlns:a16="http://schemas.microsoft.com/office/drawing/2014/main" val="980640605"/>
                  </a:ext>
                </a:extLst>
              </a:tr>
              <a:tr h="133729">
                <a:tc gridSpan="3">
                  <a:txBody>
                    <a:bodyPr/>
                    <a:lstStyle/>
                    <a:p>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フロントサイト</a:t>
                      </a:r>
                      <a:r>
                        <a:rPr lang="en-US" altLang="ja-JP" sz="1200" b="1" dirty="0">
                          <a:solidFill>
                            <a:schemeClr val="tx1"/>
                          </a:solidFill>
                          <a:latin typeface="メイリオ" panose="020B0604030504040204" pitchFamily="50" charset="-128"/>
                          <a:ea typeface="メイリオ" panose="020B0604030504040204" pitchFamily="50" charset="-128"/>
                        </a:rPr>
                        <a:t>】</a:t>
                      </a: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algn="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557822620"/>
                  </a:ext>
                </a:extLst>
              </a:tr>
              <a:tr h="133729">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取引先担当者</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800" dirty="0">
                          <a:solidFill>
                            <a:schemeClr val="tx1"/>
                          </a:solidFill>
                          <a:latin typeface="メイリオ" panose="020B0604030504040204" pitchFamily="50" charset="-128"/>
                          <a:ea typeface="メイリオ" panose="020B0604030504040204" pitchFamily="50" charset="-128"/>
                        </a:rPr>
                        <a:t>※</a:t>
                      </a:r>
                      <a:r>
                        <a:rPr lang="ja-JP" altLang="en-US" sz="800" dirty="0">
                          <a:solidFill>
                            <a:schemeClr val="tx1"/>
                          </a:solidFill>
                          <a:latin typeface="メイリオ" panose="020B0604030504040204" pitchFamily="50" charset="-128"/>
                          <a:ea typeface="メイリオ" panose="020B0604030504040204" pitchFamily="50" charset="-128"/>
                        </a:rPr>
                        <a:t>取引先</a:t>
                      </a:r>
                      <a:r>
                        <a:rPr lang="en-US" altLang="ja-JP" sz="800" dirty="0">
                          <a:solidFill>
                            <a:schemeClr val="tx1"/>
                          </a:solidFill>
                          <a:latin typeface="メイリオ" panose="020B0604030504040204" pitchFamily="50" charset="-128"/>
                          <a:ea typeface="メイリオ" panose="020B0604030504040204" pitchFamily="50" charset="-128"/>
                        </a:rPr>
                        <a:t>1,700</a:t>
                      </a:r>
                      <a:r>
                        <a:rPr lang="ja-JP" altLang="en-US" sz="800" dirty="0">
                          <a:solidFill>
                            <a:schemeClr val="tx1"/>
                          </a:solidFill>
                          <a:latin typeface="メイリオ" panose="020B0604030504040204" pitchFamily="50" charset="-128"/>
                          <a:ea typeface="メイリオ" panose="020B0604030504040204" pitchFamily="50" charset="-128"/>
                        </a:rPr>
                        <a:t>社</a:t>
                      </a:r>
                      <a:r>
                        <a:rPr lang="en-US" altLang="ja-JP" sz="800" dirty="0">
                          <a:solidFill>
                            <a:schemeClr val="tx1"/>
                          </a:solidFill>
                          <a:latin typeface="メイリオ" panose="020B0604030504040204" pitchFamily="50" charset="-128"/>
                          <a:ea typeface="メイリオ" panose="020B0604030504040204" pitchFamily="50" charset="-128"/>
                        </a:rPr>
                        <a:t>1</a:t>
                      </a:r>
                      <a:r>
                        <a:rPr lang="ja-JP" altLang="en-US" sz="800" dirty="0">
                          <a:solidFill>
                            <a:schemeClr val="tx1"/>
                          </a:solidFill>
                          <a:latin typeface="メイリオ" panose="020B0604030504040204" pitchFamily="50" charset="-128"/>
                          <a:ea typeface="メイリオ" panose="020B0604030504040204" pitchFamily="50" charset="-128"/>
                        </a:rPr>
                        <a:t>社約</a:t>
                      </a:r>
                      <a:r>
                        <a:rPr lang="en-US" altLang="ja-JP" sz="800" dirty="0">
                          <a:solidFill>
                            <a:schemeClr val="tx1"/>
                          </a:solidFill>
                          <a:latin typeface="メイリオ" panose="020B0604030504040204" pitchFamily="50" charset="-128"/>
                          <a:ea typeface="メイリオ" panose="020B0604030504040204" pitchFamily="50" charset="-128"/>
                        </a:rPr>
                        <a:t>2</a:t>
                      </a:r>
                      <a:r>
                        <a:rPr lang="ja-JP" altLang="en-US" sz="800" dirty="0">
                          <a:solidFill>
                            <a:schemeClr val="tx1"/>
                          </a:solidFill>
                          <a:latin typeface="メイリオ" panose="020B0604030504040204" pitchFamily="50" charset="-128"/>
                          <a:ea typeface="メイリオ" panose="020B0604030504040204" pitchFamily="50" charset="-128"/>
                        </a:rPr>
                        <a:t>名想定</a:t>
                      </a:r>
                      <a:endParaRPr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102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4,080名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123名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1"/>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dirty="0">
                          <a:solidFill>
                            <a:schemeClr val="tx1"/>
                          </a:solidFill>
                          <a:latin typeface="メイリオ" panose="020B0604030504040204" pitchFamily="50" charset="-128"/>
                          <a:ea typeface="メイリオ" panose="020B0604030504040204" pitchFamily="50" charset="-128"/>
                        </a:rPr>
                        <a:t>　小計</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3,400</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102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4,080名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123名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226395339"/>
                  </a:ext>
                </a:extLst>
              </a:tr>
              <a:tr h="133729">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管理サイト</a:t>
                      </a:r>
                      <a:r>
                        <a:rPr lang="en-US" altLang="ja-JP" sz="1200" b="1" dirty="0">
                          <a:solidFill>
                            <a:schemeClr val="tx1"/>
                          </a:solidFill>
                          <a:latin typeface="メイリオ" panose="020B0604030504040204" pitchFamily="50" charset="-128"/>
                          <a:ea typeface="メイリオ" panose="020B0604030504040204" pitchFamily="50" charset="-128"/>
                        </a:rPr>
                        <a:t>】</a:t>
                      </a: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308768117"/>
                  </a:ext>
                </a:extLst>
              </a:tr>
              <a:tr h="1337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貴社スタッフ</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2"/>
                  </a:ext>
                </a:extLst>
              </a:tr>
              <a:tr h="1337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営業担当者 ★随時</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12名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2名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542714949"/>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サイト管理者 ★随時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6名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6620016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カスタマー</a:t>
                      </a:r>
                      <a:endParaRPr lang="en-US" altLang="ja-JP" sz="1050" dirty="0">
                        <a:solidFill>
                          <a:schemeClr val="tx1"/>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サービス（</a:t>
                      </a:r>
                      <a:r>
                        <a:rPr lang="en-US" altLang="ja-JP" sz="1050" dirty="0">
                          <a:solidFill>
                            <a:schemeClr val="tx1"/>
                          </a:solidFill>
                          <a:latin typeface="メイリオ" panose="020B0604030504040204" pitchFamily="50" charset="-128"/>
                          <a:ea typeface="メイリオ" panose="020B0604030504040204" pitchFamily="50" charset="-128"/>
                        </a:rPr>
                        <a:t>CS</a:t>
                      </a:r>
                      <a:r>
                        <a:rPr lang="ja-JP" altLang="en-US" sz="1050" dirty="0">
                          <a:solidFill>
                            <a:schemeClr val="tx1"/>
                          </a:solidFill>
                          <a:latin typeface="メイリオ" panose="020B0604030504040204" pitchFamily="50" charset="-128"/>
                          <a:ea typeface="メイリオ" panose="020B0604030504040204" pitchFamily="50" charset="-128"/>
                        </a:rPr>
                        <a:t>）★常時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6</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6</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7名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6637223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入出庫担当者★常時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4</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4</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5名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8137472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dirty="0">
                          <a:solidFill>
                            <a:schemeClr val="tx1"/>
                          </a:solidFill>
                          <a:latin typeface="メイリオ" panose="020B0604030504040204" pitchFamily="50" charset="-128"/>
                          <a:ea typeface="メイリオ" panose="020B0604030504040204" pitchFamily="50" charset="-128"/>
                        </a:rPr>
                        <a:t>　小計</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8</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30名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8名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7323731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合計</a:t>
                      </a:r>
                      <a:r>
                        <a:rPr lang="en-US" altLang="ja-JP" sz="1050" b="1" dirty="0">
                          <a:solidFill>
                            <a:schemeClr val="tx1"/>
                          </a:solidFill>
                          <a:latin typeface="メイリオ" panose="020B0604030504040204" pitchFamily="50" charset="-128"/>
                          <a:ea typeface="メイリオ" panose="020B0604030504040204" pitchFamily="50" charset="-128"/>
                        </a:rPr>
                        <a:t>】</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3,425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3,425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110名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4,110名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131名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665066673"/>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solidFill>
                            <a:schemeClr val="tx1"/>
                          </a:solidFill>
                          <a:latin typeface="メイリオ" panose="020B0604030504040204" pitchFamily="50" charset="-128"/>
                          <a:ea typeface="メイリオ" panose="020B0604030504040204" pitchFamily="50" charset="-128"/>
                        </a:rPr>
                        <a:t>同時セッション数</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endParaRPr kumimoji="1" lang="en-US" altLang="ja-JP"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200" b="1" dirty="0">
                          <a:solidFill>
                            <a:schemeClr val="tx1"/>
                          </a:solidFill>
                          <a:latin typeface="メイリオ" panose="020B0604030504040204" pitchFamily="50" charset="-128"/>
                          <a:ea typeface="メイリオ" panose="020B0604030504040204" pitchFamily="50" charset="-128"/>
                        </a:rPr>
                        <a:t>4</a:t>
                      </a:r>
                    </a:p>
                  </a:txBody>
                  <a:tcPr anchor="ctr"/>
                </a:tc>
                <a:tc>
                  <a:txBody>
                    <a:bodyPr/>
                    <a:lstStyle/>
                    <a:p>
                      <a:pPr algn="r"/>
                      <a:endParaRPr kumimoji="1" lang="en-US" altLang="ja-JP"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200" b="1" dirty="0">
                          <a:solidFill>
                            <a:schemeClr val="tx1"/>
                          </a:solidFill>
                          <a:latin typeface="メイリオ" panose="020B0604030504040204" pitchFamily="50" charset="-128"/>
                          <a:ea typeface="メイリオ" panose="020B0604030504040204" pitchFamily="50" charset="-128"/>
                        </a:rPr>
                        <a:t>4</a:t>
                      </a:r>
                    </a:p>
                  </a:txBody>
                  <a:tcPr anchor="ctr"/>
                </a:tc>
                <a:extLst>
                  <a:ext uri="{0D108BD9-81ED-4DB2-BD59-A6C34878D82A}">
                    <a16:rowId xmlns:a16="http://schemas.microsoft.com/office/drawing/2014/main" val="1670914217"/>
                  </a:ext>
                </a:extLst>
              </a:tr>
            </a:tbl>
          </a:graphicData>
        </a:graphic>
      </p:graphicFrame>
      <p:sp>
        <p:nvSpPr>
          <p:cNvPr id="13" name="タイトル 1">
            <a:extLst>
              <a:ext uri="{FF2B5EF4-FFF2-40B4-BE49-F238E27FC236}">
                <a16:creationId xmlns:a16="http://schemas.microsoft.com/office/drawing/2014/main" id="{DEF5F0FF-DB7E-4E2A-8563-26223C3BE760}"/>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11.対応内容説明 - システム構成（1/3）</a:t>
            </a:r>
          </a:p>
        </p:txBody>
      </p:sp>
      <p:sp>
        <p:nvSpPr>
          <p:cNvPr id="9" name="正方形/長方形 8">
            <a:extLst>
              <a:ext uri="{FF2B5EF4-FFF2-40B4-BE49-F238E27FC236}">
                <a16:creationId xmlns:a16="http://schemas.microsoft.com/office/drawing/2014/main" id="{900945C4-CF45-57D5-FB2C-3EED1AAFB358}"/>
              </a:ext>
            </a:extLst>
          </p:cNvPr>
          <p:cNvSpPr/>
          <p:nvPr/>
        </p:nvSpPr>
        <p:spPr>
          <a:xfrm>
            <a:off x="5570030" y="2420849"/>
            <a:ext cx="2507168" cy="3886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4AA0FF88-D3EC-977D-77AC-E27FBB075743}"/>
              </a:ext>
            </a:extLst>
          </p:cNvPr>
          <p:cNvSpPr txBox="1"/>
          <p:nvPr/>
        </p:nvSpPr>
        <p:spPr>
          <a:xfrm>
            <a:off x="440099" y="6314279"/>
            <a:ext cx="8263801" cy="246221"/>
          </a:xfrm>
          <a:prstGeom prst="rect">
            <a:avLst/>
          </a:prstGeom>
          <a:noFill/>
        </p:spPr>
        <p:txBody>
          <a:bodyPr wrap="none" rtlCol="0">
            <a:spAutoFit/>
          </a:bodyPr>
          <a:lstStyle/>
          <a:p>
            <a:r>
              <a:rPr lang="en-US" altLang="ja-JP" sz="1000" dirty="0">
                <a:solidFill>
                  <a:srgbClr val="C00000"/>
                </a:solidFill>
                <a:latin typeface="メイリオ"/>
                <a:ea typeface="メイリオ"/>
                <a:cs typeface="メイリオ"/>
              </a:rPr>
              <a:t>※</a:t>
            </a:r>
            <a:r>
              <a:rPr lang="ja-JP" altLang="en-US" sz="1000" dirty="0">
                <a:solidFill>
                  <a:srgbClr val="C00000"/>
                </a:solidFill>
                <a:latin typeface="メイリオ"/>
                <a:ea typeface="メイリオ"/>
                <a:cs typeface="メイリオ"/>
              </a:rPr>
              <a:t>同時セッション数とは、コンピュータが同時に処理する数のことです。例えば利用者が同時に実行ボタンを押した際に処理できる数です。</a:t>
            </a:r>
            <a:endParaRPr lang="en-US" altLang="ja-JP" sz="1000" dirty="0">
              <a:solidFill>
                <a:srgbClr val="C00000"/>
              </a:solidFill>
              <a:latin typeface="メイリオ"/>
              <a:ea typeface="メイリオ"/>
              <a:cs typeface="メイリオ"/>
            </a:endParaRPr>
          </a:p>
          <a:p>
            <a:r>
              <a:rPr lang="en-US" altLang="ja-JP" sz="1000" dirty="0">
                <a:solidFill>
                  <a:srgbClr val="C00000"/>
                </a:solidFill>
                <a:latin typeface="メイリオ"/>
                <a:ea typeface="メイリオ"/>
                <a:cs typeface="メイリオ"/>
              </a:rPr>
              <a:t>※SLA記載の同時接続利用者数100名（最善努力型）に対し、本案件は同時接続150名を目標値として別途調整します。</a:t>
            </a:r>
            <a:endParaRPr lang="en-US" altLang="ja-JP" sz="1000" dirty="0">
              <a:solidFill>
                <a:srgbClr val="C00000"/>
              </a:solidFill>
              <a:latin typeface="メイリオ"/>
              <a:ea typeface="メイリオ"/>
              <a:cs typeface="メイリオ"/>
            </a:endParaRPr>
          </a:p>
        </p:txBody>
      </p:sp>
    </p:spTree>
    <p:extLst>
      <p:ext uri="{BB962C8B-B14F-4D97-AF65-F5344CB8AC3E}">
        <p14:creationId xmlns:p14="http://schemas.microsoft.com/office/powerpoint/2010/main" val="3874569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円/楕円 103">
            <a:extLst>
              <a:ext uri="{FF2B5EF4-FFF2-40B4-BE49-F238E27FC236}">
                <a16:creationId xmlns:a16="http://schemas.microsoft.com/office/drawing/2014/main" id="{22F60B6A-5141-46C6-A58C-8CAF6CA8A132}"/>
              </a:ext>
            </a:extLst>
          </p:cNvPr>
          <p:cNvSpPr/>
          <p:nvPr/>
        </p:nvSpPr>
        <p:spPr>
          <a:xfrm>
            <a:off x="6277332" y="6140034"/>
            <a:ext cx="72008" cy="7200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10">
            <a:extLst>
              <a:ext uri="{FF2B5EF4-FFF2-40B4-BE49-F238E27FC236}">
                <a16:creationId xmlns:a16="http://schemas.microsoft.com/office/drawing/2014/main" id="{EA67A01C-6679-4172-BC03-341C831C80B5}"/>
              </a:ext>
            </a:extLst>
          </p:cNvPr>
          <p:cNvSpPr txBox="1">
            <a:spLocks noChangeArrowheads="1"/>
          </p:cNvSpPr>
          <p:nvPr/>
        </p:nvSpPr>
        <p:spPr bwMode="auto">
          <a:xfrm>
            <a:off x="169228" y="681070"/>
            <a:ext cx="8724873" cy="4508927"/>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marL="342900" indent="-342900" fontAlgn="t">
              <a:spcBef>
                <a:spcPct val="50000"/>
              </a:spcBef>
              <a:buFont typeface="+mj-ea"/>
              <a:buAutoNum type="circleNumDbPlain" startAt="2"/>
              <a:defRPr/>
            </a:pPr>
            <a:r>
              <a:rPr lang="ja-JP" altLang="en-US" dirty="0">
                <a:latin typeface="メイリオ"/>
                <a:ea typeface="メイリオ"/>
                <a:cs typeface="メイリオ"/>
              </a:rPr>
              <a:t>サーバサイジングの要素となる同時セッション数（同時に処理する件数）をピーク月（7月）の注文件数を根拠として想定しました。</a:t>
            </a: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r>
              <a:rPr lang="ja-JP" altLang="en-US" dirty="0">
                <a:latin typeface="メイリオ"/>
                <a:ea typeface="メイリオ"/>
                <a:cs typeface="メイリオ"/>
              </a:rPr>
              <a:t>11.および本ページの結果より、リリース当初は同時セッション数=4（フロント2、管理2）をこなす能力のサーバを導入し、リリース後にレスポンス状況を監視してサーバのスペックアップをしていくことをご提案します。</a:t>
            </a: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r>
              <a:rPr lang="ja-JP" altLang="en-US" dirty="0">
                <a:latin typeface="メイリオ"/>
                <a:ea typeface="メイリオ"/>
                <a:cs typeface="メイリオ"/>
              </a:rPr>
              <a:t>以下にサイジング結果を提示します。</a:t>
            </a:r>
            <a:endParaRPr lang="en-US" altLang="ja-JP" dirty="0">
              <a:latin typeface="メイリオ"/>
              <a:ea typeface="メイリオ"/>
              <a:cs typeface="メイリオ"/>
            </a:endParaRPr>
          </a:p>
        </p:txBody>
      </p:sp>
      <p:graphicFrame>
        <p:nvGraphicFramePr>
          <p:cNvPr id="5" name="表 4">
            <a:extLst>
              <a:ext uri="{FF2B5EF4-FFF2-40B4-BE49-F238E27FC236}">
                <a16:creationId xmlns:a16="http://schemas.microsoft.com/office/drawing/2014/main" id="{3C89A41F-7895-4A14-933C-14508DD35181}"/>
              </a:ext>
            </a:extLst>
          </p:cNvPr>
          <p:cNvGraphicFramePr>
            <a:graphicFrameLocks noGrp="1"/>
          </p:cNvGraphicFramePr>
          <p:nvPr>
            <p:extLst>
              <p:ext uri="{D42A27DB-BD31-4B8C-83A1-F6EECF244321}">
                <p14:modId xmlns:p14="http://schemas.microsoft.com/office/powerpoint/2010/main" val="1446461753"/>
              </p:ext>
            </p:extLst>
          </p:nvPr>
        </p:nvGraphicFramePr>
        <p:xfrm>
          <a:off x="249900" y="1249758"/>
          <a:ext cx="8644203" cy="1986503"/>
        </p:xfrm>
        <a:graphic>
          <a:graphicData uri="http://schemas.openxmlformats.org/drawingml/2006/table">
            <a:tbl>
              <a:tblPr firstRow="1" bandRow="1">
                <a:tableStyleId>{5C22544A-7EE6-4342-B048-85BDC9FD1C3A}</a:tableStyleId>
              </a:tblPr>
              <a:tblGrid>
                <a:gridCol w="907550">
                  <a:extLst>
                    <a:ext uri="{9D8B030D-6E8A-4147-A177-3AD203B41FA5}">
                      <a16:colId xmlns:a16="http://schemas.microsoft.com/office/drawing/2014/main" val="20000"/>
                    </a:ext>
                  </a:extLst>
                </a:gridCol>
                <a:gridCol w="1275587">
                  <a:extLst>
                    <a:ext uri="{9D8B030D-6E8A-4147-A177-3AD203B41FA5}">
                      <a16:colId xmlns:a16="http://schemas.microsoft.com/office/drawing/2014/main" val="52937638"/>
                    </a:ext>
                  </a:extLst>
                </a:gridCol>
                <a:gridCol w="1357588">
                  <a:extLst>
                    <a:ext uri="{9D8B030D-6E8A-4147-A177-3AD203B41FA5}">
                      <a16:colId xmlns:a16="http://schemas.microsoft.com/office/drawing/2014/main" val="378807749"/>
                    </a:ext>
                  </a:extLst>
                </a:gridCol>
                <a:gridCol w="1239141">
                  <a:extLst>
                    <a:ext uri="{9D8B030D-6E8A-4147-A177-3AD203B41FA5}">
                      <a16:colId xmlns:a16="http://schemas.microsoft.com/office/drawing/2014/main" val="3267060346"/>
                    </a:ext>
                  </a:extLst>
                </a:gridCol>
                <a:gridCol w="1239141">
                  <a:extLst>
                    <a:ext uri="{9D8B030D-6E8A-4147-A177-3AD203B41FA5}">
                      <a16:colId xmlns:a16="http://schemas.microsoft.com/office/drawing/2014/main" val="3006168762"/>
                    </a:ext>
                  </a:extLst>
                </a:gridCol>
                <a:gridCol w="1133218">
                  <a:extLst>
                    <a:ext uri="{9D8B030D-6E8A-4147-A177-3AD203B41FA5}">
                      <a16:colId xmlns:a16="http://schemas.microsoft.com/office/drawing/2014/main" val="4160195587"/>
                    </a:ext>
                  </a:extLst>
                </a:gridCol>
                <a:gridCol w="1491978">
                  <a:extLst>
                    <a:ext uri="{9D8B030D-6E8A-4147-A177-3AD203B41FA5}">
                      <a16:colId xmlns:a16="http://schemas.microsoft.com/office/drawing/2014/main" val="3347896428"/>
                    </a:ext>
                  </a:extLst>
                </a:gridCol>
              </a:tblGrid>
              <a:tr h="576727">
                <a:tc>
                  <a:txBody>
                    <a:bodyPr/>
                    <a:lstStyle/>
                    <a:p>
                      <a:pPr algn="ctr"/>
                      <a:r>
                        <a:rPr kumimoji="1" lang="ja-JP" altLang="en-US" sz="1050" dirty="0">
                          <a:latin typeface="メイリオ" panose="020B0604030504040204" pitchFamily="50" charset="-128"/>
                          <a:ea typeface="メイリオ" panose="020B0604030504040204" pitchFamily="50" charset="-128"/>
                        </a:rPr>
                        <a:t>成長</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倍率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ピーク月</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(件/月)</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日平均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(件/日)</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※30日/月換算</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時間平均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(件/時)</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※8時間/日換算</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分平均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件</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分</a:t>
                      </a:r>
                      <a:r>
                        <a:rPr kumimoji="1" lang="en-US" altLang="ja-JP" sz="1050" dirty="0">
                          <a:latin typeface="メイリオ" panose="020B0604030504040204" pitchFamily="50" charset="-128"/>
                          <a:ea typeface="メイリオ"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閲覧人数</a:t>
                      </a:r>
                      <a:r>
                        <a:rPr kumimoji="1" lang="en-US" altLang="ja-JP" sz="1050" dirty="0">
                          <a:latin typeface="メイリオ" panose="020B0604030504040204" pitchFamily="50" charset="-128"/>
                          <a:ea typeface="メイリオ" panose="020B0604030504040204" pitchFamily="50" charset="-128"/>
                        </a:rPr>
                        <a:t>)</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同時セッション</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同時処理</a:t>
                      </a:r>
                      <a:r>
                        <a:rPr kumimoji="1" lang="en-US" altLang="ja-JP" sz="1050" dirty="0">
                          <a:latin typeface="メイリオ" panose="020B0604030504040204" pitchFamily="50" charset="-128"/>
                          <a:ea typeface="メイリオ" panose="020B0604030504040204" pitchFamily="50" charset="-128"/>
                        </a:rPr>
                        <a:t>)</a:t>
                      </a:r>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現状</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29,232</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974</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122</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2.0</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0.105</a:t>
                      </a:r>
                    </a:p>
                  </a:txBody>
                  <a:tcPr anchor="ctr"/>
                </a:tc>
                <a:extLst>
                  <a:ext uri="{0D108BD9-81ED-4DB2-BD59-A6C34878D82A}">
                    <a16:rowId xmlns:a16="http://schemas.microsoft.com/office/drawing/2014/main" val="3640123824"/>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1.2</a:t>
                      </a:r>
                      <a:r>
                        <a:rPr kumimoji="1" lang="ja-JP" altLang="en-US" sz="1050" dirty="0">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35,078</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1,169</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146</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2.4</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25</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0.125</a:t>
                      </a:r>
                    </a:p>
                  </a:txBody>
                  <a:tcPr anchor="ctr"/>
                </a:tc>
                <a:extLst>
                  <a:ext uri="{0D108BD9-81ED-4DB2-BD59-A6C34878D82A}">
                    <a16:rowId xmlns:a16="http://schemas.microsoft.com/office/drawing/2014/main" val="10001"/>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1.5</a:t>
                      </a:r>
                      <a:r>
                        <a:rPr kumimoji="1" lang="ja-JP" altLang="en-US" sz="1050" dirty="0">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43,848</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1,462</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183</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3.0</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0.155</a:t>
                      </a:r>
                    </a:p>
                  </a:txBody>
                  <a:tcPr anchor="ctr"/>
                </a:tc>
                <a:extLst>
                  <a:ext uri="{0D108BD9-81ED-4DB2-BD59-A6C34878D82A}">
                    <a16:rowId xmlns:a16="http://schemas.microsoft.com/office/drawing/2014/main" val="2226395339"/>
                  </a:ext>
                </a:extLst>
              </a:tr>
              <a:tr h="3524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2</a:t>
                      </a:r>
                      <a:r>
                        <a:rPr lang="ja-JP" altLang="en-US" sz="1050" dirty="0">
                          <a:solidFill>
                            <a:schemeClr val="tx1"/>
                          </a:solidFill>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58,464</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1,949</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244</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4.1</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0.205</a:t>
                      </a:r>
                    </a:p>
                  </a:txBody>
                  <a:tcPr anchor="ctr"/>
                </a:tc>
                <a:extLst>
                  <a:ext uri="{0D108BD9-81ED-4DB2-BD59-A6C34878D82A}">
                    <a16:rowId xmlns:a16="http://schemas.microsoft.com/office/drawing/2014/main" val="10002"/>
                  </a:ext>
                </a:extLst>
              </a:tr>
            </a:tbl>
          </a:graphicData>
        </a:graphic>
      </p:graphicFrame>
      <p:sp>
        <p:nvSpPr>
          <p:cNvPr id="13" name="タイトル 1">
            <a:extLst>
              <a:ext uri="{FF2B5EF4-FFF2-40B4-BE49-F238E27FC236}">
                <a16:creationId xmlns:a16="http://schemas.microsoft.com/office/drawing/2014/main" id="{DEF5F0FF-DB7E-4E2A-8563-26223C3BE760}"/>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12.対応内容説明 - システム構成（2/3）</a:t>
            </a:r>
          </a:p>
        </p:txBody>
      </p:sp>
      <p:graphicFrame>
        <p:nvGraphicFramePr>
          <p:cNvPr id="6" name="表 5">
            <a:extLst>
              <a:ext uri="{FF2B5EF4-FFF2-40B4-BE49-F238E27FC236}">
                <a16:creationId xmlns:a16="http://schemas.microsoft.com/office/drawing/2014/main" id="{175853C5-E8ED-5854-60ED-761A1E2DE16B}"/>
              </a:ext>
            </a:extLst>
          </p:cNvPr>
          <p:cNvGraphicFramePr>
            <a:graphicFrameLocks noGrp="1"/>
          </p:cNvGraphicFramePr>
          <p:nvPr>
            <p:extLst>
              <p:ext uri="{D42A27DB-BD31-4B8C-83A1-F6EECF244321}">
                <p14:modId xmlns:p14="http://schemas.microsoft.com/office/powerpoint/2010/main" val="1365649913"/>
              </p:ext>
            </p:extLst>
          </p:nvPr>
        </p:nvGraphicFramePr>
        <p:xfrm>
          <a:off x="254537" y="5225364"/>
          <a:ext cx="6229219" cy="914400"/>
        </p:xfrm>
        <a:graphic>
          <a:graphicData uri="http://schemas.openxmlformats.org/drawingml/2006/table">
            <a:tbl>
              <a:tblPr firstRow="1" bandRow="1">
                <a:tableStyleId>{5C22544A-7EE6-4342-B048-85BDC9FD1C3A}</a:tableStyleId>
              </a:tblPr>
              <a:tblGrid>
                <a:gridCol w="1054286">
                  <a:extLst>
                    <a:ext uri="{9D8B030D-6E8A-4147-A177-3AD203B41FA5}">
                      <a16:colId xmlns:a16="http://schemas.microsoft.com/office/drawing/2014/main" val="20000"/>
                    </a:ext>
                  </a:extLst>
                </a:gridCol>
                <a:gridCol w="1052830">
                  <a:extLst>
                    <a:ext uri="{9D8B030D-6E8A-4147-A177-3AD203B41FA5}">
                      <a16:colId xmlns:a16="http://schemas.microsoft.com/office/drawing/2014/main" val="3343897986"/>
                    </a:ext>
                  </a:extLst>
                </a:gridCol>
                <a:gridCol w="908368">
                  <a:extLst>
                    <a:ext uri="{9D8B030D-6E8A-4147-A177-3AD203B41FA5}">
                      <a16:colId xmlns:a16="http://schemas.microsoft.com/office/drawing/2014/main" val="20001"/>
                    </a:ext>
                  </a:extLst>
                </a:gridCol>
                <a:gridCol w="1029018">
                  <a:extLst>
                    <a:ext uri="{9D8B030D-6E8A-4147-A177-3AD203B41FA5}">
                      <a16:colId xmlns:a16="http://schemas.microsoft.com/office/drawing/2014/main" val="1652644985"/>
                    </a:ext>
                  </a:extLst>
                </a:gridCol>
                <a:gridCol w="949450">
                  <a:extLst>
                    <a:ext uri="{9D8B030D-6E8A-4147-A177-3AD203B41FA5}">
                      <a16:colId xmlns:a16="http://schemas.microsoft.com/office/drawing/2014/main" val="20002"/>
                    </a:ext>
                  </a:extLst>
                </a:gridCol>
                <a:gridCol w="1235267">
                  <a:extLst>
                    <a:ext uri="{9D8B030D-6E8A-4147-A177-3AD203B41FA5}">
                      <a16:colId xmlns:a16="http://schemas.microsoft.com/office/drawing/2014/main" val="1473744288"/>
                    </a:ext>
                  </a:extLst>
                </a:gridCol>
              </a:tblGrid>
              <a:tr h="129540">
                <a:tc rowSpan="2">
                  <a:txBody>
                    <a:bodyPr/>
                    <a:lstStyle/>
                    <a:p>
                      <a:pPr algn="ctr"/>
                      <a:r>
                        <a:rPr kumimoji="1" lang="ja-JP" altLang="en-US" sz="1050" dirty="0">
                          <a:latin typeface="メイリオ" panose="020B0604030504040204" pitchFamily="50" charset="-128"/>
                          <a:ea typeface="メイリオ" panose="020B0604030504040204" pitchFamily="50" charset="-128"/>
                        </a:rPr>
                        <a:t>サーバ</a:t>
                      </a:r>
                    </a:p>
                  </a:txBody>
                  <a:tcPr anchor="ctr"/>
                </a:tc>
                <a:tc rowSpan="2">
                  <a:txBody>
                    <a:bodyPr/>
                    <a:lstStyle/>
                    <a:p>
                      <a:pPr algn="ctr"/>
                      <a:r>
                        <a:rPr kumimoji="1" lang="ja-JP" altLang="en-US" sz="1050" dirty="0">
                          <a:latin typeface="メイリオ" panose="020B0604030504040204" pitchFamily="50" charset="-128"/>
                          <a:ea typeface="メイリオ" panose="020B0604030504040204" pitchFamily="50" charset="-128"/>
                        </a:rPr>
                        <a:t>必要</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セッション数</a:t>
                      </a:r>
                    </a:p>
                  </a:txBody>
                  <a:tcPr anchor="ctr"/>
                </a:tc>
                <a:tc gridSpan="2">
                  <a:txBody>
                    <a:bodyPr/>
                    <a:lstStyle/>
                    <a:p>
                      <a:pPr algn="ctr"/>
                      <a:r>
                        <a:rPr kumimoji="1" lang="ja-JP" altLang="en-US" sz="1050" dirty="0">
                          <a:latin typeface="メイリオ" panose="020B0604030504040204" pitchFamily="50" charset="-128"/>
                          <a:ea typeface="メイリオ" panose="020B0604030504040204" pitchFamily="50" charset="-128"/>
                        </a:rPr>
                        <a:t>プラン</a:t>
                      </a:r>
                      <a:r>
                        <a:rPr kumimoji="1" lang="en-US" altLang="ja-JP" sz="1050" dirty="0">
                          <a:latin typeface="メイリオ" panose="020B0604030504040204" pitchFamily="50" charset="-128"/>
                          <a:ea typeface="メイリオ" panose="020B0604030504040204" pitchFamily="50" charset="-128"/>
                        </a:rPr>
                        <a:t>1</a:t>
                      </a:r>
                      <a:r>
                        <a:rPr kumimoji="1" lang="ja-JP" altLang="en-US" sz="1050" dirty="0">
                          <a:latin typeface="メイリオ" panose="020B0604030504040204" pitchFamily="50" charset="-128"/>
                          <a:ea typeface="メイリオ" panose="020B0604030504040204" pitchFamily="50" charset="-128"/>
                        </a:rPr>
                        <a:t>（標準）</a:t>
                      </a:r>
                    </a:p>
                  </a:txBody>
                  <a:tcPr/>
                </a:tc>
                <a:tc hMerge="1">
                  <a:txBody>
                    <a:bodyPr/>
                    <a:lstStyle/>
                    <a:p>
                      <a:endParaRPr kumimoji="1" lang="ja-JP" altLang="en-US" sz="1100" dirty="0"/>
                    </a:p>
                  </a:txBody>
                  <a:tcPr/>
                </a:tc>
                <a:tc gridSpan="2">
                  <a:txBody>
                    <a:bodyPr/>
                    <a:lstStyle/>
                    <a:p>
                      <a:pPr algn="ctr"/>
                      <a:r>
                        <a:rPr kumimoji="1" lang="ja-JP" altLang="en-US" sz="1050" dirty="0">
                          <a:latin typeface="メイリオ" panose="020B0604030504040204" pitchFamily="50" charset="-128"/>
                          <a:ea typeface="メイリオ" panose="020B0604030504040204" pitchFamily="50" charset="-128"/>
                        </a:rPr>
                        <a:t>プラン</a:t>
                      </a:r>
                      <a:r>
                        <a:rPr kumimoji="1" lang="en-US" altLang="ja-JP" sz="1050" dirty="0">
                          <a:latin typeface="メイリオ" panose="020B0604030504040204" pitchFamily="50" charset="-128"/>
                          <a:ea typeface="メイリオ" panose="020B0604030504040204" pitchFamily="50" charset="-128"/>
                        </a:rPr>
                        <a:t>2</a:t>
                      </a:r>
                      <a:r>
                        <a:rPr kumimoji="1" lang="ja-JP" altLang="en-US" sz="1050" dirty="0">
                          <a:latin typeface="メイリオ" panose="020B0604030504040204" pitchFamily="50" charset="-128"/>
                          <a:ea typeface="メイリオ" panose="020B0604030504040204" pitchFamily="50" charset="-128"/>
                        </a:rPr>
                        <a:t>（拡張）</a:t>
                      </a:r>
                    </a:p>
                  </a:txBody>
                  <a:tcPr/>
                </a:tc>
                <a:tc hMerge="1">
                  <a:txBody>
                    <a:bodyPr/>
                    <a:lstStyle/>
                    <a:p>
                      <a:endParaRPr kumimoji="1" lang="ja-JP" altLang="en-US" sz="1100" dirty="0"/>
                    </a:p>
                  </a:txBody>
                  <a:tcPr/>
                </a:tc>
                <a:extLst>
                  <a:ext uri="{0D108BD9-81ED-4DB2-BD59-A6C34878D82A}">
                    <a16:rowId xmlns:a16="http://schemas.microsoft.com/office/drawing/2014/main" val="10000"/>
                  </a:ext>
                </a:extLst>
              </a:tr>
              <a:tr h="166496">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SPEC</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セッション数</a:t>
                      </a:r>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SPEC</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セッション数</a:t>
                      </a:r>
                    </a:p>
                  </a:txBody>
                  <a:tcPr/>
                </a:tc>
                <a:extLst>
                  <a:ext uri="{0D108BD9-81ED-4DB2-BD59-A6C34878D82A}">
                    <a16:rowId xmlns:a16="http://schemas.microsoft.com/office/drawing/2014/main" val="2802901355"/>
                  </a:ext>
                </a:extLst>
              </a:tr>
              <a:tr h="193547">
                <a:tc>
                  <a:txBody>
                    <a:bodyPr/>
                    <a:lstStyle/>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サーバ</a:t>
                      </a:r>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ctr"/>
                      <a:r>
                        <a:rPr lang="en-US" altLang="ja-JP" sz="1050" dirty="0">
                          <a:solidFill>
                            <a:schemeClr val="tx1"/>
                          </a:solidFill>
                          <a:latin typeface="メイリオ" panose="020B0604030504040204" pitchFamily="50" charset="-128"/>
                          <a:ea typeface="メイリオ" panose="020B0604030504040204" pitchFamily="50" charset="-128"/>
                        </a:rPr>
                        <a:t>4</a:t>
                      </a:r>
                    </a:p>
                  </a:txBody>
                  <a:tcPr anchor="ctr"/>
                </a:tc>
                <a:tc>
                  <a:txBody>
                    <a:bodyPr/>
                    <a:lstStyle/>
                    <a:p>
                      <a:pPr algn="ctr"/>
                      <a:r>
                        <a:rPr kumimoji="1" lang="en-US" altLang="ja-JP" sz="1050" dirty="0">
                          <a:solidFill>
                            <a:schemeClr val="tx1"/>
                          </a:solidFill>
                          <a:latin typeface="メイリオ" panose="020B0604030504040204" pitchFamily="50" charset="-128"/>
                          <a:ea typeface="メイリオ" panose="020B0604030504040204" pitchFamily="50" charset="-128"/>
                        </a:rPr>
                        <a:t>2</a:t>
                      </a:r>
                      <a:r>
                        <a:rPr kumimoji="1" lang="ja-JP" altLang="en-US" sz="1050" dirty="0">
                          <a:solidFill>
                            <a:schemeClr val="tx1"/>
                          </a:solidFill>
                          <a:latin typeface="メイリオ" panose="020B0604030504040204" pitchFamily="50" charset="-128"/>
                          <a:ea typeface="メイリオ" panose="020B0604030504040204" pitchFamily="50" charset="-128"/>
                        </a:rPr>
                        <a:t>コア</a:t>
                      </a:r>
                      <a:r>
                        <a:rPr kumimoji="1" lang="en-US" altLang="ja-JP" sz="1050" dirty="0">
                          <a:solidFill>
                            <a:schemeClr val="tx1"/>
                          </a:solidFill>
                          <a:latin typeface="メイリオ" panose="020B0604030504040204" pitchFamily="50" charset="-128"/>
                          <a:ea typeface="メイリオ" panose="020B0604030504040204" pitchFamily="50" charset="-128"/>
                        </a:rPr>
                        <a:t>/4GB</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4×1</a:t>
                      </a:r>
                      <a:r>
                        <a:rPr kumimoji="1" lang="ja-JP" altLang="en-US" sz="1050" dirty="0">
                          <a:solidFill>
                            <a:schemeClr val="tx1"/>
                          </a:solidFill>
                          <a:latin typeface="メイリオ" panose="020B0604030504040204" pitchFamily="50" charset="-128"/>
                          <a:ea typeface="メイリオ" panose="020B0604030504040204" pitchFamily="50" charset="-128"/>
                        </a:rPr>
                        <a:t>台</a:t>
                      </a:r>
                      <a:r>
                        <a:rPr kumimoji="1" lang="en-US" altLang="ja-JP" sz="1050" dirty="0">
                          <a:solidFill>
                            <a:schemeClr val="tx1"/>
                          </a:solidFill>
                          <a:latin typeface="メイリオ" panose="020B0604030504040204" pitchFamily="50" charset="-128"/>
                          <a:ea typeface="メイリオ" panose="020B0604030504040204" pitchFamily="50" charset="-128"/>
                        </a:rPr>
                        <a:t>=4</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ctr"/>
                      <a:r>
                        <a:rPr kumimoji="1" lang="en-US" altLang="ja-JP" sz="1050" dirty="0">
                          <a:solidFill>
                            <a:schemeClr val="tx1"/>
                          </a:solidFill>
                          <a:latin typeface="メイリオ" panose="020B0604030504040204" pitchFamily="50" charset="-128"/>
                          <a:ea typeface="メイリオ" panose="020B0604030504040204" pitchFamily="50" charset="-128"/>
                        </a:rPr>
                        <a:t>4</a:t>
                      </a:r>
                      <a:r>
                        <a:rPr kumimoji="1" lang="ja-JP" altLang="en-US" sz="1050" dirty="0">
                          <a:solidFill>
                            <a:schemeClr val="tx1"/>
                          </a:solidFill>
                          <a:latin typeface="メイリオ" panose="020B0604030504040204" pitchFamily="50" charset="-128"/>
                          <a:ea typeface="メイリオ" panose="020B0604030504040204" pitchFamily="50" charset="-128"/>
                        </a:rPr>
                        <a:t>コア</a:t>
                      </a:r>
                      <a:r>
                        <a:rPr kumimoji="1" lang="en-US" altLang="ja-JP" sz="1050" dirty="0">
                          <a:solidFill>
                            <a:schemeClr val="tx1"/>
                          </a:solidFill>
                          <a:latin typeface="メイリオ" panose="020B0604030504040204" pitchFamily="50" charset="-128"/>
                          <a:ea typeface="メイリオ" panose="020B0604030504040204" pitchFamily="50" charset="-128"/>
                        </a:rPr>
                        <a:t>/8GB</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4×2</a:t>
                      </a:r>
                      <a:r>
                        <a:rPr kumimoji="1" lang="ja-JP" altLang="en-US" sz="1050" dirty="0">
                          <a:solidFill>
                            <a:schemeClr val="tx1"/>
                          </a:solidFill>
                          <a:latin typeface="メイリオ" panose="020B0604030504040204" pitchFamily="50" charset="-128"/>
                          <a:ea typeface="メイリオ" panose="020B0604030504040204" pitchFamily="50" charset="-128"/>
                        </a:rPr>
                        <a:t>台</a:t>
                      </a:r>
                      <a:r>
                        <a:rPr kumimoji="1" lang="en-US" altLang="ja-JP" sz="1050" dirty="0">
                          <a:solidFill>
                            <a:schemeClr val="tx1"/>
                          </a:solidFill>
                          <a:latin typeface="メイリオ" panose="020B0604030504040204" pitchFamily="50" charset="-128"/>
                          <a:ea typeface="メイリオ" panose="020B0604030504040204" pitchFamily="50" charset="-128"/>
                        </a:rPr>
                        <a:t>=8</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1"/>
                  </a:ext>
                </a:extLst>
              </a:tr>
            </a:tbl>
          </a:graphicData>
        </a:graphic>
      </p:graphicFrame>
      <p:sp>
        <p:nvSpPr>
          <p:cNvPr id="7" name="正方形/長方形 6">
            <a:extLst>
              <a:ext uri="{FF2B5EF4-FFF2-40B4-BE49-F238E27FC236}">
                <a16:creationId xmlns:a16="http://schemas.microsoft.com/office/drawing/2014/main" id="{872F87E3-AC32-AA1B-E9A6-527DCD12E71A}"/>
              </a:ext>
            </a:extLst>
          </p:cNvPr>
          <p:cNvSpPr/>
          <p:nvPr/>
        </p:nvSpPr>
        <p:spPr>
          <a:xfrm>
            <a:off x="249897" y="2838966"/>
            <a:ext cx="8644203" cy="3972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60A05AA-4D2A-9A74-C849-BBEBCC4BA720}"/>
              </a:ext>
            </a:extLst>
          </p:cNvPr>
          <p:cNvSpPr/>
          <p:nvPr/>
        </p:nvSpPr>
        <p:spPr>
          <a:xfrm>
            <a:off x="2350274" y="5225364"/>
            <a:ext cx="1961459" cy="914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49EB3255-2321-5F66-3ED9-E73C80C447E5}"/>
              </a:ext>
            </a:extLst>
          </p:cNvPr>
          <p:cNvSpPr txBox="1"/>
          <p:nvPr/>
        </p:nvSpPr>
        <p:spPr>
          <a:xfrm>
            <a:off x="249897" y="3321658"/>
            <a:ext cx="7678705" cy="769441"/>
          </a:xfrm>
          <a:prstGeom prst="rect">
            <a:avLst/>
          </a:prstGeom>
          <a:noFill/>
        </p:spPr>
        <p:txBody>
          <a:bodyPr wrap="none" rtlCol="0">
            <a:spAutoFit/>
          </a:bodyPr>
          <a:lstStyle/>
          <a:p>
            <a:r>
              <a:rPr lang="en-US" altLang="ja-JP" sz="1100" dirty="0">
                <a:latin typeface="メイリオ" panose="020B0604030504040204" pitchFamily="50" charset="-128"/>
                <a:ea typeface="メイリオ" panose="020B0604030504040204" pitchFamily="50" charset="-128"/>
              </a:rPr>
              <a:t>※ 営業日30日/月、営業8時間/日で慣らした値。ピーク日・時間帯の偏りは実績がないため考慮しておりません。</a:t>
            </a:r>
            <a:endParaRPr lang="en-US" altLang="ja-JP" sz="1100"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　 ピーク1時間1,200件（1分20件）でスペックアップを検討、2,400件（1分40件）が上限となります。</a:t>
            </a:r>
            <a:endParaRPr lang="en-US" altLang="ja-JP" sz="1100"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 同時アクセス=分平均×滞在時間10分（注文基準の下限値。採用値は11.の110名／5年後131名）</a:t>
            </a:r>
            <a:endParaRPr lang="en-US" altLang="ja-JP" sz="1100"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 同時セッション=秒平均×当該処理3秒（内訳はフロント2、管理2）</a:t>
            </a:r>
            <a:endParaRPr lang="en-US" altLang="ja-JP" sz="11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619366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テキスト ボックス 10">
            <a:extLst>
              <a:ext uri="{FF2B5EF4-FFF2-40B4-BE49-F238E27FC236}">
                <a16:creationId xmlns:a16="http://schemas.microsoft.com/office/drawing/2014/main" id="{7C3B02E9-35BE-4841-8FAF-4B3648B2F565}"/>
              </a:ext>
            </a:extLst>
          </p:cNvPr>
          <p:cNvSpPr txBox="1">
            <a:spLocks noChangeArrowheads="1"/>
          </p:cNvSpPr>
          <p:nvPr/>
        </p:nvSpPr>
        <p:spPr bwMode="auto">
          <a:xfrm>
            <a:off x="169228" y="765791"/>
            <a:ext cx="8723251" cy="372410"/>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indent="0" fontAlgn="t">
              <a:lnSpc>
                <a:spcPct val="130000"/>
              </a:lnSpc>
              <a:spcBef>
                <a:spcPct val="50000"/>
              </a:spcBef>
              <a:defRPr/>
            </a:pPr>
            <a:r>
              <a:rPr lang="ja-JP" altLang="en-US" dirty="0">
                <a:latin typeface="メイリオ"/>
                <a:ea typeface="メイリオ"/>
                <a:cs typeface="メイリオ"/>
              </a:rPr>
              <a:t>ご提案のシステム構成を記載します。初期構成は同居1台構成、スケールアウトは有償オプションです。</a:t>
            </a:r>
            <a:endParaRPr lang="en-US" altLang="ja-JP" dirty="0">
              <a:latin typeface="メイリオ"/>
              <a:ea typeface="メイリオ"/>
              <a:cs typeface="メイリオ"/>
            </a:endParaRPr>
          </a:p>
        </p:txBody>
      </p:sp>
      <p:sp>
        <p:nvSpPr>
          <p:cNvPr id="54" name="タイトル 1">
            <a:extLst>
              <a:ext uri="{FF2B5EF4-FFF2-40B4-BE49-F238E27FC236}">
                <a16:creationId xmlns:a16="http://schemas.microsoft.com/office/drawing/2014/main" id="{5FEC125A-1FE4-413C-BE7C-6A870848EA77}"/>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13.対応内容説明 - システム構成（3/3）</a:t>
            </a:r>
          </a:p>
        </p:txBody>
      </p:sp>
      <p:graphicFrame>
        <p:nvGraphicFramePr>
          <p:cNvPr id="2" name="表 1">
            <a:extLst>
              <a:ext uri="{FF2B5EF4-FFF2-40B4-BE49-F238E27FC236}">
                <a16:creationId xmlns:a16="http://schemas.microsoft.com/office/drawing/2014/main" id="{624A3AA1-C581-AAA0-6450-A94387BEAEDB}"/>
              </a:ext>
            </a:extLst>
          </p:cNvPr>
          <p:cNvGraphicFramePr>
            <a:graphicFrameLocks noGrp="1"/>
          </p:cNvGraphicFramePr>
          <p:nvPr>
            <p:extLst>
              <p:ext uri="{D42A27DB-BD31-4B8C-83A1-F6EECF244321}">
                <p14:modId xmlns:p14="http://schemas.microsoft.com/office/powerpoint/2010/main" val="1680665598"/>
              </p:ext>
            </p:extLst>
          </p:nvPr>
        </p:nvGraphicFramePr>
        <p:xfrm>
          <a:off x="262604" y="3894556"/>
          <a:ext cx="8629874" cy="864096"/>
        </p:xfrm>
        <a:graphic>
          <a:graphicData uri="http://schemas.openxmlformats.org/drawingml/2006/table">
            <a:tbl>
              <a:tblPr firstRow="1" bandRow="1">
                <a:tableStyleId>{F5AB1C69-6EDB-4FF4-983F-18BD219EF322}</a:tableStyleId>
              </a:tblPr>
              <a:tblGrid>
                <a:gridCol w="890254">
                  <a:extLst>
                    <a:ext uri="{9D8B030D-6E8A-4147-A177-3AD203B41FA5}">
                      <a16:colId xmlns:a16="http://schemas.microsoft.com/office/drawing/2014/main" val="762062982"/>
                    </a:ext>
                  </a:extLst>
                </a:gridCol>
                <a:gridCol w="1780510">
                  <a:extLst>
                    <a:ext uri="{9D8B030D-6E8A-4147-A177-3AD203B41FA5}">
                      <a16:colId xmlns:a16="http://schemas.microsoft.com/office/drawing/2014/main" val="1241915895"/>
                    </a:ext>
                  </a:extLst>
                </a:gridCol>
                <a:gridCol w="1986370">
                  <a:extLst>
                    <a:ext uri="{9D8B030D-6E8A-4147-A177-3AD203B41FA5}">
                      <a16:colId xmlns:a16="http://schemas.microsoft.com/office/drawing/2014/main" val="4269367838"/>
                    </a:ext>
                  </a:extLst>
                </a:gridCol>
                <a:gridCol w="1986370">
                  <a:extLst>
                    <a:ext uri="{9D8B030D-6E8A-4147-A177-3AD203B41FA5}">
                      <a16:colId xmlns:a16="http://schemas.microsoft.com/office/drawing/2014/main" val="3883879864"/>
                    </a:ext>
                  </a:extLst>
                </a:gridCol>
                <a:gridCol w="1986370">
                  <a:extLst>
                    <a:ext uri="{9D8B030D-6E8A-4147-A177-3AD203B41FA5}">
                      <a16:colId xmlns:a16="http://schemas.microsoft.com/office/drawing/2014/main" val="1468306935"/>
                    </a:ext>
                  </a:extLst>
                </a:gridCol>
              </a:tblGrid>
              <a:tr h="288032">
                <a:tc rowSpan="3">
                  <a:txBody>
                    <a:bodyPr/>
                    <a:lstStyle/>
                    <a:p>
                      <a:pPr algn="ctr"/>
                      <a:r>
                        <a:rPr kumimoji="1" lang="ja-JP" altLang="en-US" sz="1100" b="1" dirty="0">
                          <a:solidFill>
                            <a:schemeClr val="bg1"/>
                          </a:solidFill>
                          <a:latin typeface="メイリオ" panose="020B0604030504040204" pitchFamily="50" charset="-128"/>
                          <a:ea typeface="メイリオ" panose="020B0604030504040204" pitchFamily="50" charset="-128"/>
                        </a:rPr>
                        <a:t>サーバ</a:t>
                      </a:r>
                      <a:endParaRPr kumimoji="1" lang="en-US" altLang="ja-JP" sz="11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bg1"/>
                          </a:solidFill>
                          <a:latin typeface="メイリオ" panose="020B0604030504040204" pitchFamily="50" charset="-128"/>
                          <a:ea typeface="メイリオ" panose="020B0604030504040204" pitchFamily="50" charset="-128"/>
                        </a:rPr>
                        <a:t>スペック</a:t>
                      </a:r>
                    </a:p>
                  </a:txBody>
                  <a:tcPr anchor="ctr">
                    <a:solidFill>
                      <a:srgbClr val="00B050"/>
                    </a:solidFill>
                  </a:tcPr>
                </a:tc>
                <a:tc>
                  <a:txBody>
                    <a:bodyPr/>
                    <a:lstStyle/>
                    <a:p>
                      <a:pPr algn="ctr"/>
                      <a:r>
                        <a:rPr kumimoji="1" lang="ja-JP" altLang="en-US" sz="1100" dirty="0">
                          <a:latin typeface="メイリオ" panose="020B0604030504040204" pitchFamily="50" charset="-128"/>
                          <a:ea typeface="メイリオ" panose="020B0604030504040204" pitchFamily="50" charset="-128"/>
                        </a:rPr>
                        <a:t>サーバ種別</a:t>
                      </a: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CPU</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Mem</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SSD</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extLst>
                  <a:ext uri="{0D108BD9-81ED-4DB2-BD59-A6C34878D82A}">
                    <a16:rowId xmlns:a16="http://schemas.microsoft.com/office/drawing/2014/main" val="3224176902"/>
                  </a:ext>
                </a:extLst>
              </a:tr>
              <a:tr h="288032">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dirty="0">
                          <a:latin typeface="メイリオ" panose="020B0604030504040204" pitchFamily="50" charset="-128"/>
                          <a:ea typeface="メイリオ" panose="020B0604030504040204" pitchFamily="50" charset="-128"/>
                        </a:rPr>
                        <a:t>LB</a:t>
                      </a:r>
                      <a:r>
                        <a:rPr kumimoji="1" lang="ja-JP" altLang="en-US" sz="1000" b="1" dirty="0">
                          <a:latin typeface="メイリオ" panose="020B0604030504040204" pitchFamily="50" charset="-128"/>
                          <a:ea typeface="メイリオ" panose="020B0604030504040204" pitchFamily="50" charset="-128"/>
                        </a:rPr>
                        <a:t>サーバ</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1</a:t>
                      </a:r>
                      <a:r>
                        <a:rPr kumimoji="1" lang="ja-JP" altLang="en-US" sz="1000" dirty="0">
                          <a:latin typeface="メイリオ" panose="020B0604030504040204" pitchFamily="50" charset="-128"/>
                          <a:ea typeface="メイリオ" panose="020B0604030504040204" pitchFamily="50" charset="-128"/>
                        </a:rPr>
                        <a:t>コア</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2GB</a:t>
                      </a:r>
                      <a:endParaRPr kumimoji="1" lang="ja-JP" altLang="en-US" sz="1000" dirty="0">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20GB</a:t>
                      </a:r>
                      <a:endParaRPr kumimoji="1" lang="ja-JP" altLang="en-US" sz="10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188358318"/>
                  </a:ext>
                </a:extLst>
              </a:tr>
              <a:tr h="288032">
                <a:tc vMerge="1">
                  <a:txBody>
                    <a:bodyPr/>
                    <a:lstStyle/>
                    <a:p>
                      <a:pPr algn="ctr"/>
                      <a:endParaRPr kumimoji="1" lang="ja-JP" altLang="en-US" sz="1000" b="1" dirty="0">
                        <a:solidFill>
                          <a:schemeClr val="bg1"/>
                        </a:solidFill>
                        <a:latin typeface="メイリオ" panose="020B0604030504040204" pitchFamily="50" charset="-128"/>
                        <a:ea typeface="メイリオ" panose="020B0604030504040204" pitchFamily="50" charset="-128"/>
                      </a:endParaRPr>
                    </a:p>
                  </a:txBody>
                  <a:tcPr anchor="ctr">
                    <a:solidFill>
                      <a:srgbClr val="4F81B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dirty="0">
                          <a:latin typeface="メイリオ" panose="020B0604030504040204" pitchFamily="50" charset="-128"/>
                          <a:ea typeface="メイリオ" panose="020B0604030504040204" pitchFamily="50" charset="-128"/>
                        </a:rPr>
                        <a:t>WEB</a:t>
                      </a:r>
                      <a:r>
                        <a:rPr kumimoji="1" lang="ja-JP" altLang="en-US" sz="1000" b="1" dirty="0">
                          <a:latin typeface="メイリオ" panose="020B0604030504040204" pitchFamily="50" charset="-128"/>
                          <a:ea typeface="メイリオ" panose="020B0604030504040204" pitchFamily="50" charset="-128"/>
                        </a:rPr>
                        <a:t>・</a:t>
                      </a:r>
                      <a:r>
                        <a:rPr kumimoji="1" lang="en-US" altLang="ja-JP" sz="1000" b="1" dirty="0">
                          <a:latin typeface="メイリオ" panose="020B0604030504040204" pitchFamily="50" charset="-128"/>
                          <a:ea typeface="メイリオ" panose="020B0604030504040204" pitchFamily="50" charset="-128"/>
                        </a:rPr>
                        <a:t>DB</a:t>
                      </a:r>
                      <a:r>
                        <a:rPr kumimoji="1" lang="ja-JP" altLang="en-US" sz="1000" b="1" dirty="0">
                          <a:latin typeface="メイリオ" panose="020B0604030504040204" pitchFamily="50" charset="-128"/>
                          <a:ea typeface="メイリオ" panose="020B0604030504040204" pitchFamily="50" charset="-128"/>
                        </a:rPr>
                        <a:t>サーバ（同居）</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a:t>
                      </a:r>
                      <a:r>
                        <a:rPr kumimoji="1" lang="ja-JP" altLang="en-US" sz="1000" dirty="0">
                          <a:latin typeface="メイリオ" panose="020B0604030504040204" pitchFamily="50" charset="-128"/>
                          <a:ea typeface="メイリオ" panose="020B0604030504040204" pitchFamily="50" charset="-128"/>
                        </a:rPr>
                        <a:t>コア</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4GB</a:t>
                      </a:r>
                      <a:endParaRPr kumimoji="1" lang="ja-JP" altLang="en-US" sz="1000" dirty="0">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100GB</a:t>
                      </a:r>
                      <a:endParaRPr kumimoji="1" lang="ja-JP" altLang="en-US" sz="10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746547364"/>
                  </a:ext>
                </a:extLst>
              </a:tr>
            </a:tbl>
          </a:graphicData>
        </a:graphic>
      </p:graphicFrame>
      <p:grpSp>
        <p:nvGrpSpPr>
          <p:cNvPr id="38" name="グループ化 37">
            <a:extLst>
              <a:ext uri="{FF2B5EF4-FFF2-40B4-BE49-F238E27FC236}">
                <a16:creationId xmlns:a16="http://schemas.microsoft.com/office/drawing/2014/main" id="{1337C0D8-7379-987B-69E5-0B620BCB6CD7}"/>
              </a:ext>
            </a:extLst>
          </p:cNvPr>
          <p:cNvGrpSpPr/>
          <p:nvPr/>
        </p:nvGrpSpPr>
        <p:grpSpPr>
          <a:xfrm>
            <a:off x="1030036" y="1433197"/>
            <a:ext cx="6432663" cy="2283835"/>
            <a:chOff x="0" y="0"/>
            <a:chExt cx="6438899" cy="3222662"/>
          </a:xfrm>
        </p:grpSpPr>
        <p:grpSp>
          <p:nvGrpSpPr>
            <p:cNvPr id="39" name="グループ化 38">
              <a:extLst>
                <a:ext uri="{FF2B5EF4-FFF2-40B4-BE49-F238E27FC236}">
                  <a16:creationId xmlns:a16="http://schemas.microsoft.com/office/drawing/2014/main" id="{7146DFFA-0506-2040-53B9-722F8A659A4F}"/>
                </a:ext>
              </a:extLst>
            </p:cNvPr>
            <p:cNvGrpSpPr/>
            <p:nvPr/>
          </p:nvGrpSpPr>
          <p:grpSpPr>
            <a:xfrm>
              <a:off x="0" y="0"/>
              <a:ext cx="6438899" cy="3222662"/>
              <a:chOff x="0" y="0"/>
              <a:chExt cx="6484379" cy="3276000"/>
            </a:xfrm>
          </p:grpSpPr>
          <p:sp>
            <p:nvSpPr>
              <p:cNvPr id="41" name="テキスト ボックス 19">
                <a:extLst>
                  <a:ext uri="{FF2B5EF4-FFF2-40B4-BE49-F238E27FC236}">
                    <a16:creationId xmlns:a16="http://schemas.microsoft.com/office/drawing/2014/main" id="{7C4CF38E-A993-CC6C-95B6-E72EDD6B07F1}"/>
                  </a:ext>
                </a:extLst>
              </p:cNvPr>
              <p:cNvSpPr txBox="1"/>
              <p:nvPr/>
            </p:nvSpPr>
            <p:spPr>
              <a:xfrm>
                <a:off x="0" y="1193361"/>
                <a:ext cx="1434046" cy="348068"/>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インターネット</a:t>
                </a:r>
              </a:p>
            </p:txBody>
          </p:sp>
          <p:grpSp>
            <p:nvGrpSpPr>
              <p:cNvPr id="42" name="グループ化 41">
                <a:extLst>
                  <a:ext uri="{FF2B5EF4-FFF2-40B4-BE49-F238E27FC236}">
                    <a16:creationId xmlns:a16="http://schemas.microsoft.com/office/drawing/2014/main" id="{268C9D79-3518-691E-1DFB-51FD1A0243A2}"/>
                  </a:ext>
                </a:extLst>
              </p:cNvPr>
              <p:cNvGrpSpPr/>
              <p:nvPr/>
            </p:nvGrpSpPr>
            <p:grpSpPr>
              <a:xfrm>
                <a:off x="249398" y="0"/>
                <a:ext cx="6234981" cy="3276000"/>
                <a:chOff x="249398" y="0"/>
                <a:chExt cx="6234981" cy="3276000"/>
              </a:xfrm>
            </p:grpSpPr>
            <p:pic>
              <p:nvPicPr>
                <p:cNvPr id="43" name="Picture 8">
                  <a:extLst>
                    <a:ext uri="{FF2B5EF4-FFF2-40B4-BE49-F238E27FC236}">
                      <a16:creationId xmlns:a16="http://schemas.microsoft.com/office/drawing/2014/main" id="{573749AC-12D9-2BA9-CC99-2EC2057202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398" y="198494"/>
                  <a:ext cx="891693" cy="1031203"/>
                </a:xfrm>
                <a:prstGeom prst="rect">
                  <a:avLst/>
                </a:prstGeom>
                <a:noFill/>
                <a:extLst>
                  <a:ext uri="{909E8E84-426E-40DD-AFC4-6F175D3DCCD1}">
                    <a14:hiddenFill xmlns:a14="http://schemas.microsoft.com/office/drawing/2010/main">
                      <a:solidFill>
                        <a:srgbClr val="FFFFFF"/>
                      </a:solidFill>
                    </a14:hiddenFill>
                  </a:ext>
                </a:extLst>
              </p:spPr>
            </p:pic>
            <p:sp>
              <p:nvSpPr>
                <p:cNvPr id="44" name="テキスト ボックス 12">
                  <a:extLst>
                    <a:ext uri="{FF2B5EF4-FFF2-40B4-BE49-F238E27FC236}">
                      <a16:creationId xmlns:a16="http://schemas.microsoft.com/office/drawing/2014/main" id="{FD52A07C-AF05-149C-39D2-AC968E4B8B9A}"/>
                    </a:ext>
                  </a:extLst>
                </p:cNvPr>
                <p:cNvSpPr txBox="1"/>
                <p:nvPr/>
              </p:nvSpPr>
              <p:spPr>
                <a:xfrm>
                  <a:off x="3606822" y="642276"/>
                  <a:ext cx="129614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ロードバランサー</a:t>
                  </a:r>
                </a:p>
              </p:txBody>
            </p:sp>
            <p:sp>
              <p:nvSpPr>
                <p:cNvPr id="45" name="テキスト ボックス 16">
                  <a:extLst>
                    <a:ext uri="{FF2B5EF4-FFF2-40B4-BE49-F238E27FC236}">
                      <a16:creationId xmlns:a16="http://schemas.microsoft.com/office/drawing/2014/main" id="{90C53BA0-E673-0D2C-A9D4-52F624872A1E}"/>
                    </a:ext>
                  </a:extLst>
                </p:cNvPr>
                <p:cNvSpPr txBox="1"/>
                <p:nvPr/>
              </p:nvSpPr>
              <p:spPr>
                <a:xfrm>
                  <a:off x="2936846" y="2923449"/>
                  <a:ext cx="3118843"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プライベートネットワーク</a:t>
                  </a: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(VLAN</a:t>
                  </a: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a:t>
                  </a:r>
                </a:p>
              </p:txBody>
            </p:sp>
            <p:sp>
              <p:nvSpPr>
                <p:cNvPr id="46" name="角丸四角形 93">
                  <a:extLst>
                    <a:ext uri="{FF2B5EF4-FFF2-40B4-BE49-F238E27FC236}">
                      <a16:creationId xmlns:a16="http://schemas.microsoft.com/office/drawing/2014/main" id="{D50A9303-F827-6291-4E2E-36371473E1BA}"/>
                    </a:ext>
                  </a:extLst>
                </p:cNvPr>
                <p:cNvSpPr/>
                <p:nvPr/>
              </p:nvSpPr>
              <p:spPr>
                <a:xfrm>
                  <a:off x="1995192" y="0"/>
                  <a:ext cx="4489187" cy="3276000"/>
                </a:xfrm>
                <a:prstGeom prst="roundRect">
                  <a:avLst>
                    <a:gd name="adj" fmla="val 3291"/>
                  </a:avLst>
                </a:pr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ja-JP"/>
                  </a:defPPr>
                  <a:lvl1pPr marL="0" indent="0" algn="l" defTabSz="457200" rtl="0" eaLnBrk="1" latinLnBrk="0" hangingPunct="1">
                    <a:defRPr kumimoji="1" sz="1800" kern="1200">
                      <a:solidFill>
                        <a:schemeClr val="lt1"/>
                      </a:solidFill>
                      <a:latin typeface="+mn-lt"/>
                      <a:ea typeface="+mn-ea"/>
                      <a:cs typeface="+mn-cs"/>
                    </a:defRPr>
                  </a:lvl1pPr>
                  <a:lvl2pPr marL="457200" indent="0" algn="l" defTabSz="457200" rtl="0" eaLnBrk="1" latinLnBrk="0" hangingPunct="1">
                    <a:defRPr kumimoji="1" sz="1800" kern="1200">
                      <a:solidFill>
                        <a:schemeClr val="lt1"/>
                      </a:solidFill>
                      <a:latin typeface="+mn-lt"/>
                      <a:ea typeface="+mn-ea"/>
                      <a:cs typeface="+mn-cs"/>
                    </a:defRPr>
                  </a:lvl2pPr>
                  <a:lvl3pPr marL="914400" indent="0" algn="l" defTabSz="457200" rtl="0" eaLnBrk="1" latinLnBrk="0" hangingPunct="1">
                    <a:defRPr kumimoji="1" sz="1800" kern="1200">
                      <a:solidFill>
                        <a:schemeClr val="lt1"/>
                      </a:solidFill>
                      <a:latin typeface="+mn-lt"/>
                      <a:ea typeface="+mn-ea"/>
                      <a:cs typeface="+mn-cs"/>
                    </a:defRPr>
                  </a:lvl3pPr>
                  <a:lvl4pPr marL="1371600" indent="0" algn="l" defTabSz="457200" rtl="0" eaLnBrk="1" latinLnBrk="0" hangingPunct="1">
                    <a:defRPr kumimoji="1" sz="1800" kern="1200">
                      <a:solidFill>
                        <a:schemeClr val="lt1"/>
                      </a:solidFill>
                      <a:latin typeface="+mn-lt"/>
                      <a:ea typeface="+mn-ea"/>
                      <a:cs typeface="+mn-cs"/>
                    </a:defRPr>
                  </a:lvl4pPr>
                  <a:lvl5pPr marL="1828800" indent="0" algn="l" defTabSz="457200" rtl="0" eaLnBrk="1" latinLnBrk="0" hangingPunct="1">
                    <a:defRPr kumimoji="1" sz="1800" kern="1200">
                      <a:solidFill>
                        <a:schemeClr val="lt1"/>
                      </a:solidFill>
                      <a:latin typeface="+mn-lt"/>
                      <a:ea typeface="+mn-ea"/>
                      <a:cs typeface="+mn-cs"/>
                    </a:defRPr>
                  </a:lvl5pPr>
                  <a:lvl6pPr marL="2286000" indent="0" algn="l" defTabSz="457200" rtl="0" eaLnBrk="1" latinLnBrk="0" hangingPunct="1">
                    <a:defRPr kumimoji="1" sz="1800" kern="1200">
                      <a:solidFill>
                        <a:schemeClr val="lt1"/>
                      </a:solidFill>
                      <a:latin typeface="+mn-lt"/>
                      <a:ea typeface="+mn-ea"/>
                      <a:cs typeface="+mn-cs"/>
                    </a:defRPr>
                  </a:lvl6pPr>
                  <a:lvl7pPr marL="2743200" indent="0" algn="l" defTabSz="457200" rtl="0" eaLnBrk="1" latinLnBrk="0" hangingPunct="1">
                    <a:defRPr kumimoji="1" sz="1800" kern="1200">
                      <a:solidFill>
                        <a:schemeClr val="lt1"/>
                      </a:solidFill>
                      <a:latin typeface="+mn-lt"/>
                      <a:ea typeface="+mn-ea"/>
                      <a:cs typeface="+mn-cs"/>
                    </a:defRPr>
                  </a:lvl7pPr>
                  <a:lvl8pPr marL="3200400" indent="0" algn="l" defTabSz="457200" rtl="0" eaLnBrk="1" latinLnBrk="0" hangingPunct="1">
                    <a:defRPr kumimoji="1" sz="1800" kern="1200">
                      <a:solidFill>
                        <a:schemeClr val="lt1"/>
                      </a:solidFill>
                      <a:latin typeface="+mn-lt"/>
                      <a:ea typeface="+mn-ea"/>
                      <a:cs typeface="+mn-cs"/>
                    </a:defRPr>
                  </a:lvl8pPr>
                  <a:lvl9pPr marL="3657600" indent="0" algn="l" defTabSz="457200" rtl="0" eaLnBrk="1" latinLnBrk="0" hangingPunct="1">
                    <a:defRPr kumimoji="1"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a:ln>
                      <a:noFill/>
                    </a:ln>
                    <a:solidFill>
                      <a:prstClr val="white"/>
                    </a:solidFill>
                    <a:effectLst/>
                    <a:uLnTx/>
                    <a:uFillTx/>
                    <a:latin typeface="Arial"/>
                    <a:ea typeface="ＭＳ Ｐゴシック"/>
                    <a:cs typeface="+mn-cs"/>
                  </a:endParaRPr>
                </a:p>
              </p:txBody>
            </p:sp>
            <p:pic>
              <p:nvPicPr>
                <p:cNvPr id="47" name="Picture 2">
                  <a:extLst>
                    <a:ext uri="{FF2B5EF4-FFF2-40B4-BE49-F238E27FC236}">
                      <a16:creationId xmlns:a16="http://schemas.microsoft.com/office/drawing/2014/main" id="{D380A7BA-5C3F-E907-E081-22BBC8EF4C0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2995" y="633494"/>
                  <a:ext cx="673215" cy="175416"/>
                </a:xfrm>
                <a:prstGeom prst="rect">
                  <a:avLst/>
                </a:prstGeom>
                <a:noFill/>
                <a:extLst>
                  <a:ext uri="{909E8E84-426E-40DD-AFC4-6F175D3DCCD1}">
                    <a14:hiddenFill xmlns:a14="http://schemas.microsoft.com/office/drawing/2010/main">
                      <a:solidFill>
                        <a:srgbClr val="FFFFFF"/>
                      </a:solidFill>
                    </a14:hiddenFill>
                  </a:ext>
                </a:extLst>
              </p:spPr>
            </p:pic>
            <p:sp>
              <p:nvSpPr>
                <p:cNvPr id="48" name="テキスト ボックス 30">
                  <a:extLst>
                    <a:ext uri="{FF2B5EF4-FFF2-40B4-BE49-F238E27FC236}">
                      <a16:creationId xmlns:a16="http://schemas.microsoft.com/office/drawing/2014/main" id="{3D50E66C-CA18-C55B-E6A5-2247D15A3F65}"/>
                    </a:ext>
                  </a:extLst>
                </p:cNvPr>
                <p:cNvSpPr txBox="1"/>
                <p:nvPr/>
              </p:nvSpPr>
              <p:spPr>
                <a:xfrm>
                  <a:off x="4147131" y="1828090"/>
                  <a:ext cx="57606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F/W</a:t>
                  </a:r>
                </a:p>
              </p:txBody>
            </p:sp>
            <p:pic>
              <p:nvPicPr>
                <p:cNvPr id="49" name="Picture 3">
                  <a:extLst>
                    <a:ext uri="{FF2B5EF4-FFF2-40B4-BE49-F238E27FC236}">
                      <a16:creationId xmlns:a16="http://schemas.microsoft.com/office/drawing/2014/main" id="{545FE25D-DB6D-7F3D-2C07-6F1A7F900040}"/>
                    </a:ext>
                  </a:extLst>
                </p:cNvPr>
                <p:cNvPicPr>
                  <a:picLocks noChangeAspect="1" noChangeArrowheads="1"/>
                </p:cNvPicPr>
                <p:nvPr/>
              </p:nvPicPr>
              <p:blipFill>
                <a:blip r:embed="rId5" cstate="print"/>
                <a:srcRect/>
                <a:stretch>
                  <a:fillRect/>
                </a:stretch>
              </p:blipFill>
              <p:spPr bwMode="auto">
                <a:xfrm>
                  <a:off x="2349422" y="541202"/>
                  <a:ext cx="573312" cy="360000"/>
                </a:xfrm>
                <a:prstGeom prst="rect">
                  <a:avLst/>
                </a:prstGeom>
                <a:noFill/>
              </p:spPr>
            </p:pic>
            <p:sp>
              <p:nvSpPr>
                <p:cNvPr id="50" name="テキスト ボックス 37">
                  <a:extLst>
                    <a:ext uri="{FF2B5EF4-FFF2-40B4-BE49-F238E27FC236}">
                      <a16:creationId xmlns:a16="http://schemas.microsoft.com/office/drawing/2014/main" id="{D27FEE7F-6664-E98C-6BB9-EBC2CD019E08}"/>
                    </a:ext>
                  </a:extLst>
                </p:cNvPr>
                <p:cNvSpPr txBox="1"/>
                <p:nvPr/>
              </p:nvSpPr>
              <p:spPr>
                <a:xfrm>
                  <a:off x="2412303" y="851388"/>
                  <a:ext cx="57606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WAF</a:t>
                  </a:r>
                </a:p>
              </p:txBody>
            </p:sp>
            <p:cxnSp>
              <p:nvCxnSpPr>
                <p:cNvPr id="51" name="直線コネクタ 50">
                  <a:extLst>
                    <a:ext uri="{FF2B5EF4-FFF2-40B4-BE49-F238E27FC236}">
                      <a16:creationId xmlns:a16="http://schemas.microsoft.com/office/drawing/2014/main" id="{AB5DCDCC-B861-CC44-C3A5-DC5D5CCF48E3}"/>
                    </a:ext>
                  </a:extLst>
                </p:cNvPr>
                <p:cNvCxnSpPr>
                  <a:cxnSpLocks/>
                  <a:stCxn id="43" idx="3"/>
                  <a:endCxn id="49" idx="1"/>
                </p:cNvCxnSpPr>
                <p:nvPr/>
              </p:nvCxnSpPr>
              <p:spPr bwMode="auto">
                <a:xfrm>
                  <a:off x="1141091" y="714096"/>
                  <a:ext cx="1208331" cy="7107"/>
                </a:xfrm>
                <a:prstGeom prst="line">
                  <a:avLst/>
                </a:prstGeom>
                <a:solidFill>
                  <a:srgbClr val="CCFFCC"/>
                </a:solidFill>
                <a:ln w="25400" cap="flat" cmpd="sng" algn="ctr">
                  <a:solidFill>
                    <a:srgbClr val="438086"/>
                  </a:solidFill>
                  <a:prstDash val="solid"/>
                  <a:round/>
                  <a:headEnd type="none" w="med" len="med"/>
                  <a:tailEnd type="none"/>
                </a:ln>
                <a:effectLst/>
              </p:spPr>
            </p:cxnSp>
            <p:cxnSp>
              <p:nvCxnSpPr>
                <p:cNvPr id="52" name="直線コネクタ 51">
                  <a:extLst>
                    <a:ext uri="{FF2B5EF4-FFF2-40B4-BE49-F238E27FC236}">
                      <a16:creationId xmlns:a16="http://schemas.microsoft.com/office/drawing/2014/main" id="{44FCB280-6679-09F7-0E5A-97373CB28A20}"/>
                    </a:ext>
                  </a:extLst>
                </p:cNvPr>
                <p:cNvCxnSpPr>
                  <a:cxnSpLocks/>
                  <a:stCxn id="53" idx="1"/>
                  <a:endCxn id="55" idx="3"/>
                </p:cNvCxnSpPr>
                <p:nvPr/>
              </p:nvCxnSpPr>
              <p:spPr>
                <a:xfrm flipH="1">
                  <a:off x="4642142" y="1550251"/>
                  <a:ext cx="346225" cy="21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Picture 4">
                  <a:extLst>
                    <a:ext uri="{FF2B5EF4-FFF2-40B4-BE49-F238E27FC236}">
                      <a16:creationId xmlns:a16="http://schemas.microsoft.com/office/drawing/2014/main" id="{7C74D658-79E7-AD4C-1E0E-9CC55CB3AE9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88367" y="1247353"/>
                  <a:ext cx="836799" cy="605795"/>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3">
                  <a:extLst>
                    <a:ext uri="{FF2B5EF4-FFF2-40B4-BE49-F238E27FC236}">
                      <a16:creationId xmlns:a16="http://schemas.microsoft.com/office/drawing/2014/main" id="{840790AD-C87A-9393-DFCA-3AA76D984EDF}"/>
                    </a:ext>
                  </a:extLst>
                </p:cNvPr>
                <p:cNvPicPr>
                  <a:picLocks noChangeAspect="1" noChangeArrowheads="1"/>
                </p:cNvPicPr>
                <p:nvPr/>
              </p:nvPicPr>
              <p:blipFill>
                <a:blip r:embed="rId5" cstate="print"/>
                <a:srcRect/>
                <a:stretch>
                  <a:fillRect/>
                </a:stretch>
              </p:blipFill>
              <p:spPr bwMode="auto">
                <a:xfrm>
                  <a:off x="4068830" y="1372359"/>
                  <a:ext cx="573312" cy="360000"/>
                </a:xfrm>
                <a:prstGeom prst="rect">
                  <a:avLst/>
                </a:prstGeom>
                <a:noFill/>
              </p:spPr>
            </p:pic>
            <p:cxnSp>
              <p:nvCxnSpPr>
                <p:cNvPr id="56" name="直線コネクタ 55">
                  <a:extLst>
                    <a:ext uri="{FF2B5EF4-FFF2-40B4-BE49-F238E27FC236}">
                      <a16:creationId xmlns:a16="http://schemas.microsoft.com/office/drawing/2014/main" id="{C012759B-3681-22F0-B7EA-B3A9024BF803}"/>
                    </a:ext>
                  </a:extLst>
                </p:cNvPr>
                <p:cNvCxnSpPr/>
                <p:nvPr/>
              </p:nvCxnSpPr>
              <p:spPr>
                <a:xfrm>
                  <a:off x="3571067" y="1300311"/>
                  <a:ext cx="0" cy="1548000"/>
                </a:xfrm>
                <a:prstGeom prst="line">
                  <a:avLst/>
                </a:prstGeom>
                <a:ln w="508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22CDD43F-0BCE-FA5E-107C-D750F4026426}"/>
                    </a:ext>
                  </a:extLst>
                </p:cNvPr>
                <p:cNvCxnSpPr>
                  <a:cxnSpLocks/>
                  <a:stCxn id="49" idx="3"/>
                  <a:endCxn id="47" idx="1"/>
                </p:cNvCxnSpPr>
                <p:nvPr/>
              </p:nvCxnSpPr>
              <p:spPr bwMode="auto">
                <a:xfrm>
                  <a:off x="2922734" y="721202"/>
                  <a:ext cx="261" cy="0"/>
                </a:xfrm>
                <a:prstGeom prst="line">
                  <a:avLst/>
                </a:prstGeom>
                <a:solidFill>
                  <a:srgbClr val="CCFFCC"/>
                </a:solidFill>
                <a:ln w="25400" cap="flat" cmpd="sng" algn="ctr">
                  <a:solidFill>
                    <a:srgbClr val="438086"/>
                  </a:solidFill>
                  <a:prstDash val="solid"/>
                  <a:round/>
                  <a:headEnd type="none" w="med" len="med"/>
                  <a:tailEnd type="none"/>
                </a:ln>
                <a:effectLst/>
              </p:spPr>
            </p:cxnSp>
            <p:cxnSp>
              <p:nvCxnSpPr>
                <p:cNvPr id="58" name="カギ線コネクタ 97">
                  <a:extLst>
                    <a:ext uri="{FF2B5EF4-FFF2-40B4-BE49-F238E27FC236}">
                      <a16:creationId xmlns:a16="http://schemas.microsoft.com/office/drawing/2014/main" id="{A676F961-47A3-7F0E-A677-C12FA4A41F98}"/>
                    </a:ext>
                  </a:extLst>
                </p:cNvPr>
                <p:cNvCxnSpPr>
                  <a:cxnSpLocks/>
                  <a:stCxn id="47" idx="2"/>
                  <a:endCxn id="55" idx="1"/>
                </p:cNvCxnSpPr>
                <p:nvPr/>
              </p:nvCxnSpPr>
              <p:spPr bwMode="auto">
                <a:xfrm rot="16200000" flipH="1">
                  <a:off x="3292492" y="776020"/>
                  <a:ext cx="743449" cy="809227"/>
                </a:xfrm>
                <a:prstGeom prst="bentConnector2">
                  <a:avLst/>
                </a:prstGeom>
                <a:solidFill>
                  <a:srgbClr val="CCFFCC"/>
                </a:solidFill>
                <a:ln w="25400" cap="flat" cmpd="sng" algn="ctr">
                  <a:solidFill>
                    <a:srgbClr val="438086"/>
                  </a:solidFill>
                  <a:prstDash val="solid"/>
                  <a:round/>
                  <a:headEnd type="none" w="med" len="med"/>
                  <a:tailEnd type="none"/>
                </a:ln>
                <a:effectLst/>
              </p:spPr>
            </p:cxnSp>
            <p:sp>
              <p:nvSpPr>
                <p:cNvPr id="59" name="テキスト ボックス 107">
                  <a:extLst>
                    <a:ext uri="{FF2B5EF4-FFF2-40B4-BE49-F238E27FC236}">
                      <a16:creationId xmlns:a16="http://schemas.microsoft.com/office/drawing/2014/main" id="{863CFEBA-F0DF-D619-021B-CAC6754CFA64}"/>
                    </a:ext>
                  </a:extLst>
                </p:cNvPr>
                <p:cNvSpPr txBox="1"/>
                <p:nvPr/>
              </p:nvSpPr>
              <p:spPr>
                <a:xfrm>
                  <a:off x="5045342" y="1886897"/>
                  <a:ext cx="807381" cy="347645"/>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Web</a:t>
                  </a: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a:t>
                  </a: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DB</a:t>
                  </a:r>
                </a:p>
              </p:txBody>
            </p:sp>
          </p:grpSp>
        </p:grpSp>
        <p:sp>
          <p:nvSpPr>
            <p:cNvPr id="40" name="テキスト ボックス 15">
              <a:extLst>
                <a:ext uri="{FF2B5EF4-FFF2-40B4-BE49-F238E27FC236}">
                  <a16:creationId xmlns:a16="http://schemas.microsoft.com/office/drawing/2014/main" id="{165F0EFE-BB59-711C-0A53-C74184B46DFD}"/>
                </a:ext>
              </a:extLst>
            </p:cNvPr>
            <p:cNvSpPr txBox="1"/>
            <p:nvPr/>
          </p:nvSpPr>
          <p:spPr>
            <a:xfrm>
              <a:off x="2490787" y="261938"/>
              <a:ext cx="2211723" cy="231570"/>
            </a:xfrm>
            <a:prstGeom prst="rect">
              <a:avLst/>
            </a:prstGeom>
            <a:noFill/>
          </p:spPr>
          <p:txBody>
            <a:bodyPr wrap="square" rtlCol="0">
              <a:no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グローバルネットワーク</a:t>
              </a:r>
            </a:p>
          </p:txBody>
        </p:sp>
      </p:grpSp>
    </p:spTree>
    <p:extLst>
      <p:ext uri="{BB962C8B-B14F-4D97-AF65-F5344CB8AC3E}">
        <p14:creationId xmlns:p14="http://schemas.microsoft.com/office/powerpoint/2010/main" val="3212893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マーク600.jpg"/>
          <p:cNvPicPr>
            <a:picLocks noChangeAspect="1"/>
          </p:cNvPicPr>
          <p:nvPr/>
        </p:nvPicPr>
        <p:blipFill>
          <a:blip>
            <a:extLst>
              <a:ext uri="{28A0092B-C50C-407E-A947-70E740481C1C}">
                <a14:useLocalDpi xmlns:a14="http://schemas.microsoft.com/office/drawing/2010/main" val="0"/>
              </a:ext>
            </a:extLst>
          </a:blip>
          <a:stretch>
            <a:fillRect/>
          </a:stretch>
        </p:blipFill>
        <p:spPr>
          <a:xfrm>
            <a:off x="2883137" y="1301994"/>
            <a:ext cx="3376246" cy="2672862"/>
          </a:xfrm>
          <a:prstGeom prst="rect">
            <a:avLst/>
          </a:prstGeom>
        </p:spPr>
      </p:pic>
      <p:grpSp>
        <p:nvGrpSpPr>
          <p:cNvPr id="15" name="図形グループ 14"/>
          <p:cNvGrpSpPr/>
          <p:nvPr/>
        </p:nvGrpSpPr>
        <p:grpSpPr>
          <a:xfrm>
            <a:off x="971600" y="5699105"/>
            <a:ext cx="3397922" cy="329314"/>
            <a:chOff x="1539968" y="5509105"/>
            <a:chExt cx="3397923" cy="356757"/>
          </a:xfrm>
        </p:grpSpPr>
        <p:sp>
          <p:nvSpPr>
            <p:cNvPr id="7" name="テキスト ボックス 6"/>
            <p:cNvSpPr txBox="1"/>
            <p:nvPr/>
          </p:nvSpPr>
          <p:spPr>
            <a:xfrm>
              <a:off x="1853391" y="5581131"/>
              <a:ext cx="3084500" cy="284731"/>
            </a:xfrm>
            <a:prstGeom prst="rect">
              <a:avLst/>
            </a:prstGeom>
            <a:noFill/>
          </p:spPr>
          <p:txBody>
            <a:bodyPr wrap="none" rtlCol="0">
              <a:spAutoFit/>
            </a:bodyPr>
            <a:lstStyle/>
            <a:p>
              <a:r>
                <a:rPr lang="ja-JP" altLang="en-US" sz="1108" dirty="0">
                  <a:solidFill>
                    <a:srgbClr val="00A592"/>
                  </a:solidFill>
                  <a:latin typeface="メイリオ"/>
                  <a:ea typeface="メイリオ"/>
                  <a:cs typeface="メイリオ"/>
                </a:rPr>
                <a:t>東京都渋谷区恵比寿</a:t>
              </a:r>
              <a:r>
                <a:rPr lang="en-US" altLang="ja-JP" sz="1108" dirty="0">
                  <a:solidFill>
                    <a:srgbClr val="00A592"/>
                  </a:solidFill>
                  <a:latin typeface="メイリオ"/>
                  <a:ea typeface="メイリオ"/>
                  <a:cs typeface="メイリオ"/>
                </a:rPr>
                <a:t>4-6-1</a:t>
              </a:r>
              <a:r>
                <a:rPr lang="ja-JP" altLang="en-US" sz="1108" dirty="0">
                  <a:solidFill>
                    <a:srgbClr val="00A592"/>
                  </a:solidFill>
                  <a:latin typeface="メイリオ"/>
                  <a:ea typeface="メイリオ"/>
                  <a:cs typeface="メイリオ"/>
                </a:rPr>
                <a:t>　恵比寿</a:t>
              </a:r>
              <a:r>
                <a:rPr lang="en-US" altLang="ja-JP" sz="1108" dirty="0">
                  <a:solidFill>
                    <a:srgbClr val="00A592"/>
                  </a:solidFill>
                  <a:latin typeface="メイリオ"/>
                  <a:ea typeface="メイリオ"/>
                  <a:cs typeface="メイリオ"/>
                </a:rPr>
                <a:t>MF</a:t>
              </a:r>
              <a:r>
                <a:rPr lang="ja-JP" altLang="en-US" sz="1108" dirty="0">
                  <a:solidFill>
                    <a:srgbClr val="00A592"/>
                  </a:solidFill>
                  <a:latin typeface="メイリオ"/>
                  <a:ea typeface="メイリオ"/>
                  <a:cs typeface="メイリオ"/>
                </a:rPr>
                <a:t>ビル</a:t>
              </a:r>
              <a:r>
                <a:rPr lang="en-US" altLang="ja-JP" sz="1108" dirty="0">
                  <a:solidFill>
                    <a:srgbClr val="00A592"/>
                  </a:solidFill>
                  <a:latin typeface="メイリオ"/>
                  <a:ea typeface="メイリオ"/>
                  <a:cs typeface="メイリオ"/>
                </a:rPr>
                <a:t>3F</a:t>
              </a:r>
            </a:p>
          </p:txBody>
        </p:sp>
        <p:pic>
          <p:nvPicPr>
            <p:cNvPr id="8" name="図 7" descr="目的地アイコン4.png"/>
            <p:cNvPicPr>
              <a:picLocks noChangeAspect="1"/>
            </p:cNvPicPr>
            <p:nvPr/>
          </p:nvPicPr>
          <p:blipFill>
            <a:blip cstate="print">
              <a:extLst>
                <a:ext uri="{28A0092B-C50C-407E-A947-70E740481C1C}">
                  <a14:useLocalDpi xmlns:a14="http://schemas.microsoft.com/office/drawing/2010/main" val="0"/>
                </a:ext>
              </a:extLst>
            </a:blip>
            <a:stretch>
              <a:fillRect/>
            </a:stretch>
          </p:blipFill>
          <p:spPr>
            <a:xfrm>
              <a:off x="1539968" y="5509105"/>
              <a:ext cx="325120" cy="325120"/>
            </a:xfrm>
            <a:prstGeom prst="rect">
              <a:avLst/>
            </a:prstGeom>
          </p:spPr>
        </p:pic>
      </p:grpSp>
      <p:grpSp>
        <p:nvGrpSpPr>
          <p:cNvPr id="16" name="図形グループ 15"/>
          <p:cNvGrpSpPr/>
          <p:nvPr/>
        </p:nvGrpSpPr>
        <p:grpSpPr>
          <a:xfrm>
            <a:off x="4674592" y="5706613"/>
            <a:ext cx="3483948" cy="314676"/>
            <a:chOff x="1446613" y="5805264"/>
            <a:chExt cx="3483948" cy="340899"/>
          </a:xfrm>
        </p:grpSpPr>
        <p:pic>
          <p:nvPicPr>
            <p:cNvPr id="9" name="図 8" descr="受話器の線画アイコン.png"/>
            <p:cNvPicPr>
              <a:picLocks noChangeAspect="1"/>
            </p:cNvPicPr>
            <p:nvPr/>
          </p:nvPicPr>
          <p:blipFill>
            <a:blip cstate="print">
              <a:extLst>
                <a:ext uri="{28A0092B-C50C-407E-A947-70E740481C1C}">
                  <a14:useLocalDpi xmlns:a14="http://schemas.microsoft.com/office/drawing/2010/main" val="0"/>
                </a:ext>
              </a:extLst>
            </a:blip>
            <a:stretch>
              <a:fillRect/>
            </a:stretch>
          </p:blipFill>
          <p:spPr>
            <a:xfrm>
              <a:off x="1446613" y="5816707"/>
              <a:ext cx="329456" cy="329456"/>
            </a:xfrm>
            <a:prstGeom prst="rect">
              <a:avLst/>
            </a:prstGeom>
          </p:spPr>
        </p:pic>
        <p:pic>
          <p:nvPicPr>
            <p:cNvPr id="12" name="図 11" descr="FAXのアイコン3.png"/>
            <p:cNvPicPr>
              <a:picLocks noChangeAspect="1"/>
            </p:cNvPicPr>
            <p:nvPr/>
          </p:nvPicPr>
          <p:blipFill>
            <a:blip cstate="print">
              <a:extLst>
                <a:ext uri="{28A0092B-C50C-407E-A947-70E740481C1C}">
                  <a14:useLocalDpi xmlns:a14="http://schemas.microsoft.com/office/drawing/2010/main" val="0"/>
                </a:ext>
              </a:extLst>
            </a:blip>
            <a:stretch>
              <a:fillRect/>
            </a:stretch>
          </p:blipFill>
          <p:spPr>
            <a:xfrm>
              <a:off x="3382784" y="5805264"/>
              <a:ext cx="325120" cy="325120"/>
            </a:xfrm>
            <a:prstGeom prst="rect">
              <a:avLst/>
            </a:prstGeom>
          </p:spPr>
        </p:pic>
        <p:sp>
          <p:nvSpPr>
            <p:cNvPr id="13" name="テキスト ボックス 12"/>
            <p:cNvSpPr txBox="1"/>
            <p:nvPr/>
          </p:nvSpPr>
          <p:spPr>
            <a:xfrm>
              <a:off x="1907704" y="5837906"/>
              <a:ext cx="1191352" cy="284731"/>
            </a:xfrm>
            <a:prstGeom prst="rect">
              <a:avLst/>
            </a:prstGeom>
            <a:noFill/>
          </p:spPr>
          <p:txBody>
            <a:bodyPr wrap="none" rtlCol="0">
              <a:spAutoFit/>
            </a:bodyPr>
            <a:lstStyle/>
            <a:p>
              <a:r>
                <a:rPr lang="en-US" altLang="ja-JP" sz="1108" dirty="0">
                  <a:solidFill>
                    <a:srgbClr val="00A592"/>
                  </a:solidFill>
                  <a:latin typeface="メイリオ"/>
                  <a:ea typeface="メイリオ"/>
                  <a:cs typeface="メイリオ"/>
                </a:rPr>
                <a:t>03-3440-6100</a:t>
              </a:r>
            </a:p>
          </p:txBody>
        </p:sp>
        <p:sp>
          <p:nvSpPr>
            <p:cNvPr id="14" name="テキスト ボックス 13"/>
            <p:cNvSpPr txBox="1"/>
            <p:nvPr/>
          </p:nvSpPr>
          <p:spPr>
            <a:xfrm>
              <a:off x="3739209" y="5858584"/>
              <a:ext cx="1191352" cy="284731"/>
            </a:xfrm>
            <a:prstGeom prst="rect">
              <a:avLst/>
            </a:prstGeom>
            <a:noFill/>
          </p:spPr>
          <p:txBody>
            <a:bodyPr wrap="none" rtlCol="0">
              <a:spAutoFit/>
            </a:bodyPr>
            <a:lstStyle/>
            <a:p>
              <a:r>
                <a:rPr lang="en-US" altLang="ja-JP" sz="1108" dirty="0">
                  <a:solidFill>
                    <a:srgbClr val="00A592"/>
                  </a:solidFill>
                  <a:latin typeface="メイリオ"/>
                  <a:ea typeface="メイリオ"/>
                  <a:cs typeface="メイリオ"/>
                </a:rPr>
                <a:t>03-5791-2241</a:t>
              </a:r>
            </a:p>
          </p:txBody>
        </p:sp>
      </p:grpSp>
      <p:sp>
        <p:nvSpPr>
          <p:cNvPr id="21" name="テキスト ボックス 20"/>
          <p:cNvSpPr txBox="1"/>
          <p:nvPr/>
        </p:nvSpPr>
        <p:spPr>
          <a:xfrm>
            <a:off x="1962803" y="3850326"/>
            <a:ext cx="5218396" cy="1306866"/>
          </a:xfrm>
          <a:prstGeom prst="rect">
            <a:avLst/>
          </a:prstGeom>
          <a:noFill/>
        </p:spPr>
        <p:txBody>
          <a:bodyPr wrap="none" rtlCol="0">
            <a:noAutofit/>
          </a:bodyPr>
          <a:lstStyle/>
          <a:p>
            <a:pPr algn="ctr"/>
            <a:r>
              <a:rPr lang="en-US" altLang="ja-JP" sz="1662" dirty="0">
                <a:solidFill>
                  <a:srgbClr val="00A592"/>
                </a:solidFill>
                <a:latin typeface="メイリオ"/>
                <a:ea typeface="メイリオ"/>
                <a:cs typeface="メイリオ"/>
              </a:rPr>
              <a:t>Technology</a:t>
            </a:r>
            <a:r>
              <a:rPr lang="ja-JP" altLang="en-US" sz="1662" dirty="0">
                <a:solidFill>
                  <a:srgbClr val="00A592"/>
                </a:solidFill>
                <a:latin typeface="メイリオ"/>
                <a:ea typeface="メイリオ"/>
                <a:cs typeface="メイリオ"/>
              </a:rPr>
              <a:t> </a:t>
            </a:r>
            <a:r>
              <a:rPr lang="en-US" altLang="ja-JP" sz="1662" dirty="0">
                <a:solidFill>
                  <a:srgbClr val="00A592"/>
                </a:solidFill>
                <a:latin typeface="メイリオ"/>
                <a:ea typeface="メイリオ"/>
                <a:cs typeface="メイリオ"/>
              </a:rPr>
              <a:t>changes</a:t>
            </a:r>
            <a:r>
              <a:rPr lang="ja-JP" altLang="en-US" sz="1662" dirty="0">
                <a:solidFill>
                  <a:srgbClr val="00A592"/>
                </a:solidFill>
                <a:latin typeface="メイリオ"/>
                <a:ea typeface="メイリオ"/>
                <a:cs typeface="メイリオ"/>
              </a:rPr>
              <a:t> </a:t>
            </a:r>
            <a:r>
              <a:rPr lang="en-US" altLang="ja-JP" sz="1662" dirty="0">
                <a:solidFill>
                  <a:srgbClr val="00A592"/>
                </a:solidFill>
                <a:latin typeface="メイリオ"/>
                <a:ea typeface="メイリオ"/>
                <a:cs typeface="メイリオ"/>
              </a:rPr>
              <a:t>the</a:t>
            </a:r>
            <a:r>
              <a:rPr lang="ja-JP" altLang="en-US" sz="1662" dirty="0">
                <a:solidFill>
                  <a:srgbClr val="00A592"/>
                </a:solidFill>
                <a:latin typeface="メイリオ"/>
                <a:ea typeface="メイリオ"/>
                <a:cs typeface="メイリオ"/>
              </a:rPr>
              <a:t> </a:t>
            </a:r>
            <a:r>
              <a:rPr lang="en-US" altLang="ja-JP" sz="1662" dirty="0">
                <a:solidFill>
                  <a:srgbClr val="00A592"/>
                </a:solidFill>
                <a:latin typeface="メイリオ"/>
                <a:ea typeface="メイリオ"/>
                <a:cs typeface="メイリオ"/>
              </a:rPr>
              <a:t>world</a:t>
            </a:r>
          </a:p>
          <a:p>
            <a:pPr algn="ctr"/>
            <a:r>
              <a:rPr lang="ja-JP" altLang="en-US" sz="1662" dirty="0">
                <a:solidFill>
                  <a:srgbClr val="00A592"/>
                </a:solidFill>
                <a:latin typeface="メイリオ"/>
                <a:ea typeface="メイリオ"/>
                <a:cs typeface="メイリオ"/>
              </a:rPr>
              <a:t>技術が世界を変える</a:t>
            </a:r>
            <a:endParaRPr lang="en-US" altLang="ja-JP" sz="1662" dirty="0">
              <a:solidFill>
                <a:srgbClr val="00A592"/>
              </a:solidFill>
              <a:latin typeface="メイリオ"/>
              <a:ea typeface="メイリオ"/>
              <a:cs typeface="メイリオ"/>
            </a:endParaRPr>
          </a:p>
          <a:p>
            <a:pPr algn="ctr"/>
            <a:endParaRPr lang="en-US" altLang="ja-JP" sz="1662" dirty="0">
              <a:solidFill>
                <a:srgbClr val="00A592"/>
              </a:solidFill>
              <a:latin typeface="メイリオ"/>
              <a:ea typeface="メイリオ"/>
              <a:cs typeface="メイリオ"/>
            </a:endParaRPr>
          </a:p>
          <a:p>
            <a:pPr algn="ctr"/>
            <a:r>
              <a:rPr lang="ja-JP" altLang="en-US" sz="1477" dirty="0">
                <a:solidFill>
                  <a:srgbClr val="00A592"/>
                </a:solidFill>
                <a:latin typeface="メイリオ"/>
                <a:ea typeface="メイリオ"/>
                <a:cs typeface="メイリオ"/>
              </a:rPr>
              <a:t>株式会社フライトソリューションズ</a:t>
            </a:r>
            <a:endParaRPr lang="en-US" altLang="ja-JP" sz="1477" dirty="0">
              <a:solidFill>
                <a:srgbClr val="00A592"/>
              </a:solidFill>
              <a:latin typeface="メイリオ"/>
              <a:ea typeface="メイリオ"/>
              <a:cs typeface="メイリオ"/>
            </a:endParaRPr>
          </a:p>
        </p:txBody>
      </p:sp>
    </p:spTree>
    <p:extLst>
      <p:ext uri="{BB962C8B-B14F-4D97-AF65-F5344CB8AC3E}">
        <p14:creationId xmlns:p14="http://schemas.microsoft.com/office/powerpoint/2010/main" val="1762072966"/>
      </p:ext>
    </p:extLst>
  </p:cSld>
  <p:clrMapOvr>
    <a:masterClrMapping/>
  </p:clrMapOvr>
  <p:transition>
    <p:fade/>
  </p:transition>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35DC5035CF21544854758570D244058" ma:contentTypeVersion="16" ma:contentTypeDescription="新しいドキュメントを作成します。" ma:contentTypeScope="" ma:versionID="3ad7ff9203f977c2019ce874e5898b03">
  <xsd:schema xmlns:xsd="http://www.w3.org/2001/XMLSchema" xmlns:xs="http://www.w3.org/2001/XMLSchema" xmlns:p="http://schemas.microsoft.com/office/2006/metadata/properties" xmlns:ns2="ef49d013-6fe6-434c-8d65-01c2536dc222" xmlns:ns3="fdb0f37b-23a4-4fc9-93ec-5a55c5240f41" targetNamespace="http://schemas.microsoft.com/office/2006/metadata/properties" ma:root="true" ma:fieldsID="a62f3f28b8bccccf368960a2c87b2f94" ns2:_="" ns3:_="">
    <xsd:import namespace="ef49d013-6fe6-434c-8d65-01c2536dc222"/>
    <xsd:import namespace="fdb0f37b-23a4-4fc9-93ec-5a55c5240f4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49d013-6fe6-434c-8d65-01c2536dc2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22188174-de2f-4bda-b67f-2d940e9e379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db0f37b-23a4-4fc9-93ec-5a55c5240f41"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f0825dd8-45d0-4a73-acf0-b255fef527f7}" ma:internalName="TaxCatchAll" ma:showField="CatchAllData" ma:web="fdb0f37b-23a4-4fc9-93ec-5a55c5240f4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f49d013-6fe6-434c-8d65-01c2536dc222">
      <Terms xmlns="http://schemas.microsoft.com/office/infopath/2007/PartnerControls"/>
    </lcf76f155ced4ddcb4097134ff3c332f>
    <TaxCatchAll xmlns="fdb0f37b-23a4-4fc9-93ec-5a55c5240f4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B4B15D-4C8F-41BC-A6FD-E051BDA50C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49d013-6fe6-434c-8d65-01c2536dc222"/>
    <ds:schemaRef ds:uri="fdb0f37b-23a4-4fc9-93ec-5a55c5240f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1C01019-8018-45D3-92E7-A3E2CEC3D6E4}">
  <ds:schemaRefs>
    <ds:schemaRef ds:uri="http://schemas.microsoft.com/office/2006/metadata/properties"/>
    <ds:schemaRef ds:uri="http://schemas.microsoft.com/office/infopath/2007/PartnerControls"/>
    <ds:schemaRef ds:uri="ef49d013-6fe6-434c-8d65-01c2536dc222"/>
    <ds:schemaRef ds:uri="fdb0f37b-23a4-4fc9-93ec-5a55c5240f41"/>
  </ds:schemaRefs>
</ds:datastoreItem>
</file>

<file path=customXml/itemProps3.xml><?xml version="1.0" encoding="utf-8"?>
<ds:datastoreItem xmlns:ds="http://schemas.openxmlformats.org/officeDocument/2006/customXml" ds:itemID="{258BB318-585A-4869-B95F-AF3D0D9478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2546</TotalTime>
  <Words>3534</Words>
  <Application>Microsoft Office PowerPoint</Application>
  <PresentationFormat>画面に合わせる (4:3)</PresentationFormat>
  <Paragraphs>619</Paragraphs>
  <Slides>15</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ＭＳ Ｐゴシック</vt:lpstr>
      <vt:lpstr>Meiryo</vt:lpstr>
      <vt:lpstr>Meiryo</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全体俯瞰</vt:lpstr>
      <vt:lpstr>対応内容一覧（1/2）</vt:lpstr>
      <vt:lpstr>対応内容一覧（2/2）</vt:lpstr>
      <vt:lpstr>1.対応内容説明 - 監視（システム構成）</vt:lpstr>
      <vt:lpstr>2.対応内容説明 - バックアップ</vt:lpstr>
      <vt:lpstr>3.対応内容説明 - セキュリティ（1/2）</vt:lpstr>
      <vt:lpstr>3.対応内容説明 - セキュリティ（2/2）</vt:lpstr>
      <vt:lpstr>PowerPoint プレゼンテーション</vt:lpstr>
      <vt:lpstr>PowerPoint プレゼンテーション</vt:lpstr>
      <vt:lpstr>PowerPoint プレゼンテーション</vt:lpstr>
      <vt:lpstr>PowerPoint プレゼンテーション</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EC-Rider inc,.</dc:creator>
  <cp:lastModifiedBy>masataka kozono</cp:lastModifiedBy>
  <cp:revision>28</cp:revision>
  <dcterms:created xsi:type="dcterms:W3CDTF">2014-05-27T06:18:00Z</dcterms:created>
  <dcterms:modified xsi:type="dcterms:W3CDTF">2026-09-15T01:16:23Z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0x010100D35DC5035CF21544854758570D244058</vt:lpwstr>
  </property>
  <property fmtid="{D5CDD505-2E9C-101B-9397-08002B2CF9AE}" pid="3" name="KSOProductBuildVer">
    <vt:lpwstr>1041-11.8.2.10339</vt:lpwstr>
  </property>
  <property fmtid="{D5CDD505-2E9C-101B-9397-08002B2CF9AE}" pid="4" name="MediaServiceImageTags">
    <vt:lpwstr/>
  </property>
</Properties>
</file>