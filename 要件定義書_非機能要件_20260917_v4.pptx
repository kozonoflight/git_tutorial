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647" r:id="rId5"/>
    <p:sldId id="265" r:id="rId6"/>
    <p:sldId id="266" r:id="rId7"/>
    <p:sldId id="1164" r:id="rId8"/>
    <p:sldId id="405" r:id="rId9"/>
    <p:sldId id="553" r:id="rId10"/>
    <p:sldId id="552" r:id="rId11"/>
    <p:sldId id="554" r:id="rId12"/>
    <p:sldId id="555" r:id="rId13"/>
    <p:sldId id="556" r:id="rId14"/>
    <p:sldId id="557" r:id="rId15"/>
    <p:sldId id="558" r:id="rId16"/>
    <p:sldId id="1163" r:id="rId17"/>
    <p:sldId id="492" r:id="rId18"/>
    <p:sldId id="325" r:id="rId19"/>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278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市川 真悟" initials="市川"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D0D8E8"/>
    <a:srgbClr val="000000"/>
    <a:srgbClr val="FFFFFF"/>
    <a:srgbClr val="FF6600"/>
    <a:srgbClr val="CCECFF"/>
    <a:srgbClr val="CCFF99"/>
    <a:srgbClr val="003399"/>
    <a:srgbClr val="008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73" autoAdjust="0"/>
  </p:normalViewPr>
  <p:slideViewPr>
    <p:cSldViewPr snapToGrid="0">
      <p:cViewPr varScale="1">
        <p:scale>
          <a:sx n="107" d="100"/>
          <a:sy n="107" d="100"/>
        </p:scale>
        <p:origin x="1656" y="90"/>
      </p:cViewPr>
      <p:guideLst>
        <p:guide orient="horz" pos="2176"/>
        <p:guide pos="278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4038" y="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866535" cy="534099"/>
          </a:xfrm>
          <a:prstGeom prst="rect">
            <a:avLst/>
          </a:prstGeom>
        </p:spPr>
        <p:txBody>
          <a:bodyPr vert="horz" lIns="91440" tIns="45720" rIns="91440" bIns="45720" rtlCol="0"/>
          <a:lstStyle>
            <a:lvl1pPr algn="l">
              <a:defRPr sz="1160"/>
            </a:lvl1pPr>
          </a:lstStyle>
          <a:p>
            <a:endParaRPr kumimoji="1" lang="ja-JP" altLang="en-US"/>
          </a:p>
        </p:txBody>
      </p:sp>
      <p:sp>
        <p:nvSpPr>
          <p:cNvPr id="3" name="日付プレースホルダー 2"/>
          <p:cNvSpPr>
            <a:spLocks noGrp="1"/>
          </p:cNvSpPr>
          <p:nvPr>
            <p:ph type="dt" sz="quarter" idx="1"/>
          </p:nvPr>
        </p:nvSpPr>
        <p:spPr>
          <a:xfrm>
            <a:off x="3747015" y="0"/>
            <a:ext cx="2866535" cy="534099"/>
          </a:xfrm>
          <a:prstGeom prst="rect">
            <a:avLst/>
          </a:prstGeom>
        </p:spPr>
        <p:txBody>
          <a:bodyPr vert="horz" lIns="91440" tIns="45720" rIns="91440" bIns="45720" rtlCol="0"/>
          <a:lstStyle>
            <a:lvl1pPr algn="r">
              <a:defRPr sz="1160"/>
            </a:lvl1pPr>
          </a:lstStyle>
          <a:p>
            <a:fld id="{CDF1FFE2-7EEC-412C-802C-6711DEB0A98D}"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10110900"/>
            <a:ext cx="2866535" cy="534097"/>
          </a:xfrm>
          <a:prstGeom prst="rect">
            <a:avLst/>
          </a:prstGeom>
        </p:spPr>
        <p:txBody>
          <a:bodyPr vert="horz" lIns="91440" tIns="45720" rIns="91440" bIns="45720" rtlCol="0" anchor="b"/>
          <a:lstStyle>
            <a:lvl1pPr algn="l">
              <a:defRPr sz="1160"/>
            </a:lvl1pPr>
          </a:lstStyle>
          <a:p>
            <a:endParaRPr kumimoji="1" lang="ja-JP" altLang="en-US"/>
          </a:p>
        </p:txBody>
      </p:sp>
      <p:sp>
        <p:nvSpPr>
          <p:cNvPr id="5" name="スライド番号プレースホルダー 4"/>
          <p:cNvSpPr>
            <a:spLocks noGrp="1"/>
          </p:cNvSpPr>
          <p:nvPr>
            <p:ph type="sldNum" sz="quarter" idx="3"/>
          </p:nvPr>
        </p:nvSpPr>
        <p:spPr>
          <a:xfrm>
            <a:off x="3747015" y="10110900"/>
            <a:ext cx="2866535" cy="534097"/>
          </a:xfrm>
          <a:prstGeom prst="rect">
            <a:avLst/>
          </a:prstGeom>
        </p:spPr>
        <p:txBody>
          <a:bodyPr vert="horz" lIns="91440" tIns="45720" rIns="91440" bIns="45720" rtlCol="0" anchor="b"/>
          <a:lstStyle>
            <a:lvl1pPr algn="r">
              <a:defRPr sz="1160"/>
            </a:lvl1pPr>
          </a:lstStyle>
          <a:p>
            <a:fld id="{6B00E365-854E-4DD7-A3B8-9E56379337CA}"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1"/>
            <a:ext cx="2918830" cy="493316"/>
          </a:xfrm>
          <a:prstGeom prst="rect">
            <a:avLst/>
          </a:prstGeom>
        </p:spPr>
        <p:txBody>
          <a:bodyPr vert="horz" lIns="90650" tIns="45325" rIns="90650" bIns="45325" rtlCol="0"/>
          <a:lstStyle>
            <a:lvl1pPr algn="l">
              <a:defRPr sz="1100"/>
            </a:lvl1pPr>
          </a:lstStyle>
          <a:p>
            <a:endParaRPr kumimoji="1" lang="ja-JP" altLang="en-US"/>
          </a:p>
        </p:txBody>
      </p:sp>
      <p:sp>
        <p:nvSpPr>
          <p:cNvPr id="3" name="日付プレースホルダ 2"/>
          <p:cNvSpPr>
            <a:spLocks noGrp="1"/>
          </p:cNvSpPr>
          <p:nvPr>
            <p:ph type="dt" idx="1"/>
          </p:nvPr>
        </p:nvSpPr>
        <p:spPr>
          <a:xfrm>
            <a:off x="3815374" y="1"/>
            <a:ext cx="2918830" cy="493316"/>
          </a:xfrm>
          <a:prstGeom prst="rect">
            <a:avLst/>
          </a:prstGeom>
        </p:spPr>
        <p:txBody>
          <a:bodyPr vert="horz" lIns="90650" tIns="45325" rIns="90650" bIns="45325" rtlCol="0"/>
          <a:lstStyle>
            <a:lvl1pPr algn="r">
              <a:defRPr sz="1100"/>
            </a:lvl1pPr>
          </a:lstStyle>
          <a:p>
            <a:fld id="{F6107BCC-152A-45C1-8FF0-BF513DDC9BFF}" type="datetimeFigureOut">
              <a:rPr kumimoji="1" lang="ja-JP" altLang="en-US" smtClean="0"/>
              <a:t>2026/9/15</a:t>
            </a:fld>
            <a:endParaRPr kumimoji="1" lang="ja-JP" altLang="en-US"/>
          </a:p>
        </p:txBody>
      </p:sp>
      <p:sp>
        <p:nvSpPr>
          <p:cNvPr id="4" name="スライド イメージ プレースホルダ 3"/>
          <p:cNvSpPr>
            <a:spLocks noGrp="1" noRot="1" noChangeAspect="1"/>
          </p:cNvSpPr>
          <p:nvPr>
            <p:ph type="sldImg" idx="2"/>
          </p:nvPr>
        </p:nvSpPr>
        <p:spPr>
          <a:xfrm>
            <a:off x="901700" y="739775"/>
            <a:ext cx="4933950" cy="3700463"/>
          </a:xfrm>
          <a:prstGeom prst="rect">
            <a:avLst/>
          </a:prstGeom>
          <a:noFill/>
          <a:ln w="12700">
            <a:solidFill>
              <a:prstClr val="black"/>
            </a:solidFill>
          </a:ln>
        </p:spPr>
        <p:txBody>
          <a:bodyPr vert="horz" lIns="90650" tIns="45325" rIns="90650" bIns="45325" rtlCol="0" anchor="ctr"/>
          <a:lstStyle/>
          <a:p>
            <a:endParaRPr lang="ja-JP" altLang="en-US"/>
          </a:p>
        </p:txBody>
      </p:sp>
      <p:sp>
        <p:nvSpPr>
          <p:cNvPr id="5" name="ノート プレースホルダ 4"/>
          <p:cNvSpPr>
            <a:spLocks noGrp="1"/>
          </p:cNvSpPr>
          <p:nvPr>
            <p:ph type="body" sz="quarter" idx="3"/>
          </p:nvPr>
        </p:nvSpPr>
        <p:spPr>
          <a:xfrm>
            <a:off x="673577" y="4686500"/>
            <a:ext cx="5388610" cy="4439841"/>
          </a:xfrm>
          <a:prstGeom prst="rect">
            <a:avLst/>
          </a:prstGeom>
        </p:spPr>
        <p:txBody>
          <a:bodyPr vert="horz" lIns="90650" tIns="45325" rIns="90650" bIns="45325"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371286"/>
            <a:ext cx="2918830" cy="493316"/>
          </a:xfrm>
          <a:prstGeom prst="rect">
            <a:avLst/>
          </a:prstGeom>
        </p:spPr>
        <p:txBody>
          <a:bodyPr vert="horz" lIns="90650" tIns="45325" rIns="90650" bIns="45325" rtlCol="0" anchor="b"/>
          <a:lstStyle>
            <a:lvl1pPr algn="l">
              <a:defRPr sz="1100"/>
            </a:lvl1pPr>
          </a:lstStyle>
          <a:p>
            <a:endParaRPr kumimoji="1" lang="ja-JP" altLang="en-US"/>
          </a:p>
        </p:txBody>
      </p:sp>
      <p:sp>
        <p:nvSpPr>
          <p:cNvPr id="7" name="スライド番号プレースホルダ 6"/>
          <p:cNvSpPr>
            <a:spLocks noGrp="1"/>
          </p:cNvSpPr>
          <p:nvPr>
            <p:ph type="sldNum" sz="quarter" idx="5"/>
          </p:nvPr>
        </p:nvSpPr>
        <p:spPr>
          <a:xfrm>
            <a:off x="3815374" y="9371286"/>
            <a:ext cx="2918830" cy="493316"/>
          </a:xfrm>
          <a:prstGeom prst="rect">
            <a:avLst/>
          </a:prstGeom>
        </p:spPr>
        <p:txBody>
          <a:bodyPr vert="horz" lIns="90650" tIns="45325" rIns="90650" bIns="45325" rtlCol="0" anchor="b"/>
          <a:lstStyle>
            <a:lvl1pPr algn="r">
              <a:defRPr sz="1100"/>
            </a:lvl1pPr>
          </a:lstStyle>
          <a:p>
            <a:fld id="{1295083C-D7A7-493D-B72D-C9E63084AB5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295083C-D7A7-493D-B72D-C9E63084AB5C}" type="slidenum">
              <a:rPr kumimoji="1" lang="ja-JP" altLang="en-US" smtClean="0"/>
              <a:t>1</a:t>
            </a:fld>
            <a:endParaRPr kumimoji="1" lang="ja-JP" altLang="en-US"/>
          </a:p>
        </p:txBody>
      </p:sp>
    </p:spTree>
    <p:extLst>
      <p:ext uri="{BB962C8B-B14F-4D97-AF65-F5344CB8AC3E}">
        <p14:creationId xmlns:p14="http://schemas.microsoft.com/office/powerpoint/2010/main" val="3137794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uFillTx/>
              </a:rPr>
              <a:t>【ASP</a:t>
            </a:r>
            <a:r>
              <a:rPr kumimoji="1" lang="ja-JP" altLang="en-US" dirty="0">
                <a:uFillTx/>
              </a:rPr>
              <a:t>サービスとしての</a:t>
            </a:r>
            <a:r>
              <a:rPr kumimoji="1" lang="en-US" altLang="ja-JP" dirty="0">
                <a:uFillTx/>
              </a:rPr>
              <a:t>SLA</a:t>
            </a:r>
            <a:r>
              <a:rPr kumimoji="1" lang="ja-JP" altLang="en-US" dirty="0">
                <a:uFillTx/>
              </a:rPr>
              <a:t>を提示</a:t>
            </a:r>
            <a:r>
              <a:rPr kumimoji="1" lang="en-US" altLang="ja-JP" dirty="0">
                <a:uFillTx/>
              </a:rPr>
              <a:t>】</a:t>
            </a:r>
          </a:p>
          <a:p>
            <a:r>
              <a:rPr kumimoji="1" lang="en-US" altLang="ja-JP" dirty="0">
                <a:uFillTx/>
              </a:rPr>
              <a:t>ASP</a:t>
            </a:r>
            <a:r>
              <a:rPr kumimoji="1" lang="ja-JP" altLang="en-US" dirty="0">
                <a:uFillTx/>
              </a:rPr>
              <a:t>としての可用性</a:t>
            </a:r>
            <a:r>
              <a:rPr kumimoji="1" lang="en-US" altLang="ja-JP" dirty="0">
                <a:uFillTx/>
              </a:rPr>
              <a:t>/</a:t>
            </a:r>
            <a:r>
              <a:rPr kumimoji="1" lang="ja-JP" altLang="en-US" dirty="0">
                <a:uFillTx/>
              </a:rPr>
              <a:t>信頼性</a:t>
            </a:r>
            <a:r>
              <a:rPr kumimoji="1" lang="en-US" altLang="ja-JP" dirty="0">
                <a:uFillTx/>
              </a:rPr>
              <a:t>/</a:t>
            </a:r>
            <a:r>
              <a:rPr kumimoji="1" lang="ja-JP" altLang="en-US" dirty="0">
                <a:uFillTx/>
              </a:rPr>
              <a:t>拡張性などを定義している</a:t>
            </a:r>
            <a:endParaRPr kumimoji="1" lang="en-US" altLang="ja-JP" dirty="0">
              <a:uFillTx/>
            </a:endParaRPr>
          </a:p>
          <a:p>
            <a:r>
              <a:rPr kumimoji="1" lang="ja-JP" altLang="en-US" dirty="0">
                <a:uFillTx/>
              </a:rPr>
              <a:t>貴社向けサービスも、本内容をベースに提供させていただく</a:t>
            </a: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2</a:t>
            </a:fld>
            <a:endParaRPr kumimoji="1" lang="ja-JP" altLang="en-US">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uFillTx/>
            </a:endParaRP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3</a:t>
            </a:fld>
            <a:endParaRPr kumimoji="1" lang="ja-JP" altLang="en-US">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3BD1-1B9C-4EC8-8DEC-B67740276B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40A7B5-0388-17C2-F9A3-06BB581659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4D10FE-5986-880C-7481-7023E0734AEF}"/>
              </a:ext>
            </a:extLst>
          </p:cNvPr>
          <p:cNvSpPr>
            <a:spLocks noGrp="1"/>
          </p:cNvSpPr>
          <p:nvPr>
            <p:ph type="body" idx="1"/>
          </p:nvPr>
        </p:nvSpPr>
        <p:spPr/>
        <p:txBody>
          <a:bodyPr/>
          <a:lstStyle/>
          <a:p>
            <a:r>
              <a:rPr kumimoji="1" lang="en-US" altLang="ja-JP" dirty="0">
                <a:uFillTx/>
              </a:rPr>
              <a:t>【ASP</a:t>
            </a:r>
            <a:r>
              <a:rPr kumimoji="1" lang="ja-JP" altLang="en-US" dirty="0">
                <a:uFillTx/>
              </a:rPr>
              <a:t>としてのサポート内容</a:t>
            </a:r>
            <a:r>
              <a:rPr kumimoji="1" lang="en-US" altLang="ja-JP" dirty="0">
                <a:uFillTx/>
              </a:rPr>
              <a:t>】</a:t>
            </a:r>
          </a:p>
          <a:p>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サービスは当社でシステムの運用を行い、サービスとしてご提供するもの</a:t>
            </a:r>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のご採用により、システム運営に必要な</a:t>
            </a:r>
            <a:r>
              <a:rPr kumimoji="1" lang="en-US" altLang="ja-JP" dirty="0">
                <a:uFillTx/>
              </a:rPr>
              <a:t>HW</a:t>
            </a:r>
            <a:r>
              <a:rPr kumimoji="1" lang="ja-JP" altLang="en-US" dirty="0">
                <a:uFillTx/>
              </a:rPr>
              <a:t>やファシリティのご用意は不要</a:t>
            </a:r>
            <a:endParaRPr kumimoji="1" lang="en-US" altLang="ja-JP" dirty="0">
              <a:uFillTx/>
            </a:endParaRPr>
          </a:p>
          <a:p>
            <a:r>
              <a:rPr kumimoji="1" lang="ja-JP" altLang="en-US" dirty="0">
                <a:uFillTx/>
              </a:rPr>
              <a:t>■通常運用や監視、異常検知時の対応などは当社のご提供</a:t>
            </a:r>
            <a:endParaRPr kumimoji="1" lang="en-US" altLang="ja-JP" dirty="0">
              <a:uFillTx/>
            </a:endParaRPr>
          </a:p>
          <a:p>
            <a:r>
              <a:rPr kumimoji="1" lang="ja-JP" altLang="en-US" dirty="0">
                <a:uFillTx/>
              </a:rPr>
              <a:t>■システムの管理は弊社要員にて対応するので、貴社要員は、サイト運営に集中できる</a:t>
            </a:r>
            <a:endParaRPr kumimoji="1" lang="en-US" altLang="ja-JP" dirty="0">
              <a:uFillTx/>
            </a:endParaRPr>
          </a:p>
          <a:p>
            <a:endParaRPr kumimoji="1" lang="en-US" altLang="ja-JP" dirty="0">
              <a:uFillTx/>
            </a:endParaRPr>
          </a:p>
          <a:p>
            <a:r>
              <a:rPr kumimoji="1" lang="en-US" altLang="ja-JP" dirty="0">
                <a:uFillTx/>
              </a:rPr>
              <a:t>ASP</a:t>
            </a:r>
            <a:r>
              <a:rPr kumimoji="1" lang="ja-JP" altLang="en-US" dirty="0">
                <a:uFillTx/>
              </a:rPr>
              <a:t>年額３０９万（パッケージは初期１００万＋年１２０万）</a:t>
            </a:r>
            <a:endParaRPr kumimoji="1" lang="en-US" altLang="ja-JP" dirty="0">
              <a:uFillTx/>
            </a:endParaRPr>
          </a:p>
          <a:p>
            <a:r>
              <a:rPr kumimoji="1" lang="ja-JP" altLang="en-US" dirty="0">
                <a:uFillTx/>
              </a:rPr>
              <a:t>・</a:t>
            </a:r>
            <a:r>
              <a:rPr kumimoji="1" lang="en-US" altLang="ja-JP" dirty="0">
                <a:uFillTx/>
              </a:rPr>
              <a:t>HW</a:t>
            </a:r>
            <a:r>
              <a:rPr kumimoji="1" lang="ja-JP" altLang="en-US" dirty="0">
                <a:uFillTx/>
              </a:rPr>
              <a:t>更新不要／ハード・ソフトの運用不要／監視不要／電気代不要</a:t>
            </a:r>
            <a:endParaRPr kumimoji="1" lang="en-US" altLang="ja-JP" dirty="0">
              <a:uFillTx/>
            </a:endParaRPr>
          </a:p>
          <a:p>
            <a:r>
              <a:rPr kumimoji="1" lang="ja-JP" altLang="en-US" dirty="0">
                <a:uFillTx/>
              </a:rPr>
              <a:t>　　⇒コストメリット、要員の効率配置</a:t>
            </a:r>
            <a:endParaRPr kumimoji="1" lang="en-US" altLang="ja-JP" dirty="0">
              <a:uFillTx/>
            </a:endParaRPr>
          </a:p>
          <a:p>
            <a:endParaRPr kumimoji="1" lang="en-US" altLang="ja-JP" dirty="0">
              <a:uFillTx/>
            </a:endParaRPr>
          </a:p>
          <a:p>
            <a:r>
              <a:rPr kumimoji="1" lang="en-US" altLang="ja-JP" dirty="0">
                <a:uFillTx/>
              </a:rPr>
              <a:t>EM</a:t>
            </a:r>
            <a:r>
              <a:rPr kumimoji="1" lang="ja-JP" altLang="en-US" dirty="0">
                <a:uFillTx/>
              </a:rPr>
              <a:t>指摘：</a:t>
            </a:r>
            <a:r>
              <a:rPr kumimoji="1" lang="en-US" altLang="ja-JP" dirty="0">
                <a:uFillTx/>
              </a:rPr>
              <a:t>ASP</a:t>
            </a:r>
            <a:r>
              <a:rPr kumimoji="1" lang="ja-JP" altLang="en-US" dirty="0">
                <a:uFillTx/>
              </a:rPr>
              <a:t>版の優位性を説明すると良い。特長だと思うのでその辺の備えがあったほうが良い。</a:t>
            </a:r>
          </a:p>
          <a:p>
            <a:endParaRPr kumimoji="1" lang="en-US" altLang="ja-JP" dirty="0">
              <a:uFillTx/>
            </a:endParaRPr>
          </a:p>
        </p:txBody>
      </p:sp>
      <p:sp>
        <p:nvSpPr>
          <p:cNvPr id="4" name="スライド番号プレースホルダー 3">
            <a:extLst>
              <a:ext uri="{FF2B5EF4-FFF2-40B4-BE49-F238E27FC236}">
                <a16:creationId xmlns:a16="http://schemas.microsoft.com/office/drawing/2014/main" id="{5A248DD5-8FB1-1C01-AE2E-C9EB8BC697AC}"/>
              </a:ext>
            </a:extLst>
          </p:cNvPr>
          <p:cNvSpPr>
            <a:spLocks noGrp="1"/>
          </p:cNvSpPr>
          <p:nvPr>
            <p:ph type="sldNum" sz="quarter" idx="10"/>
          </p:nvPr>
        </p:nvSpPr>
        <p:spPr/>
        <p:txBody>
          <a:bodyPr/>
          <a:lstStyle/>
          <a:p>
            <a:fld id="{13BBDFF2-C854-42AB-A0A1-39EE2E1232B0}" type="slidenum">
              <a:rPr kumimoji="1" lang="ja-JP" altLang="en-US" smtClean="0">
                <a:uFillTx/>
              </a:rPr>
              <a:pPr/>
              <a:t>4</a:t>
            </a:fld>
            <a:endParaRPr kumimoji="1" lang="ja-JP" altLang="en-US">
              <a:uFillTx/>
            </a:endParaRPr>
          </a:p>
        </p:txBody>
      </p:sp>
    </p:spTree>
    <p:extLst>
      <p:ext uri="{BB962C8B-B14F-4D97-AF65-F5344CB8AC3E}">
        <p14:creationId xmlns:p14="http://schemas.microsoft.com/office/powerpoint/2010/main" val="3269438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pPr/>
              <a:t>14</a:t>
            </a:fld>
            <a:endParaRPr kumimoji="1" lang="ja-JP" altLang="en-US"/>
          </a:p>
        </p:txBody>
      </p:sp>
    </p:spTree>
    <p:extLst>
      <p:ext uri="{BB962C8B-B14F-4D97-AF65-F5344CB8AC3E}">
        <p14:creationId xmlns:p14="http://schemas.microsoft.com/office/powerpoint/2010/main" val="3322750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p70:notes"/>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524" name="Google Shape;1524;p70:notes"/>
          <p:cNvSpPr>
            <a:spLocks noGrp="1" noRot="1" noChangeAspect="1"/>
          </p:cNvSpPr>
          <p:nvPr>
            <p:ph type="sldImg" idx="2"/>
          </p:nvPr>
        </p:nvSpPr>
        <p:spPr>
          <a:xfrm>
            <a:off x="992188" y="766763"/>
            <a:ext cx="5119687"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6E11B0DB-0F0E-4CEB-81F9-871F3865D7BC}"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876AE50-DD4A-4E51-9A3C-7B56E06A170F}"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7CC4DE62-FE87-4348-9FEA-94E0548B0D4E}"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1454E833-AA3C-47EC-AB9E-84BD6DE11113}"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1EBB6039-1225-4FE5-A2BB-82E562B6BAE6}" type="datetime1">
              <a:rPr kumimoji="1" lang="ja-JP" altLang="en-US" smtClean="0"/>
              <a:t>2026/9/15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CE59E0CC-B163-4755-A415-C646239A226E}" type="datetime1">
              <a:rPr kumimoji="1" lang="ja-JP" altLang="en-US" smtClean="0"/>
              <a:t>2026/9/15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73562B13-2AFF-40C2-AF80-116B0B4FC762}" type="datetime1">
              <a:rPr kumimoji="1" lang="ja-JP" altLang="en-US" smtClean="0"/>
              <a:t>2026/9/15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55B1FDD3-EDE9-4452-9202-9A09A07B6170}"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D1473908-6E66-407A-83D6-FA21C432522F}"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75F3E6C-B5AE-4F16-9419-CB7E68A9BD04}"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DBF6FC4-6E07-4B28-A644-AC6A9CA73E8B}"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771556" y="142852"/>
            <a:ext cx="8229600" cy="582594"/>
          </a:xfrm>
          <a:prstGeom prst="rect">
            <a:avLst/>
          </a:prstGeom>
        </p:spPr>
        <p:txBody>
          <a:bodyPr/>
          <a:lstStyle>
            <a:lvl1pPr algn="l">
              <a:defRPr/>
            </a:lvl1pPr>
          </a:lstStyle>
          <a:p>
            <a:r>
              <a:rPr lang="ja-JP" altLang="en-US"/>
              <a:t>マスタ タイトルの書式設定</a:t>
            </a:r>
          </a:p>
        </p:txBody>
      </p:sp>
      <p:sp>
        <p:nvSpPr>
          <p:cNvPr id="5" name="直線コネクタ 13"/>
          <p:cNvSpPr>
            <a:spLocks noChangeShapeType="1"/>
          </p:cNvSpPr>
          <p:nvPr userDrawn="1"/>
        </p:nvSpPr>
        <p:spPr bwMode="auto">
          <a:xfrm>
            <a:off x="141257" y="674642"/>
            <a:ext cx="8785225" cy="0"/>
          </a:xfrm>
          <a:prstGeom prst="line">
            <a:avLst/>
          </a:prstGeom>
          <a:noFill/>
          <a:ln w="12700" cap="sq">
            <a:solidFill>
              <a:schemeClr val="tx1"/>
            </a:solidFill>
            <a:bevel/>
          </a:ln>
        </p:spPr>
        <p:txBody>
          <a:bodyPr/>
          <a:lstStyle/>
          <a:p>
            <a:endParaRPr lang="ja-JP" altLang="en-US"/>
          </a:p>
        </p:txBody>
      </p:sp>
      <p:sp>
        <p:nvSpPr>
          <p:cNvPr id="6" name="スライド番号プレースホルダ 21"/>
          <p:cNvSpPr txBox="1"/>
          <p:nvPr userDrawn="1"/>
        </p:nvSpPr>
        <p:spPr bwMode="auto">
          <a:xfrm>
            <a:off x="6970713" y="6492875"/>
            <a:ext cx="2133600" cy="365125"/>
          </a:xfrm>
          <a:prstGeom prst="rect">
            <a:avLst/>
          </a:prstGeom>
          <a:noFill/>
          <a:ln w="9525">
            <a:noFill/>
            <a:miter lim="800000"/>
          </a:ln>
        </p:spPr>
        <p:txBody>
          <a:bodyPr/>
          <a:lstStyle/>
          <a:p>
            <a:pPr algn="r"/>
            <a:fld id="{142D207C-8CDE-4337-AE95-AB99F8E46A13}" type="slidenum">
              <a:rPr lang="ja-JP" altLang="en-US"/>
              <a:t>‹#›</a:t>
            </a:fld>
            <a:endParaRPr lang="ja-JP" altLang="en-US"/>
          </a:p>
        </p:txBody>
      </p:sp>
      <p:pic>
        <p:nvPicPr>
          <p:cNvPr id="7" name="Google Shape;40;p75" descr="アイコン&#10;&#10;自動的に生成された説明">
            <a:extLst>
              <a:ext uri="{FF2B5EF4-FFF2-40B4-BE49-F238E27FC236}">
                <a16:creationId xmlns:a16="http://schemas.microsoft.com/office/drawing/2014/main" id="{616C45CF-1B32-20A0-67BD-B6AC6E2E4A98}"/>
              </a:ext>
            </a:extLst>
          </p:cNvPr>
          <p:cNvPicPr preferRelativeResize="0"/>
          <p:nvPr userDrawn="1"/>
        </p:nvPicPr>
        <p:blipFill rotWithShape="1">
          <a:blip r:embed="rId2">
            <a:alphaModFix/>
          </a:blip>
          <a:srcRect/>
          <a:stretch/>
        </p:blipFill>
        <p:spPr>
          <a:xfrm>
            <a:off x="154748" y="142852"/>
            <a:ext cx="720000" cy="49227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226605" y="2054914"/>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226605" y="2230543"/>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226604" y="2402231"/>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226603" y="2573910"/>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171268" y="1412776"/>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194919" y="2732096"/>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233175" y="3747743"/>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540498" y="3662132"/>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233175" y="3957468"/>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517263" y="3846590"/>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356802" y="1635796"/>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494136" y="1605960"/>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357606" y="1781809"/>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494136" y="1749486"/>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178846" y="3409587"/>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r:embed="rId3" cstate="print"/>
          <a:stretch>
            <a:fillRect/>
          </a:stretch>
        </p:blipFill>
        <p:spPr>
          <a:xfrm>
            <a:off x="720432" y="3091380"/>
            <a:ext cx="258536" cy="166631"/>
          </a:xfrm>
          <a:prstGeom prst="rect">
            <a:avLst/>
          </a:prstGeom>
        </p:spPr>
      </p:pic>
      <p:sp>
        <p:nvSpPr>
          <p:cNvPr id="39" name="テキスト ボックス 29"/>
          <p:cNvSpPr txBox="1"/>
          <p:nvPr userDrawn="1"/>
        </p:nvSpPr>
        <p:spPr>
          <a:xfrm>
            <a:off x="702326" y="3245245"/>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237222" y="3104312"/>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7999004" y="4431178"/>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7999004" y="4606807"/>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7999003" y="4778495"/>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7999002" y="4950174"/>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7943667" y="3789040"/>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7967318" y="5108360"/>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8005574" y="6124007"/>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8312897" y="6038396"/>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8005574" y="6333732"/>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8289662" y="6222854"/>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8129201" y="4012060"/>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8266535" y="3982224"/>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8130005" y="4158073"/>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8266535" y="4125750"/>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7951245" y="5785851"/>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r:embed="rId3" cstate="print"/>
          <a:stretch>
            <a:fillRect/>
          </a:stretch>
        </p:blipFill>
        <p:spPr>
          <a:xfrm>
            <a:off x="8492831" y="5467644"/>
            <a:ext cx="258536" cy="166631"/>
          </a:xfrm>
          <a:prstGeom prst="rect">
            <a:avLst/>
          </a:prstGeom>
        </p:spPr>
      </p:pic>
      <p:sp>
        <p:nvSpPr>
          <p:cNvPr id="39" name="テキスト ボックス 29"/>
          <p:cNvSpPr txBox="1"/>
          <p:nvPr userDrawn="1"/>
        </p:nvSpPr>
        <p:spPr>
          <a:xfrm>
            <a:off x="8474725" y="5621509"/>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8009621" y="5480576"/>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3904148"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DTC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販売部 </a:t>
            </a: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販売課</a:t>
            </a:r>
          </a:p>
        </p:txBody>
      </p:sp>
      <p:sp>
        <p:nvSpPr>
          <p:cNvPr id="9" name="正方形/長方形 8"/>
          <p:cNvSpPr/>
          <p:nvPr userDrawn="1"/>
        </p:nvSpPr>
        <p:spPr>
          <a:xfrm>
            <a:off x="5800448"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販売部</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ユーザー</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userDrawn="1"/>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userDrawn="1"/>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userDrawn="1"/>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4090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備考</a:t>
            </a: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1979712"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42" name="正方形/長方形 41"/>
          <p:cNvSpPr/>
          <p:nvPr userDrawn="1"/>
        </p:nvSpPr>
        <p:spPr>
          <a:xfrm>
            <a:off x="1996832"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サイト</a:t>
            </a:r>
          </a:p>
        </p:txBody>
      </p:sp>
      <p:cxnSp>
        <p:nvCxnSpPr>
          <p:cNvPr id="43" name="直線コネクタ 42"/>
          <p:cNvCxnSpPr/>
          <p:nvPr userDrawn="1"/>
        </p:nvCxnSpPr>
        <p:spPr>
          <a:xfrm>
            <a:off x="3924035"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サブタイトル">
  <p:cSld name="サブタイトル">
    <p:spTree>
      <p:nvGrpSpPr>
        <p:cNvPr id="1" name="Shape 32"/>
        <p:cNvGrpSpPr/>
        <p:nvPr/>
      </p:nvGrpSpPr>
      <p:grpSpPr>
        <a:xfrm>
          <a:off x="0" y="0"/>
          <a:ext cx="0" cy="0"/>
          <a:chOff x="0" y="0"/>
          <a:chExt cx="0" cy="0"/>
        </a:xfrm>
      </p:grpSpPr>
      <p:sp>
        <p:nvSpPr>
          <p:cNvPr id="33" name="Google Shape;33;p74"/>
          <p:cNvSpPr/>
          <p:nvPr/>
        </p:nvSpPr>
        <p:spPr>
          <a:xfrm>
            <a:off x="206376" y="728663"/>
            <a:ext cx="8821738" cy="585787"/>
          </a:xfrm>
          <a:prstGeom prst="rect">
            <a:avLst/>
          </a:prstGeom>
          <a:solidFill>
            <a:schemeClr val="lt1"/>
          </a:solidFill>
          <a:ln>
            <a:noFill/>
          </a:ln>
        </p:spPr>
        <p:txBody>
          <a:bodyPr spcFirstLastPara="1" wrap="square" lIns="84392" tIns="42185" rIns="84392" bIns="42185" anchor="ctr" anchorCtr="0">
            <a:noAutofit/>
          </a:bodyPr>
          <a:lstStyle/>
          <a:p>
            <a:pPr marL="0" marR="0" lvl="0" indent="0" algn="ctr" rtl="0">
              <a:spcBef>
                <a:spcPts val="0"/>
              </a:spcBef>
              <a:spcAft>
                <a:spcPts val="0"/>
              </a:spcAft>
              <a:buNone/>
            </a:pPr>
            <a:endParaRPr sz="1477" b="0" i="0" u="none" strike="noStrike" cap="none">
              <a:solidFill>
                <a:srgbClr val="2D2D87"/>
              </a:solidFill>
              <a:latin typeface="Arial"/>
              <a:ea typeface="Arial"/>
              <a:cs typeface="Arial"/>
              <a:sym typeface="Arial"/>
            </a:endParaRPr>
          </a:p>
        </p:txBody>
      </p:sp>
      <p:sp>
        <p:nvSpPr>
          <p:cNvPr id="34" name="Google Shape;34;p74"/>
          <p:cNvSpPr txBox="1">
            <a:spLocks noGrp="1"/>
          </p:cNvSpPr>
          <p:nvPr>
            <p:ph type="body" idx="1"/>
          </p:nvPr>
        </p:nvSpPr>
        <p:spPr>
          <a:xfrm>
            <a:off x="722313" y="2258872"/>
            <a:ext cx="7772400" cy="1500187"/>
          </a:xfrm>
          <a:prstGeom prst="rect">
            <a:avLst/>
          </a:prstGeom>
          <a:noFill/>
          <a:ln>
            <a:noFill/>
          </a:ln>
        </p:spPr>
        <p:txBody>
          <a:bodyPr spcFirstLastPara="1" wrap="square" lIns="91425" tIns="45700" rIns="91425" bIns="45700" anchor="b" anchorCtr="0">
            <a:noAutofit/>
          </a:bodyPr>
          <a:lstStyle>
            <a:lvl1pPr marL="422041" lvl="0" indent="-211021" algn="ctr">
              <a:spcBef>
                <a:spcPts val="738"/>
              </a:spcBef>
              <a:spcAft>
                <a:spcPts val="0"/>
              </a:spcAft>
              <a:buClr>
                <a:srgbClr val="595959"/>
              </a:buClr>
              <a:buSzPts val="4000"/>
              <a:buNone/>
              <a:defRPr sz="3692"/>
            </a:lvl1pPr>
            <a:lvl2pPr marL="844083" lvl="1" indent="-211021" algn="l">
              <a:spcBef>
                <a:spcPts val="332"/>
              </a:spcBef>
              <a:spcAft>
                <a:spcPts val="0"/>
              </a:spcAft>
              <a:buClr>
                <a:srgbClr val="595959"/>
              </a:buClr>
              <a:buSzPts val="1800"/>
              <a:buNone/>
              <a:defRPr sz="1662"/>
            </a:lvl2pPr>
            <a:lvl3pPr marL="1266124" lvl="2" indent="-211021" algn="l">
              <a:spcBef>
                <a:spcPts val="295"/>
              </a:spcBef>
              <a:spcAft>
                <a:spcPts val="0"/>
              </a:spcAft>
              <a:buClr>
                <a:srgbClr val="595959"/>
              </a:buClr>
              <a:buSzPts val="1600"/>
              <a:buNone/>
              <a:defRPr sz="1477"/>
            </a:lvl3pPr>
            <a:lvl4pPr marL="1688165" lvl="3" indent="-211021" algn="l">
              <a:spcBef>
                <a:spcPts val="258"/>
              </a:spcBef>
              <a:spcAft>
                <a:spcPts val="0"/>
              </a:spcAft>
              <a:buClr>
                <a:srgbClr val="595959"/>
              </a:buClr>
              <a:buSzPts val="1400"/>
              <a:buNone/>
              <a:defRPr sz="1292"/>
            </a:lvl4pPr>
            <a:lvl5pPr marL="2110207" lvl="4" indent="-211021" algn="l">
              <a:spcBef>
                <a:spcPts val="258"/>
              </a:spcBef>
              <a:spcAft>
                <a:spcPts val="0"/>
              </a:spcAft>
              <a:buClr>
                <a:srgbClr val="595959"/>
              </a:buClr>
              <a:buSzPts val="1400"/>
              <a:buNone/>
              <a:defRPr sz="1292"/>
            </a:lvl5pPr>
            <a:lvl6pPr marL="2532248" lvl="5" indent="-211021" algn="l">
              <a:spcBef>
                <a:spcPts val="258"/>
              </a:spcBef>
              <a:spcAft>
                <a:spcPts val="0"/>
              </a:spcAft>
              <a:buClr>
                <a:schemeClr val="dk1"/>
              </a:buClr>
              <a:buSzPts val="1400"/>
              <a:buFont typeface="Arial"/>
              <a:buNone/>
              <a:defRPr sz="1292"/>
            </a:lvl6pPr>
            <a:lvl7pPr marL="2954289" lvl="6" indent="-211021" algn="l">
              <a:spcBef>
                <a:spcPts val="258"/>
              </a:spcBef>
              <a:spcAft>
                <a:spcPts val="0"/>
              </a:spcAft>
              <a:buClr>
                <a:schemeClr val="dk1"/>
              </a:buClr>
              <a:buSzPts val="1400"/>
              <a:buFont typeface="Arial"/>
              <a:buNone/>
              <a:defRPr sz="1292"/>
            </a:lvl7pPr>
            <a:lvl8pPr marL="3376331" lvl="7" indent="-211021" algn="l">
              <a:spcBef>
                <a:spcPts val="258"/>
              </a:spcBef>
              <a:spcAft>
                <a:spcPts val="0"/>
              </a:spcAft>
              <a:buClr>
                <a:schemeClr val="dk1"/>
              </a:buClr>
              <a:buSzPts val="1400"/>
              <a:buFont typeface="Arial"/>
              <a:buNone/>
              <a:defRPr sz="1292"/>
            </a:lvl8pPr>
            <a:lvl9pPr marL="3798372" lvl="8" indent="-211021" algn="l">
              <a:spcBef>
                <a:spcPts val="258"/>
              </a:spcBef>
              <a:spcAft>
                <a:spcPts val="0"/>
              </a:spcAft>
              <a:buClr>
                <a:schemeClr val="dk1"/>
              </a:buClr>
              <a:buSzPts val="1400"/>
              <a:buFont typeface="Arial"/>
              <a:buNone/>
              <a:defRPr sz="1292"/>
            </a:lvl9pPr>
          </a:lstStyle>
          <a:p>
            <a:endParaRPr/>
          </a:p>
        </p:txBody>
      </p:sp>
      <p:sp>
        <p:nvSpPr>
          <p:cNvPr id="35" name="Google Shape;35;p74"/>
          <p:cNvSpPr txBox="1">
            <a:spLocks noGrp="1"/>
          </p:cNvSpPr>
          <p:nvPr>
            <p:ph type="body" idx="2"/>
          </p:nvPr>
        </p:nvSpPr>
        <p:spPr>
          <a:xfrm>
            <a:off x="722313" y="3789042"/>
            <a:ext cx="7772400" cy="1500187"/>
          </a:xfrm>
          <a:prstGeom prst="rect">
            <a:avLst/>
          </a:prstGeom>
          <a:noFill/>
          <a:ln>
            <a:noFill/>
          </a:ln>
        </p:spPr>
        <p:txBody>
          <a:bodyPr spcFirstLastPara="1" wrap="square" lIns="91425" tIns="45700" rIns="91425" bIns="45700" anchor="t" anchorCtr="0">
            <a:noAutofit/>
          </a:bodyPr>
          <a:lstStyle>
            <a:lvl1pPr marL="422041" lvl="0" indent="-211021" algn="ctr">
              <a:spcBef>
                <a:spcPts val="443"/>
              </a:spcBef>
              <a:spcAft>
                <a:spcPts val="0"/>
              </a:spcAft>
              <a:buClr>
                <a:srgbClr val="7F7F7F"/>
              </a:buClr>
              <a:buSzPts val="2400"/>
              <a:buNone/>
              <a:defRPr sz="2215">
                <a:solidFill>
                  <a:srgbClr val="7F7F7F"/>
                </a:solidFill>
              </a:defRPr>
            </a:lvl1pPr>
            <a:lvl2pPr marL="844083" lvl="1" indent="-211021" algn="l">
              <a:spcBef>
                <a:spcPts val="332"/>
              </a:spcBef>
              <a:spcAft>
                <a:spcPts val="0"/>
              </a:spcAft>
              <a:buClr>
                <a:srgbClr val="595959"/>
              </a:buClr>
              <a:buSzPts val="1800"/>
              <a:buNone/>
              <a:defRPr sz="1662"/>
            </a:lvl2pPr>
            <a:lvl3pPr marL="1266124" lvl="2" indent="-211021" algn="l">
              <a:spcBef>
                <a:spcPts val="295"/>
              </a:spcBef>
              <a:spcAft>
                <a:spcPts val="0"/>
              </a:spcAft>
              <a:buClr>
                <a:srgbClr val="595959"/>
              </a:buClr>
              <a:buSzPts val="1600"/>
              <a:buNone/>
              <a:defRPr sz="1477"/>
            </a:lvl3pPr>
            <a:lvl4pPr marL="1688165" lvl="3" indent="-211021" algn="l">
              <a:spcBef>
                <a:spcPts val="258"/>
              </a:spcBef>
              <a:spcAft>
                <a:spcPts val="0"/>
              </a:spcAft>
              <a:buClr>
                <a:srgbClr val="595959"/>
              </a:buClr>
              <a:buSzPts val="1400"/>
              <a:buNone/>
              <a:defRPr sz="1292"/>
            </a:lvl4pPr>
            <a:lvl5pPr marL="2110207" lvl="4" indent="-211021" algn="l">
              <a:spcBef>
                <a:spcPts val="258"/>
              </a:spcBef>
              <a:spcAft>
                <a:spcPts val="0"/>
              </a:spcAft>
              <a:buClr>
                <a:srgbClr val="595959"/>
              </a:buClr>
              <a:buSzPts val="1400"/>
              <a:buNone/>
              <a:defRPr sz="1292"/>
            </a:lvl5pPr>
            <a:lvl6pPr marL="2532248" lvl="5" indent="-211021" algn="l">
              <a:spcBef>
                <a:spcPts val="258"/>
              </a:spcBef>
              <a:spcAft>
                <a:spcPts val="0"/>
              </a:spcAft>
              <a:buClr>
                <a:schemeClr val="dk1"/>
              </a:buClr>
              <a:buSzPts val="1400"/>
              <a:buFont typeface="Arial"/>
              <a:buNone/>
              <a:defRPr sz="1292"/>
            </a:lvl6pPr>
            <a:lvl7pPr marL="2954289" lvl="6" indent="-211021" algn="l">
              <a:spcBef>
                <a:spcPts val="258"/>
              </a:spcBef>
              <a:spcAft>
                <a:spcPts val="0"/>
              </a:spcAft>
              <a:buClr>
                <a:schemeClr val="dk1"/>
              </a:buClr>
              <a:buSzPts val="1400"/>
              <a:buFont typeface="Arial"/>
              <a:buNone/>
              <a:defRPr sz="1292"/>
            </a:lvl7pPr>
            <a:lvl8pPr marL="3376331" lvl="7" indent="-211021" algn="l">
              <a:spcBef>
                <a:spcPts val="258"/>
              </a:spcBef>
              <a:spcAft>
                <a:spcPts val="0"/>
              </a:spcAft>
              <a:buClr>
                <a:schemeClr val="dk1"/>
              </a:buClr>
              <a:buSzPts val="1400"/>
              <a:buFont typeface="Arial"/>
              <a:buNone/>
              <a:defRPr sz="1292"/>
            </a:lvl8pPr>
            <a:lvl9pPr marL="3798372" lvl="8" indent="-211021" algn="l">
              <a:spcBef>
                <a:spcPts val="258"/>
              </a:spcBef>
              <a:spcAft>
                <a:spcPts val="0"/>
              </a:spcAft>
              <a:buClr>
                <a:schemeClr val="dk1"/>
              </a:buClr>
              <a:buSzPts val="1400"/>
              <a:buFont typeface="Arial"/>
              <a:buNone/>
              <a:defRPr sz="1292"/>
            </a:lvl9pPr>
          </a:lstStyle>
          <a:p>
            <a:endParaRPr/>
          </a:p>
        </p:txBody>
      </p:sp>
      <p:sp>
        <p:nvSpPr>
          <p:cNvPr id="36" name="Google Shape;36;p74"/>
          <p:cNvSpPr txBox="1">
            <a:spLocks noGrp="1"/>
          </p:cNvSpPr>
          <p:nvPr>
            <p:ph type="sldNum" idx="12"/>
          </p:nvPr>
        </p:nvSpPr>
        <p:spPr>
          <a:xfrm>
            <a:off x="7230757" y="6417793"/>
            <a:ext cx="157817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8" b="0" i="0" u="none" strike="noStrike" cap="none">
                <a:solidFill>
                  <a:srgbClr val="595959"/>
                </a:solidFill>
                <a:latin typeface="Meiryo"/>
                <a:ea typeface="Meiryo"/>
                <a:cs typeface="Meiryo"/>
                <a:sym typeface="Meiryo"/>
              </a:defRPr>
            </a:lvl1pPr>
            <a:lvl2pPr marL="0" lvl="1" indent="0" algn="r">
              <a:spcBef>
                <a:spcPts val="0"/>
              </a:spcBef>
              <a:buNone/>
              <a:defRPr sz="1108" b="0" i="0" u="none" strike="noStrike" cap="none">
                <a:solidFill>
                  <a:srgbClr val="595959"/>
                </a:solidFill>
                <a:latin typeface="Meiryo"/>
                <a:ea typeface="Meiryo"/>
                <a:cs typeface="Meiryo"/>
                <a:sym typeface="Meiryo"/>
              </a:defRPr>
            </a:lvl2pPr>
            <a:lvl3pPr marL="0" lvl="2" indent="0" algn="r">
              <a:spcBef>
                <a:spcPts val="0"/>
              </a:spcBef>
              <a:buNone/>
              <a:defRPr sz="1108" b="0" i="0" u="none" strike="noStrike" cap="none">
                <a:solidFill>
                  <a:srgbClr val="595959"/>
                </a:solidFill>
                <a:latin typeface="Meiryo"/>
                <a:ea typeface="Meiryo"/>
                <a:cs typeface="Meiryo"/>
                <a:sym typeface="Meiryo"/>
              </a:defRPr>
            </a:lvl3pPr>
            <a:lvl4pPr marL="0" lvl="3" indent="0" algn="r">
              <a:spcBef>
                <a:spcPts val="0"/>
              </a:spcBef>
              <a:buNone/>
              <a:defRPr sz="1108" b="0" i="0" u="none" strike="noStrike" cap="none">
                <a:solidFill>
                  <a:srgbClr val="595959"/>
                </a:solidFill>
                <a:latin typeface="Meiryo"/>
                <a:ea typeface="Meiryo"/>
                <a:cs typeface="Meiryo"/>
                <a:sym typeface="Meiryo"/>
              </a:defRPr>
            </a:lvl4pPr>
            <a:lvl5pPr marL="0" lvl="4" indent="0" algn="r">
              <a:spcBef>
                <a:spcPts val="0"/>
              </a:spcBef>
              <a:buNone/>
              <a:defRPr sz="1108" b="0" i="0" u="none" strike="noStrike" cap="none">
                <a:solidFill>
                  <a:srgbClr val="595959"/>
                </a:solidFill>
                <a:latin typeface="Meiryo"/>
                <a:ea typeface="Meiryo"/>
                <a:cs typeface="Meiryo"/>
                <a:sym typeface="Meiryo"/>
              </a:defRPr>
            </a:lvl5pPr>
            <a:lvl6pPr marL="0" lvl="5" indent="0" algn="r">
              <a:spcBef>
                <a:spcPts val="0"/>
              </a:spcBef>
              <a:buNone/>
              <a:defRPr sz="1108" b="0" i="0" u="none" strike="noStrike" cap="none">
                <a:solidFill>
                  <a:srgbClr val="595959"/>
                </a:solidFill>
                <a:latin typeface="Meiryo"/>
                <a:ea typeface="Meiryo"/>
                <a:cs typeface="Meiryo"/>
                <a:sym typeface="Meiryo"/>
              </a:defRPr>
            </a:lvl6pPr>
            <a:lvl7pPr marL="0" lvl="6" indent="0" algn="r">
              <a:spcBef>
                <a:spcPts val="0"/>
              </a:spcBef>
              <a:buNone/>
              <a:defRPr sz="1108" b="0" i="0" u="none" strike="noStrike" cap="none">
                <a:solidFill>
                  <a:srgbClr val="595959"/>
                </a:solidFill>
                <a:latin typeface="Meiryo"/>
                <a:ea typeface="Meiryo"/>
                <a:cs typeface="Meiryo"/>
                <a:sym typeface="Meiryo"/>
              </a:defRPr>
            </a:lvl7pPr>
            <a:lvl8pPr marL="0" lvl="7" indent="0" algn="r">
              <a:spcBef>
                <a:spcPts val="0"/>
              </a:spcBef>
              <a:buNone/>
              <a:defRPr sz="1108" b="0" i="0" u="none" strike="noStrike" cap="none">
                <a:solidFill>
                  <a:srgbClr val="595959"/>
                </a:solidFill>
                <a:latin typeface="Meiryo"/>
                <a:ea typeface="Meiryo"/>
                <a:cs typeface="Meiryo"/>
                <a:sym typeface="Meiryo"/>
              </a:defRPr>
            </a:lvl8pPr>
            <a:lvl9pPr marL="0" lvl="8" indent="0" algn="r">
              <a:spcBef>
                <a:spcPts val="0"/>
              </a:spcBef>
              <a:buNone/>
              <a:defRPr sz="1108" b="0" i="0" u="none" strike="noStrike" cap="none">
                <a:solidFill>
                  <a:srgbClr val="595959"/>
                </a:solidFill>
                <a:latin typeface="Meiryo"/>
                <a:ea typeface="Meiryo"/>
                <a:cs typeface="Meiryo"/>
                <a:sym typeface="Meiryo"/>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03103379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AFBB2C-C66B-4641-A283-C9B638AC71F2}" type="datetime1">
              <a:rPr kumimoji="1" lang="ja-JP" altLang="en-US" smtClean="0"/>
              <a:t>2026/9/15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D7C8B-752E-4A68-8D62-22DADB007538}" type="slidenum">
              <a:rPr kumimoji="1" lang="ja-JP" altLang="en-US" smtClean="0"/>
              <a:t>‹#›</a:t>
            </a:fld>
            <a:endParaRPr kumimoji="1" lang="ja-JP" altLang="en-US"/>
          </a:p>
        </p:txBody>
      </p:sp>
      <p:pic>
        <p:nvPicPr>
          <p:cNvPr id="8" name="Picture 71" descr="\\172.30.97.141\d$\ProjectData\80_個人WORK\shingo.ichikawa\FLIGHT-Logo.gif"/>
          <p:cNvPicPr>
            <a:picLocks noChangeAspect="1" noChangeArrowheads="1"/>
          </p:cNvPicPr>
          <p:nvPr userDrawn="1"/>
        </p:nvPicPr>
        <p:blipFill>
          <a:blip r:embed="rId19" cstate="print"/>
          <a:srcRect/>
          <a:stretch>
            <a:fillRect/>
          </a:stretch>
        </p:blipFill>
        <p:spPr bwMode="auto">
          <a:xfrm>
            <a:off x="8271308" y="92076"/>
            <a:ext cx="706438" cy="568325"/>
          </a:xfrm>
          <a:prstGeom prst="rect">
            <a:avLst/>
          </a:prstGeom>
          <a:noFill/>
          <a:ln w="9525">
            <a:noFill/>
            <a:bevel/>
          </a:ln>
        </p:spPr>
      </p:pic>
      <p:sp>
        <p:nvSpPr>
          <p:cNvPr id="10" name="Text Box 6"/>
          <p:cNvSpPr>
            <a:spLocks noChangeArrowheads="1"/>
          </p:cNvSpPr>
          <p:nvPr userDrawn="1"/>
        </p:nvSpPr>
        <p:spPr bwMode="auto">
          <a:xfrm>
            <a:off x="2657154" y="6586538"/>
            <a:ext cx="4019924" cy="279180"/>
          </a:xfrm>
          <a:prstGeom prst="rect">
            <a:avLst/>
          </a:prstGeom>
          <a:noFill/>
          <a:ln w="9525">
            <a:noFill/>
            <a:bevel/>
          </a:ln>
        </p:spPr>
        <p:txBody>
          <a:bodyPr wrap="none" lIns="90000" tIns="46800" rIns="90000" bIns="46800">
            <a:spAutoFit/>
          </a:bodyPr>
          <a:lstStyle/>
          <a:p>
            <a:r>
              <a:rPr lang="en-US" altLang="ja-JP" sz="1200" dirty="0">
                <a:solidFill>
                  <a:schemeClr val="tx1">
                    <a:lumMod val="65000"/>
                    <a:lumOff val="35000"/>
                  </a:schemeClr>
                </a:solidFill>
              </a:rPr>
              <a:t>Copyright ©  2026 FLIGHT SOLUTIONS Inc. All rights reserved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2"/>
          <p:cNvSpPr>
            <a:spLocks noChangeAspect="1" noChangeArrowheads="1"/>
          </p:cNvSpPr>
          <p:nvPr/>
        </p:nvSpPr>
        <p:spPr bwMode="auto">
          <a:xfrm>
            <a:off x="4562475" y="3419475"/>
            <a:ext cx="19050" cy="19050"/>
          </a:xfrm>
          <a:prstGeom prst="rect">
            <a:avLst/>
          </a:prstGeom>
          <a:noFill/>
          <a:ln w="9525">
            <a:noFill/>
            <a:bevel/>
          </a:ln>
        </p:spPr>
        <p:txBody>
          <a:bodyPr/>
          <a:lstStyle/>
          <a:p>
            <a:pPr eaLnBrk="1" hangingPunct="1"/>
            <a:endParaRPr lang="ja-JP" altLang="ja-JP">
              <a:ea typeface="ＭＳ Ｐゴシック" panose="020B0600070205080204" charset="-128"/>
            </a:endParaRPr>
          </a:p>
        </p:txBody>
      </p:sp>
      <p:sp>
        <p:nvSpPr>
          <p:cNvPr id="5" name="Rectangle 2"/>
          <p:cNvSpPr txBox="1">
            <a:spLocks noChangeArrowheads="1"/>
          </p:cNvSpPr>
          <p:nvPr/>
        </p:nvSpPr>
        <p:spPr bwMode="auto">
          <a:xfrm>
            <a:off x="553744" y="2002904"/>
            <a:ext cx="8153400" cy="1762125"/>
          </a:xfrm>
          <a:prstGeom prst="rect">
            <a:avLst/>
          </a:prstGeom>
          <a:noFill/>
          <a:ln>
            <a:miter lim="800000"/>
          </a:ln>
        </p:spPr>
        <p:txBody>
          <a:bodyPr vert="horz" lIns="91440" tIns="45720" rIns="91440" bIns="45720" rtlCol="0" anchor="ctr" anchorCtr="1">
            <a:normAutofit/>
          </a:bodyPr>
          <a:lstStyle/>
          <a:p>
            <a:pPr lvl="0" algn="ctr">
              <a:spcBef>
                <a:spcPct val="0"/>
              </a:spcBef>
              <a:defRPr/>
            </a:pPr>
            <a:r>
              <a:rPr lang="en-US" altLang="ja-JP" sz="3200" b="1" dirty="0" err="1">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BtoB</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サイト構築</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要件定義書</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（非機能要件）</a:t>
            </a:r>
            <a:endParaRPr lang="ja-JP" altLang="en-US" sz="1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8" name="正方形/長方形 7"/>
          <p:cNvSpPr/>
          <p:nvPr/>
        </p:nvSpPr>
        <p:spPr>
          <a:xfrm>
            <a:off x="2691451" y="5359438"/>
            <a:ext cx="3877985" cy="1035668"/>
          </a:xfrm>
          <a:prstGeom prst="rect">
            <a:avLst/>
          </a:prstGeom>
        </p:spPr>
        <p:txBody>
          <a:bodyPr wrap="none">
            <a:spAutoFit/>
          </a:bodyPr>
          <a:lstStyle/>
          <a:p>
            <a:pPr lvl="0" algn="ctr">
              <a:lnSpc>
                <a:spcPct val="120000"/>
              </a:lnSpc>
              <a:spcBef>
                <a:spcPct val="20000"/>
              </a:spcBef>
              <a:defRPr/>
            </a:pP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2026</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9</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月</a:t>
            </a: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17</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日</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lnSpc>
                <a:spcPct val="120000"/>
              </a:lnSpc>
              <a:spcBef>
                <a:spcPct val="20000"/>
              </a:spcBef>
              <a:defRPr/>
            </a:pP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lnSpc>
                <a:spcPct val="120000"/>
              </a:lnSpc>
              <a:spcBef>
                <a:spcPct val="20000"/>
              </a:spcBef>
              <a:defRPr/>
            </a:pP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株式会社フライトソリューションズ</a:t>
            </a:r>
          </a:p>
        </p:txBody>
      </p:sp>
      <p:sp>
        <p:nvSpPr>
          <p:cNvPr id="3" name="Rectangle 4">
            <a:extLst>
              <a:ext uri="{FF2B5EF4-FFF2-40B4-BE49-F238E27FC236}">
                <a16:creationId xmlns:a16="http://schemas.microsoft.com/office/drawing/2014/main" id="{FD4063C3-E069-F046-9341-AC1C7CF83B0B}"/>
              </a:ext>
            </a:extLst>
          </p:cNvPr>
          <p:cNvSpPr>
            <a:spLocks noChangeArrowheads="1"/>
          </p:cNvSpPr>
          <p:nvPr/>
        </p:nvSpPr>
        <p:spPr bwMode="auto">
          <a:xfrm>
            <a:off x="334495" y="503993"/>
            <a:ext cx="6624638" cy="936625"/>
          </a:xfrm>
          <a:prstGeom prst="rect">
            <a:avLst/>
          </a:prstGeom>
          <a:noFill/>
          <a:ln w="9525">
            <a:noFill/>
            <a:bevel/>
          </a:ln>
        </p:spPr>
        <p:txBody>
          <a:bodyPr anchor="ctr"/>
          <a:lstStyle/>
          <a:p>
            <a:pPr eaLnBrk="1" hangingPunct="1"/>
            <a:r>
              <a:rPr lang="ja-JP" altLang="en-US"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ローリングスジャパン合同会社 御中</a:t>
            </a:r>
            <a:endParaRPr lang="en-US" altLang="ja-JP"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9" name="正方形/長方形 8">
            <a:extLst>
              <a:ext uri="{FF2B5EF4-FFF2-40B4-BE49-F238E27FC236}">
                <a16:creationId xmlns:a16="http://schemas.microsoft.com/office/drawing/2014/main" id="{C8558805-BD6F-0D70-6AC8-B51EB03C8EB1}"/>
              </a:ext>
            </a:extLst>
          </p:cNvPr>
          <p:cNvSpPr/>
          <p:nvPr/>
        </p:nvSpPr>
        <p:spPr>
          <a:xfrm>
            <a:off x="1998955" y="4427820"/>
            <a:ext cx="5262979" cy="369332"/>
          </a:xfrm>
          <a:prstGeom prst="rect">
            <a:avLst/>
          </a:prstGeom>
        </p:spPr>
        <p:txBody>
          <a:bodyPr wrap="none">
            <a:spAutoFit/>
          </a:bodyPr>
          <a:lstStyle/>
          <a:p>
            <a:r>
              <a:rPr lang="ja-JP" altLang="en-US" dirty="0">
                <a:solidFill>
                  <a:srgbClr val="000000"/>
                </a:solidFill>
                <a:ea typeface="メイリオ" panose="020B0604030504040204" pitchFamily="50" charset="-128"/>
              </a:rPr>
              <a:t>確かな提案力とノウハウで貴社のビジネスを支援</a:t>
            </a:r>
            <a:r>
              <a:rPr lang="ja-JP" altLang="en-US" dirty="0">
                <a:latin typeface="メイリオ" panose="020B0604030504040204" pitchFamily="50" charset="-128"/>
                <a:ea typeface="メイリオ" panose="020B0604030504040204" pitchFamily="50" charset="-128"/>
              </a:rPr>
              <a:t>​</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28"/>
          <p:cNvSpPr txBox="1">
            <a:spLocks noChangeArrowheads="1"/>
          </p:cNvSpPr>
          <p:nvPr/>
        </p:nvSpPr>
        <p:spPr bwMode="auto">
          <a:xfrm>
            <a:off x="179512" y="764704"/>
            <a:ext cx="8372475" cy="307777"/>
          </a:xfrm>
          <a:prstGeom prst="rect">
            <a:avLst/>
          </a:prstGeom>
          <a:noFill/>
          <a:ln w="9525">
            <a:noFill/>
            <a:miter lim="800000"/>
          </a:ln>
        </p:spPr>
        <p:txBody>
          <a:bodyPr>
            <a:spAutoFit/>
          </a:bodyPr>
          <a:lstStyle/>
          <a:p>
            <a:pPr algn="l">
              <a:spcBef>
                <a:spcPts val="300"/>
              </a:spcBef>
            </a:pPr>
            <a:r>
              <a:rPr lang="en-US" altLang="ja-JP" sz="1400" dirty="0">
                <a:uFillTx/>
                <a:latin typeface="メイリオ" pitchFamily="50" charset="-128"/>
                <a:ea typeface="メイリオ" pitchFamily="50" charset="-128"/>
                <a:cs typeface="メイリオ" pitchFamily="50" charset="-128"/>
              </a:rPr>
              <a:t>EC-Rider B2B</a:t>
            </a:r>
            <a:r>
              <a:rPr lang="ja-JP" altLang="en-US" sz="1400" dirty="0">
                <a:uFillTx/>
                <a:latin typeface="メイリオ" pitchFamily="50" charset="-128"/>
                <a:ea typeface="メイリオ" pitchFamily="50" charset="-128"/>
                <a:cs typeface="メイリオ" pitchFamily="50" charset="-128"/>
              </a:rPr>
              <a:t> </a:t>
            </a:r>
            <a:r>
              <a:rPr lang="en-US" altLang="ja-JP" sz="1400" dirty="0">
                <a:uFillTx/>
                <a:latin typeface="メイリオ" pitchFamily="50" charset="-128"/>
                <a:ea typeface="メイリオ" pitchFamily="50" charset="-128"/>
                <a:cs typeface="メイリオ" pitchFamily="50" charset="-128"/>
              </a:rPr>
              <a:t>ASP</a:t>
            </a:r>
            <a:r>
              <a:rPr lang="ja-JP" altLang="en-US" sz="1400" dirty="0">
                <a:uFillTx/>
                <a:latin typeface="メイリオ" pitchFamily="50" charset="-128"/>
                <a:ea typeface="メイリオ" pitchFamily="50" charset="-128"/>
                <a:cs typeface="メイリオ" pitchFamily="50" charset="-128"/>
              </a:rPr>
              <a:t>のサービスレベルは以下のとおりです。</a:t>
            </a:r>
          </a:p>
        </p:txBody>
      </p:sp>
      <p:sp>
        <p:nvSpPr>
          <p:cNvPr id="5" name="テキスト ボックス 28"/>
          <p:cNvSpPr txBox="1">
            <a:spLocks noChangeArrowheads="1"/>
          </p:cNvSpPr>
          <p:nvPr/>
        </p:nvSpPr>
        <p:spPr bwMode="auto">
          <a:xfrm>
            <a:off x="233129" y="5624319"/>
            <a:ext cx="8647960" cy="430887"/>
          </a:xfrm>
          <a:prstGeom prst="rect">
            <a:avLst/>
          </a:prstGeom>
          <a:noFill/>
          <a:ln w="9525">
            <a:noFill/>
            <a:miter lim="800000"/>
          </a:ln>
        </p:spPr>
        <p:txBody>
          <a:bodyPr wrap="square">
            <a:spAutoFit/>
          </a:bodyPr>
          <a:lstStyle/>
          <a:p>
            <a:pPr marL="804863" indent="-804863" algn="l">
              <a:spcBef>
                <a:spcPts val="300"/>
              </a:spcBef>
            </a:pPr>
            <a:r>
              <a:rPr lang="en-US" altLang="ja-JP" sz="1100" dirty="0">
                <a:uFillTx/>
                <a:latin typeface="メイリオ" pitchFamily="50" charset="-128"/>
                <a:ea typeface="メイリオ" pitchFamily="50" charset="-128"/>
                <a:cs typeface="メイリオ" pitchFamily="50" charset="-128"/>
              </a:rPr>
              <a:t>※1.</a:t>
            </a:r>
            <a:r>
              <a:rPr lang="ja-JP" altLang="en-US" sz="1100" dirty="0">
                <a:uFillTx/>
                <a:latin typeface="メイリオ" pitchFamily="50" charset="-128"/>
                <a:ea typeface="メイリオ" pitchFamily="50" charset="-128"/>
                <a:cs typeface="メイリオ" pitchFamily="50" charset="-128"/>
              </a:rPr>
              <a:t>緊急時：本サービスが利用する</a:t>
            </a:r>
            <a:r>
              <a:rPr lang="en-US" altLang="ja-JP" sz="1100" dirty="0">
                <a:uFillTx/>
                <a:latin typeface="メイリオ" pitchFamily="50" charset="-128"/>
                <a:ea typeface="メイリオ" pitchFamily="50" charset="-128"/>
                <a:cs typeface="メイリオ" pitchFamily="50" charset="-128"/>
              </a:rPr>
              <a:t>OS</a:t>
            </a:r>
            <a:r>
              <a:rPr lang="ja-JP" altLang="en-US" sz="1100" dirty="0" err="1">
                <a:uFillTx/>
                <a:latin typeface="メイリオ" pitchFamily="50" charset="-128"/>
                <a:ea typeface="メイリオ" pitchFamily="50" charset="-128"/>
                <a:cs typeface="メイリオ" pitchFamily="50" charset="-128"/>
              </a:rPr>
              <a:t>、</a:t>
            </a:r>
            <a:r>
              <a:rPr lang="ja-JP" altLang="en-US" sz="1100" dirty="0">
                <a:uFillTx/>
                <a:latin typeface="メイリオ" pitchFamily="50" charset="-128"/>
                <a:ea typeface="メイリオ" pitchFamily="50" charset="-128"/>
                <a:cs typeface="メイリオ" pitchFamily="50" charset="-128"/>
              </a:rPr>
              <a:t>データベース等の脆弱性への対応、ウィルス等の外部要因による損害を未然に防ぐための予期しない作業の発生時</a:t>
            </a:r>
            <a:endParaRPr lang="en-US" altLang="ja-JP" sz="1100" dirty="0">
              <a:uFillTx/>
              <a:latin typeface="メイリオ" pitchFamily="50" charset="-128"/>
              <a:ea typeface="メイリオ" pitchFamily="50" charset="-128"/>
              <a:cs typeface="メイリオ" pitchFamily="50" charset="-128"/>
            </a:endParaRPr>
          </a:p>
        </p:txBody>
      </p:sp>
      <p:sp>
        <p:nvSpPr>
          <p:cNvPr id="7" name="タイトル 1">
            <a:extLst>
              <a:ext uri="{FF2B5EF4-FFF2-40B4-BE49-F238E27FC236}">
                <a16:creationId xmlns:a16="http://schemas.microsoft.com/office/drawing/2014/main" id="{902C11D5-1FC3-45D3-B574-B06029C96C0A}"/>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ja-JP" altLang="en-US" sz="2800" b="0" dirty="0"/>
              <a:t>1.SLA（1/2）</a:t>
            </a:r>
          </a:p>
        </p:txBody>
      </p:sp>
      <p:graphicFrame>
        <p:nvGraphicFramePr>
          <p:cNvPr id="2" name="表 1">
            <a:extLst>
              <a:ext uri="{FF2B5EF4-FFF2-40B4-BE49-F238E27FC236}">
                <a16:creationId xmlns:a16="http://schemas.microsoft.com/office/drawing/2014/main" id="{AA0685DF-7FCE-0D6C-93DD-5F85C458F389}"/>
              </a:ext>
            </a:extLst>
          </p:cNvPr>
          <p:cNvGraphicFramePr>
            <a:graphicFrameLocks noGrp="1"/>
          </p:cNvGraphicFramePr>
          <p:nvPr>
            <p:extLst>
              <p:ext uri="{D42A27DB-BD31-4B8C-83A1-F6EECF244321}">
                <p14:modId xmlns:p14="http://schemas.microsoft.com/office/powerpoint/2010/main" val="3807545430"/>
              </p:ext>
            </p:extLst>
          </p:nvPr>
        </p:nvGraphicFramePr>
        <p:xfrm>
          <a:off x="258296" y="1072481"/>
          <a:ext cx="8622793" cy="4459505"/>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4481856">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2646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cap="none" normalizeH="0" baseline="0">
                        <a:ln>
                          <a:noFill/>
                        </a:ln>
                        <a:solidFill>
                          <a:schemeClr val="bg1"/>
                        </a:solidFill>
                        <a:effectLst/>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項目</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内容</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備考</a:t>
                      </a:r>
                      <a:endParaRPr kumimoji="1" lang="ja-JP" altLang="en-US" sz="1200" dirty="0">
                        <a:latin typeface="メイリオ" pitchFamily="50" charset="-128"/>
                        <a:ea typeface="メイリオ" pitchFamily="50" charset="-128"/>
                        <a:cs typeface="メイリオ" pitchFamily="50" charset="-128"/>
                      </a:endParaRPr>
                    </a:p>
                  </a:txBody>
                  <a:tcPr anchor="ctr"/>
                </a:tc>
                <a:extLst>
                  <a:ext uri="{0D108BD9-81ED-4DB2-BD59-A6C34878D82A}">
                    <a16:rowId xmlns:a16="http://schemas.microsoft.com/office/drawing/2014/main" val="10000"/>
                  </a:ext>
                </a:extLst>
              </a:tr>
              <a:tr h="235101">
                <a:tc rowSpan="5">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可用性</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24</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時間</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365</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日（計画停止</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定期保守を除く）</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緊急時を除く（</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計画停止予定通知</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週間以上前にメールあるいはホームページで通知</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382124">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重大障害時の代替手段</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直近のバックアップ取得時点の状態で別ハードウェアにて起動</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可能な範囲でバックアップからデータ復元</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日次バックアップのため最大24時間分の戻りが発生</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代替措置で提供するデータ形式</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バックアップデータから</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CSV</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あるいは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Excel</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ファイルで提供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558552">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アップグレード方針</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システム基盤：ハードおよびインフラ関連で緊急性の高いパッチがリリースされた場合に実施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EC</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システム：年</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回の定期バージョンアップを実施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0" marR="0" lvl="0" indent="0" algn="l" defTabSz="179388"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EC</a:t>
                      </a:r>
                      <a:r>
                        <a:rPr kumimoji="1" lang="ja-JP" altLang="en-US"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システムの制限で必要なセキュリティパッチを適用することができない場合は、リスクが露呈しないよう別の方法で安全性を担保する方針</a:t>
                      </a:r>
                      <a:endParaRPr kumimoji="1" lang="ja-JP" altLang="en-US" sz="1000" b="0" i="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5"/>
                  </a:ext>
                </a:extLst>
              </a:tr>
              <a:tr h="235101">
                <a:tc rowSpan="6">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a:ln>
                            <a:noFill/>
                          </a:ln>
                          <a:solidFill>
                            <a:schemeClr val="tx1"/>
                          </a:solidFill>
                          <a:effectLst/>
                          <a:latin typeface="メイリオ" panose="020B0604030504040204" pitchFamily="50" charset="-128"/>
                          <a:ea typeface="メイリオ" panose="020B0604030504040204" pitchFamily="50" charset="-128"/>
                        </a:rPr>
                        <a:t>信頼性</a:t>
                      </a:r>
                      <a:endParaRPr kumimoji="1" lang="ja-JP" altLang="en-US" sz="10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平均復旧時間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システム監視基準</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ベースサーバは、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ping/URL/port</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監視を実施</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障害通知プロセス</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指定された緊急連絡先にメールで連絡</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障害監視間隔</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10</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分</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0"/>
                  </a:ext>
                </a:extLst>
              </a:tr>
              <a:tr h="382124">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ログの取得</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セキュリティ（不正アクセス）ログ／バックアップログ取得結果を別途要望に応じて提供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1"/>
                  </a:ext>
                </a:extLst>
              </a:tr>
              <a:tr h="52914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性能</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オンライン応答時間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データセンタ内の平均応答時間</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3</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秒以内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A8E1EE97-87EC-4512-AE51-A03BA79E996B}"/>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1</a:t>
            </a:r>
            <a:r>
              <a:rPr lang="ja-JP" altLang="en-US" sz="2800" b="0" dirty="0"/>
              <a:t>.SLA（2/2）</a:t>
            </a:r>
          </a:p>
        </p:txBody>
      </p:sp>
      <p:graphicFrame>
        <p:nvGraphicFramePr>
          <p:cNvPr id="2" name="表 1">
            <a:extLst>
              <a:ext uri="{FF2B5EF4-FFF2-40B4-BE49-F238E27FC236}">
                <a16:creationId xmlns:a16="http://schemas.microsoft.com/office/drawing/2014/main" id="{220CF282-EE29-C508-29D4-67921E69A33E}"/>
              </a:ext>
            </a:extLst>
          </p:cNvPr>
          <p:cNvGraphicFramePr>
            <a:graphicFrameLocks noGrp="1"/>
          </p:cNvGraphicFramePr>
          <p:nvPr>
            <p:extLst>
              <p:ext uri="{D42A27DB-BD31-4B8C-83A1-F6EECF244321}">
                <p14:modId xmlns:p14="http://schemas.microsoft.com/office/powerpoint/2010/main" val="3609208652"/>
              </p:ext>
            </p:extLst>
          </p:nvPr>
        </p:nvGraphicFramePr>
        <p:xfrm>
          <a:off x="257797" y="956251"/>
          <a:ext cx="8622793" cy="5498232"/>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4362984">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145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cap="none" normalizeH="0" baseline="0">
                        <a:ln>
                          <a:noFill/>
                        </a:ln>
                        <a:solidFill>
                          <a:schemeClr val="bg1"/>
                        </a:solidFill>
                        <a:effectLst/>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項目</a:t>
                      </a:r>
                      <a:endParaRPr kumimoji="1" lang="ja-JP" altLang="en-US" sz="1200" dirty="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内容</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備考</a:t>
                      </a:r>
                      <a:endParaRPr kumimoji="1" lang="ja-JP" altLang="en-US" sz="1200">
                        <a:latin typeface="メイリオ" pitchFamily="50" charset="-128"/>
                        <a:ea typeface="メイリオ" pitchFamily="50" charset="-128"/>
                        <a:cs typeface="メイリオ" pitchFamily="50" charset="-128"/>
                      </a:endParaRPr>
                    </a:p>
                  </a:txBody>
                  <a:tcPr anchor="ctr"/>
                </a:tc>
                <a:extLst>
                  <a:ext uri="{0D108BD9-81ED-4DB2-BD59-A6C34878D82A}">
                    <a16:rowId xmlns:a16="http://schemas.microsoft.com/office/drawing/2014/main" val="10000"/>
                  </a:ext>
                </a:extLst>
              </a:tr>
              <a:tr h="22973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拡張性</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同時接続利用者数</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100</a:t>
                      </a: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名（最善努力型）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同時セッション数は利用条件で別途調整</a:t>
                      </a: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本案件の想定は8.（1/3）に記載</a:t>
                      </a:r>
                    </a:p>
                  </a:txBody>
                  <a:tcPr marT="45649" marB="45649" horzOverflow="overflow"/>
                </a:tc>
                <a:extLst>
                  <a:ext uri="{0D108BD9-81ED-4DB2-BD59-A6C34878D82A}">
                    <a16:rowId xmlns:a16="http://schemas.microsoft.com/office/drawing/2014/main" val="1920926590"/>
                  </a:ext>
                </a:extLst>
              </a:tr>
              <a:tr h="927794">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サポート</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サービス提供時間帯（問合せ）</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弊社営業時間内（メール）</a:t>
                      </a:r>
                      <a:endPar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rPr>
                        <a:t>※</a:t>
                      </a: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年末年始・土日・祝祭日を除く</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129595">
                <a:tc rowSpan="5">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データ管理</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リリース時に</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OS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全体について実施する</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379283176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標準で1日に1回データについてバックアップを実施する。なお、障害発生時は、格納されたバックアップデータを使い、システム復旧する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129595">
                <a:tc vMerge="1">
                  <a:txBody>
                    <a:bodyPr/>
                    <a:lstStyle/>
                    <a:p>
                      <a:endParaRPr kumimoji="1" lang="ja-JP"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5</a:t>
                      </a: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世代</a:t>
                      </a: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356578489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データ種別により7日間または30日間保持する（詳細は6.）</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0">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データ消去の要件</a:t>
                      </a:r>
                      <a:endPar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サービス解約後一定期間以内にデータおよび保管媒体を破棄</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129595">
                <a:tc rowSpan="5">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a:ln>
                            <a:noFill/>
                          </a:ln>
                          <a:effectLst/>
                          <a:latin typeface="メイリオ" panose="020B0604030504040204" pitchFamily="50" charset="-128"/>
                          <a:ea typeface="メイリオ" panose="020B0604030504040204" pitchFamily="50" charset="-128"/>
                        </a:rPr>
                        <a:t>セキュリティ</a:t>
                      </a:r>
                      <a:endParaRPr kumimoji="1" lang="ja-JP" altLang="en-US" sz="10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公的認証取得の要件</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プライバシーマーク、</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PCIDSS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ISMS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認証取得</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利用インフラの要件</a:t>
                      </a:r>
                    </a:p>
                  </a:txBody>
                  <a:tcPr marT="45649" marB="45649" horzOverflow="overflow"/>
                </a:tc>
                <a:extLst>
                  <a:ext uri="{0D108BD9-81ED-4DB2-BD59-A6C34878D82A}">
                    <a16:rowId xmlns:a16="http://schemas.microsoft.com/office/drawing/2014/main" val="10005"/>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アプリケーションに関する第三者評価</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要望により別途対応可能</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情報取扱者の制限</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有（利用者のデータにアクセスできる社員等はセキュリティ管理者の許可を得た者に限る）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情報取扱い環境</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有（執務室は社員及びセキュリティに関する誓約書提示済のパートナーのみ入室可能とし、対象者を最小限に制限）</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通信の暗号化レベル</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TLS</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bl>
          </a:graphicData>
        </a:graphic>
      </p:graphicFrame>
      <p:sp>
        <p:nvSpPr>
          <p:cNvPr id="3" name="テキスト ボックス 28">
            <a:extLst>
              <a:ext uri="{FF2B5EF4-FFF2-40B4-BE49-F238E27FC236}">
                <a16:creationId xmlns:a16="http://schemas.microsoft.com/office/drawing/2014/main" id="{F1965CF7-5348-BD33-BE6D-513BC6BC7B64}"/>
              </a:ext>
            </a:extLst>
          </p:cNvPr>
          <p:cNvSpPr txBox="1">
            <a:spLocks noChangeArrowheads="1"/>
          </p:cNvSpPr>
          <p:nvPr/>
        </p:nvSpPr>
        <p:spPr bwMode="auto">
          <a:xfrm>
            <a:off x="127557" y="764704"/>
            <a:ext cx="8372475" cy="276999"/>
          </a:xfrm>
          <a:prstGeom prst="rect">
            <a:avLst/>
          </a:prstGeom>
          <a:noFill/>
          <a:ln w="9525">
            <a:noFill/>
            <a:miter lim="800000"/>
            <a:headEnd/>
            <a:tailEnd/>
          </a:ln>
        </p:spPr>
        <p:txBody>
          <a:bodyPr>
            <a:spAutoFit/>
          </a:bodyPr>
          <a:lstStyle/>
          <a:p>
            <a:pPr marL="0" marR="0" lvl="0" indent="0" algn="l" defTabSz="457200" rtl="0" eaLnBrk="1" fontAlgn="auto" latinLnBrk="0" hangingPunct="1">
              <a:lnSpc>
                <a:spcPct val="100000"/>
              </a:lnSpc>
              <a:spcBef>
                <a:spcPts val="30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a:t>
            </a:r>
            <a:r>
              <a:rPr kumimoji="1" lang="ja-JP" altLang="en-US"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前頁からの続き</a:t>
            </a:r>
            <a:r>
              <a:rPr kumimoji="1" lang="en-US" altLang="ja-JP"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a:t>
            </a:r>
            <a:endParaRPr kumimoji="1" lang="ja-JP" altLang="en-US"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44B2-C417-7062-4516-8CB195DB4D56}"/>
            </a:ext>
          </a:extLst>
        </p:cNvPr>
        <p:cNvGrpSpPr/>
        <p:nvPr/>
      </p:nvGrpSpPr>
      <p:grpSpPr>
        <a:xfrm>
          <a:off x="0" y="0"/>
          <a:ext cx="0" cy="0"/>
          <a:chOff x="0" y="0"/>
          <a:chExt cx="0" cy="0"/>
        </a:xfrm>
      </p:grpSpPr>
      <p:sp>
        <p:nvSpPr>
          <p:cNvPr id="21" name="タイトル 1">
            <a:extLst>
              <a:ext uri="{FF2B5EF4-FFF2-40B4-BE49-F238E27FC236}">
                <a16:creationId xmlns:a16="http://schemas.microsoft.com/office/drawing/2014/main" id="{8A5AF9E6-F891-3DF7-D817-AA1B4B22C5E5}"/>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2</a:t>
            </a:r>
            <a:r>
              <a:rPr lang="ja-JP" altLang="en-US" sz="2800" b="0" dirty="0"/>
              <a:t>.サービス対応</a:t>
            </a:r>
          </a:p>
        </p:txBody>
      </p:sp>
      <p:sp>
        <p:nvSpPr>
          <p:cNvPr id="2" name="テキスト ボックス 1">
            <a:extLst>
              <a:ext uri="{FF2B5EF4-FFF2-40B4-BE49-F238E27FC236}">
                <a16:creationId xmlns:a16="http://schemas.microsoft.com/office/drawing/2014/main" id="{B5070185-5229-B9E5-9692-4B17EC21BBFE}"/>
              </a:ext>
            </a:extLst>
          </p:cNvPr>
          <p:cNvSpPr txBox="1"/>
          <p:nvPr/>
        </p:nvSpPr>
        <p:spPr>
          <a:xfrm>
            <a:off x="381105" y="4239076"/>
            <a:ext cx="8381790" cy="1583767"/>
          </a:xfrm>
          <a:prstGeom prst="rect">
            <a:avLst/>
          </a:prstGeom>
          <a:noFill/>
        </p:spPr>
        <p:txBody>
          <a:bodyPr wrap="square" rtlCol="0">
            <a:spAutoFit/>
          </a:bodyPr>
          <a:lstStyle/>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a:t>
            </a:r>
            <a:r>
              <a:rPr lang="ja-JP" altLang="en-US" sz="969" dirty="0">
                <a:solidFill>
                  <a:prstClr val="black"/>
                </a:solidFill>
                <a:latin typeface="メイリオ"/>
                <a:ea typeface="メイリオ"/>
                <a:cs typeface="メイリオ"/>
              </a:rPr>
              <a:t>）   </a:t>
            </a:r>
            <a:r>
              <a:rPr lang="en-US" altLang="ja-JP" sz="969" dirty="0">
                <a:solidFill>
                  <a:prstClr val="black"/>
                </a:solidFill>
                <a:latin typeface="メイリオ"/>
                <a:ea typeface="メイリオ"/>
                <a:cs typeface="メイリオ"/>
              </a:rPr>
              <a:t>24</a:t>
            </a:r>
            <a:r>
              <a:rPr lang="ja-JP" altLang="en-US" sz="969" dirty="0">
                <a:solidFill>
                  <a:prstClr val="black"/>
                </a:solidFill>
                <a:latin typeface="メイリオ"/>
                <a:ea typeface="メイリオ"/>
                <a:cs typeface="メイリオ"/>
              </a:rPr>
              <a:t>時間</a:t>
            </a:r>
            <a:r>
              <a:rPr lang="en-US" altLang="ja-JP" sz="969" dirty="0">
                <a:solidFill>
                  <a:prstClr val="black"/>
                </a:solidFill>
                <a:latin typeface="メイリオ"/>
                <a:ea typeface="メイリオ"/>
                <a:cs typeface="メイリオ"/>
              </a:rPr>
              <a:t>365</a:t>
            </a:r>
            <a:r>
              <a:rPr lang="ja-JP" altLang="en-US" sz="969" dirty="0">
                <a:solidFill>
                  <a:prstClr val="black"/>
                </a:solidFill>
                <a:latin typeface="メイリオ"/>
                <a:ea typeface="メイリオ"/>
                <a:cs typeface="メイリオ"/>
              </a:rPr>
              <a:t>日サーバーおよびサイト死活監視を行います。性能・容量は閾値監視を行います。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   営業時間外の対応は別途契約となります。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※3</a:t>
            </a:r>
            <a:r>
              <a:rPr lang="ja-JP" altLang="en-US" sz="969" dirty="0">
                <a:solidFill>
                  <a:prstClr val="black"/>
                </a:solidFill>
                <a:latin typeface="メイリオ"/>
                <a:ea typeface="メイリオ"/>
                <a:cs typeface="メイリオ"/>
              </a:rPr>
              <a:t>）   システム運用における貴社役割は障害時の連絡のみとなります。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※4</a:t>
            </a:r>
            <a:r>
              <a:rPr lang="ja-JP" altLang="en-US" sz="969" dirty="0">
                <a:solidFill>
                  <a:prstClr val="black"/>
                </a:solidFill>
                <a:latin typeface="メイリオ"/>
                <a:ea typeface="メイリオ"/>
                <a:cs typeface="メイリオ"/>
              </a:rPr>
              <a:t>）   良くある質問を</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に纏めました。質問が</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にない場合、要望事項などの有人対応は、弊社営業日の</a:t>
            </a:r>
            <a:r>
              <a:rPr lang="en-US" altLang="ja-JP" sz="969" dirty="0">
                <a:solidFill>
                  <a:prstClr val="black"/>
                </a:solidFill>
                <a:latin typeface="メイリオ"/>
                <a:ea typeface="メイリオ"/>
                <a:cs typeface="メイリオ"/>
              </a:rPr>
              <a:t>10:00</a:t>
            </a: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18:00</a:t>
            </a:r>
            <a:r>
              <a:rPr lang="ja-JP" altLang="en-US" sz="969" dirty="0">
                <a:solidFill>
                  <a:prstClr val="black"/>
                </a:solidFill>
                <a:latin typeface="メイリオ"/>
                <a:ea typeface="メイリオ"/>
                <a:cs typeface="メイリオ"/>
              </a:rPr>
              <a:t>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※5</a:t>
            </a:r>
            <a:r>
              <a:rPr lang="ja-JP" altLang="en-US" sz="969" dirty="0">
                <a:solidFill>
                  <a:prstClr val="black"/>
                </a:solidFill>
                <a:latin typeface="メイリオ"/>
                <a:ea typeface="メイリオ"/>
                <a:cs typeface="メイリオ"/>
              </a:rPr>
              <a:t>） 「標準機能保守」とは非カスタマイズ機能が仕様通りに動作しない場合の不具合対応及びリカバリー、小規模の法改正対応、セキュリティパッチ対応、</a:t>
            </a:r>
            <a:r>
              <a:rPr lang="en-US" altLang="ja-JP" sz="969" dirty="0">
                <a:solidFill>
                  <a:prstClr val="black"/>
                </a:solidFill>
                <a:latin typeface="メイリオ"/>
                <a:ea typeface="メイリオ"/>
                <a:cs typeface="メイリオ"/>
              </a:rPr>
              <a:t>OS</a:t>
            </a:r>
            <a:r>
              <a:rPr lang="ja-JP" altLang="en-US" sz="969" dirty="0">
                <a:solidFill>
                  <a:prstClr val="black"/>
                </a:solidFill>
                <a:latin typeface="メイリオ"/>
                <a:ea typeface="メイリオ"/>
                <a:cs typeface="メイリオ"/>
              </a:rPr>
              <a:t>・ミドルウェアのバージョンアップとなります。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※6</a:t>
            </a:r>
            <a:r>
              <a:rPr lang="ja-JP" altLang="en-US" sz="969" dirty="0">
                <a:solidFill>
                  <a:prstClr val="black"/>
                </a:solidFill>
                <a:latin typeface="メイリオ"/>
                <a:ea typeface="メイリオ"/>
                <a:cs typeface="メイリオ"/>
              </a:rPr>
              <a:t>） 「カスタマイズ機能保守」とはカスタマイズを行っている機能が仕様通りに動作しない場合の不具合対応及びリカバリー対応となります。</a:t>
            </a:r>
            <a:endParaRPr lang="en-US" altLang="ja-JP" sz="969" dirty="0">
              <a:solidFill>
                <a:prstClr val="black"/>
              </a:solidFill>
              <a:latin typeface="メイリオ"/>
              <a:ea typeface="メイリオ"/>
              <a:cs typeface="メイリオ"/>
            </a:endParaRPr>
          </a:p>
          <a:p>
            <a:pPr defTabSz="422041">
              <a:defRPr/>
            </a:pP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年目以降はチケット制による対応となります。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※7</a:t>
            </a:r>
            <a:r>
              <a:rPr lang="ja-JP" altLang="en-US" sz="969" dirty="0">
                <a:solidFill>
                  <a:prstClr val="black"/>
                </a:solidFill>
                <a:latin typeface="メイリオ"/>
                <a:ea typeface="メイリオ"/>
                <a:cs typeface="メイリオ"/>
              </a:rPr>
              <a:t>） 「保守契約以外の付帯作業」とはカスタマイズ機能の保守、システム全般の問合せ、小規模改修、データパッチ等の作業をいいます。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※8</a:t>
            </a:r>
            <a:r>
              <a:rPr lang="ja-JP" altLang="en-US" sz="969" dirty="0">
                <a:solidFill>
                  <a:prstClr val="black"/>
                </a:solidFill>
                <a:latin typeface="メイリオ"/>
                <a:ea typeface="メイリオ"/>
                <a:cs typeface="メイリオ"/>
              </a:rPr>
              <a:t>）  チケット制によるサポートは、カスタマイズ機能の保守、システム全般の問合せ、小規模改修、データパッチ等の作業を行います。</a:t>
            </a:r>
          </a:p>
        </p:txBody>
      </p:sp>
      <p:grpSp>
        <p:nvGrpSpPr>
          <p:cNvPr id="15" name="Google Shape;954;p31">
            <a:extLst>
              <a:ext uri="{FF2B5EF4-FFF2-40B4-BE49-F238E27FC236}">
                <a16:creationId xmlns:a16="http://schemas.microsoft.com/office/drawing/2014/main" id="{0D08B221-C590-0034-AF73-F45A5C2FDFD0}"/>
              </a:ext>
            </a:extLst>
          </p:cNvPr>
          <p:cNvGrpSpPr/>
          <p:nvPr/>
        </p:nvGrpSpPr>
        <p:grpSpPr>
          <a:xfrm>
            <a:off x="789283" y="962862"/>
            <a:ext cx="7051882" cy="3122978"/>
            <a:chOff x="855056" y="1185115"/>
            <a:chExt cx="7639539" cy="3383226"/>
          </a:xfrm>
        </p:grpSpPr>
        <p:sp>
          <p:nvSpPr>
            <p:cNvPr id="16" name="Google Shape;955;p31">
              <a:extLst>
                <a:ext uri="{FF2B5EF4-FFF2-40B4-BE49-F238E27FC236}">
                  <a16:creationId xmlns:a16="http://schemas.microsoft.com/office/drawing/2014/main" id="{ACE7885C-9ABE-5840-3BA8-45406298E305}"/>
                </a:ext>
              </a:extLst>
            </p:cNvPr>
            <p:cNvSpPr/>
            <p:nvPr/>
          </p:nvSpPr>
          <p:spPr>
            <a:xfrm>
              <a:off x="3006258"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1</a:t>
              </a:r>
              <a:r>
                <a:rPr lang="ja-JP" altLang="en-US" sz="1023" b="1">
                  <a:solidFill>
                    <a:schemeClr val="lt1"/>
                  </a:solidFill>
                  <a:latin typeface="Meiryo"/>
                  <a:ea typeface="Meiryo"/>
                  <a:cs typeface="Meiryo"/>
                  <a:sym typeface="Meiryo"/>
                </a:rPr>
                <a:t>年目</a:t>
              </a:r>
              <a:endParaRPr sz="1662"/>
            </a:p>
          </p:txBody>
        </p:sp>
        <p:sp>
          <p:nvSpPr>
            <p:cNvPr id="17" name="Google Shape;956;p31">
              <a:extLst>
                <a:ext uri="{FF2B5EF4-FFF2-40B4-BE49-F238E27FC236}">
                  <a16:creationId xmlns:a16="http://schemas.microsoft.com/office/drawing/2014/main" id="{857406CE-39C7-3494-4970-A51946D1F25D}"/>
                </a:ext>
              </a:extLst>
            </p:cNvPr>
            <p:cNvSpPr/>
            <p:nvPr/>
          </p:nvSpPr>
          <p:spPr>
            <a:xfrm>
              <a:off x="5785655"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2</a:t>
              </a:r>
              <a:r>
                <a:rPr lang="ja-JP" altLang="en-US" sz="1023" b="1">
                  <a:solidFill>
                    <a:schemeClr val="lt1"/>
                  </a:solidFill>
                  <a:latin typeface="Meiryo"/>
                  <a:ea typeface="Meiryo"/>
                  <a:cs typeface="Meiryo"/>
                  <a:sym typeface="Meiryo"/>
                </a:rPr>
                <a:t>年目以降</a:t>
              </a:r>
              <a:endParaRPr sz="1662"/>
            </a:p>
          </p:txBody>
        </p:sp>
        <p:sp>
          <p:nvSpPr>
            <p:cNvPr id="18" name="Google Shape;957;p31">
              <a:extLst>
                <a:ext uri="{FF2B5EF4-FFF2-40B4-BE49-F238E27FC236}">
                  <a16:creationId xmlns:a16="http://schemas.microsoft.com/office/drawing/2014/main" id="{72A30BBE-CD5D-FBE0-D26B-31785F1597B0}"/>
                </a:ext>
              </a:extLst>
            </p:cNvPr>
            <p:cNvSpPr/>
            <p:nvPr/>
          </p:nvSpPr>
          <p:spPr>
            <a:xfrm>
              <a:off x="1743349" y="3076698"/>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標準機能保守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※5</a:t>
              </a:r>
              <a:endParaRPr sz="1023" b="1" baseline="30000">
                <a:solidFill>
                  <a:schemeClr val="lt1"/>
                </a:solidFill>
                <a:latin typeface="Meiryo"/>
                <a:ea typeface="Meiryo"/>
                <a:cs typeface="Meiryo"/>
                <a:sym typeface="Meiryo"/>
              </a:endParaRPr>
            </a:p>
          </p:txBody>
        </p:sp>
        <p:sp>
          <p:nvSpPr>
            <p:cNvPr id="19" name="Google Shape;958;p31">
              <a:extLst>
                <a:ext uri="{FF2B5EF4-FFF2-40B4-BE49-F238E27FC236}">
                  <a16:creationId xmlns:a16="http://schemas.microsoft.com/office/drawing/2014/main" id="{ACFE39F7-CAB5-73B0-93AA-0A30BA74BFB0}"/>
                </a:ext>
              </a:extLst>
            </p:cNvPr>
            <p:cNvSpPr/>
            <p:nvPr/>
          </p:nvSpPr>
          <p:spPr>
            <a:xfrm>
              <a:off x="1742106" y="3586130"/>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カスタマイズ</a:t>
              </a:r>
              <a:endParaRPr sz="851" b="1">
                <a:solidFill>
                  <a:schemeClr val="lt1"/>
                </a:solidFill>
                <a:latin typeface="Meiryo"/>
                <a:ea typeface="Meiryo"/>
                <a:cs typeface="Meiryo"/>
                <a:sym typeface="Meiryo"/>
              </a:endParaRPr>
            </a:p>
            <a:p>
              <a:pPr algn="ctr"/>
              <a:r>
                <a:rPr lang="ja-JP" altLang="en-US" sz="851" b="1">
                  <a:solidFill>
                    <a:schemeClr val="lt1"/>
                  </a:solidFill>
                  <a:latin typeface="Meiryo"/>
                  <a:ea typeface="Meiryo"/>
                  <a:cs typeface="Meiryo"/>
                  <a:sym typeface="Meiryo"/>
                </a:rPr>
                <a:t>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※6</a:t>
              </a:r>
              <a:endParaRPr sz="1023" b="1" baseline="30000">
                <a:solidFill>
                  <a:schemeClr val="lt1"/>
                </a:solidFill>
                <a:latin typeface="Meiryo"/>
                <a:ea typeface="Meiryo"/>
                <a:cs typeface="Meiryo"/>
                <a:sym typeface="Meiryo"/>
              </a:endParaRPr>
            </a:p>
          </p:txBody>
        </p:sp>
        <p:sp>
          <p:nvSpPr>
            <p:cNvPr id="20" name="Google Shape;959;p31">
              <a:extLst>
                <a:ext uri="{FF2B5EF4-FFF2-40B4-BE49-F238E27FC236}">
                  <a16:creationId xmlns:a16="http://schemas.microsoft.com/office/drawing/2014/main" id="{92AA2FDF-E2D8-75EB-4A1A-89BFEF23B845}"/>
                </a:ext>
              </a:extLst>
            </p:cNvPr>
            <p:cNvSpPr/>
            <p:nvPr/>
          </p:nvSpPr>
          <p:spPr>
            <a:xfrm>
              <a:off x="3006258" y="308032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662"/>
            </a:p>
          </p:txBody>
        </p:sp>
        <p:sp>
          <p:nvSpPr>
            <p:cNvPr id="22" name="Google Shape;960;p31">
              <a:extLst>
                <a:ext uri="{FF2B5EF4-FFF2-40B4-BE49-F238E27FC236}">
                  <a16:creationId xmlns:a16="http://schemas.microsoft.com/office/drawing/2014/main" id="{2FA09D2D-076A-0498-6C6F-92C1B7A8B8EB}"/>
                </a:ext>
              </a:extLst>
            </p:cNvPr>
            <p:cNvSpPr/>
            <p:nvPr/>
          </p:nvSpPr>
          <p:spPr>
            <a:xfrm>
              <a:off x="3006258" y="3589116"/>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瑕疵担保期間（無償）</a:t>
              </a:r>
              <a:endParaRPr sz="1662"/>
            </a:p>
          </p:txBody>
        </p:sp>
        <p:sp>
          <p:nvSpPr>
            <p:cNvPr id="30" name="Google Shape;961;p31">
              <a:extLst>
                <a:ext uri="{FF2B5EF4-FFF2-40B4-BE49-F238E27FC236}">
                  <a16:creationId xmlns:a16="http://schemas.microsoft.com/office/drawing/2014/main" id="{A8BB79E0-D1A0-6512-B71A-C57D44803221}"/>
                </a:ext>
              </a:extLst>
            </p:cNvPr>
            <p:cNvSpPr/>
            <p:nvPr/>
          </p:nvSpPr>
          <p:spPr>
            <a:xfrm>
              <a:off x="855056" y="1552543"/>
              <a:ext cx="830769" cy="1993846"/>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ASP</a:t>
              </a:r>
              <a:endParaRPr sz="1023" b="1">
                <a:solidFill>
                  <a:schemeClr val="lt1"/>
                </a:solidFill>
                <a:latin typeface="Meiryo"/>
                <a:ea typeface="Meiryo"/>
                <a:cs typeface="Meiryo"/>
                <a:sym typeface="Meiryo"/>
              </a:endParaRPr>
            </a:p>
          </p:txBody>
        </p:sp>
        <p:sp>
          <p:nvSpPr>
            <p:cNvPr id="31" name="Google Shape;962;p31">
              <a:extLst>
                <a:ext uri="{FF2B5EF4-FFF2-40B4-BE49-F238E27FC236}">
                  <a16:creationId xmlns:a16="http://schemas.microsoft.com/office/drawing/2014/main" id="{48145251-B1EF-85F0-B10B-0F590EBFEBC2}"/>
                </a:ext>
              </a:extLst>
            </p:cNvPr>
            <p:cNvSpPr/>
            <p:nvPr/>
          </p:nvSpPr>
          <p:spPr>
            <a:xfrm>
              <a:off x="3006258" y="257082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契約サイトに設置のチャットボット：</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日受付 </a:t>
              </a:r>
              <a:r>
                <a:rPr lang="en-US" altLang="ja-JP" sz="1023" b="1" baseline="30000">
                  <a:solidFill>
                    <a:srgbClr val="333333"/>
                  </a:solidFill>
                  <a:latin typeface="Meiryo"/>
                  <a:ea typeface="Meiryo"/>
                  <a:cs typeface="Meiryo"/>
                  <a:sym typeface="Meiryo"/>
                </a:rPr>
                <a:t>※4</a:t>
              </a:r>
              <a:endParaRPr sz="1023" b="1" baseline="30000">
                <a:solidFill>
                  <a:srgbClr val="333333"/>
                </a:solidFill>
                <a:latin typeface="Meiryo"/>
                <a:ea typeface="Meiryo"/>
                <a:cs typeface="Meiryo"/>
                <a:sym typeface="Meiryo"/>
              </a:endParaRPr>
            </a:p>
          </p:txBody>
        </p:sp>
        <p:sp>
          <p:nvSpPr>
            <p:cNvPr id="32" name="Google Shape;963;p31">
              <a:extLst>
                <a:ext uri="{FF2B5EF4-FFF2-40B4-BE49-F238E27FC236}">
                  <a16:creationId xmlns:a16="http://schemas.microsoft.com/office/drawing/2014/main" id="{CF0939C2-1AF1-42CD-8CA7-89115F8EFF7B}"/>
                </a:ext>
              </a:extLst>
            </p:cNvPr>
            <p:cNvSpPr/>
            <p:nvPr/>
          </p:nvSpPr>
          <p:spPr>
            <a:xfrm>
              <a:off x="1743349" y="2570829"/>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操作に関する</a:t>
              </a:r>
              <a:r>
                <a:rPr lang="en-US" altLang="ja-JP" sz="851" b="1">
                  <a:solidFill>
                    <a:srgbClr val="333333"/>
                  </a:solidFill>
                  <a:latin typeface="Meiryo"/>
                  <a:ea typeface="Meiryo"/>
                  <a:cs typeface="Meiryo"/>
                  <a:sym typeface="Meiryo"/>
                </a:rPr>
                <a:t>Q&amp;A</a:t>
              </a:r>
              <a:r>
                <a:rPr lang="ja-JP" altLang="en-US" sz="851" b="1">
                  <a:solidFill>
                    <a:srgbClr val="333333"/>
                  </a:solidFill>
                  <a:latin typeface="Meiryo"/>
                  <a:ea typeface="Meiryo"/>
                  <a:cs typeface="Meiryo"/>
                  <a:sym typeface="Meiryo"/>
                </a:rPr>
                <a:t>サポート対応</a:t>
              </a:r>
              <a:endParaRPr sz="1662"/>
            </a:p>
          </p:txBody>
        </p:sp>
        <p:sp>
          <p:nvSpPr>
            <p:cNvPr id="33" name="Google Shape;964;p31">
              <a:extLst>
                <a:ext uri="{FF2B5EF4-FFF2-40B4-BE49-F238E27FC236}">
                  <a16:creationId xmlns:a16="http://schemas.microsoft.com/office/drawing/2014/main" id="{E9DDAB30-25E0-5387-25F6-91EA79CCD64F}"/>
                </a:ext>
              </a:extLst>
            </p:cNvPr>
            <p:cNvSpPr/>
            <p:nvPr/>
          </p:nvSpPr>
          <p:spPr>
            <a:xfrm>
              <a:off x="3006258" y="155653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dirty="0">
                  <a:solidFill>
                    <a:srgbClr val="333333"/>
                  </a:solidFill>
                  <a:latin typeface="Meiryo"/>
                  <a:ea typeface="Meiryo"/>
                  <a:cs typeface="Meiryo"/>
                  <a:sym typeface="Meiryo"/>
                </a:rPr>
                <a:t>24</a:t>
              </a:r>
              <a:r>
                <a:rPr lang="ja-JP" altLang="en-US" sz="1023" b="1" dirty="0">
                  <a:solidFill>
                    <a:srgbClr val="333333"/>
                  </a:solidFill>
                  <a:latin typeface="Meiryo"/>
                  <a:ea typeface="Meiryo"/>
                  <a:cs typeface="Meiryo"/>
                  <a:sym typeface="Meiryo"/>
                </a:rPr>
                <a:t>時間</a:t>
              </a:r>
              <a:r>
                <a:rPr lang="en-US" altLang="ja-JP" sz="1023" b="1" dirty="0">
                  <a:solidFill>
                    <a:srgbClr val="333333"/>
                  </a:solidFill>
                  <a:latin typeface="Meiryo"/>
                  <a:ea typeface="Meiryo"/>
                  <a:cs typeface="Meiryo"/>
                  <a:sym typeface="Meiryo"/>
                </a:rPr>
                <a:t>365</a:t>
              </a:r>
              <a:r>
                <a:rPr lang="ja-JP" altLang="en-US" sz="1023" b="1" dirty="0">
                  <a:solidFill>
                    <a:srgbClr val="333333"/>
                  </a:solidFill>
                  <a:latin typeface="Meiryo"/>
                  <a:ea typeface="Meiryo"/>
                  <a:cs typeface="Meiryo"/>
                  <a:sym typeface="Meiryo"/>
                </a:rPr>
                <a:t>日（</a:t>
              </a:r>
              <a:r>
                <a:rPr lang="en-US" altLang="ja-JP" sz="1023" b="1" dirty="0">
                  <a:solidFill>
                    <a:srgbClr val="333333"/>
                  </a:solidFill>
                  <a:latin typeface="Meiryo"/>
                  <a:ea typeface="Meiryo"/>
                  <a:cs typeface="Meiryo"/>
                  <a:sym typeface="Meiryo"/>
                </a:rPr>
                <a:t>ASP</a:t>
              </a:r>
              <a:r>
                <a:rPr lang="ja-JP" altLang="en-US" sz="1023" b="1" dirty="0">
                  <a:solidFill>
                    <a:srgbClr val="333333"/>
                  </a:solidFill>
                  <a:latin typeface="Meiryo"/>
                  <a:ea typeface="Meiryo"/>
                  <a:cs typeface="Meiryo"/>
                  <a:sym typeface="Meiryo"/>
                </a:rPr>
                <a:t>サービスに含む）</a:t>
              </a:r>
              <a:endParaRPr sz="1023" b="1" dirty="0">
                <a:solidFill>
                  <a:srgbClr val="333333"/>
                </a:solidFill>
                <a:latin typeface="Meiryo"/>
                <a:ea typeface="Meiryo"/>
                <a:cs typeface="Meiryo"/>
                <a:sym typeface="Meiryo"/>
              </a:endParaRPr>
            </a:p>
          </p:txBody>
        </p:sp>
        <p:sp>
          <p:nvSpPr>
            <p:cNvPr id="34" name="Google Shape;965;p31">
              <a:extLst>
                <a:ext uri="{FF2B5EF4-FFF2-40B4-BE49-F238E27FC236}">
                  <a16:creationId xmlns:a16="http://schemas.microsoft.com/office/drawing/2014/main" id="{DC4A1944-5677-0B6F-A395-FF7C433F80F2}"/>
                </a:ext>
              </a:extLst>
            </p:cNvPr>
            <p:cNvSpPr/>
            <p:nvPr/>
          </p:nvSpPr>
          <p:spPr>
            <a:xfrm>
              <a:off x="1743349" y="1552543"/>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運用監視 </a:t>
              </a:r>
              <a:r>
                <a:rPr lang="en-US" altLang="ja-JP" sz="1023" b="1" baseline="30000">
                  <a:solidFill>
                    <a:srgbClr val="333333"/>
                  </a:solidFill>
                  <a:latin typeface="Meiryo"/>
                  <a:ea typeface="Meiryo"/>
                  <a:cs typeface="Meiryo"/>
                  <a:sym typeface="Meiryo"/>
                </a:rPr>
                <a:t>※1</a:t>
              </a:r>
              <a:endParaRPr sz="1023" b="1" baseline="30000">
                <a:solidFill>
                  <a:srgbClr val="333333"/>
                </a:solidFill>
                <a:latin typeface="Meiryo"/>
                <a:ea typeface="Meiryo"/>
                <a:cs typeface="Meiryo"/>
                <a:sym typeface="Meiryo"/>
              </a:endParaRPr>
            </a:p>
          </p:txBody>
        </p:sp>
        <p:sp>
          <p:nvSpPr>
            <p:cNvPr id="35" name="Google Shape;966;p31">
              <a:extLst>
                <a:ext uri="{FF2B5EF4-FFF2-40B4-BE49-F238E27FC236}">
                  <a16:creationId xmlns:a16="http://schemas.microsoft.com/office/drawing/2014/main" id="{B1637413-A233-878D-338B-843BC8C3CED9}"/>
                </a:ext>
              </a:extLst>
            </p:cNvPr>
            <p:cNvSpPr/>
            <p:nvPr/>
          </p:nvSpPr>
          <p:spPr>
            <a:xfrm>
              <a:off x="3011518" y="2065326"/>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一次対応：</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023" b="1">
                <a:solidFill>
                  <a:srgbClr val="333333"/>
                </a:solidFill>
                <a:latin typeface="Meiryo"/>
                <a:ea typeface="Meiryo"/>
                <a:cs typeface="Meiryo"/>
                <a:sym typeface="Meiryo"/>
              </a:endParaRPr>
            </a:p>
            <a:p>
              <a:pPr algn="ctr"/>
              <a:r>
                <a:rPr lang="ja-JP" altLang="en-US" sz="1023" b="1">
                  <a:solidFill>
                    <a:srgbClr val="333333"/>
                  </a:solidFill>
                  <a:latin typeface="Meiryo"/>
                  <a:ea typeface="Meiryo"/>
                  <a:cs typeface="Meiryo"/>
                  <a:sym typeface="Meiryo"/>
                </a:rPr>
                <a:t>二次対応：弊社営業時間内（</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r>
                <a:rPr lang="en-US" altLang="ja-JP" sz="1023" b="1" baseline="30000">
                  <a:solidFill>
                    <a:srgbClr val="333333"/>
                  </a:solidFill>
                  <a:latin typeface="Meiryo"/>
                  <a:ea typeface="Meiryo"/>
                  <a:cs typeface="Meiryo"/>
                  <a:sym typeface="Meiryo"/>
                </a:rPr>
                <a:t>※2※3</a:t>
              </a:r>
              <a:endParaRPr sz="1662"/>
            </a:p>
          </p:txBody>
        </p:sp>
        <p:sp>
          <p:nvSpPr>
            <p:cNvPr id="36" name="Google Shape;967;p31">
              <a:extLst>
                <a:ext uri="{FF2B5EF4-FFF2-40B4-BE49-F238E27FC236}">
                  <a16:creationId xmlns:a16="http://schemas.microsoft.com/office/drawing/2014/main" id="{F482CC3B-544E-E588-107C-C2D63128FD58}"/>
                </a:ext>
              </a:extLst>
            </p:cNvPr>
            <p:cNvSpPr/>
            <p:nvPr/>
          </p:nvSpPr>
          <p:spPr>
            <a:xfrm>
              <a:off x="1743349" y="2061686"/>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システム異常時の対応</a:t>
              </a:r>
              <a:endParaRPr sz="1662"/>
            </a:p>
          </p:txBody>
        </p:sp>
        <p:sp>
          <p:nvSpPr>
            <p:cNvPr id="37" name="Google Shape;968;p31">
              <a:extLst>
                <a:ext uri="{FF2B5EF4-FFF2-40B4-BE49-F238E27FC236}">
                  <a16:creationId xmlns:a16="http://schemas.microsoft.com/office/drawing/2014/main" id="{FFCFBF6A-85A8-63F8-CABB-19AF18CA3E5D}"/>
                </a:ext>
              </a:extLst>
            </p:cNvPr>
            <p:cNvSpPr/>
            <p:nvPr/>
          </p:nvSpPr>
          <p:spPr>
            <a:xfrm>
              <a:off x="1743349" y="4103109"/>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保守を含む</a:t>
              </a:r>
              <a:endParaRPr sz="851" b="1">
                <a:solidFill>
                  <a:schemeClr val="lt1"/>
                </a:solidFill>
                <a:latin typeface="Meiryo"/>
                <a:ea typeface="Meiryo"/>
                <a:cs typeface="Meiryo"/>
                <a:sym typeface="Meiryo"/>
              </a:endParaRPr>
            </a:p>
            <a:p>
              <a:pPr algn="ctr">
                <a:spcBef>
                  <a:spcPts val="511"/>
                </a:spcBef>
              </a:pPr>
              <a:r>
                <a:rPr lang="ja-JP" altLang="en-US" sz="851" b="1">
                  <a:solidFill>
                    <a:schemeClr val="lt1"/>
                  </a:solidFill>
                  <a:latin typeface="Meiryo"/>
                  <a:ea typeface="Meiryo"/>
                  <a:cs typeface="Meiryo"/>
                  <a:sym typeface="Meiryo"/>
                </a:rPr>
                <a:t>付帯作業 </a:t>
              </a:r>
              <a:r>
                <a:rPr lang="en-US" altLang="ja-JP" sz="1023" b="1" baseline="30000">
                  <a:solidFill>
                    <a:schemeClr val="lt1"/>
                  </a:solidFill>
                  <a:latin typeface="Meiryo"/>
                  <a:ea typeface="Meiryo"/>
                  <a:cs typeface="Meiryo"/>
                  <a:sym typeface="Meiryo"/>
                </a:rPr>
                <a:t>※7</a:t>
              </a:r>
              <a:endParaRPr sz="851" b="1">
                <a:solidFill>
                  <a:schemeClr val="lt1"/>
                </a:solidFill>
                <a:latin typeface="Meiryo"/>
                <a:ea typeface="Meiryo"/>
                <a:cs typeface="Meiryo"/>
                <a:sym typeface="Meiryo"/>
              </a:endParaRPr>
            </a:p>
          </p:txBody>
        </p:sp>
        <p:sp>
          <p:nvSpPr>
            <p:cNvPr id="38" name="Google Shape;969;p31">
              <a:extLst>
                <a:ext uri="{FF2B5EF4-FFF2-40B4-BE49-F238E27FC236}">
                  <a16:creationId xmlns:a16="http://schemas.microsoft.com/office/drawing/2014/main" id="{5ADBDCB7-7857-C4F3-EDC1-770B7B3FEF49}"/>
                </a:ext>
              </a:extLst>
            </p:cNvPr>
            <p:cNvSpPr/>
            <p:nvPr/>
          </p:nvSpPr>
          <p:spPr>
            <a:xfrm>
              <a:off x="3006232" y="410310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en-US" altLang="ja-JP" sz="1023" b="1" baseline="30000">
                  <a:solidFill>
                    <a:srgbClr val="333333"/>
                  </a:solidFill>
                  <a:latin typeface="Meiryo"/>
                  <a:ea typeface="Meiryo"/>
                  <a:cs typeface="Meiryo"/>
                  <a:sym typeface="Meiryo"/>
                </a:rPr>
                <a:t>※8</a:t>
              </a:r>
              <a:endParaRPr sz="1023" b="1" baseline="30000">
                <a:solidFill>
                  <a:srgbClr val="333333"/>
                </a:solidFill>
                <a:latin typeface="Meiryo"/>
                <a:ea typeface="Meiryo"/>
                <a:cs typeface="Meiryo"/>
                <a:sym typeface="Meiryo"/>
              </a:endParaRPr>
            </a:p>
          </p:txBody>
        </p:sp>
        <p:sp>
          <p:nvSpPr>
            <p:cNvPr id="39" name="Google Shape;970;p31">
              <a:extLst>
                <a:ext uri="{FF2B5EF4-FFF2-40B4-BE49-F238E27FC236}">
                  <a16:creationId xmlns:a16="http://schemas.microsoft.com/office/drawing/2014/main" id="{A137EBA3-5F41-33AE-4524-47787E4E8DD3}"/>
                </a:ext>
              </a:extLst>
            </p:cNvPr>
            <p:cNvSpPr/>
            <p:nvPr/>
          </p:nvSpPr>
          <p:spPr>
            <a:xfrm>
              <a:off x="5782277" y="3591719"/>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ja-JP" altLang="en-US" sz="1023" b="1" baseline="30000">
                  <a:solidFill>
                    <a:srgbClr val="333333"/>
                  </a:solidFill>
                  <a:latin typeface="Meiryo"/>
                  <a:ea typeface="Meiryo"/>
                  <a:cs typeface="Meiryo"/>
                  <a:sym typeface="Meiryo"/>
                </a:rPr>
                <a:t> </a:t>
              </a:r>
              <a:r>
                <a:rPr lang="en-US" altLang="ja-JP" sz="1023" b="1" baseline="30000">
                  <a:solidFill>
                    <a:srgbClr val="333333"/>
                  </a:solidFill>
                  <a:latin typeface="Meiryo"/>
                  <a:ea typeface="Meiryo"/>
                  <a:cs typeface="Meiryo"/>
                  <a:sym typeface="Meiryo"/>
                </a:rPr>
                <a:t>※8</a:t>
              </a:r>
              <a:endParaRPr sz="1023" b="1">
                <a:solidFill>
                  <a:srgbClr val="333333"/>
                </a:solidFill>
                <a:latin typeface="Meiryo"/>
                <a:ea typeface="Meiryo"/>
                <a:cs typeface="Meiryo"/>
                <a:sym typeface="Meiryo"/>
              </a:endParaRPr>
            </a:p>
          </p:txBody>
        </p:sp>
        <p:sp>
          <p:nvSpPr>
            <p:cNvPr id="40" name="Google Shape;971;p31">
              <a:extLst>
                <a:ext uri="{FF2B5EF4-FFF2-40B4-BE49-F238E27FC236}">
                  <a16:creationId xmlns:a16="http://schemas.microsoft.com/office/drawing/2014/main" id="{59761D31-437F-ED6B-B77D-43A14210C7DA}"/>
                </a:ext>
              </a:extLst>
            </p:cNvPr>
            <p:cNvSpPr/>
            <p:nvPr/>
          </p:nvSpPr>
          <p:spPr>
            <a:xfrm>
              <a:off x="859248" y="3589116"/>
              <a:ext cx="830769" cy="979225"/>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ja-JP" altLang="en-US" sz="1023" b="1">
                  <a:solidFill>
                    <a:schemeClr val="lt1"/>
                  </a:solidFill>
                  <a:latin typeface="Meiryo"/>
                  <a:ea typeface="Meiryo"/>
                  <a:cs typeface="Meiryo"/>
                  <a:sym typeface="Meiryo"/>
                </a:rPr>
                <a:t>サポート対応</a:t>
              </a:r>
              <a:endParaRPr sz="1662"/>
            </a:p>
          </p:txBody>
        </p:sp>
      </p:grpSp>
    </p:spTree>
    <p:extLst>
      <p:ext uri="{BB962C8B-B14F-4D97-AF65-F5344CB8AC3E}">
        <p14:creationId xmlns:p14="http://schemas.microsoft.com/office/powerpoint/2010/main" val="1909297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3.全体俯瞰</a:t>
            </a:r>
          </a:p>
        </p:txBody>
      </p:sp>
      <p:sp>
        <p:nvSpPr>
          <p:cNvPr id="227" name="テキスト ボックス 226"/>
          <p:cNvSpPr txBox="1"/>
          <p:nvPr/>
        </p:nvSpPr>
        <p:spPr>
          <a:xfrm>
            <a:off x="428596" y="785795"/>
            <a:ext cx="8463884" cy="307777"/>
          </a:xfrm>
          <a:prstGeom prst="rect">
            <a:avLst/>
          </a:prstGeom>
          <a:noFill/>
        </p:spPr>
        <p:txBody>
          <a:bodyPr wrap="square" rtlCol="0">
            <a:spAutoFit/>
          </a:bodyPr>
          <a:lstStyle/>
          <a:p>
            <a:r>
              <a:rPr lang="ja-JP" altLang="en-US" sz="1400" dirty="0">
                <a:latin typeface="メイリオ"/>
                <a:ea typeface="メイリオ"/>
                <a:cs typeface="メイリオ"/>
              </a:rPr>
              <a:t>非機能要件項目を以下に示します。本書では、</a:t>
            </a:r>
            <a:r>
              <a:rPr lang="ja-JP" altLang="en-US" sz="1400" dirty="0">
                <a:solidFill>
                  <a:srgbClr val="FF0000"/>
                </a:solidFill>
                <a:latin typeface="メイリオ"/>
                <a:ea typeface="メイリオ"/>
                <a:cs typeface="メイリオ"/>
              </a:rPr>
              <a:t>赤字箇所</a:t>
            </a:r>
            <a:r>
              <a:rPr lang="ja-JP" altLang="en-US" sz="1400" dirty="0">
                <a:latin typeface="メイリオ"/>
                <a:ea typeface="メイリオ"/>
                <a:cs typeface="メイリオ"/>
              </a:rPr>
              <a:t>を対象とした対応内容を記載します。</a:t>
            </a:r>
            <a:endParaRPr lang="en-US" altLang="ja-JP" sz="1400" dirty="0">
              <a:latin typeface="メイリオ"/>
              <a:ea typeface="メイリオ"/>
              <a:cs typeface="メイリオ"/>
            </a:endParaRPr>
          </a:p>
        </p:txBody>
      </p:sp>
      <p:graphicFrame>
        <p:nvGraphicFramePr>
          <p:cNvPr id="11" name="表 10"/>
          <p:cNvGraphicFramePr>
            <a:graphicFrameLocks noGrp="1"/>
          </p:cNvGraphicFramePr>
          <p:nvPr>
            <p:extLst>
              <p:ext uri="{D42A27DB-BD31-4B8C-83A1-F6EECF244321}">
                <p14:modId xmlns:p14="http://schemas.microsoft.com/office/powerpoint/2010/main" val="662251736"/>
              </p:ext>
            </p:extLst>
          </p:nvPr>
        </p:nvGraphicFramePr>
        <p:xfrm>
          <a:off x="611560" y="1268760"/>
          <a:ext cx="7992888" cy="494284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2538282">
                  <a:extLst>
                    <a:ext uri="{9D8B030D-6E8A-4147-A177-3AD203B41FA5}">
                      <a16:colId xmlns:a16="http://schemas.microsoft.com/office/drawing/2014/main" val="20002"/>
                    </a:ext>
                  </a:extLst>
                </a:gridCol>
                <a:gridCol w="1998222">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詳細</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システム運用要件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システム運用管理</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・ハードウェア運用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監視</a:t>
                      </a:r>
                      <a:endParaRPr kumimoji="1" lang="en-US" altLang="ja-JP"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システムを円滑に管理・運営する為の要件を定める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5.に記載</a:t>
                      </a:r>
                    </a:p>
                  </a:txBody>
                  <a:tcPr/>
                </a:tc>
                <a:extLst>
                  <a:ext uri="{0D108BD9-81ED-4DB2-BD59-A6C34878D82A}">
                    <a16:rowId xmlns:a16="http://schemas.microsoft.com/office/drawing/2014/main" val="10001"/>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保守要件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保守対象</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保守業務</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システムおよびソフトウェアを正常に運営する為に実施する予防保全</a:t>
                      </a:r>
                      <a:r>
                        <a:rPr kumimoji="1" lang="ja-JP" altLang="en-US" sz="1050" dirty="0">
                          <a:solidFill>
                            <a:srgbClr val="FF0000"/>
                          </a:solidFill>
                          <a:latin typeface="メイリオ" panose="020B0604030504040204" pitchFamily="50" charset="-128"/>
                          <a:ea typeface="メイリオ" panose="020B0604030504040204" pitchFamily="50" charset="-128"/>
                        </a:rPr>
                        <a:t>、障害解析、復旧を行う為の要件</a:t>
                      </a:r>
                      <a:r>
                        <a:rPr kumimoji="1" lang="ja-JP" altLang="en-US" sz="1050" dirty="0">
                          <a:latin typeface="メイリオ" panose="020B0604030504040204" pitchFamily="50" charset="-128"/>
                          <a:ea typeface="メイリオ" panose="020B0604030504040204" pitchFamily="50" charset="-128"/>
                        </a:rPr>
                        <a:t>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2.6.に記載</a:t>
                      </a:r>
                    </a:p>
                  </a:txBody>
                  <a:tcPr/>
                </a:tc>
                <a:extLst>
                  <a:ext uri="{0D108BD9-81ED-4DB2-BD59-A6C34878D82A}">
                    <a16:rowId xmlns:a16="http://schemas.microsoft.com/office/drawing/2014/main" val="10002"/>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信頼性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信頼性要件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システムの品質および障害の起こりにくさ、障害発生時の影響範囲および回復度合いを定める</a:t>
                      </a:r>
                    </a:p>
                  </a:txBody>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安全性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安全性要件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システムの自然災害、</a:t>
                      </a:r>
                      <a:r>
                        <a:rPr kumimoji="1" lang="ja-JP" altLang="en-US" sz="1050" dirty="0">
                          <a:solidFill>
                            <a:srgbClr val="FF0000"/>
                          </a:solidFill>
                          <a:latin typeface="メイリオ" panose="020B0604030504040204" pitchFamily="50" charset="-128"/>
                          <a:ea typeface="メイリオ" panose="020B0604030504040204" pitchFamily="50" charset="-128"/>
                        </a:rPr>
                        <a:t>不正アクセスからの保護</a:t>
                      </a:r>
                      <a:r>
                        <a:rPr kumimoji="1" lang="ja-JP" altLang="en-US" sz="1050" dirty="0">
                          <a:latin typeface="メイリオ" panose="020B0604030504040204" pitchFamily="50" charset="-128"/>
                          <a:ea typeface="メイリオ" panose="020B0604030504040204" pitchFamily="50" charset="-128"/>
                        </a:rPr>
                        <a:t>の度合に対する要件を定める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7.に記載</a:t>
                      </a:r>
                    </a:p>
                  </a:txBody>
                  <a:tcPr/>
                </a:tc>
                <a:extLst>
                  <a:ext uri="{0D108BD9-81ED-4DB2-BD59-A6C34878D82A}">
                    <a16:rowId xmlns:a16="http://schemas.microsoft.com/office/drawing/2014/main" val="10004"/>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システムの完全性・可用性・</a:t>
                      </a:r>
                      <a:r>
                        <a:rPr kumimoji="1" lang="ja-JP" altLang="en-US" sz="1050" dirty="0">
                          <a:solidFill>
                            <a:srgbClr val="FF0000"/>
                          </a:solidFill>
                          <a:latin typeface="メイリオ" panose="020B0604030504040204" pitchFamily="50" charset="-128"/>
                          <a:ea typeface="メイリオ" panose="020B0604030504040204" pitchFamily="50" charset="-128"/>
                        </a:rPr>
                        <a:t>機密性</a:t>
                      </a:r>
                      <a:r>
                        <a:rPr kumimoji="1" lang="ja-JP" altLang="en-US" sz="1050" dirty="0">
                          <a:latin typeface="メイリオ" panose="020B0604030504040204" pitchFamily="50" charset="-128"/>
                          <a:ea typeface="メイリオ" panose="020B0604030504040204" pitchFamily="50" charset="-128"/>
                        </a:rPr>
                        <a:t>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7.に記載</a:t>
                      </a:r>
                    </a:p>
                  </a:txBody>
                  <a:tcPr/>
                </a:tc>
                <a:extLst>
                  <a:ext uri="{0D108BD9-81ED-4DB2-BD59-A6C34878D82A}">
                    <a16:rowId xmlns:a16="http://schemas.microsoft.com/office/drawing/2014/main" val="10005"/>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ハードウェア拡張性</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アプリケーション拡張性</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システムの許容量</a:t>
                      </a:r>
                      <a:r>
                        <a:rPr kumimoji="1" lang="ja-JP" altLang="en-US" sz="1050" dirty="0">
                          <a:latin typeface="メイリオ" panose="020B0604030504040204" pitchFamily="50" charset="-128"/>
                          <a:ea typeface="メイリオ" panose="020B0604030504040204" pitchFamily="50" charset="-128"/>
                        </a:rPr>
                        <a:t>およびその方法に対する要件を定める。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8.に記載</a:t>
                      </a:r>
                    </a:p>
                  </a:txBody>
                  <a:tcPr/>
                </a:tc>
                <a:extLst>
                  <a:ext uri="{0D108BD9-81ED-4DB2-BD59-A6C34878D82A}">
                    <a16:rowId xmlns:a16="http://schemas.microsoft.com/office/drawing/2014/main" val="10006"/>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品質要件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品質特性要件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システムの機能性・信頼性・効率性・保守性・移植性に対する要件を定める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7"/>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性能要件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容量</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オンライン性能要件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バッチ性能要件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測定方法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負荷の想定量およびその応答性能に対する要件およびその測定方法を定める。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4.対応内容一覧（1/2）</a:t>
            </a:r>
          </a:p>
        </p:txBody>
      </p:sp>
      <p:graphicFrame>
        <p:nvGraphicFramePr>
          <p:cNvPr id="11" name="表 10"/>
          <p:cNvGraphicFramePr>
            <a:graphicFrameLocks noGrp="1"/>
          </p:cNvGraphicFramePr>
          <p:nvPr>
            <p:extLst>
              <p:ext uri="{D42A27DB-BD31-4B8C-83A1-F6EECF244321}">
                <p14:modId xmlns:p14="http://schemas.microsoft.com/office/powerpoint/2010/main" val="58730153"/>
              </p:ext>
            </p:extLst>
          </p:nvPr>
        </p:nvGraphicFramePr>
        <p:xfrm>
          <a:off x="312506" y="1256648"/>
          <a:ext cx="8291942" cy="3974192"/>
        </p:xfrm>
        <a:graphic>
          <a:graphicData uri="http://schemas.openxmlformats.org/drawingml/2006/table">
            <a:tbl>
              <a:tblPr firstRow="1" bandRow="1">
                <a:tableStyleId>{5C22544A-7EE6-4342-B048-85BDC9FD1C3A}</a:tableStyleId>
              </a:tblPr>
              <a:tblGrid>
                <a:gridCol w="1120533">
                  <a:extLst>
                    <a:ext uri="{9D8B030D-6E8A-4147-A177-3AD203B41FA5}">
                      <a16:colId xmlns:a16="http://schemas.microsoft.com/office/drawing/2014/main" val="20000"/>
                    </a:ext>
                  </a:extLst>
                </a:gridCol>
                <a:gridCol w="2465171">
                  <a:extLst>
                    <a:ext uri="{9D8B030D-6E8A-4147-A177-3AD203B41FA5}">
                      <a16:colId xmlns:a16="http://schemas.microsoft.com/office/drawing/2014/main" val="20001"/>
                    </a:ext>
                  </a:extLst>
                </a:gridCol>
                <a:gridCol w="2633252">
                  <a:extLst>
                    <a:ext uri="{9D8B030D-6E8A-4147-A177-3AD203B41FA5}">
                      <a16:colId xmlns:a16="http://schemas.microsoft.com/office/drawing/2014/main" val="20002"/>
                    </a:ext>
                  </a:extLst>
                </a:gridCol>
                <a:gridCol w="2072986">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非機能要件項目</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277232">
                <a:tc rowSpan="2">
                  <a:txBody>
                    <a:bodyPr/>
                    <a:lstStyle/>
                    <a:p>
                      <a:r>
                        <a:rPr kumimoji="1" lang="ja-JP" altLang="en-US" sz="1050" dirty="0">
                          <a:latin typeface="メイリオ" panose="020B0604030504040204" pitchFamily="50" charset="-128"/>
                          <a:ea typeface="メイリオ" panose="020B0604030504040204" pitchFamily="50" charset="-128"/>
                        </a:rPr>
                        <a:t>監視</a:t>
                      </a: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ja-JP" sz="1050" kern="1200" dirty="0">
                          <a:solidFill>
                            <a:schemeClr val="dk1"/>
                          </a:solidFill>
                          <a:latin typeface="メイリオ" panose="020B0604030504040204" pitchFamily="50" charset="-128"/>
                          <a:ea typeface="メイリオ" panose="020B0604030504040204" pitchFamily="50" charset="-128"/>
                          <a:cs typeface="+mn-cs"/>
                        </a:rPr>
                        <a:t>システム管理者においては、システムが正常に動作しているか各種ログを参照し、下記監視をする。</a:t>
                      </a:r>
                    </a:p>
                    <a:p>
                      <a:endParaRPr kumimoji="1" lang="en-US" altLang="ja-JP" sz="1050" dirty="0">
                        <a:latin typeface="メイリオ" panose="020B0604030504040204" pitchFamily="50" charset="-128"/>
                        <a:ea typeface="メイリオ" panose="020B0604030504040204" pitchFamily="50" charset="-128"/>
                      </a:endParaRPr>
                    </a:p>
                  </a:txBody>
                  <a:tcPr>
                    <a:solidFill>
                      <a:srgbClr val="D0D8E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外部に設置した監視サーバによって、サーバのリソース（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rgbClr val="D0D8E8"/>
                    </a:solidFill>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solidFill>
                      <a:srgbClr val="D0D8E8"/>
                    </a:solidFill>
                  </a:tcPr>
                </a:tc>
                <a:extLst>
                  <a:ext uri="{0D108BD9-81ED-4DB2-BD59-A6C34878D82A}">
                    <a16:rowId xmlns:a16="http://schemas.microsoft.com/office/drawing/2014/main" val="10001"/>
                  </a:ext>
                </a:extLst>
              </a:tr>
              <a:tr h="357232">
                <a:tc vMerge="1">
                  <a:txBody>
                    <a:bodyPr/>
                    <a:lstStyle/>
                    <a:p>
                      <a:endParaRPr kumimoji="1" lang="ja-JP" altLang="en-US" sz="900" dirty="0">
                        <a:latin typeface="+mn-ea"/>
                        <a:ea typeface="+mn-ea"/>
                      </a:endParaRPr>
                    </a:p>
                  </a:txBody>
                  <a:tcPr/>
                </a:tc>
                <a:tc vMerge="1">
                  <a:txBody>
                    <a:bodyPr/>
                    <a:lstStyle/>
                    <a:p>
                      <a:endParaRPr kumimoji="1" lang="ja-JP" altLang="en-US" sz="9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（オプション）</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システム内に設置した監視サーバによって、サーバのリソース（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chemeClr val="bg1">
                        <a:lumMod val="75000"/>
                      </a:schemeClr>
                    </a:solidFill>
                  </a:tcPr>
                </a:tc>
                <a:tc>
                  <a:txBody>
                    <a:bodyPr/>
                    <a:lstStyle/>
                    <a:p>
                      <a:r>
                        <a:rPr kumimoji="1" lang="ja-JP" altLang="en-US" sz="1050" dirty="0">
                          <a:latin typeface="メイリオ" panose="020B0604030504040204" pitchFamily="50" charset="-128"/>
                          <a:ea typeface="メイリオ" panose="020B0604030504040204" pitchFamily="50" charset="-128"/>
                        </a:rPr>
                        <a:t>別途サーバ費用</a:t>
                      </a:r>
                    </a:p>
                  </a:txBody>
                  <a:tcPr>
                    <a:solidFill>
                      <a:schemeClr val="bg1">
                        <a:lumMod val="75000"/>
                      </a:schemeClr>
                    </a:solidFill>
                  </a:tcPr>
                </a:tc>
                <a:extLst>
                  <a:ext uri="{0D108BD9-81ED-4DB2-BD59-A6C34878D82A}">
                    <a16:rowId xmlns:a16="http://schemas.microsoft.com/office/drawing/2014/main" val="10002"/>
                  </a:ext>
                </a:extLst>
              </a:tr>
              <a:tr h="357232">
                <a:tc rowSpan="3">
                  <a:txBody>
                    <a:bodyPr/>
                    <a:lstStyle/>
                    <a:p>
                      <a:r>
                        <a:rPr kumimoji="1" lang="ja-JP" altLang="en-US" sz="1050" dirty="0">
                          <a:latin typeface="メイリオ" panose="020B0604030504040204" pitchFamily="50" charset="-128"/>
                          <a:ea typeface="メイリオ" panose="020B0604030504040204" pitchFamily="50" charset="-128"/>
                        </a:rPr>
                        <a:t>障害解析・復旧</a:t>
                      </a:r>
                    </a:p>
                  </a:txBody>
                  <a:tcPr>
                    <a:solidFill>
                      <a:srgbClr val="E9EDF4"/>
                    </a:solidFill>
                  </a:tcPr>
                </a:tc>
                <a:tc gridSpan="3">
                  <a:txBody>
                    <a:bodyPr/>
                    <a:lstStyle/>
                    <a:p>
                      <a:r>
                        <a:rPr kumimoji="1" lang="ja-JP" altLang="en-US" sz="1050" dirty="0">
                          <a:latin typeface="メイリオ" panose="020B0604030504040204" pitchFamily="50" charset="-128"/>
                          <a:ea typeface="メイリオ" panose="020B0604030504040204" pitchFamily="50" charset="-128"/>
                        </a:rPr>
                        <a:t>障害の解析および復旧は、バックアップを用いて、復元する方法を用いる</a:t>
                      </a:r>
                      <a:endParaRPr kumimoji="1" lang="en-US" altLang="ja-JP" sz="1050" dirty="0">
                        <a:latin typeface="メイリオ" panose="020B0604030504040204" pitchFamily="50" charset="-128"/>
                        <a:ea typeface="メイリオ" panose="020B0604030504040204" pitchFamily="50" charset="-128"/>
                      </a:endParaRPr>
                    </a:p>
                  </a:txBody>
                  <a:tcPr/>
                </a:tc>
                <a:tc hMerge="1">
                  <a:txBody>
                    <a:bodyPr/>
                    <a:lstStyle/>
                    <a:p>
                      <a:endParaRPr kumimoji="1" lang="en-US" altLang="ja-JP" sz="900" dirty="0">
                        <a:latin typeface="+mn-ea"/>
                        <a:ea typeface="+mn-ea"/>
                      </a:endParaRPr>
                    </a:p>
                  </a:txBody>
                  <a:tcPr/>
                </a:tc>
                <a:tc hMerge="1">
                  <a:txBody>
                    <a:bodyPr/>
                    <a:lstStyle/>
                    <a:p>
                      <a:endParaRPr kumimoji="1" lang="ja-JP" altLang="en-US" sz="900" dirty="0">
                        <a:latin typeface="+mn-ea"/>
                        <a:ea typeface="+mn-ea"/>
                      </a:endParaRPr>
                    </a:p>
                  </a:txBody>
                  <a:tcPr/>
                </a:tc>
                <a:extLst>
                  <a:ext uri="{0D108BD9-81ED-4DB2-BD59-A6C34878D82A}">
                    <a16:rowId xmlns:a16="http://schemas.microsoft.com/office/drawing/2014/main" val="1193301915"/>
                  </a:ext>
                </a:extLst>
              </a:tr>
              <a:tr h="357232">
                <a:tc vMerge="1">
                  <a:txBody>
                    <a:bodyPr/>
                    <a:lstStyle/>
                    <a:p>
                      <a:endParaRPr kumimoji="1" lang="ja-JP" altLang="en-US" sz="900" dirty="0">
                        <a:latin typeface="+mn-ea"/>
                        <a:ea typeface="+mn-ea"/>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OS</a:t>
                      </a:r>
                      <a:r>
                        <a:rPr kumimoji="1" lang="ja-JP" altLang="en-US" sz="1050" dirty="0">
                          <a:latin typeface="メイリオ" panose="020B0604030504040204" pitchFamily="50" charset="-128"/>
                          <a:ea typeface="メイリオ" panose="020B0604030504040204" pitchFamily="50" charset="-128"/>
                        </a:rPr>
                        <a:t>ごとのバックアップを取得し、復旧時間を最小限にする。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インスタンスバックアップ</a:t>
                      </a:r>
                      <a:endParaRPr kumimoji="1" lang="en-US" altLang="ja-JP" sz="1050" dirty="0">
                        <a:latin typeface="メイリオ" panose="020B0604030504040204" pitchFamily="50" charset="-128"/>
                        <a:ea typeface="メイリオ" panose="020B0604030504040204" pitchFamily="50" charset="-128"/>
                      </a:endParaRPr>
                    </a:p>
                  </a:txBody>
                  <a:tcPr>
                    <a:solidFill>
                      <a:srgbClr val="E9EDF4"/>
                    </a:solidFill>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・クラウドのサービスを利用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・リリース時に取得</a:t>
                      </a:r>
                      <a:endParaRPr kumimoji="1" lang="en-US" altLang="ja-JP" sz="1050" dirty="0">
                        <a:latin typeface="メイリオ" panose="020B0604030504040204" pitchFamily="50" charset="-128"/>
                        <a:ea typeface="メイリオ" panose="020B0604030504040204" pitchFamily="50" charset="-128"/>
                      </a:endParaRPr>
                    </a:p>
                  </a:txBody>
                  <a:tcP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solidFill>
                      <a:srgbClr val="E9EDF4"/>
                    </a:solidFill>
                  </a:tcPr>
                </a:tc>
                <a:extLst>
                  <a:ext uri="{0D108BD9-81ED-4DB2-BD59-A6C34878D82A}">
                    <a16:rowId xmlns:a16="http://schemas.microsoft.com/office/drawing/2014/main" val="1703513572"/>
                  </a:ext>
                </a:extLst>
              </a:tr>
              <a:tr h="357232">
                <a:tc vMerge="1">
                  <a:txBody>
                    <a:bodyPr/>
                    <a:lstStyle/>
                    <a:p>
                      <a:endParaRPr kumimoji="1" lang="ja-JP" altLang="en-US" sz="900" dirty="0">
                        <a:latin typeface="+mn-ea"/>
                        <a:ea typeface="+mn-ea"/>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障害調査、局所的なリカバリーを行う為、ファイルごとのバックアップを取得する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ファイルバックアップ</a:t>
                      </a:r>
                    </a:p>
                  </a:txBody>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・対象は、</a:t>
                      </a:r>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データ、データベース、ログとする</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・取得したバックアップは、</a:t>
                      </a:r>
                      <a:r>
                        <a:rPr kumimoji="1" lang="en-US" altLang="ja-JP" sz="1050" dirty="0">
                          <a:latin typeface="メイリオ" panose="020B0604030504040204" pitchFamily="50" charset="-128"/>
                          <a:ea typeface="メイリオ" panose="020B0604030504040204" pitchFamily="50" charset="-128"/>
                        </a:rPr>
                        <a:t>EC</a:t>
                      </a:r>
                      <a:r>
                        <a:rPr kumimoji="1" lang="ja-JP" altLang="en-US" sz="1050" dirty="0">
                          <a:latin typeface="メイリオ" panose="020B0604030504040204" pitchFamily="50" charset="-128"/>
                          <a:ea typeface="メイリオ" panose="020B0604030504040204" pitchFamily="50" charset="-128"/>
                        </a:rPr>
                        <a:t>システム内で管理する。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保管場所はクラウドサービス内</a:t>
                      </a:r>
                    </a:p>
                  </a:txBody>
                  <a:tcPr/>
                </a:tc>
                <a:extLst>
                  <a:ext uri="{0D108BD9-81ED-4DB2-BD59-A6C34878D82A}">
                    <a16:rowId xmlns:a16="http://schemas.microsoft.com/office/drawing/2014/main" val="509695056"/>
                  </a:ext>
                </a:extLst>
              </a:tr>
            </a:tbl>
          </a:graphicData>
        </a:graphic>
      </p:graphicFrame>
      <p:sp>
        <p:nvSpPr>
          <p:cNvPr id="4" name="テキスト ボックス 3"/>
          <p:cNvSpPr txBox="1"/>
          <p:nvPr/>
        </p:nvSpPr>
        <p:spPr>
          <a:xfrm>
            <a:off x="140564" y="779740"/>
            <a:ext cx="8463884" cy="307777"/>
          </a:xfrm>
          <a:prstGeom prst="rect">
            <a:avLst/>
          </a:prstGeom>
          <a:noFill/>
        </p:spPr>
        <p:txBody>
          <a:bodyPr wrap="square" rtlCol="0">
            <a:spAutoFit/>
          </a:bodyPr>
          <a:lstStyle/>
          <a:p>
            <a:r>
              <a:rPr lang="ja-JP" altLang="en-US" sz="1400" dirty="0">
                <a:latin typeface="メイリオ"/>
                <a:ea typeface="メイリオ"/>
                <a:cs typeface="メイリオ"/>
              </a:rPr>
              <a:t>全体俯瞰における対象項目に関して、以下に詳細内容を記載します。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4.対応内容一覧（2/2）</a:t>
            </a:r>
          </a:p>
        </p:txBody>
      </p:sp>
      <p:graphicFrame>
        <p:nvGraphicFramePr>
          <p:cNvPr id="11" name="表 10"/>
          <p:cNvGraphicFramePr>
            <a:graphicFrameLocks noGrp="1"/>
          </p:cNvGraphicFramePr>
          <p:nvPr>
            <p:extLst>
              <p:ext uri="{D42A27DB-BD31-4B8C-83A1-F6EECF244321}">
                <p14:modId xmlns:p14="http://schemas.microsoft.com/office/powerpoint/2010/main" val="3616537216"/>
              </p:ext>
            </p:extLst>
          </p:nvPr>
        </p:nvGraphicFramePr>
        <p:xfrm>
          <a:off x="278501" y="799719"/>
          <a:ext cx="8496106" cy="5704840"/>
        </p:xfrm>
        <a:graphic>
          <a:graphicData uri="http://schemas.openxmlformats.org/drawingml/2006/table">
            <a:tbl>
              <a:tblPr firstRow="1" bandRow="1">
                <a:tableStyleId>{5C22544A-7EE6-4342-B048-85BDC9FD1C3A}</a:tableStyleId>
              </a:tblPr>
              <a:tblGrid>
                <a:gridCol w="1023460">
                  <a:extLst>
                    <a:ext uri="{9D8B030D-6E8A-4147-A177-3AD203B41FA5}">
                      <a16:colId xmlns:a16="http://schemas.microsoft.com/office/drawing/2014/main" val="20000"/>
                    </a:ext>
                  </a:extLst>
                </a:gridCol>
                <a:gridCol w="1659242">
                  <a:extLst>
                    <a:ext uri="{9D8B030D-6E8A-4147-A177-3AD203B41FA5}">
                      <a16:colId xmlns:a16="http://schemas.microsoft.com/office/drawing/2014/main" val="20001"/>
                    </a:ext>
                  </a:extLst>
                </a:gridCol>
                <a:gridCol w="3342707">
                  <a:extLst>
                    <a:ext uri="{9D8B030D-6E8A-4147-A177-3AD203B41FA5}">
                      <a16:colId xmlns:a16="http://schemas.microsoft.com/office/drawing/2014/main" val="2917382390"/>
                    </a:ext>
                  </a:extLst>
                </a:gridCol>
                <a:gridCol w="2470697">
                  <a:extLst>
                    <a:ext uri="{9D8B030D-6E8A-4147-A177-3AD203B41FA5}">
                      <a16:colId xmlns:a16="http://schemas.microsoft.com/office/drawing/2014/main" val="214903997"/>
                    </a:ext>
                  </a:extLst>
                </a:gridCol>
              </a:tblGrid>
              <a:tr h="370840">
                <a:tc>
                  <a:txBody>
                    <a:bodyPr/>
                    <a:lstStyle/>
                    <a:p>
                      <a:r>
                        <a:rPr kumimoji="1" lang="ja-JP" altLang="en-US" sz="100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00" dirty="0">
                          <a:latin typeface="メイリオ" panose="020B0604030504040204" pitchFamily="50" charset="-128"/>
                          <a:ea typeface="メイリオ" panose="020B0604030504040204" pitchFamily="50" charset="-128"/>
                        </a:rPr>
                        <a:t>要求</a:t>
                      </a:r>
                    </a:p>
                  </a:txBody>
                  <a:tcPr/>
                </a:tc>
                <a:tc>
                  <a:txBody>
                    <a:bodyPr/>
                    <a:lstStyle/>
                    <a:p>
                      <a:r>
                        <a:rPr kumimoji="1" lang="ja-JP" altLang="en-US" sz="100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0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0">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メイリオ" panose="020B0604030504040204" pitchFamily="50" charset="-128"/>
                          <a:ea typeface="メイリオ" panose="020B0604030504040204" pitchFamily="50" charset="-128"/>
                        </a:rPr>
                        <a:t>不正アクセスからの保護</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システムの脆弱性対策、不正侵入からの防止・予防を行う</a:t>
                      </a: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4"/>
                  </a:ext>
                </a:extLst>
              </a:tr>
              <a:tr h="370840">
                <a:tc vMerge="1">
                  <a:txBody>
                    <a:bodyPr/>
                    <a:lstStyle/>
                    <a:p>
                      <a:endParaRPr kumimoji="1" lang="ja-JP" altLang="en-US" sz="900" dirty="0">
                        <a:latin typeface="+mn-ea"/>
                        <a:ea typeface="+mn-ea"/>
                      </a:endParaRPr>
                    </a:p>
                  </a:txBody>
                  <a:tcPr/>
                </a:tc>
                <a:tc rowSpan="2">
                  <a:txBody>
                    <a:bodyPr/>
                    <a:lstStyle/>
                    <a:p>
                      <a:r>
                        <a:rPr kumimoji="1" lang="ja-JP" altLang="en-US" sz="1000" dirty="0">
                          <a:latin typeface="メイリオ" panose="020B0604030504040204" pitchFamily="50" charset="-128"/>
                          <a:ea typeface="メイリオ" panose="020B0604030504040204" pitchFamily="50" charset="-128"/>
                        </a:rPr>
                        <a:t>脆弱性診断</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ツールを用いた検証を行う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OWASP ZAP</a:t>
                      </a:r>
                      <a:r>
                        <a:rPr kumimoji="1" lang="ja-JP" altLang="en-US" sz="1000" dirty="0">
                          <a:latin typeface="メイリオ" panose="020B0604030504040204" pitchFamily="50" charset="-128"/>
                          <a:ea typeface="メイリオ" panose="020B0604030504040204" pitchFamily="50" charset="-128"/>
                        </a:rPr>
                        <a:t>による静的、動的診断の実施</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NESSUS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CVE</a:t>
                      </a:r>
                      <a:r>
                        <a:rPr kumimoji="1" lang="ja-JP" altLang="en-US" sz="1000" dirty="0">
                          <a:latin typeface="メイリオ" panose="020B0604030504040204" pitchFamily="50" charset="-128"/>
                          <a:ea typeface="メイリオ" panose="020B0604030504040204" pitchFamily="50" charset="-128"/>
                        </a:rPr>
                        <a:t>を対象に</a:t>
                      </a:r>
                      <a:r>
                        <a:rPr kumimoji="1" lang="en-US" altLang="ja-JP" sz="1000" dirty="0">
                          <a:latin typeface="メイリオ" panose="020B0604030504040204" pitchFamily="50" charset="-128"/>
                          <a:ea typeface="メイリオ" panose="020B0604030504040204" pitchFamily="50" charset="-128"/>
                        </a:rPr>
                        <a:t>OS</a:t>
                      </a:r>
                      <a:r>
                        <a:rPr kumimoji="1" lang="ja-JP" altLang="en-US" sz="1000" dirty="0">
                          <a:latin typeface="メイリオ" panose="020B0604030504040204" pitchFamily="50" charset="-128"/>
                          <a:ea typeface="メイリオ" panose="020B0604030504040204" pitchFamily="50" charset="-128"/>
                        </a:rPr>
                        <a:t>、ミドルウェアの脆弱性検査を実施</a:t>
                      </a:r>
                    </a:p>
                  </a:txBody>
                  <a:tcPr/>
                </a:tc>
                <a:tc>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実装者は、</a:t>
                      </a:r>
                      <a:r>
                        <a:rPr kumimoji="1" lang="en-US" altLang="ja-JP" sz="1000" dirty="0">
                          <a:latin typeface="メイリオ" panose="020B0604030504040204" pitchFamily="50" charset="-128"/>
                          <a:ea typeface="メイリオ" panose="020B0604030504040204" pitchFamily="50" charset="-128"/>
                        </a:rPr>
                        <a:t>IPA</a:t>
                      </a:r>
                      <a:r>
                        <a:rPr kumimoji="1" lang="ja-JP" altLang="en-US" sz="1000" dirty="0">
                          <a:latin typeface="メイリオ" panose="020B0604030504040204" pitchFamily="50" charset="-128"/>
                          <a:ea typeface="メイリオ" panose="020B0604030504040204" pitchFamily="50" charset="-128"/>
                        </a:rPr>
                        <a:t>策定セキュアプログラミングに関する社内教育を受講</a:t>
                      </a:r>
                    </a:p>
                  </a:txBody>
                  <a:tcPr/>
                </a:tc>
                <a:extLst>
                  <a:ext uri="{0D108BD9-81ED-4DB2-BD59-A6C34878D82A}">
                    <a16:rowId xmlns:a16="http://schemas.microsoft.com/office/drawing/2014/main" val="10005"/>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・第</a:t>
                      </a:r>
                      <a:r>
                        <a:rPr kumimoji="1" lang="en-US" altLang="ja-JP" sz="1000" dirty="0">
                          <a:latin typeface="メイリオ" panose="020B0604030504040204" pitchFamily="50" charset="-128"/>
                          <a:ea typeface="メイリオ" panose="020B0604030504040204" pitchFamily="50" charset="-128"/>
                        </a:rPr>
                        <a:t>3</a:t>
                      </a:r>
                      <a:r>
                        <a:rPr kumimoji="1" lang="ja-JP" altLang="en-US" sz="1000" dirty="0">
                          <a:latin typeface="メイリオ" panose="020B0604030504040204" pitchFamily="50" charset="-128"/>
                          <a:ea typeface="メイリオ" panose="020B0604030504040204" pitchFamily="50" charset="-128"/>
                        </a:rPr>
                        <a:t>者による脆弱性診断を受診</a:t>
                      </a:r>
                      <a:endParaRPr kumimoji="1" lang="ja-JP" altLang="en-US" sz="1600" dirty="0"/>
                    </a:p>
                  </a:txBody>
                  <a:tcPr>
                    <a:solidFill>
                      <a:schemeClr val="bg1">
                        <a:lumMod val="75000"/>
                      </a:schemeClr>
                    </a:solidFill>
                  </a:tcPr>
                </a:tc>
                <a:tc>
                  <a:txBody>
                    <a:bodyPr/>
                    <a:lstStyle/>
                    <a:p>
                      <a:endParaRPr kumimoji="1" lang="ja-JP" altLang="en-US" sz="1600" dirty="0"/>
                    </a:p>
                  </a:txBody>
                  <a:tcPr>
                    <a:solidFill>
                      <a:schemeClr val="bg1">
                        <a:lumMod val="75000"/>
                      </a:schemeClr>
                    </a:solidFill>
                  </a:tcPr>
                </a:tc>
                <a:extLst>
                  <a:ext uri="{0D108BD9-81ED-4DB2-BD59-A6C34878D82A}">
                    <a16:rowId xmlns:a16="http://schemas.microsoft.com/office/drawing/2014/main" val="10006"/>
                  </a:ext>
                </a:extLst>
              </a:tr>
              <a:tr h="370840">
                <a:tc vMerge="1">
                  <a:txBody>
                    <a:bodyPr/>
                    <a:lstStyle/>
                    <a:p>
                      <a:endParaRPr kumimoji="1" lang="ja-JP" altLang="en-US" sz="900">
                        <a:latin typeface="+mn-ea"/>
                        <a:ea typeface="+mn-ea"/>
                      </a:endParaRPr>
                    </a:p>
                  </a:txBody>
                  <a:tcPr/>
                </a:tc>
                <a:tc rowSpan="2">
                  <a:txBody>
                    <a:bodyPr/>
                    <a:lstStyle/>
                    <a:p>
                      <a:r>
                        <a:rPr kumimoji="1" lang="en-US" altLang="ja-JP" sz="1000" dirty="0">
                          <a:latin typeface="メイリオ" panose="020B0604030504040204" pitchFamily="50" charset="-128"/>
                          <a:ea typeface="メイリオ" panose="020B0604030504040204" pitchFamily="50" charset="-128"/>
                        </a:rPr>
                        <a:t>IDS/IPS</a:t>
                      </a:r>
                      <a:endParaRPr kumimoji="1" lang="ja-JP" altLang="en-US"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対応を行う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tripwire</a:t>
                      </a:r>
                      <a:r>
                        <a:rPr kumimoji="1" lang="ja-JP" altLang="en-US" sz="1000" dirty="0">
                          <a:latin typeface="メイリオ" panose="020B0604030504040204" pitchFamily="50" charset="-128"/>
                          <a:ea typeface="メイリオ" panose="020B0604030504040204" pitchFamily="50" charset="-128"/>
                        </a:rPr>
                        <a:t>による改ざん検出を実施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fail2ban</a:t>
                      </a:r>
                      <a:r>
                        <a:rPr kumimoji="1" lang="ja-JP" altLang="en-US" sz="1000" dirty="0">
                          <a:latin typeface="メイリオ" panose="020B0604030504040204" pitchFamily="50" charset="-128"/>
                          <a:ea typeface="メイリオ" panose="020B0604030504040204" pitchFamily="50" charset="-128"/>
                        </a:rPr>
                        <a:t>によるブルートフォース対策を実施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clamAV</a:t>
                      </a:r>
                      <a:r>
                        <a:rPr kumimoji="1" lang="ja-JP" altLang="en-US" sz="1000" dirty="0">
                          <a:latin typeface="メイリオ" panose="020B0604030504040204" pitchFamily="50" charset="-128"/>
                          <a:ea typeface="メイリオ" panose="020B0604030504040204" pitchFamily="50" charset="-128"/>
                        </a:rPr>
                        <a:t>によるウィルス検出を実施</a:t>
                      </a: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Modsecurity</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a:t>
                      </a:r>
                      <a:r>
                        <a:rPr kumimoji="1" lang="en-US" altLang="ja-JP" sz="1000" dirty="0">
                          <a:latin typeface="メイリオ" panose="020B0604030504040204" pitchFamily="50" charset="-128"/>
                          <a:ea typeface="メイリオ" panose="020B0604030504040204" pitchFamily="50" charset="-128"/>
                        </a:rPr>
                        <a:t>LB</a:t>
                      </a:r>
                      <a:r>
                        <a:rPr kumimoji="1" lang="ja-JP" altLang="en-US" sz="1000" dirty="0">
                          <a:latin typeface="メイリオ" panose="020B0604030504040204" pitchFamily="50" charset="-128"/>
                          <a:ea typeface="メイリオ" panose="020B0604030504040204" pitchFamily="50" charset="-128"/>
                        </a:rPr>
                        <a:t>サーバに設置</a:t>
                      </a:r>
                    </a:p>
                  </a:txBody>
                  <a:tcPr/>
                </a:tc>
                <a:tc>
                  <a:txBody>
                    <a:bodyPr/>
                    <a:lstStyle/>
                    <a:p>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7"/>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dirty="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・製品を用いた</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・クラウドサービス提供の</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を適用</a:t>
                      </a:r>
                      <a:endParaRPr kumimoji="1" lang="ja-JP" altLang="en-US" sz="1600" dirty="0"/>
                    </a:p>
                  </a:txBody>
                  <a:tcPr>
                    <a:solidFill>
                      <a:schemeClr val="bg1">
                        <a:lumMod val="75000"/>
                      </a:schemeClr>
                    </a:solidFill>
                  </a:tcPr>
                </a:tc>
                <a:tc>
                  <a:txBody>
                    <a:bodyPr/>
                    <a:lstStyle/>
                    <a:p>
                      <a:r>
                        <a:rPr kumimoji="1" lang="ja-JP" altLang="en-US" sz="1000" kern="1200" dirty="0">
                          <a:latin typeface="メイリオ" panose="020B0604030504040204" pitchFamily="50" charset="-128"/>
                          <a:ea typeface="メイリオ" panose="020B0604030504040204" pitchFamily="50" charset="-128"/>
                        </a:rPr>
                        <a:t>・サーバ側</a:t>
                      </a:r>
                      <a:r>
                        <a:rPr kumimoji="1" lang="en-US" altLang="ja-JP" sz="1000" kern="1200" dirty="0">
                          <a:latin typeface="メイリオ" panose="020B0604030504040204" pitchFamily="50" charset="-128"/>
                          <a:ea typeface="メイリオ" panose="020B0604030504040204" pitchFamily="50" charset="-128"/>
                        </a:rPr>
                        <a:t>IDS/IPS</a:t>
                      </a:r>
                      <a:r>
                        <a:rPr kumimoji="1" lang="ja-JP" altLang="en-US" sz="1000" kern="1200" dirty="0">
                          <a:latin typeface="メイリオ" panose="020B0604030504040204" pitchFamily="50" charset="-128"/>
                          <a:ea typeface="メイリオ" panose="020B0604030504040204" pitchFamily="50" charset="-128"/>
                        </a:rPr>
                        <a:t>は「</a:t>
                      </a:r>
                      <a:r>
                        <a:rPr kumimoji="1" lang="en-US" altLang="ja-JP" sz="1000" kern="1200" dirty="0" err="1">
                          <a:latin typeface="メイリオ" panose="020B0604030504040204" pitchFamily="50" charset="-128"/>
                          <a:ea typeface="メイリオ" panose="020B0604030504040204" pitchFamily="50" charset="-128"/>
                        </a:rPr>
                        <a:t>ServerProtect</a:t>
                      </a:r>
                      <a:r>
                        <a:rPr kumimoji="1" lang="en-US" altLang="ja-JP" sz="1000" kern="1200" dirty="0">
                          <a:latin typeface="メイリオ" panose="020B0604030504040204" pitchFamily="50" charset="-128"/>
                          <a:ea typeface="メイリオ" panose="020B0604030504040204" pitchFamily="50" charset="-128"/>
                        </a:rPr>
                        <a:t>™ for Linux</a:t>
                      </a:r>
                      <a:r>
                        <a:rPr kumimoji="1" lang="ja-JP" altLang="en-US" sz="1000" kern="1200" dirty="0">
                          <a:latin typeface="メイリオ" panose="020B0604030504040204" pitchFamily="50" charset="-128"/>
                          <a:ea typeface="メイリオ" panose="020B0604030504040204" pitchFamily="50" charset="-128"/>
                        </a:rPr>
                        <a:t>」、「</a:t>
                      </a:r>
                      <a:r>
                        <a:rPr kumimoji="1" lang="en-US" altLang="ja-JP" sz="1000" kern="1200" dirty="0">
                          <a:latin typeface="メイリオ" panose="020B0604030504040204" pitchFamily="50" charset="-128"/>
                          <a:ea typeface="メイリオ" panose="020B0604030504040204" pitchFamily="50" charset="-128"/>
                        </a:rPr>
                        <a:t>Trend Micro Deep Security</a:t>
                      </a:r>
                      <a:r>
                        <a:rPr kumimoji="1" lang="ja-JP" altLang="en-US" sz="1000" kern="1200" dirty="0">
                          <a:latin typeface="メイリオ" panose="020B0604030504040204" pitchFamily="50" charset="-128"/>
                          <a:ea typeface="メイリオ" panose="020B0604030504040204" pitchFamily="50" charset="-128"/>
                        </a:rPr>
                        <a:t>」を想定</a:t>
                      </a:r>
                      <a:endParaRPr kumimoji="1" lang="ja-JP" altLang="en-US" sz="1600" dirty="0"/>
                    </a:p>
                  </a:txBody>
                  <a:tcPr>
                    <a:solidFill>
                      <a:schemeClr val="bg1">
                        <a:lumMod val="75000"/>
                      </a:schemeClr>
                    </a:solidFill>
                  </a:tcPr>
                </a:tc>
                <a:extLst>
                  <a:ext uri="{0D108BD9-81ED-4DB2-BD59-A6C34878D82A}">
                    <a16:rowId xmlns:a16="http://schemas.microsoft.com/office/drawing/2014/main" val="10008"/>
                  </a:ext>
                </a:extLst>
              </a:tr>
              <a:tr h="0">
                <a:tc rowSpan="5">
                  <a:txBody>
                    <a:bodyPr/>
                    <a:lstStyle/>
                    <a:p>
                      <a:r>
                        <a:rPr kumimoji="1" lang="ja-JP" altLang="en-US" sz="1000" dirty="0">
                          <a:latin typeface="メイリオ" panose="020B0604030504040204" pitchFamily="50" charset="-128"/>
                          <a:ea typeface="メイリオ" panose="020B0604030504040204" pitchFamily="50" charset="-128"/>
                        </a:rPr>
                        <a:t>ハードウェア</a:t>
                      </a:r>
                      <a:br>
                        <a:rPr kumimoji="1" lang="en-US" altLang="ja-JP" sz="1000" dirty="0">
                          <a:latin typeface="メイリオ" panose="020B0604030504040204" pitchFamily="50" charset="-128"/>
                          <a:ea typeface="メイリオ" panose="020B0604030504040204" pitchFamily="50" charset="-128"/>
                        </a:rPr>
                      </a:br>
                      <a:r>
                        <a:rPr kumimoji="1" lang="ja-JP" altLang="en-US" sz="1000" dirty="0">
                          <a:latin typeface="メイリオ" panose="020B0604030504040204" pitchFamily="50" charset="-128"/>
                          <a:ea typeface="メイリオ" panose="020B0604030504040204" pitchFamily="50" charset="-128"/>
                        </a:rPr>
                        <a:t>拡張</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ハードウェアの拡張要件は以下のとおり。</a:t>
                      </a:r>
                      <a:endParaRPr kumimoji="1" lang="en-US" altLang="ja-JP" sz="10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38351949"/>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スケールアウト構成</a:t>
                      </a:r>
                      <a:endParaRPr kumimoji="1" lang="en-US" altLang="ja-JP"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[内容]（標準対応）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・LBサーバ1台、WEB・DBサーバ1台の構成とし、自動的なスケールアウトは行わない。</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・WEBサーバの複数台化、DBサーバの分離はオプション（有償）のインフラ拡張で対応する。</a:t>
                      </a:r>
                      <a:endParaRPr kumimoji="1" lang="en-US" altLang="ja-JP" sz="1000" dirty="0">
                        <a:latin typeface="メイリオ" panose="020B0604030504040204" pitchFamily="50" charset="-128"/>
                        <a:ea typeface="メイリオ" panose="020B0604030504040204" pitchFamily="50" charset="-128"/>
                      </a:endParaRPr>
                    </a:p>
                  </a:txBody>
                  <a:tcPr/>
                </a:tc>
                <a:tc rowSpan="4">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初期構成は8.（3/3）に記載のとおりです。</a:t>
                      </a:r>
                      <a:endParaRPr kumimoji="1" lang="en-US" altLang="ja-JP" sz="1000"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構成変更はオプション（有償）対応です。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07044150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スケールアップの可能性</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・クラウドサーバのプラン変更によって対応する。</a:t>
                      </a:r>
                    </a:p>
                  </a:txBody>
                  <a:tcPr/>
                </a:tc>
                <a:tc vMerge="1">
                  <a:txBody>
                    <a:bodyPr/>
                    <a:lstStyle/>
                    <a:p>
                      <a:r>
                        <a:rPr kumimoji="1" lang="en-US" altLang="ja-JP" sz="1000" dirty="0">
                          <a:latin typeface="メイリオ" panose="020B0604030504040204" pitchFamily="50" charset="-128"/>
                          <a:ea typeface="メイリオ" panose="020B0604030504040204" pitchFamily="50" charset="-128"/>
                        </a:rPr>
                        <a:t>自動スケールではなく、停止を伴う手動の構成変更となります。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6771415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動的なリソース拡張</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・クラウドサーバのプラン変更によって対応する。</a:t>
                      </a:r>
                    </a:p>
                  </a:txBody>
                  <a:tcPr/>
                </a:tc>
                <a:tc vMerge="1">
                  <a:txBody>
                    <a:bodyPr/>
                    <a:lstStyle/>
                    <a:p>
                      <a:r>
                        <a:rPr kumimoji="1" lang="en-US" altLang="ja-JP" sz="1000" dirty="0">
                          <a:latin typeface="メイリオ" panose="020B0604030504040204" pitchFamily="50" charset="-128"/>
                          <a:ea typeface="メイリオ" panose="020B0604030504040204" pitchFamily="50" charset="-128"/>
                        </a:rPr>
                        <a:t>自動スケールではなく、停止を伴う手動の構成変更となります。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682979115"/>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動的なリソース再編成</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・クラウドサーバのプラン変更によって対応する。</a:t>
                      </a:r>
                    </a:p>
                  </a:txBody>
                  <a:tcPr/>
                </a:tc>
                <a:tc vMerge="1">
                  <a:txBody>
                    <a:bodyPr/>
                    <a:lstStyle/>
                    <a:p>
                      <a:r>
                        <a:rPr kumimoji="1" lang="en-US" altLang="ja-JP" sz="1000" dirty="0">
                          <a:latin typeface="メイリオ" panose="020B0604030504040204" pitchFamily="50" charset="-128"/>
                          <a:ea typeface="メイリオ" panose="020B0604030504040204" pitchFamily="50" charset="-128"/>
                        </a:rPr>
                        <a:t>自動スケールではなく、停止を伴う手動の構成変更となります。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6130357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8200900" cy="533400"/>
          </a:xfrm>
          <a:prstGeom prst="rect">
            <a:avLst/>
          </a:prstGeom>
          <a:noFill/>
          <a:ln>
            <a:miter lim="800000"/>
            <a:headEnd/>
            <a:tailEnd/>
          </a:ln>
        </p:spPr>
        <p:txBody>
          <a:bodyPr>
            <a:normAutofit/>
          </a:bodyPr>
          <a:lstStyle/>
          <a:p>
            <a:pPr algn="l" eaLnBrk="1" hangingPunct="1">
              <a:lnSpc>
                <a:spcPct val="75000"/>
              </a:lnSpc>
            </a:pPr>
            <a:r>
              <a:rPr lang="en-US" altLang="ja-JP" sz="2800" dirty="0">
                <a:latin typeface="メイリオ" panose="020B0604030504040204" pitchFamily="50" charset="-128"/>
                <a:ea typeface="メイリオ" panose="020B0604030504040204" pitchFamily="50" charset="-128"/>
              </a:rPr>
              <a:t>5.対応内容説明 - 監視（システム構成）</a:t>
            </a:r>
          </a:p>
        </p:txBody>
      </p:sp>
      <p:sp>
        <p:nvSpPr>
          <p:cNvPr id="4" name="テキスト ボックス 3"/>
          <p:cNvSpPr txBox="1"/>
          <p:nvPr/>
        </p:nvSpPr>
        <p:spPr>
          <a:xfrm>
            <a:off x="428596" y="785795"/>
            <a:ext cx="8463884" cy="738664"/>
          </a:xfrm>
          <a:prstGeom prst="rect">
            <a:avLst/>
          </a:prstGeom>
          <a:noFill/>
        </p:spPr>
        <p:txBody>
          <a:bodyPr wrap="square" rtlCol="0">
            <a:spAutoFit/>
          </a:bodyPr>
          <a:lstStyle/>
          <a:p>
            <a:r>
              <a:rPr lang="ja-JP" altLang="en-US" sz="1400" dirty="0">
                <a:latin typeface="メイリオ"/>
                <a:ea typeface="メイリオ"/>
                <a:cs typeface="メイリオ"/>
              </a:rPr>
              <a:t>監視は、以下の２パターンをご用意しています。標準で①、オプションで②の監視体制を提供します。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異常値を検出した場合、異常内容を解析の上、手順に従った対処を行います。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①当社共用の監視サーバにて監視</a:t>
            </a:r>
          </a:p>
        </p:txBody>
      </p:sp>
      <p:pic>
        <p:nvPicPr>
          <p:cNvPr id="5" name="図 4" descr="ericlemerdy-Server-1-800px.png"/>
          <p:cNvPicPr>
            <a:picLocks noChangeAspect="1"/>
          </p:cNvPicPr>
          <p:nvPr/>
        </p:nvPicPr>
        <p:blipFill>
          <a:blip r:embed="rId2" cstate="print"/>
          <a:stretch>
            <a:fillRect/>
          </a:stretch>
        </p:blipFill>
        <p:spPr>
          <a:xfrm>
            <a:off x="1043608" y="1628800"/>
            <a:ext cx="422253" cy="650872"/>
          </a:xfrm>
          <a:prstGeom prst="rect">
            <a:avLst/>
          </a:prstGeom>
        </p:spPr>
      </p:pic>
      <p:pic>
        <p:nvPicPr>
          <p:cNvPr id="6" name="図 5" descr="ericlemerdy-Server-1-800px.png"/>
          <p:cNvPicPr>
            <a:picLocks noChangeAspect="1"/>
          </p:cNvPicPr>
          <p:nvPr/>
        </p:nvPicPr>
        <p:blipFill>
          <a:blip r:embed="rId2" cstate="print"/>
          <a:stretch>
            <a:fillRect/>
          </a:stretch>
        </p:blipFill>
        <p:spPr>
          <a:xfrm>
            <a:off x="1845491" y="1628800"/>
            <a:ext cx="422253" cy="650872"/>
          </a:xfrm>
          <a:prstGeom prst="rect">
            <a:avLst/>
          </a:prstGeom>
        </p:spPr>
      </p:pic>
      <p:sp>
        <p:nvSpPr>
          <p:cNvPr id="7" name="正方形/長方形 6"/>
          <p:cNvSpPr/>
          <p:nvPr/>
        </p:nvSpPr>
        <p:spPr>
          <a:xfrm>
            <a:off x="683568" y="1484784"/>
            <a:ext cx="1872208"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755576" y="2276872"/>
            <a:ext cx="1665841" cy="253916"/>
          </a:xfrm>
          <a:prstGeom prst="rect">
            <a:avLst/>
          </a:prstGeom>
          <a:noFill/>
        </p:spPr>
        <p:txBody>
          <a:bodyPr wrap="none" rtlCol="0">
            <a:spAutoFit/>
          </a:bodyPr>
          <a:lstStyle/>
          <a:p>
            <a:r>
              <a:rPr kumimoji="1" lang="ja-JP" altLang="en-US" sz="1050" dirty="0"/>
              <a:t>当社監視サーバクラスタ</a:t>
            </a:r>
          </a:p>
        </p:txBody>
      </p:sp>
      <p:sp>
        <p:nvSpPr>
          <p:cNvPr id="9" name="正方形/長方形 8"/>
          <p:cNvSpPr/>
          <p:nvPr/>
        </p:nvSpPr>
        <p:spPr>
          <a:xfrm>
            <a:off x="4499992" y="1484784"/>
            <a:ext cx="3600400"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descr="ericlemerdy-Server-1-800px.png"/>
          <p:cNvPicPr>
            <a:picLocks noChangeAspect="1"/>
          </p:cNvPicPr>
          <p:nvPr/>
        </p:nvPicPr>
        <p:blipFill>
          <a:blip r:embed="rId2" cstate="print"/>
          <a:stretch>
            <a:fillRect/>
          </a:stretch>
        </p:blipFill>
        <p:spPr>
          <a:xfrm>
            <a:off x="5940152" y="1628800"/>
            <a:ext cx="422253" cy="650872"/>
          </a:xfrm>
          <a:prstGeom prst="rect">
            <a:avLst/>
          </a:prstGeom>
        </p:spPr>
      </p:pic>
      <p:pic>
        <p:nvPicPr>
          <p:cNvPr id="11" name="図 10" descr="ericlemerdy-Server-1-800px.png"/>
          <p:cNvPicPr>
            <a:picLocks noChangeAspect="1"/>
          </p:cNvPicPr>
          <p:nvPr/>
        </p:nvPicPr>
        <p:blipFill>
          <a:blip r:embed="rId2" cstate="print"/>
          <a:stretch>
            <a:fillRect/>
          </a:stretch>
        </p:blipFill>
        <p:spPr>
          <a:xfrm>
            <a:off x="6588224" y="1628800"/>
            <a:ext cx="422253" cy="650872"/>
          </a:xfrm>
          <a:prstGeom prst="rect">
            <a:avLst/>
          </a:prstGeom>
        </p:spPr>
      </p:pic>
      <p:pic>
        <p:nvPicPr>
          <p:cNvPr id="12" name="図 11" descr="ericlemerdy-Server-1-800px.png"/>
          <p:cNvPicPr>
            <a:picLocks noChangeAspect="1"/>
          </p:cNvPicPr>
          <p:nvPr/>
        </p:nvPicPr>
        <p:blipFill>
          <a:blip r:embed="rId2" cstate="print"/>
          <a:stretch>
            <a:fillRect/>
          </a:stretch>
        </p:blipFill>
        <p:spPr>
          <a:xfrm>
            <a:off x="7236296" y="1628800"/>
            <a:ext cx="422253" cy="650872"/>
          </a:xfrm>
          <a:prstGeom prst="rect">
            <a:avLst/>
          </a:prstGeom>
        </p:spPr>
      </p:pic>
      <p:sp>
        <p:nvSpPr>
          <p:cNvPr id="13" name="テキスト ボックス 12"/>
          <p:cNvSpPr txBox="1"/>
          <p:nvPr/>
        </p:nvSpPr>
        <p:spPr>
          <a:xfrm>
            <a:off x="4572000" y="2276872"/>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cxnSp>
        <p:nvCxnSpPr>
          <p:cNvPr id="16" name="直線矢印コネクタ 15"/>
          <p:cNvCxnSpPr>
            <a:stCxn id="14" idx="1"/>
            <a:endCxn id="7" idx="3"/>
          </p:cNvCxnSpPr>
          <p:nvPr/>
        </p:nvCxnSpPr>
        <p:spPr>
          <a:xfrm flipH="1">
            <a:off x="2555776" y="2024844"/>
            <a:ext cx="43204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14" name="図 13" descr="Internet-800px.png"/>
          <p:cNvPicPr>
            <a:picLocks noChangeAspect="1"/>
          </p:cNvPicPr>
          <p:nvPr/>
        </p:nvPicPr>
        <p:blipFill>
          <a:blip r:embed="rId3" cstate="print"/>
          <a:stretch>
            <a:fillRect/>
          </a:stretch>
        </p:blipFill>
        <p:spPr>
          <a:xfrm>
            <a:off x="2987824" y="1628800"/>
            <a:ext cx="1168993" cy="792088"/>
          </a:xfrm>
          <a:prstGeom prst="rect">
            <a:avLst/>
          </a:prstGeom>
        </p:spPr>
      </p:pic>
      <p:cxnSp>
        <p:nvCxnSpPr>
          <p:cNvPr id="18" name="直線矢印コネクタ 17"/>
          <p:cNvCxnSpPr>
            <a:stCxn id="9" idx="1"/>
            <a:endCxn id="14" idx="3"/>
          </p:cNvCxnSpPr>
          <p:nvPr/>
        </p:nvCxnSpPr>
        <p:spPr>
          <a:xfrm flipH="1">
            <a:off x="4156817" y="2024844"/>
            <a:ext cx="34317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3131840" y="2420888"/>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25" name="円/楕円 24"/>
          <p:cNvSpPr/>
          <p:nvPr/>
        </p:nvSpPr>
        <p:spPr>
          <a:xfrm>
            <a:off x="5724128"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6" name="円/楕円 25"/>
          <p:cNvSpPr/>
          <p:nvPr/>
        </p:nvSpPr>
        <p:spPr>
          <a:xfrm>
            <a:off x="6372200"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7" name="円/楕円 26"/>
          <p:cNvSpPr/>
          <p:nvPr/>
        </p:nvSpPr>
        <p:spPr>
          <a:xfrm>
            <a:off x="7020272"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8" name="テキスト ボックス 27"/>
          <p:cNvSpPr txBox="1"/>
          <p:nvPr/>
        </p:nvSpPr>
        <p:spPr>
          <a:xfrm>
            <a:off x="2267744" y="2636912"/>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29" name="テキスト ボックス 28"/>
          <p:cNvSpPr txBox="1"/>
          <p:nvPr/>
        </p:nvSpPr>
        <p:spPr>
          <a:xfrm>
            <a:off x="4716016" y="2636912"/>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en-US" altLang="ja-JP" sz="1100" dirty="0">
                <a:latin typeface="メイリオ"/>
                <a:ea typeface="メイリオ"/>
                <a:cs typeface="メイリオ"/>
              </a:rPr>
              <a:t>EC</a:t>
            </a:r>
            <a:r>
              <a:rPr lang="ja-JP" altLang="en-US" sz="1100" dirty="0">
                <a:latin typeface="メイリオ"/>
                <a:ea typeface="メイリオ"/>
                <a:cs typeface="メイリオ"/>
              </a:rPr>
              <a:t>システムからインターネットに</a:t>
            </a:r>
            <a:r>
              <a:rPr lang="en-US" altLang="ja-JP" sz="1100" dirty="0">
                <a:latin typeface="メイリオ"/>
                <a:ea typeface="メイリオ"/>
                <a:cs typeface="メイリオ"/>
              </a:rPr>
              <a:t>SNMP</a:t>
            </a:r>
            <a:r>
              <a:rPr lang="ja-JP" altLang="en-US" sz="1100" dirty="0">
                <a:latin typeface="メイリオ"/>
                <a:ea typeface="メイリオ"/>
                <a:cs typeface="メイリオ"/>
              </a:rPr>
              <a:t>および</a:t>
            </a:r>
            <a:r>
              <a:rPr lang="en-US" altLang="ja-JP" sz="1100" dirty="0">
                <a:latin typeface="メイリオ"/>
                <a:ea typeface="メイリオ"/>
                <a:cs typeface="メイリオ"/>
              </a:rPr>
              <a:t>SNMP</a:t>
            </a:r>
            <a:r>
              <a:rPr lang="ja-JP" altLang="en-US" sz="1100" dirty="0">
                <a:latin typeface="メイリオ"/>
                <a:ea typeface="メイリオ"/>
                <a:cs typeface="メイリオ"/>
              </a:rPr>
              <a:t>トラップポート（デフォルトでは、</a:t>
            </a:r>
            <a:r>
              <a:rPr lang="en-US" altLang="ja-JP" sz="1100" dirty="0">
                <a:latin typeface="メイリオ"/>
                <a:ea typeface="メイリオ"/>
                <a:cs typeface="メイリオ"/>
              </a:rPr>
              <a:t>161,162)</a:t>
            </a:r>
            <a:r>
              <a:rPr lang="ja-JP" altLang="en-US" sz="1100" dirty="0">
                <a:latin typeface="メイリオ"/>
                <a:ea typeface="メイリオ"/>
                <a:cs typeface="メイリオ"/>
              </a:rPr>
              <a:t>を開ける必要があります。</a:t>
            </a:r>
            <a:endParaRPr lang="en-US" altLang="ja-JP" sz="1100" dirty="0">
              <a:latin typeface="メイリオ"/>
              <a:ea typeface="メイリオ"/>
              <a:cs typeface="メイリオ"/>
            </a:endParaRPr>
          </a:p>
          <a:p>
            <a:r>
              <a:rPr lang="ja-JP" altLang="en-US" sz="1100" dirty="0">
                <a:latin typeface="メイリオ"/>
                <a:ea typeface="メイリオ"/>
                <a:cs typeface="メイリオ"/>
              </a:rPr>
              <a:t>その際に、接続許可はホワイトリストで指定します。</a:t>
            </a:r>
            <a:endParaRPr lang="en-US" altLang="ja-JP" sz="1100" dirty="0">
              <a:latin typeface="メイリオ"/>
              <a:ea typeface="メイリオ"/>
              <a:cs typeface="メイリオ"/>
            </a:endParaRPr>
          </a:p>
        </p:txBody>
      </p:sp>
      <p:sp>
        <p:nvSpPr>
          <p:cNvPr id="30" name="円/楕円 29"/>
          <p:cNvSpPr/>
          <p:nvPr/>
        </p:nvSpPr>
        <p:spPr>
          <a:xfrm>
            <a:off x="683568"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sp>
        <p:nvSpPr>
          <p:cNvPr id="31" name="円/楕円 30"/>
          <p:cNvSpPr/>
          <p:nvPr/>
        </p:nvSpPr>
        <p:spPr>
          <a:xfrm>
            <a:off x="1485451"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32" name="図 31" descr="simplePc-800px.png"/>
          <p:cNvPicPr>
            <a:picLocks noChangeAspect="1"/>
          </p:cNvPicPr>
          <p:nvPr/>
        </p:nvPicPr>
        <p:blipFill>
          <a:blip r:embed="rId4" cstate="print"/>
          <a:stretch>
            <a:fillRect/>
          </a:stretch>
        </p:blipFill>
        <p:spPr>
          <a:xfrm>
            <a:off x="1248746" y="2802416"/>
            <a:ext cx="744269" cy="914616"/>
          </a:xfrm>
          <a:prstGeom prst="rect">
            <a:avLst/>
          </a:prstGeom>
        </p:spPr>
      </p:pic>
      <p:cxnSp>
        <p:nvCxnSpPr>
          <p:cNvPr id="33" name="直線矢印コネクタ 32"/>
          <p:cNvCxnSpPr>
            <a:stCxn id="7" idx="2"/>
            <a:endCxn id="32" idx="0"/>
          </p:cNvCxnSpPr>
          <p:nvPr/>
        </p:nvCxnSpPr>
        <p:spPr>
          <a:xfrm>
            <a:off x="1619672" y="2564904"/>
            <a:ext cx="1209" cy="2375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p:cNvSpPr txBox="1"/>
          <p:nvPr/>
        </p:nvSpPr>
        <p:spPr>
          <a:xfrm>
            <a:off x="1068504" y="3645024"/>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sp>
        <p:nvSpPr>
          <p:cNvPr id="38" name="テキスト ボックス 37"/>
          <p:cNvSpPr txBox="1"/>
          <p:nvPr/>
        </p:nvSpPr>
        <p:spPr>
          <a:xfrm>
            <a:off x="428596" y="3933056"/>
            <a:ext cx="8463884" cy="307777"/>
          </a:xfrm>
          <a:prstGeom prst="rect">
            <a:avLst/>
          </a:prstGeom>
          <a:noFill/>
        </p:spPr>
        <p:txBody>
          <a:bodyPr wrap="square" rtlCol="0">
            <a:spAutoFit/>
          </a:bodyPr>
          <a:lstStyle/>
          <a:p>
            <a:r>
              <a:rPr lang="ja-JP" altLang="en-US" sz="1400" dirty="0">
                <a:latin typeface="メイリオ"/>
                <a:ea typeface="メイリオ"/>
                <a:cs typeface="メイリオ"/>
              </a:rPr>
              <a:t>②</a:t>
            </a:r>
            <a:r>
              <a:rPr lang="en-US" altLang="ja-JP" sz="1400" dirty="0">
                <a:latin typeface="メイリオ"/>
                <a:ea typeface="メイリオ"/>
                <a:cs typeface="メイリオ"/>
              </a:rPr>
              <a:t>EC</a:t>
            </a:r>
            <a:r>
              <a:rPr lang="ja-JP" altLang="en-US" sz="1400" dirty="0">
                <a:latin typeface="メイリオ"/>
                <a:ea typeface="メイリオ"/>
                <a:cs typeface="メイリオ"/>
              </a:rPr>
              <a:t>システム内に専用の監視サーバにて監視</a:t>
            </a:r>
          </a:p>
        </p:txBody>
      </p:sp>
      <p:sp>
        <p:nvSpPr>
          <p:cNvPr id="43" name="正方形/長方形 42"/>
          <p:cNvSpPr/>
          <p:nvPr/>
        </p:nvSpPr>
        <p:spPr>
          <a:xfrm>
            <a:off x="4499992" y="4005064"/>
            <a:ext cx="3600400" cy="136815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4" name="図 43" descr="ericlemerdy-Server-1-800px.png"/>
          <p:cNvPicPr>
            <a:picLocks noChangeAspect="1"/>
          </p:cNvPicPr>
          <p:nvPr/>
        </p:nvPicPr>
        <p:blipFill>
          <a:blip r:embed="rId2" cstate="print"/>
          <a:stretch>
            <a:fillRect/>
          </a:stretch>
        </p:blipFill>
        <p:spPr>
          <a:xfrm>
            <a:off x="5940152" y="4437112"/>
            <a:ext cx="422253" cy="650872"/>
          </a:xfrm>
          <a:prstGeom prst="rect">
            <a:avLst/>
          </a:prstGeom>
        </p:spPr>
      </p:pic>
      <p:pic>
        <p:nvPicPr>
          <p:cNvPr id="45" name="図 44" descr="ericlemerdy-Server-1-800px.png"/>
          <p:cNvPicPr>
            <a:picLocks noChangeAspect="1"/>
          </p:cNvPicPr>
          <p:nvPr/>
        </p:nvPicPr>
        <p:blipFill>
          <a:blip r:embed="rId2" cstate="print"/>
          <a:stretch>
            <a:fillRect/>
          </a:stretch>
        </p:blipFill>
        <p:spPr>
          <a:xfrm>
            <a:off x="6588224" y="4437112"/>
            <a:ext cx="422253" cy="650872"/>
          </a:xfrm>
          <a:prstGeom prst="rect">
            <a:avLst/>
          </a:prstGeom>
        </p:spPr>
      </p:pic>
      <p:pic>
        <p:nvPicPr>
          <p:cNvPr id="46" name="図 45" descr="ericlemerdy-Server-1-800px.png"/>
          <p:cNvPicPr>
            <a:picLocks noChangeAspect="1"/>
          </p:cNvPicPr>
          <p:nvPr/>
        </p:nvPicPr>
        <p:blipFill>
          <a:blip r:embed="rId2" cstate="print"/>
          <a:stretch>
            <a:fillRect/>
          </a:stretch>
        </p:blipFill>
        <p:spPr>
          <a:xfrm>
            <a:off x="7236296" y="4437112"/>
            <a:ext cx="422253" cy="650872"/>
          </a:xfrm>
          <a:prstGeom prst="rect">
            <a:avLst/>
          </a:prstGeom>
        </p:spPr>
      </p:pic>
      <p:sp>
        <p:nvSpPr>
          <p:cNvPr id="47" name="テキスト ボックス 46"/>
          <p:cNvSpPr txBox="1"/>
          <p:nvPr/>
        </p:nvSpPr>
        <p:spPr>
          <a:xfrm>
            <a:off x="4572000" y="5085184"/>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sp>
        <p:nvSpPr>
          <p:cNvPr id="51" name="テキスト ボックス 50"/>
          <p:cNvSpPr txBox="1"/>
          <p:nvPr/>
        </p:nvSpPr>
        <p:spPr>
          <a:xfrm>
            <a:off x="3131840" y="5229200"/>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52" name="円/楕円 51"/>
          <p:cNvSpPr/>
          <p:nvPr/>
        </p:nvSpPr>
        <p:spPr>
          <a:xfrm>
            <a:off x="5724128"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3" name="円/楕円 52"/>
          <p:cNvSpPr/>
          <p:nvPr/>
        </p:nvSpPr>
        <p:spPr>
          <a:xfrm>
            <a:off x="6372200"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4" name="円/楕円 53"/>
          <p:cNvSpPr/>
          <p:nvPr/>
        </p:nvSpPr>
        <p:spPr>
          <a:xfrm>
            <a:off x="7020272"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5" name="テキスト ボックス 54"/>
          <p:cNvSpPr txBox="1"/>
          <p:nvPr/>
        </p:nvSpPr>
        <p:spPr>
          <a:xfrm>
            <a:off x="899592" y="5445224"/>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56" name="テキスト ボックス 55"/>
          <p:cNvSpPr txBox="1"/>
          <p:nvPr/>
        </p:nvSpPr>
        <p:spPr>
          <a:xfrm>
            <a:off x="4716016" y="5445224"/>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ja-JP" altLang="en-US" sz="1100" dirty="0">
                <a:latin typeface="メイリオ"/>
                <a:ea typeface="メイリオ"/>
                <a:cs typeface="メイリオ"/>
              </a:rPr>
              <a:t>監視サーバは、シングルとします。</a:t>
            </a:r>
            <a:br>
              <a:rPr lang="en-US" altLang="ja-JP" sz="1100" dirty="0">
                <a:latin typeface="メイリオ"/>
                <a:ea typeface="メイリオ"/>
                <a:cs typeface="メイリオ"/>
              </a:rPr>
            </a:br>
            <a:r>
              <a:rPr lang="ja-JP" altLang="en-US" sz="1100" dirty="0">
                <a:latin typeface="メイリオ"/>
                <a:ea typeface="メイリオ"/>
                <a:cs typeface="メイリオ"/>
              </a:rPr>
              <a:t>物理故障時は、自動的にフェールオーバーを行わないので、手動でのリカバリーが必要となります。</a:t>
            </a:r>
            <a:endParaRPr lang="en-US" altLang="ja-JP" sz="1100" dirty="0">
              <a:latin typeface="メイリオ"/>
              <a:ea typeface="メイリオ"/>
              <a:cs typeface="メイリオ"/>
            </a:endParaRPr>
          </a:p>
        </p:txBody>
      </p:sp>
      <p:pic>
        <p:nvPicPr>
          <p:cNvPr id="59" name="図 58" descr="simplePc-800px.png"/>
          <p:cNvPicPr>
            <a:picLocks noChangeAspect="1"/>
          </p:cNvPicPr>
          <p:nvPr/>
        </p:nvPicPr>
        <p:blipFill>
          <a:blip r:embed="rId4" cstate="print"/>
          <a:stretch>
            <a:fillRect/>
          </a:stretch>
        </p:blipFill>
        <p:spPr>
          <a:xfrm>
            <a:off x="1248746" y="4375990"/>
            <a:ext cx="744269" cy="914616"/>
          </a:xfrm>
          <a:prstGeom prst="rect">
            <a:avLst/>
          </a:prstGeom>
        </p:spPr>
      </p:pic>
      <p:cxnSp>
        <p:nvCxnSpPr>
          <p:cNvPr id="60" name="直線矢印コネクタ 59"/>
          <p:cNvCxnSpPr>
            <a:stCxn id="68" idx="1"/>
            <a:endCxn id="59" idx="3"/>
          </p:cNvCxnSpPr>
          <p:nvPr/>
        </p:nvCxnSpPr>
        <p:spPr>
          <a:xfrm flipH="1">
            <a:off x="1993015" y="4833156"/>
            <a:ext cx="994809" cy="14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068504" y="5218598"/>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pic>
        <p:nvPicPr>
          <p:cNvPr id="62" name="図 61" descr="ericlemerdy-Server-1-800px.png"/>
          <p:cNvPicPr>
            <a:picLocks noChangeAspect="1"/>
          </p:cNvPicPr>
          <p:nvPr/>
        </p:nvPicPr>
        <p:blipFill>
          <a:blip r:embed="rId2" cstate="print"/>
          <a:stretch>
            <a:fillRect/>
          </a:stretch>
        </p:blipFill>
        <p:spPr>
          <a:xfrm>
            <a:off x="5076056" y="4437112"/>
            <a:ext cx="422253" cy="650872"/>
          </a:xfrm>
          <a:prstGeom prst="rect">
            <a:avLst/>
          </a:prstGeom>
        </p:spPr>
      </p:pic>
      <p:sp>
        <p:nvSpPr>
          <p:cNvPr id="63" name="円/楕円 62"/>
          <p:cNvSpPr/>
          <p:nvPr/>
        </p:nvSpPr>
        <p:spPr>
          <a:xfrm>
            <a:off x="4716016" y="4365104"/>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68" name="図 67" descr="Internet-800px.png"/>
          <p:cNvPicPr>
            <a:picLocks noChangeAspect="1"/>
          </p:cNvPicPr>
          <p:nvPr/>
        </p:nvPicPr>
        <p:blipFill>
          <a:blip r:embed="rId3" cstate="print"/>
          <a:stretch>
            <a:fillRect/>
          </a:stretch>
        </p:blipFill>
        <p:spPr>
          <a:xfrm>
            <a:off x="2987824" y="4437112"/>
            <a:ext cx="1168993" cy="792088"/>
          </a:xfrm>
          <a:prstGeom prst="rect">
            <a:avLst/>
          </a:prstGeom>
        </p:spPr>
      </p:pic>
      <p:cxnSp>
        <p:nvCxnSpPr>
          <p:cNvPr id="70" name="直線矢印コネクタ 69"/>
          <p:cNvCxnSpPr>
            <a:stCxn id="63" idx="2"/>
            <a:endCxn id="68" idx="3"/>
          </p:cNvCxnSpPr>
          <p:nvPr/>
        </p:nvCxnSpPr>
        <p:spPr>
          <a:xfrm rot="10800000" flipV="1">
            <a:off x="4156818" y="4581128"/>
            <a:ext cx="559199" cy="252028"/>
          </a:xfrm>
          <a:prstGeom prst="bentConnector3">
            <a:avLst>
              <a:gd name="adj1" fmla="val 50000"/>
            </a:avLst>
          </a:prstGeom>
          <a:ln w="38100">
            <a:tailEnd type="none"/>
          </a:ln>
        </p:spPr>
        <p:style>
          <a:lnRef idx="1">
            <a:schemeClr val="accent1"/>
          </a:lnRef>
          <a:fillRef idx="0">
            <a:schemeClr val="accent1"/>
          </a:fillRef>
          <a:effectRef idx="0">
            <a:schemeClr val="accent1"/>
          </a:effectRef>
          <a:fontRef idx="minor">
            <a:schemeClr val="tx1"/>
          </a:fontRef>
        </p:style>
      </p:cxnSp>
      <p:sp>
        <p:nvSpPr>
          <p:cNvPr id="78" name="正方形/長方形 77"/>
          <p:cNvSpPr/>
          <p:nvPr/>
        </p:nvSpPr>
        <p:spPr>
          <a:xfrm>
            <a:off x="4644008" y="4365104"/>
            <a:ext cx="1008112" cy="72008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ボックス 78"/>
          <p:cNvSpPr txBox="1"/>
          <p:nvPr/>
        </p:nvSpPr>
        <p:spPr>
          <a:xfrm>
            <a:off x="4650177" y="4077072"/>
            <a:ext cx="857927" cy="253916"/>
          </a:xfrm>
          <a:prstGeom prst="rect">
            <a:avLst/>
          </a:prstGeom>
          <a:noFill/>
        </p:spPr>
        <p:txBody>
          <a:bodyPr wrap="none" rtlCol="0">
            <a:spAutoFit/>
          </a:bodyPr>
          <a:lstStyle/>
          <a:p>
            <a:r>
              <a:rPr kumimoji="1" lang="ja-JP" altLang="en-US" sz="1050" dirty="0"/>
              <a:t>監視サーバ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6537325"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6.対応内容説明 - バックアップ</a:t>
            </a:r>
          </a:p>
        </p:txBody>
      </p:sp>
      <p:sp>
        <p:nvSpPr>
          <p:cNvPr id="4" name="テキスト ボックス 3"/>
          <p:cNvSpPr txBox="1"/>
          <p:nvPr/>
        </p:nvSpPr>
        <p:spPr>
          <a:xfrm>
            <a:off x="216649" y="764704"/>
            <a:ext cx="8463884" cy="307777"/>
          </a:xfrm>
          <a:prstGeom prst="rect">
            <a:avLst/>
          </a:prstGeom>
          <a:noFill/>
        </p:spPr>
        <p:txBody>
          <a:bodyPr wrap="square" rtlCol="0">
            <a:spAutoFit/>
          </a:bodyPr>
          <a:lstStyle/>
          <a:p>
            <a:r>
              <a:rPr lang="ja-JP" altLang="en-US" sz="1400" dirty="0">
                <a:latin typeface="メイリオ"/>
                <a:ea typeface="メイリオ"/>
                <a:cs typeface="メイリオ"/>
              </a:rPr>
              <a:t>バックアップは、以下とします。</a:t>
            </a:r>
          </a:p>
        </p:txBody>
      </p:sp>
      <p:graphicFrame>
        <p:nvGraphicFramePr>
          <p:cNvPr id="3" name="表 2">
            <a:extLst>
              <a:ext uri="{FF2B5EF4-FFF2-40B4-BE49-F238E27FC236}">
                <a16:creationId xmlns:a16="http://schemas.microsoft.com/office/drawing/2014/main" id="{C028B721-3E8D-7072-EB35-D096D776EB13}"/>
              </a:ext>
            </a:extLst>
          </p:cNvPr>
          <p:cNvGraphicFramePr>
            <a:graphicFrameLocks noGrp="1"/>
          </p:cNvGraphicFramePr>
          <p:nvPr>
            <p:extLst>
              <p:ext uri="{D42A27DB-BD31-4B8C-83A1-F6EECF244321}">
                <p14:modId xmlns:p14="http://schemas.microsoft.com/office/powerpoint/2010/main" val="2786280382"/>
              </p:ext>
            </p:extLst>
          </p:nvPr>
        </p:nvGraphicFramePr>
        <p:xfrm>
          <a:off x="327605" y="1178585"/>
          <a:ext cx="8647505" cy="2057400"/>
        </p:xfrm>
        <a:graphic>
          <a:graphicData uri="http://schemas.openxmlformats.org/drawingml/2006/table">
            <a:tbl>
              <a:tblPr firstRow="1" bandRow="1">
                <a:tableStyleId>{5C22544A-7EE6-4342-B048-85BDC9FD1C3A}</a:tableStyleId>
              </a:tblPr>
              <a:tblGrid>
                <a:gridCol w="1210525">
                  <a:extLst>
                    <a:ext uri="{9D8B030D-6E8A-4147-A177-3AD203B41FA5}">
                      <a16:colId xmlns:a16="http://schemas.microsoft.com/office/drawing/2014/main" val="20000"/>
                    </a:ext>
                  </a:extLst>
                </a:gridCol>
                <a:gridCol w="1696227">
                  <a:extLst>
                    <a:ext uri="{9D8B030D-6E8A-4147-A177-3AD203B41FA5}">
                      <a16:colId xmlns:a16="http://schemas.microsoft.com/office/drawing/2014/main" val="20001"/>
                    </a:ext>
                  </a:extLst>
                </a:gridCol>
                <a:gridCol w="1416709">
                  <a:extLst>
                    <a:ext uri="{9D8B030D-6E8A-4147-A177-3AD203B41FA5}">
                      <a16:colId xmlns:a16="http://schemas.microsoft.com/office/drawing/2014/main" val="20002"/>
                    </a:ext>
                  </a:extLst>
                </a:gridCol>
                <a:gridCol w="1416709">
                  <a:extLst>
                    <a:ext uri="{9D8B030D-6E8A-4147-A177-3AD203B41FA5}">
                      <a16:colId xmlns:a16="http://schemas.microsoft.com/office/drawing/2014/main" val="20003"/>
                    </a:ext>
                  </a:extLst>
                </a:gridCol>
                <a:gridCol w="1416709">
                  <a:extLst>
                    <a:ext uri="{9D8B030D-6E8A-4147-A177-3AD203B41FA5}">
                      <a16:colId xmlns:a16="http://schemas.microsoft.com/office/drawing/2014/main" val="20004"/>
                    </a:ext>
                  </a:extLst>
                </a:gridCol>
                <a:gridCol w="1490626">
                  <a:extLst>
                    <a:ext uri="{9D8B030D-6E8A-4147-A177-3AD203B41FA5}">
                      <a16:colId xmlns:a16="http://schemas.microsoft.com/office/drawing/2014/main" val="20005"/>
                    </a:ext>
                  </a:extLst>
                </a:gridCol>
              </a:tblGrid>
              <a:tr h="144016">
                <a:tc>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バックアップ対象</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タイミング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保管世代数</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全サーバ</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lang="ja-JP" altLang="en-US" sz="1050" dirty="0">
                          <a:latin typeface="メイリオ" panose="020B0604030504040204" pitchFamily="50" charset="-128"/>
                          <a:ea typeface="メイリオ" panose="020B0604030504040204" pitchFamily="50" charset="-128"/>
                        </a:rPr>
                        <a:t>インスタンス・イメージ</a:t>
                      </a:r>
                    </a:p>
                  </a:txBody>
                  <a:tcPr/>
                </a:tc>
                <a:tc>
                  <a:txBody>
                    <a:bodyPr/>
                    <a:lstStyle/>
                    <a:p>
                      <a:r>
                        <a:rPr kumimoji="1" lang="ja-JP" altLang="en-US" sz="1050" dirty="0">
                          <a:latin typeface="メイリオ" panose="020B0604030504040204" pitchFamily="50" charset="-128"/>
                          <a:ea typeface="メイリオ" panose="020B0604030504040204" pitchFamily="50" charset="-128"/>
                        </a:rPr>
                        <a:t>インスタンスバックアップ</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リリース時</a:t>
                      </a:r>
                    </a:p>
                  </a:txBody>
                  <a:tcPr/>
                </a:tc>
                <a:tc>
                  <a:txBody>
                    <a:bodyPr/>
                    <a:lstStyle/>
                    <a:p>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世代</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LB</a:t>
                      </a:r>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rowSpan="2">
                  <a:txBody>
                    <a:bodyPr/>
                    <a:lstStyle/>
                    <a:p>
                      <a:r>
                        <a:rPr kumimoji="1" lang="en-US" altLang="ja-JP" sz="1050" dirty="0">
                          <a:latin typeface="メイリオ" panose="020B0604030504040204" pitchFamily="50" charset="-128"/>
                          <a:ea typeface="メイリオ" panose="020B0604030504040204" pitchFamily="50" charset="-128"/>
                        </a:rPr>
                        <a:t>WEB</a:t>
                      </a:r>
                      <a:r>
                        <a:rPr kumimoji="1" lang="ja-JP" altLang="en-US" sz="1050" dirty="0">
                          <a:latin typeface="メイリオ" panose="020B0604030504040204" pitchFamily="50" charset="-128"/>
                          <a:ea typeface="メイリオ" panose="020B0604030504040204" pitchFamily="50" charset="-128"/>
                        </a:rPr>
                        <a:t>サーバ</a:t>
                      </a:r>
                      <a:br>
                        <a:rPr kumimoji="1" lang="en-US" altLang="ja-JP" sz="1050" dirty="0">
                          <a:latin typeface="メイリオ" panose="020B0604030504040204" pitchFamily="50" charset="-128"/>
                          <a:ea typeface="メイリオ" panose="020B0604030504040204" pitchFamily="50" charset="-128"/>
                        </a:rPr>
                      </a:b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AP</a:t>
                      </a: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p>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vMerge="1">
                  <a:txBody>
                    <a:bodyPr/>
                    <a:lstStyle/>
                    <a:p>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フルダンプデータ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7</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1744888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25380"/>
            <a:ext cx="8128892"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7.対応内容説明 - セキュリティ（1/2）</a:t>
            </a:r>
          </a:p>
        </p:txBody>
      </p:sp>
      <p:sp>
        <p:nvSpPr>
          <p:cNvPr id="4" name="テキスト ボックス 3"/>
          <p:cNvSpPr txBox="1"/>
          <p:nvPr/>
        </p:nvSpPr>
        <p:spPr>
          <a:xfrm>
            <a:off x="196041" y="758780"/>
            <a:ext cx="8463884" cy="738664"/>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セキュリティ対策として、以下を標準対応としています。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①実装者に対して、</a:t>
            </a:r>
            <a:r>
              <a:rPr lang="en-US" altLang="ja-JP" sz="1400" dirty="0">
                <a:latin typeface="メイリオ"/>
                <a:ea typeface="メイリオ"/>
                <a:cs typeface="メイリオ"/>
              </a:rPr>
              <a:t>IPA</a:t>
            </a:r>
            <a:r>
              <a:rPr lang="ja-JP" altLang="en-US" sz="1400" dirty="0">
                <a:latin typeface="メイリオ"/>
                <a:ea typeface="メイリオ"/>
                <a:cs typeface="メイリオ"/>
              </a:rPr>
              <a:t>策定セキュアプログラムに関する教育を受けた者をアサインします。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②オープンソースツールを用いた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および</a:t>
            </a:r>
            <a:r>
              <a:rPr lang="en-US" altLang="ja-JP" sz="1400" dirty="0">
                <a:latin typeface="メイリオ"/>
                <a:ea typeface="メイリオ"/>
                <a:cs typeface="メイリオ"/>
              </a:rPr>
              <a:t>WAF</a:t>
            </a:r>
            <a:r>
              <a:rPr lang="ja-JP" altLang="en-US" sz="1400" dirty="0">
                <a:latin typeface="メイリオ"/>
                <a:ea typeface="メイリオ"/>
                <a:cs typeface="メイリオ"/>
              </a:rPr>
              <a:t>を設置します。</a:t>
            </a:r>
          </a:p>
        </p:txBody>
      </p:sp>
      <p:sp>
        <p:nvSpPr>
          <p:cNvPr id="12" name="テキスト ボックス 11"/>
          <p:cNvSpPr txBox="1"/>
          <p:nvPr/>
        </p:nvSpPr>
        <p:spPr>
          <a:xfrm>
            <a:off x="196041" y="4327769"/>
            <a:ext cx="8463884" cy="307777"/>
          </a:xfrm>
          <a:prstGeom prst="rect">
            <a:avLst/>
          </a:prstGeom>
          <a:noFill/>
        </p:spPr>
        <p:txBody>
          <a:bodyPr wrap="square" rtlCol="0">
            <a:spAutoFit/>
          </a:bodyPr>
          <a:lstStyle/>
          <a:p>
            <a:r>
              <a:rPr lang="ja-JP" altLang="en-US" sz="1400" dirty="0">
                <a:latin typeface="メイリオ"/>
                <a:ea typeface="メイリオ"/>
                <a:cs typeface="メイリオ"/>
              </a:rPr>
              <a:t>③オープンソースツールを用いた脆弱性診断を行います。</a:t>
            </a:r>
          </a:p>
        </p:txBody>
      </p:sp>
      <p:graphicFrame>
        <p:nvGraphicFramePr>
          <p:cNvPr id="13" name="表 12"/>
          <p:cNvGraphicFramePr>
            <a:graphicFrameLocks noGrp="1"/>
          </p:cNvGraphicFramePr>
          <p:nvPr>
            <p:extLst>
              <p:ext uri="{D42A27DB-BD31-4B8C-83A1-F6EECF244321}">
                <p14:modId xmlns:p14="http://schemas.microsoft.com/office/powerpoint/2010/main" val="2351988498"/>
              </p:ext>
            </p:extLst>
          </p:nvPr>
        </p:nvGraphicFramePr>
        <p:xfrm>
          <a:off x="467543" y="4627248"/>
          <a:ext cx="8331284" cy="1661160"/>
        </p:xfrm>
        <a:graphic>
          <a:graphicData uri="http://schemas.openxmlformats.org/drawingml/2006/table">
            <a:tbl>
              <a:tblPr firstRow="1" bandRow="1">
                <a:tableStyleId>{5C22544A-7EE6-4342-B048-85BDC9FD1C3A}</a:tableStyleId>
              </a:tblPr>
              <a:tblGrid>
                <a:gridCol w="1997272">
                  <a:extLst>
                    <a:ext uri="{9D8B030D-6E8A-4147-A177-3AD203B41FA5}">
                      <a16:colId xmlns:a16="http://schemas.microsoft.com/office/drawing/2014/main" val="20000"/>
                    </a:ext>
                  </a:extLst>
                </a:gridCol>
                <a:gridCol w="1766818">
                  <a:extLst>
                    <a:ext uri="{9D8B030D-6E8A-4147-A177-3AD203B41FA5}">
                      <a16:colId xmlns:a16="http://schemas.microsoft.com/office/drawing/2014/main" val="20001"/>
                    </a:ext>
                  </a:extLst>
                </a:gridCol>
                <a:gridCol w="4567194">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a:t>
                      </a:r>
                    </a:p>
                  </a:txBody>
                  <a:tcPr/>
                </a:tc>
                <a:extLst>
                  <a:ext uri="{0D108BD9-81ED-4DB2-BD59-A6C34878D82A}">
                    <a16:rowId xmlns:a16="http://schemas.microsoft.com/office/drawing/2014/main" val="10000"/>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静的検査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XSS,SQLインジェクション,CSRF,セッション関連,パラメータ不良を対象に脆弱性検査を行い、不良箇所の対策を行います。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動的検査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システムテスト時に、本ツールを設置し、実アクセスに対する動的検査を行い、不良箇所の対策を行います。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セキュリティホール検査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NESSUS</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CVE</a:t>
                      </a:r>
                      <a:r>
                        <a:rPr kumimoji="1" lang="ja-JP" altLang="en-US" sz="1050" dirty="0">
                          <a:solidFill>
                            <a:schemeClr val="tx1"/>
                          </a:solidFill>
                          <a:latin typeface="メイリオ" panose="020B0604030504040204" pitchFamily="50" charset="-128"/>
                          <a:ea typeface="メイリオ" panose="020B0604030504040204" pitchFamily="50" charset="-128"/>
                        </a:rPr>
                        <a:t>（脆弱性データベース）に登録されているセキュリティホールが存在していないか？の検査を行い、不良箇所の対策を行います。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graphicFrame>
        <p:nvGraphicFramePr>
          <p:cNvPr id="3" name="表 2">
            <a:extLst>
              <a:ext uri="{FF2B5EF4-FFF2-40B4-BE49-F238E27FC236}">
                <a16:creationId xmlns:a16="http://schemas.microsoft.com/office/drawing/2014/main" id="{577DA1A6-5987-2870-A3D4-4BFB21EACA82}"/>
              </a:ext>
            </a:extLst>
          </p:cNvPr>
          <p:cNvGraphicFramePr>
            <a:graphicFrameLocks noGrp="1"/>
          </p:cNvGraphicFramePr>
          <p:nvPr>
            <p:extLst>
              <p:ext uri="{D42A27DB-BD31-4B8C-83A1-F6EECF244321}">
                <p14:modId xmlns:p14="http://schemas.microsoft.com/office/powerpoint/2010/main" val="2115132290"/>
              </p:ext>
            </p:extLst>
          </p:nvPr>
        </p:nvGraphicFramePr>
        <p:xfrm>
          <a:off x="460887" y="1497444"/>
          <a:ext cx="8331285" cy="2707640"/>
        </p:xfrm>
        <a:graphic>
          <a:graphicData uri="http://schemas.openxmlformats.org/drawingml/2006/table">
            <a:tbl>
              <a:tblPr firstRow="1" bandRow="1">
                <a:tableStyleId>{5C22544A-7EE6-4342-B048-85BDC9FD1C3A}</a:tableStyleId>
              </a:tblPr>
              <a:tblGrid>
                <a:gridCol w="1556172">
                  <a:extLst>
                    <a:ext uri="{9D8B030D-6E8A-4147-A177-3AD203B41FA5}">
                      <a16:colId xmlns:a16="http://schemas.microsoft.com/office/drawing/2014/main" val="20000"/>
                    </a:ext>
                  </a:extLst>
                </a:gridCol>
                <a:gridCol w="1145628">
                  <a:extLst>
                    <a:ext uri="{9D8B030D-6E8A-4147-A177-3AD203B41FA5}">
                      <a16:colId xmlns:a16="http://schemas.microsoft.com/office/drawing/2014/main" val="20001"/>
                    </a:ext>
                  </a:extLst>
                </a:gridCol>
                <a:gridCol w="1065641">
                  <a:extLst>
                    <a:ext uri="{9D8B030D-6E8A-4147-A177-3AD203B41FA5}">
                      <a16:colId xmlns:a16="http://schemas.microsoft.com/office/drawing/2014/main" val="20002"/>
                    </a:ext>
                  </a:extLst>
                </a:gridCol>
                <a:gridCol w="1065641">
                  <a:extLst>
                    <a:ext uri="{9D8B030D-6E8A-4147-A177-3AD203B41FA5}">
                      <a16:colId xmlns:a16="http://schemas.microsoft.com/office/drawing/2014/main" val="20003"/>
                    </a:ext>
                  </a:extLst>
                </a:gridCol>
                <a:gridCol w="3498203">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tripwire</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ブルートフォース対策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fail2ban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不正なアクセスが同一IPアドレスから複数回発生した場合、アクセスをブロックする</a:t>
                      </a: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err="1">
                          <a:solidFill>
                            <a:schemeClr val="tx1"/>
                          </a:solidFill>
                          <a:latin typeface="メイリオ" panose="020B0604030504040204" pitchFamily="50" charset="-128"/>
                          <a:ea typeface="メイリオ" panose="020B0604030504040204" pitchFamily="50" charset="-128"/>
                        </a:rPr>
                        <a:t>clamAV</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err="1">
                          <a:latin typeface="メイリオ" panose="020B0604030504040204" pitchFamily="50" charset="-128"/>
                          <a:ea typeface="メイリオ" panose="020B0604030504040204" pitchFamily="50" charset="-128"/>
                        </a:rPr>
                        <a:t>Modsecurity</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a:t>
                      </a:r>
                      <a:r>
                        <a:rPr kumimoji="1" lang="ja-JP" altLang="en-US" sz="1050" dirty="0">
                          <a:solidFill>
                            <a:schemeClr val="tx1"/>
                          </a:solidFill>
                          <a:latin typeface="メイリオ" panose="020B0604030504040204" pitchFamily="50" charset="-128"/>
                          <a:ea typeface="メイリオ" panose="020B0604030504040204" pitchFamily="50" charset="-128"/>
                        </a:rPr>
                        <a:t>および</a:t>
                      </a:r>
                      <a:r>
                        <a:rPr kumimoji="1" lang="en-US" altLang="ja-JP" sz="1050" dirty="0">
                          <a:solidFill>
                            <a:schemeClr val="tx1"/>
                          </a:solidFill>
                          <a:latin typeface="メイリオ" panose="020B0604030504040204" pitchFamily="50" charset="-128"/>
                          <a:ea typeface="メイリオ" panose="020B0604030504040204" pitchFamily="50" charset="-128"/>
                        </a:rPr>
                        <a:t>SQL</a:t>
                      </a:r>
                      <a:r>
                        <a:rPr kumimoji="1" lang="ja-JP" altLang="en-US" sz="1050" dirty="0">
                          <a:solidFill>
                            <a:schemeClr val="tx1"/>
                          </a:solidFill>
                          <a:latin typeface="メイリオ" panose="020B0604030504040204" pitchFamily="50" charset="-128"/>
                          <a:ea typeface="メイリオ" panose="020B0604030504040204" pitchFamily="50" charset="-128"/>
                        </a:rPr>
                        <a:t>インジェクションに該当するアクセスをネガティブルールに登録</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OSS</a:t>
                      </a:r>
                      <a:r>
                        <a:rPr kumimoji="1" lang="ja-JP" altLang="en-US" sz="1050" dirty="0">
                          <a:solidFill>
                            <a:schemeClr val="tx1"/>
                          </a:solidFill>
                          <a:latin typeface="メイリオ" panose="020B0604030504040204" pitchFamily="50" charset="-128"/>
                          <a:ea typeface="メイリオ" panose="020B0604030504040204" pitchFamily="50" charset="-128"/>
                        </a:rPr>
                        <a:t>であり、仕様が公開されている為、万能ではありませんがロボットによる総当たりのアクセスには効果が期待できます。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7840860"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7.対応内容説明 - セキュリティ（2/2）</a:t>
            </a:r>
          </a:p>
        </p:txBody>
      </p:sp>
      <p:sp>
        <p:nvSpPr>
          <p:cNvPr id="4" name="テキスト ボックス 3"/>
          <p:cNvSpPr txBox="1"/>
          <p:nvPr/>
        </p:nvSpPr>
        <p:spPr>
          <a:xfrm>
            <a:off x="140564" y="765285"/>
            <a:ext cx="8463884" cy="523220"/>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セキュリティ対策として、以下をオプション（有償）をご用意しています。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①製品を用いた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を設置します。</a:t>
            </a:r>
          </a:p>
        </p:txBody>
      </p:sp>
      <p:sp>
        <p:nvSpPr>
          <p:cNvPr id="12" name="テキスト ボックス 11"/>
          <p:cNvSpPr txBox="1"/>
          <p:nvPr/>
        </p:nvSpPr>
        <p:spPr>
          <a:xfrm>
            <a:off x="140564" y="4087366"/>
            <a:ext cx="8463884" cy="307777"/>
          </a:xfrm>
          <a:prstGeom prst="rect">
            <a:avLst/>
          </a:prstGeom>
          <a:noFill/>
        </p:spPr>
        <p:txBody>
          <a:bodyPr wrap="square" rtlCol="0">
            <a:spAutoFit/>
          </a:bodyPr>
          <a:lstStyle/>
          <a:p>
            <a:r>
              <a:rPr lang="ja-JP" altLang="en-US" sz="1400" dirty="0">
                <a:latin typeface="メイリオ"/>
                <a:ea typeface="メイリオ"/>
                <a:cs typeface="メイリオ"/>
              </a:rPr>
              <a:t>②第</a:t>
            </a:r>
            <a:r>
              <a:rPr lang="en-US" altLang="ja-JP" sz="1400" dirty="0">
                <a:latin typeface="メイリオ"/>
                <a:ea typeface="メイリオ"/>
                <a:cs typeface="メイリオ"/>
              </a:rPr>
              <a:t>3</a:t>
            </a:r>
            <a:r>
              <a:rPr lang="ja-JP" altLang="en-US" sz="1400" dirty="0">
                <a:latin typeface="メイリオ"/>
                <a:ea typeface="メイリオ"/>
                <a:cs typeface="メイリオ"/>
              </a:rPr>
              <a:t>者による脆弱性診断を受診し、不良箇所の対策を行います。</a:t>
            </a:r>
          </a:p>
        </p:txBody>
      </p:sp>
      <p:graphicFrame>
        <p:nvGraphicFramePr>
          <p:cNvPr id="13" name="表 12"/>
          <p:cNvGraphicFramePr>
            <a:graphicFrameLocks noGrp="1"/>
          </p:cNvGraphicFramePr>
          <p:nvPr>
            <p:extLst>
              <p:ext uri="{D42A27DB-BD31-4B8C-83A1-F6EECF244321}">
                <p14:modId xmlns:p14="http://schemas.microsoft.com/office/powerpoint/2010/main" val="250066683"/>
              </p:ext>
            </p:extLst>
          </p:nvPr>
        </p:nvGraphicFramePr>
        <p:xfrm>
          <a:off x="467544" y="4429299"/>
          <a:ext cx="8136904" cy="1867603"/>
        </p:xfrm>
        <a:graphic>
          <a:graphicData uri="http://schemas.openxmlformats.org/drawingml/2006/table">
            <a:tbl>
              <a:tblPr firstRow="1" bandRow="1">
                <a:tableStyleId>{5C22544A-7EE6-4342-B048-85BDC9FD1C3A}</a:tableStyleId>
              </a:tblPr>
              <a:tblGrid>
                <a:gridCol w="1950673">
                  <a:extLst>
                    <a:ext uri="{9D8B030D-6E8A-4147-A177-3AD203B41FA5}">
                      <a16:colId xmlns:a16="http://schemas.microsoft.com/office/drawing/2014/main" val="20000"/>
                    </a:ext>
                  </a:extLst>
                </a:gridCol>
                <a:gridCol w="1725596">
                  <a:extLst>
                    <a:ext uri="{9D8B030D-6E8A-4147-A177-3AD203B41FA5}">
                      <a16:colId xmlns:a16="http://schemas.microsoft.com/office/drawing/2014/main" val="20001"/>
                    </a:ext>
                  </a:extLst>
                </a:gridCol>
                <a:gridCol w="4460635">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ベンダー例</a:t>
                      </a:r>
                    </a:p>
                  </a:txBody>
                  <a:tcPr/>
                </a:tc>
                <a:tc>
                  <a:txBody>
                    <a:bodyPr/>
                    <a:lstStyle/>
                    <a:p>
                      <a:r>
                        <a:rPr kumimoji="1" lang="ja-JP" altLang="en-US" sz="1050" dirty="0">
                          <a:latin typeface="メイリオ" panose="020B0604030504040204" pitchFamily="50" charset="-128"/>
                          <a:ea typeface="メイリオ" panose="020B0604030504040204" pitchFamily="50" charset="-128"/>
                        </a:rPr>
                        <a:t>費用感</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説明（当社判定）</a:t>
                      </a:r>
                    </a:p>
                  </a:txBody>
                  <a:tcPr/>
                </a:tc>
                <a:extLst>
                  <a:ext uri="{0D108BD9-81ED-4DB2-BD59-A6C34878D82A}">
                    <a16:rowId xmlns:a16="http://schemas.microsoft.com/office/drawing/2014/main" val="10000"/>
                  </a:ext>
                </a:extLst>
              </a:tr>
              <a:tr h="370840">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NRI</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数百万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ロボットおよび人間系による仮想攻撃によって、ほぼすべての脆弱性を検出します。国内最強のサービスですが、高額である上、１－２ヶ月の期間を要します。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4579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z.com cloud</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要見積</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ロボットによる診断です。トリッキーな攻撃には対処できませんが、リーズナブルで、最低限の脆弱性検出を行えます。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ラック</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100-200</a:t>
                      </a:r>
                      <a:r>
                        <a:rPr kumimoji="1" lang="ja-JP" altLang="en-US" sz="1050" dirty="0">
                          <a:solidFill>
                            <a:schemeClr val="tx1"/>
                          </a:solidFill>
                          <a:latin typeface="メイリオ" panose="020B0604030504040204" pitchFamily="50" charset="-128"/>
                          <a:ea typeface="メイリオ" panose="020B0604030504040204" pitchFamily="50" charset="-128"/>
                        </a:rPr>
                        <a:t>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ロボットおよび人間系による仮想攻撃によって脆弱性検出を行います。</a:t>
                      </a:r>
                      <a:r>
                        <a:rPr kumimoji="1" lang="en-US" altLang="ja-JP" sz="1050" dirty="0">
                          <a:solidFill>
                            <a:schemeClr val="tx1"/>
                          </a:solidFill>
                          <a:latin typeface="メイリオ" panose="020B0604030504040204" pitchFamily="50" charset="-128"/>
                          <a:ea typeface="メイリオ" panose="020B0604030504040204" pitchFamily="50" charset="-128"/>
                        </a:rPr>
                        <a:t>NRI</a:t>
                      </a:r>
                      <a:r>
                        <a:rPr kumimoji="1" lang="ja-JP" altLang="en-US" sz="1050" dirty="0" err="1">
                          <a:solidFill>
                            <a:schemeClr val="tx1"/>
                          </a:solidFill>
                          <a:latin typeface="メイリオ" panose="020B0604030504040204" pitchFamily="50" charset="-128"/>
                          <a:ea typeface="メイリオ" panose="020B0604030504040204" pitchFamily="50" charset="-128"/>
                        </a:rPr>
                        <a:t>には</a:t>
                      </a:r>
                      <a:r>
                        <a:rPr kumimoji="1" lang="ja-JP" altLang="en-US" sz="1050" dirty="0">
                          <a:solidFill>
                            <a:schemeClr val="tx1"/>
                          </a:solidFill>
                          <a:latin typeface="メイリオ" panose="020B0604030504040204" pitchFamily="50" charset="-128"/>
                          <a:ea typeface="メイリオ" panose="020B0604030504040204" pitchFamily="50" charset="-128"/>
                        </a:rPr>
                        <a:t>劣りますが、必要十分な脆弱性検出を行えます。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graphicFrame>
        <p:nvGraphicFramePr>
          <p:cNvPr id="3" name="表 2">
            <a:extLst>
              <a:ext uri="{FF2B5EF4-FFF2-40B4-BE49-F238E27FC236}">
                <a16:creationId xmlns:a16="http://schemas.microsoft.com/office/drawing/2014/main" id="{CACB2F04-ECA5-19F3-6BEA-ADB8DCC49055}"/>
              </a:ext>
            </a:extLst>
          </p:cNvPr>
          <p:cNvGraphicFramePr>
            <a:graphicFrameLocks noGrp="1"/>
          </p:cNvGraphicFramePr>
          <p:nvPr>
            <p:extLst>
              <p:ext uri="{D42A27DB-BD31-4B8C-83A1-F6EECF244321}">
                <p14:modId xmlns:p14="http://schemas.microsoft.com/office/powerpoint/2010/main" val="943120726"/>
              </p:ext>
            </p:extLst>
          </p:nvPr>
        </p:nvGraphicFramePr>
        <p:xfrm>
          <a:off x="467544" y="1340768"/>
          <a:ext cx="8136904" cy="2588260"/>
        </p:xfrm>
        <a:graphic>
          <a:graphicData uri="http://schemas.openxmlformats.org/drawingml/2006/table">
            <a:tbl>
              <a:tblPr firstRow="1" bandRow="1">
                <a:tableStyleId>{5C22544A-7EE6-4342-B048-85BDC9FD1C3A}</a:tableStyleId>
              </a:tblPr>
              <a:tblGrid>
                <a:gridCol w="1350628">
                  <a:extLst>
                    <a:ext uri="{9D8B030D-6E8A-4147-A177-3AD203B41FA5}">
                      <a16:colId xmlns:a16="http://schemas.microsoft.com/office/drawing/2014/main" val="20000"/>
                    </a:ext>
                  </a:extLst>
                </a:gridCol>
                <a:gridCol w="1530712">
                  <a:extLst>
                    <a:ext uri="{9D8B030D-6E8A-4147-A177-3AD203B41FA5}">
                      <a16:colId xmlns:a16="http://schemas.microsoft.com/office/drawing/2014/main" val="20001"/>
                    </a:ext>
                  </a:extLst>
                </a:gridCol>
                <a:gridCol w="1018914">
                  <a:extLst>
                    <a:ext uri="{9D8B030D-6E8A-4147-A177-3AD203B41FA5}">
                      <a16:colId xmlns:a16="http://schemas.microsoft.com/office/drawing/2014/main" val="20002"/>
                    </a:ext>
                  </a:extLst>
                </a:gridCol>
                <a:gridCol w="1018914">
                  <a:extLst>
                    <a:ext uri="{9D8B030D-6E8A-4147-A177-3AD203B41FA5}">
                      <a16:colId xmlns:a16="http://schemas.microsoft.com/office/drawing/2014/main" val="20003"/>
                    </a:ext>
                  </a:extLst>
                </a:gridCol>
                <a:gridCol w="3217736">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rowSpan="2">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Deep Security</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不正アクセス防止（ブルートフォース他）</a:t>
                      </a:r>
                    </a:p>
                  </a:txBody>
                  <a:tcPr/>
                </a:tc>
                <a:tc vMerge="1">
                  <a:txBody>
                    <a:bodyPr/>
                    <a:lstStyle/>
                    <a:p>
                      <a:endParaRPr kumimoji="1" lang="en-US" altLang="ja-JP" sz="1000" dirty="0">
                        <a:solidFill>
                          <a:schemeClr val="tx1"/>
                        </a:solidFill>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Server protection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a:t>
                      </a:r>
                      <a:r>
                        <a:rPr kumimoji="1" lang="ja-JP" altLang="en-US" sz="1050" baseline="0" dirty="0">
                          <a:latin typeface="メイリオ" panose="020B0604030504040204" pitchFamily="50" charset="-128"/>
                          <a:ea typeface="メイリオ" panose="020B0604030504040204" pitchFamily="50" charset="-128"/>
                        </a:rPr>
                        <a:t>提供</a:t>
                      </a:r>
                      <a:r>
                        <a:rPr kumimoji="1" lang="en-US" altLang="ja-JP" sz="1050" baseline="0" dirty="0">
                          <a:latin typeface="メイリオ" panose="020B0604030504040204" pitchFamily="50" charset="-128"/>
                          <a:ea typeface="メイリオ" panose="020B0604030504040204" pitchFamily="50" charset="-128"/>
                        </a:rPr>
                        <a:t>WAF</a:t>
                      </a:r>
                      <a:r>
                        <a:rPr kumimoji="1" lang="ja-JP" altLang="en-US" sz="1050" baseline="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アプリケーション脆弱性攻撃に対する措置以外に、</a:t>
                      </a:r>
                      <a:r>
                        <a:rPr kumimoji="1" lang="en-US" altLang="ja-JP" sz="1050" dirty="0">
                          <a:solidFill>
                            <a:schemeClr val="tx1"/>
                          </a:solidFill>
                          <a:latin typeface="メイリオ" panose="020B0604030504040204" pitchFamily="50" charset="-128"/>
                          <a:ea typeface="メイリオ" panose="020B0604030504040204" pitchFamily="50" charset="-128"/>
                        </a:rPr>
                        <a:t>DDOS</a:t>
                      </a:r>
                      <a:r>
                        <a:rPr kumimoji="1" lang="ja-JP" altLang="en-US" sz="1050" dirty="0" err="1">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ネットワークレイヤーへの攻撃（</a:t>
                      </a:r>
                      <a:r>
                        <a:rPr kumimoji="1" lang="en-US" altLang="ja-JP" sz="1050" dirty="0">
                          <a:solidFill>
                            <a:schemeClr val="tx1"/>
                          </a:solidFill>
                          <a:latin typeface="メイリオ" panose="020B0604030504040204" pitchFamily="50" charset="-128"/>
                          <a:ea typeface="メイリオ" panose="020B0604030504040204" pitchFamily="50" charset="-128"/>
                        </a:rPr>
                        <a:t>UDP</a:t>
                      </a:r>
                      <a:r>
                        <a:rPr kumimoji="1" lang="ja-JP" altLang="en-US" sz="1050" baseline="0" dirty="0">
                          <a:solidFill>
                            <a:schemeClr val="tx1"/>
                          </a:solidFill>
                          <a:latin typeface="メイリオ" panose="020B0604030504040204" pitchFamily="50" charset="-128"/>
                          <a:ea typeface="メイリオ" panose="020B0604030504040204" pitchFamily="50" charset="-128"/>
                        </a:rPr>
                        <a:t> </a:t>
                      </a:r>
                      <a:r>
                        <a:rPr kumimoji="1" lang="en-US" altLang="ja-JP" sz="1050" baseline="0" dirty="0">
                          <a:solidFill>
                            <a:schemeClr val="tx1"/>
                          </a:solidFill>
                          <a:latin typeface="メイリオ" panose="020B0604030504040204" pitchFamily="50" charset="-128"/>
                          <a:ea typeface="メイリオ" panose="020B0604030504040204" pitchFamily="50" charset="-128"/>
                        </a:rPr>
                        <a:t>flood</a:t>
                      </a:r>
                      <a:r>
                        <a:rPr kumimoji="1" lang="ja-JP" altLang="en-US" sz="1050" baseline="0" dirty="0">
                          <a:solidFill>
                            <a:schemeClr val="tx1"/>
                          </a:solidFill>
                          <a:latin typeface="メイリオ" panose="020B0604030504040204" pitchFamily="50" charset="-128"/>
                          <a:ea typeface="メイリオ" panose="020B0604030504040204" pitchFamily="50" charset="-128"/>
                        </a:rPr>
                        <a:t>など</a:t>
                      </a:r>
                      <a:r>
                        <a:rPr kumimoji="1" lang="en-US" altLang="ja-JP" sz="1050" baseline="0" dirty="0">
                          <a:solidFill>
                            <a:schemeClr val="tx1"/>
                          </a:solidFill>
                          <a:latin typeface="メイリオ" panose="020B0604030504040204" pitchFamily="50" charset="-128"/>
                          <a:ea typeface="メイリオ" panose="020B0604030504040204" pitchFamily="50" charset="-128"/>
                        </a:rPr>
                        <a:t>)</a:t>
                      </a:r>
                      <a:r>
                        <a:rPr kumimoji="1" lang="ja-JP" altLang="en-US" sz="1050" baseline="0" dirty="0">
                          <a:solidFill>
                            <a:schemeClr val="tx1"/>
                          </a:solidFill>
                          <a:latin typeface="メイリオ" panose="020B0604030504040204" pitchFamily="50" charset="-128"/>
                          <a:ea typeface="メイリオ" panose="020B0604030504040204" pitchFamily="50" charset="-128"/>
                        </a:rPr>
                        <a:t>にも対応します。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10">
            <a:extLst>
              <a:ext uri="{FF2B5EF4-FFF2-40B4-BE49-F238E27FC236}">
                <a16:creationId xmlns:a16="http://schemas.microsoft.com/office/drawing/2014/main" id="{EA67A01C-6679-4172-BC03-341C831C80B5}"/>
              </a:ext>
            </a:extLst>
          </p:cNvPr>
          <p:cNvSpPr txBox="1">
            <a:spLocks noChangeArrowheads="1"/>
          </p:cNvSpPr>
          <p:nvPr/>
        </p:nvSpPr>
        <p:spPr bwMode="auto">
          <a:xfrm>
            <a:off x="206724" y="689788"/>
            <a:ext cx="8730552" cy="1600438"/>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a:defRPr/>
            </a:pPr>
            <a:r>
              <a:rPr lang="ja-JP" altLang="en-US" dirty="0">
                <a:latin typeface="メイリオ"/>
                <a:ea typeface="メイリオ"/>
                <a:cs typeface="メイリオ"/>
              </a:rPr>
              <a:t>サーバサイジングの要素となる同時アクセス（ログイン）数の根拠を以下のとおり想定しました。</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リリース時のアクティブユーザ数は</a:t>
            </a:r>
            <a:r>
              <a:rPr lang="en-US" altLang="ja-JP" dirty="0">
                <a:latin typeface="メイリオ"/>
                <a:ea typeface="メイリオ"/>
                <a:cs typeface="メイリオ"/>
              </a:rPr>
              <a:t>3,400</a:t>
            </a:r>
            <a:r>
              <a:rPr lang="ja-JP" altLang="en-US" dirty="0">
                <a:latin typeface="メイリオ"/>
                <a:ea typeface="メイリオ"/>
                <a:cs typeface="メイリオ"/>
              </a:rPr>
              <a:t>名</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リリース5年後、アクティブユーザ数が2倍に増加する想定（8.（2/3）の成長倍率2倍に対応）</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フロントサイトの想定同時アクセス数は</a:t>
            </a:r>
            <a:r>
              <a:rPr lang="en-US" altLang="ja-JP" dirty="0">
                <a:latin typeface="メイリオ"/>
                <a:ea typeface="メイリオ"/>
                <a:cs typeface="メイリオ"/>
              </a:rPr>
              <a:t>3%</a:t>
            </a:r>
            <a:r>
              <a:rPr lang="ja-JP" altLang="en-US" dirty="0">
                <a:latin typeface="メイリオ"/>
                <a:ea typeface="メイリオ"/>
                <a:cs typeface="メイリオ"/>
              </a:rPr>
              <a:t>と想定（弊社ユーザ企業の平均実績）</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管理サイトの想定同時アクセス数は、★常時は全員、★随時は2割（最低2名）と想定</a:t>
            </a:r>
            <a:endParaRPr lang="en-US" altLang="ja-JP" dirty="0">
              <a:latin typeface="メイリオ"/>
              <a:ea typeface="メイリオ"/>
              <a:cs typeface="メイリオ"/>
            </a:endParaRPr>
          </a:p>
        </p:txBody>
      </p:sp>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システム構成（1/3）</a:t>
            </a:r>
          </a:p>
        </p:txBody>
      </p:sp>
      <p:sp>
        <p:nvSpPr>
          <p:cNvPr id="7" name="円/楕円 103">
            <a:extLst>
              <a:ext uri="{FF2B5EF4-FFF2-40B4-BE49-F238E27FC236}">
                <a16:creationId xmlns:a16="http://schemas.microsoft.com/office/drawing/2014/main" id="{7C47C507-3D23-1B74-6B65-AF741F147510}"/>
              </a:ext>
            </a:extLst>
          </p:cNvPr>
          <p:cNvSpPr/>
          <p:nvPr/>
        </p:nvSpPr>
        <p:spPr>
          <a:xfrm>
            <a:off x="6465591" y="4902900"/>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8DD6B1D6-E5B1-7462-A586-B592F778BF85}"/>
              </a:ext>
            </a:extLst>
          </p:cNvPr>
          <p:cNvGraphicFramePr>
            <a:graphicFrameLocks noGrp="1"/>
          </p:cNvGraphicFramePr>
          <p:nvPr>
            <p:extLst>
              <p:ext uri="{D42A27DB-BD31-4B8C-83A1-F6EECF244321}">
                <p14:modId xmlns:p14="http://schemas.microsoft.com/office/powerpoint/2010/main" val="1527712631"/>
              </p:ext>
            </p:extLst>
          </p:nvPr>
        </p:nvGraphicFramePr>
        <p:xfrm>
          <a:off x="488230" y="2349129"/>
          <a:ext cx="7588968" cy="3886200"/>
        </p:xfrm>
        <a:graphic>
          <a:graphicData uri="http://schemas.openxmlformats.org/drawingml/2006/table">
            <a:tbl>
              <a:tblPr firstRow="1" bandRow="1">
                <a:tableStyleId>{5C22544A-7EE6-4342-B048-85BDC9FD1C3A}</a:tableStyleId>
              </a:tblPr>
              <a:tblGrid>
                <a:gridCol w="1780149">
                  <a:extLst>
                    <a:ext uri="{9D8B030D-6E8A-4147-A177-3AD203B41FA5}">
                      <a16:colId xmlns:a16="http://schemas.microsoft.com/office/drawing/2014/main" val="20000"/>
                    </a:ext>
                  </a:extLst>
                </a:gridCol>
                <a:gridCol w="1100526">
                  <a:extLst>
                    <a:ext uri="{9D8B030D-6E8A-4147-A177-3AD203B41FA5}">
                      <a16:colId xmlns:a16="http://schemas.microsoft.com/office/drawing/2014/main" val="52937638"/>
                    </a:ext>
                  </a:extLst>
                </a:gridCol>
                <a:gridCol w="934034">
                  <a:extLst>
                    <a:ext uri="{9D8B030D-6E8A-4147-A177-3AD203B41FA5}">
                      <a16:colId xmlns:a16="http://schemas.microsoft.com/office/drawing/2014/main" val="378807749"/>
                    </a:ext>
                  </a:extLst>
                </a:gridCol>
                <a:gridCol w="1260810">
                  <a:extLst>
                    <a:ext uri="{9D8B030D-6E8A-4147-A177-3AD203B41FA5}">
                      <a16:colId xmlns:a16="http://schemas.microsoft.com/office/drawing/2014/main" val="3267060346"/>
                    </a:ext>
                  </a:extLst>
                </a:gridCol>
                <a:gridCol w="1186664">
                  <a:extLst>
                    <a:ext uri="{9D8B030D-6E8A-4147-A177-3AD203B41FA5}">
                      <a16:colId xmlns:a16="http://schemas.microsoft.com/office/drawing/2014/main" val="2239304346"/>
                    </a:ext>
                  </a:extLst>
                </a:gridCol>
                <a:gridCol w="1326785">
                  <a:extLst>
                    <a:ext uri="{9D8B030D-6E8A-4147-A177-3AD203B41FA5}">
                      <a16:colId xmlns:a16="http://schemas.microsoft.com/office/drawing/2014/main" val="2906314388"/>
                    </a:ext>
                  </a:extLst>
                </a:gridCol>
              </a:tblGrid>
              <a:tr h="259080">
                <a:tc rowSpan="2">
                  <a:txBody>
                    <a:bodyPr/>
                    <a:lstStyle/>
                    <a:p>
                      <a:pPr algn="ctr"/>
                      <a:r>
                        <a:rPr kumimoji="1" lang="ja-JP" altLang="en-US" sz="1050" dirty="0">
                          <a:latin typeface="メイリオ" panose="020B0604030504040204" pitchFamily="50" charset="-128"/>
                          <a:ea typeface="メイリオ" panose="020B0604030504040204" pitchFamily="50" charset="-128"/>
                        </a:rPr>
                        <a:t>利用者</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想定</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利用者数</a:t>
                      </a: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リリース時の想定</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a:t>
                      </a:r>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年後の想定利用者数</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259080">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extLst>
                  <a:ext uri="{0D108BD9-81ED-4DB2-BD59-A6C34878D82A}">
                    <a16:rowId xmlns:a16="http://schemas.microsoft.com/office/drawing/2014/main" val="980640605"/>
                  </a:ext>
                </a:extLst>
              </a:tr>
              <a:tr h="133729">
                <a:tc gridSpan="3">
                  <a:txBody>
                    <a:bodyPr/>
                    <a:lstStyle/>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フロントサイト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algn="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557822620"/>
                  </a:ext>
                </a:extLst>
              </a:tr>
              <a:tr h="133729">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取引先担当者</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800" dirty="0">
                          <a:solidFill>
                            <a:schemeClr val="tx1"/>
                          </a:solidFill>
                          <a:latin typeface="メイリオ" panose="020B0604030504040204" pitchFamily="50" charset="-128"/>
                          <a:ea typeface="メイリオ" panose="020B0604030504040204" pitchFamily="50" charset="-128"/>
                        </a:rPr>
                        <a:t>※</a:t>
                      </a:r>
                      <a:r>
                        <a:rPr lang="ja-JP" altLang="en-US" sz="800" dirty="0">
                          <a:solidFill>
                            <a:schemeClr val="tx1"/>
                          </a:solidFill>
                          <a:latin typeface="メイリオ" panose="020B0604030504040204" pitchFamily="50" charset="-128"/>
                          <a:ea typeface="メイリオ" panose="020B0604030504040204" pitchFamily="50" charset="-128"/>
                        </a:rPr>
                        <a:t>取引先</a:t>
                      </a:r>
                      <a:r>
                        <a:rPr lang="en-US" altLang="ja-JP" sz="800" dirty="0">
                          <a:solidFill>
                            <a:schemeClr val="tx1"/>
                          </a:solidFill>
                          <a:latin typeface="メイリオ" panose="020B0604030504040204" pitchFamily="50" charset="-128"/>
                          <a:ea typeface="メイリオ" panose="020B0604030504040204" pitchFamily="50" charset="-128"/>
                        </a:rPr>
                        <a:t>1,700</a:t>
                      </a:r>
                      <a:r>
                        <a:rPr lang="ja-JP" altLang="en-US" sz="800" dirty="0">
                          <a:solidFill>
                            <a:schemeClr val="tx1"/>
                          </a:solidFill>
                          <a:latin typeface="メイリオ" panose="020B0604030504040204" pitchFamily="50" charset="-128"/>
                          <a:ea typeface="メイリオ" panose="020B0604030504040204" pitchFamily="50" charset="-128"/>
                        </a:rPr>
                        <a:t>社</a:t>
                      </a:r>
                      <a:r>
                        <a:rPr lang="en-US" altLang="ja-JP" sz="800" dirty="0">
                          <a:solidFill>
                            <a:schemeClr val="tx1"/>
                          </a:solidFill>
                          <a:latin typeface="メイリオ" panose="020B0604030504040204" pitchFamily="50" charset="-128"/>
                          <a:ea typeface="メイリオ" panose="020B0604030504040204" pitchFamily="50" charset="-128"/>
                        </a:rPr>
                        <a:t>1</a:t>
                      </a:r>
                      <a:r>
                        <a:rPr lang="ja-JP" altLang="en-US" sz="800" dirty="0">
                          <a:solidFill>
                            <a:schemeClr val="tx1"/>
                          </a:solidFill>
                          <a:latin typeface="メイリオ" panose="020B0604030504040204" pitchFamily="50" charset="-128"/>
                          <a:ea typeface="メイリオ" panose="020B0604030504040204" pitchFamily="50" charset="-128"/>
                        </a:rPr>
                        <a:t>社約</a:t>
                      </a:r>
                      <a:r>
                        <a:rPr lang="en-US" altLang="ja-JP" sz="800" dirty="0">
                          <a:solidFill>
                            <a:schemeClr val="tx1"/>
                          </a:solidFill>
                          <a:latin typeface="メイリオ" panose="020B0604030504040204" pitchFamily="50" charset="-128"/>
                          <a:ea typeface="メイリオ" panose="020B0604030504040204" pitchFamily="50" charset="-128"/>
                        </a:rPr>
                        <a:t>2</a:t>
                      </a:r>
                      <a:r>
                        <a:rPr lang="ja-JP" altLang="en-US" sz="800" dirty="0">
                          <a:solidFill>
                            <a:schemeClr val="tx1"/>
                          </a:solidFill>
                          <a:latin typeface="メイリオ" panose="020B0604030504040204" pitchFamily="50" charset="-128"/>
                          <a:ea typeface="メイリオ" panose="020B0604030504040204" pitchFamily="50" charset="-128"/>
                        </a:rPr>
                        <a:t>名想定</a:t>
                      </a:r>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6,800名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204名</a:t>
                      </a:r>
                    </a:p>
                  </a:txBody>
                  <a:tcPr anchor="ctr"/>
                </a:tc>
                <a:extLst>
                  <a:ext uri="{0D108BD9-81ED-4DB2-BD59-A6C34878D82A}">
                    <a16:rowId xmlns:a16="http://schemas.microsoft.com/office/drawing/2014/main" val="10001"/>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3,400</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6,800名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204名</a:t>
                      </a:r>
                    </a:p>
                  </a:txBody>
                  <a:tcPr anchor="ctr"/>
                </a:tc>
                <a:extLst>
                  <a:ext uri="{0D108BD9-81ED-4DB2-BD59-A6C34878D82A}">
                    <a16:rowId xmlns:a16="http://schemas.microsoft.com/office/drawing/2014/main" val="2226395339"/>
                  </a:ext>
                </a:extLst>
              </a:tr>
              <a:tr h="133729">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管理サイト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308768117"/>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貴社スタッフ</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2"/>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営業担当者 ★随時</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20名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4名</a:t>
                      </a:r>
                    </a:p>
                  </a:txBody>
                  <a:tcPr anchor="ctr"/>
                </a:tc>
                <a:extLst>
                  <a:ext uri="{0D108BD9-81ED-4DB2-BD59-A6C34878D82A}">
                    <a16:rowId xmlns:a16="http://schemas.microsoft.com/office/drawing/2014/main" val="1542714949"/>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サイト管理者 ★随時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10名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extLst>
                  <a:ext uri="{0D108BD9-81ED-4DB2-BD59-A6C34878D82A}">
                    <a16:rowId xmlns:a16="http://schemas.microsoft.com/office/drawing/2014/main" val="6620016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カスタマー</a:t>
                      </a:r>
                      <a:endParaRPr lang="en-US" altLang="ja-JP" sz="105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サービス（</a:t>
                      </a:r>
                      <a:r>
                        <a:rPr lang="en-US" altLang="ja-JP" sz="1050" dirty="0">
                          <a:solidFill>
                            <a:schemeClr val="tx1"/>
                          </a:solidFill>
                          <a:latin typeface="メイリオ" panose="020B0604030504040204" pitchFamily="50" charset="-128"/>
                          <a:ea typeface="メイリオ" panose="020B0604030504040204" pitchFamily="50" charset="-128"/>
                        </a:rPr>
                        <a:t>CS</a:t>
                      </a:r>
                      <a:r>
                        <a:rPr lang="ja-JP" altLang="en-US" sz="1050" dirty="0">
                          <a:solidFill>
                            <a:schemeClr val="tx1"/>
                          </a:solidFill>
                          <a:latin typeface="メイリオ" panose="020B0604030504040204" pitchFamily="50" charset="-128"/>
                          <a:ea typeface="メイリオ" panose="020B0604030504040204" pitchFamily="50" charset="-128"/>
                        </a:rPr>
                        <a:t>）★常時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12名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12名</a:t>
                      </a:r>
                    </a:p>
                  </a:txBody>
                  <a:tcPr anchor="ctr"/>
                </a:tc>
                <a:extLst>
                  <a:ext uri="{0D108BD9-81ED-4DB2-BD59-A6C34878D82A}">
                    <a16:rowId xmlns:a16="http://schemas.microsoft.com/office/drawing/2014/main" val="26637223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入出庫担当者★常時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8名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8名</a:t>
                      </a:r>
                    </a:p>
                  </a:txBody>
                  <a:tcPr anchor="ctr"/>
                </a:tc>
                <a:extLst>
                  <a:ext uri="{0D108BD9-81ED-4DB2-BD59-A6C34878D82A}">
                    <a16:rowId xmlns:a16="http://schemas.microsoft.com/office/drawing/2014/main" val="18137472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14名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50名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26名</a:t>
                      </a:r>
                    </a:p>
                  </a:txBody>
                  <a:tcPr anchor="ctr"/>
                </a:tc>
                <a:extLst>
                  <a:ext uri="{0D108BD9-81ED-4DB2-BD59-A6C34878D82A}">
                    <a16:rowId xmlns:a16="http://schemas.microsoft.com/office/drawing/2014/main" val="7323731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合計</a:t>
                      </a:r>
                      <a:r>
                        <a:rPr lang="en-US" altLang="ja-JP" sz="1050" b="1" dirty="0">
                          <a:solidFill>
                            <a:schemeClr val="tx1"/>
                          </a:solidFill>
                          <a:latin typeface="メイリオ" panose="020B0604030504040204" pitchFamily="50" charset="-128"/>
                          <a:ea typeface="メイリオ" panose="020B0604030504040204" pitchFamily="50" charset="-128"/>
                        </a:rPr>
                        <a:t>】</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116名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6,850名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230名</a:t>
                      </a:r>
                    </a:p>
                  </a:txBody>
                  <a:tcPr anchor="ctr"/>
                </a:tc>
                <a:extLst>
                  <a:ext uri="{0D108BD9-81ED-4DB2-BD59-A6C34878D82A}">
                    <a16:rowId xmlns:a16="http://schemas.microsoft.com/office/drawing/2014/main" val="2665066673"/>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solidFill>
                            <a:schemeClr val="tx1"/>
                          </a:solidFill>
                          <a:latin typeface="メイリオ" panose="020B0604030504040204" pitchFamily="50" charset="-128"/>
                          <a:ea typeface="メイリオ" panose="020B0604030504040204" pitchFamily="50" charset="-128"/>
                        </a:rPr>
                        <a:t>同時セッション数</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extLst>
                  <a:ext uri="{0D108BD9-81ED-4DB2-BD59-A6C34878D82A}">
                    <a16:rowId xmlns:a16="http://schemas.microsoft.com/office/drawing/2014/main" val="1670914217"/>
                  </a:ext>
                </a:extLst>
              </a:tr>
            </a:tbl>
          </a:graphicData>
        </a:graphic>
      </p:graphicFrame>
      <p:sp>
        <p:nvSpPr>
          <p:cNvPr id="11" name="正方形/長方形 10">
            <a:extLst>
              <a:ext uri="{FF2B5EF4-FFF2-40B4-BE49-F238E27FC236}">
                <a16:creationId xmlns:a16="http://schemas.microsoft.com/office/drawing/2014/main" id="{C70F079A-5745-EBC7-025F-657347BC15C1}"/>
              </a:ext>
            </a:extLst>
          </p:cNvPr>
          <p:cNvSpPr/>
          <p:nvPr/>
        </p:nvSpPr>
        <p:spPr>
          <a:xfrm>
            <a:off x="5570030" y="2349129"/>
            <a:ext cx="2507168" cy="3886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EAF6F55-4610-298C-A78C-6CA4471BB17A}"/>
              </a:ext>
            </a:extLst>
          </p:cNvPr>
          <p:cNvSpPr txBox="1"/>
          <p:nvPr/>
        </p:nvSpPr>
        <p:spPr>
          <a:xfrm>
            <a:off x="440099" y="6242559"/>
            <a:ext cx="8263801" cy="246221"/>
          </a:xfrm>
          <a:prstGeom prst="rect">
            <a:avLst/>
          </a:prstGeom>
          <a:noFill/>
        </p:spPr>
        <p:txBody>
          <a:bodyPr wrap="none" rtlCol="0">
            <a:spAutoFit/>
          </a:bodyPr>
          <a:lstStyle/>
          <a:p>
            <a:r>
              <a:rPr lang="en-US" altLang="ja-JP" sz="1000" dirty="0">
                <a:solidFill>
                  <a:srgbClr val="C00000"/>
                </a:solidFill>
                <a:latin typeface="メイリオ"/>
                <a:ea typeface="メイリオ"/>
                <a:cs typeface="メイリオ"/>
              </a:rPr>
              <a:t>※</a:t>
            </a:r>
            <a:r>
              <a:rPr lang="ja-JP" altLang="en-US" sz="1000" dirty="0">
                <a:solidFill>
                  <a:srgbClr val="C00000"/>
                </a:solidFill>
                <a:latin typeface="メイリオ"/>
                <a:ea typeface="メイリオ"/>
                <a:cs typeface="メイリオ"/>
              </a:rPr>
              <a:t>同時セッション数とは、コンピュータが同時に処理する数のことです。例えば利用者が同時に実行ボタンを押した際に処理できる数です。</a:t>
            </a:r>
            <a:endParaRPr lang="en-US" altLang="ja-JP" sz="1000" dirty="0">
              <a:solidFill>
                <a:srgbClr val="C00000"/>
              </a:solidFill>
              <a:latin typeface="メイリオ"/>
              <a:ea typeface="メイリオ"/>
              <a:cs typeface="メイリオ"/>
            </a:endParaRPr>
          </a:p>
          <a:p>
            <a:r>
              <a:rPr lang="en-US" altLang="ja-JP" sz="1000" dirty="0">
                <a:solidFill>
                  <a:srgbClr val="C00000"/>
                </a:solidFill>
                <a:latin typeface="メイリオ"/>
                <a:ea typeface="メイリオ"/>
                <a:cs typeface="メイリオ"/>
              </a:rPr>
              <a:t>※SLA記載の同時接続利用者数100名（最善努力型）に対し、本案件は5年後230名を目標値として別途調整します。</a:t>
            </a:r>
          </a:p>
        </p:txBody>
      </p:sp>
    </p:spTree>
    <p:extLst>
      <p:ext uri="{BB962C8B-B14F-4D97-AF65-F5344CB8AC3E}">
        <p14:creationId xmlns:p14="http://schemas.microsoft.com/office/powerpoint/2010/main" val="387456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システム構成（2/3）</a:t>
            </a:r>
          </a:p>
        </p:txBody>
      </p:sp>
      <p:sp>
        <p:nvSpPr>
          <p:cNvPr id="9" name="円/楕円 103">
            <a:extLst>
              <a:ext uri="{FF2B5EF4-FFF2-40B4-BE49-F238E27FC236}">
                <a16:creationId xmlns:a16="http://schemas.microsoft.com/office/drawing/2014/main" id="{7284C868-F1BE-841D-93F1-06ED0A51EE54}"/>
              </a:ext>
            </a:extLst>
          </p:cNvPr>
          <p:cNvSpPr/>
          <p:nvPr/>
        </p:nvSpPr>
        <p:spPr>
          <a:xfrm>
            <a:off x="6277332" y="6140034"/>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7AF04CB-3A26-EEF6-7561-4EEC18C9F45D}"/>
              </a:ext>
            </a:extLst>
          </p:cNvPr>
          <p:cNvSpPr txBox="1">
            <a:spLocks noChangeArrowheads="1"/>
          </p:cNvSpPr>
          <p:nvPr/>
        </p:nvSpPr>
        <p:spPr bwMode="auto">
          <a:xfrm>
            <a:off x="169228" y="681070"/>
            <a:ext cx="8724873" cy="4508927"/>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startAt="2"/>
              <a:defRPr/>
            </a:pPr>
            <a:r>
              <a:rPr lang="ja-JP" altLang="en-US" dirty="0">
                <a:latin typeface="メイリオ"/>
                <a:ea typeface="メイリオ"/>
                <a:cs typeface="メイリオ"/>
              </a:rPr>
              <a:t>サーバサイジングの要素となる同時セッション数（同時に処理する件数）をピーク月（7月）の注文件数を根拠として想定しました。</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indent="0" fontAlgn="t">
              <a:spcBef>
                <a:spcPct val="50000"/>
              </a:spcBef>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前ページおよび本ページの結果より、リリース当初は同時セッション数=4（フロント2、管理2）をこなす能力のサーバを導入し、リリース後にレスポンス状況を監視してサーバのスペックアップをしていくことをご提案します。</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以下にサイジング結果を提示します。</a:t>
            </a:r>
            <a:endParaRPr lang="en-US" altLang="ja-JP" dirty="0">
              <a:latin typeface="メイリオ"/>
              <a:ea typeface="メイリオ"/>
              <a:cs typeface="メイリオ"/>
            </a:endParaRPr>
          </a:p>
        </p:txBody>
      </p:sp>
      <p:graphicFrame>
        <p:nvGraphicFramePr>
          <p:cNvPr id="14" name="表 13">
            <a:extLst>
              <a:ext uri="{FF2B5EF4-FFF2-40B4-BE49-F238E27FC236}">
                <a16:creationId xmlns:a16="http://schemas.microsoft.com/office/drawing/2014/main" id="{6234A989-CA69-7374-93C7-AB3D6547DBF9}"/>
              </a:ext>
            </a:extLst>
          </p:cNvPr>
          <p:cNvGraphicFramePr>
            <a:graphicFrameLocks noGrp="1"/>
          </p:cNvGraphicFramePr>
          <p:nvPr>
            <p:extLst>
              <p:ext uri="{D42A27DB-BD31-4B8C-83A1-F6EECF244321}">
                <p14:modId xmlns:p14="http://schemas.microsoft.com/office/powerpoint/2010/main" val="3387810665"/>
              </p:ext>
            </p:extLst>
          </p:nvPr>
        </p:nvGraphicFramePr>
        <p:xfrm>
          <a:off x="249900" y="1213898"/>
          <a:ext cx="8644203" cy="1986503"/>
        </p:xfrm>
        <a:graphic>
          <a:graphicData uri="http://schemas.openxmlformats.org/drawingml/2006/table">
            <a:tbl>
              <a:tblPr firstRow="1" bandRow="1">
                <a:tableStyleId>{5C22544A-7EE6-4342-B048-85BDC9FD1C3A}</a:tableStyleId>
              </a:tblPr>
              <a:tblGrid>
                <a:gridCol w="907550">
                  <a:extLst>
                    <a:ext uri="{9D8B030D-6E8A-4147-A177-3AD203B41FA5}">
                      <a16:colId xmlns:a16="http://schemas.microsoft.com/office/drawing/2014/main" val="20000"/>
                    </a:ext>
                  </a:extLst>
                </a:gridCol>
                <a:gridCol w="1275587">
                  <a:extLst>
                    <a:ext uri="{9D8B030D-6E8A-4147-A177-3AD203B41FA5}">
                      <a16:colId xmlns:a16="http://schemas.microsoft.com/office/drawing/2014/main" val="52937638"/>
                    </a:ext>
                  </a:extLst>
                </a:gridCol>
                <a:gridCol w="1357588">
                  <a:extLst>
                    <a:ext uri="{9D8B030D-6E8A-4147-A177-3AD203B41FA5}">
                      <a16:colId xmlns:a16="http://schemas.microsoft.com/office/drawing/2014/main" val="378807749"/>
                    </a:ext>
                  </a:extLst>
                </a:gridCol>
                <a:gridCol w="1239141">
                  <a:extLst>
                    <a:ext uri="{9D8B030D-6E8A-4147-A177-3AD203B41FA5}">
                      <a16:colId xmlns:a16="http://schemas.microsoft.com/office/drawing/2014/main" val="3267060346"/>
                    </a:ext>
                  </a:extLst>
                </a:gridCol>
                <a:gridCol w="1239141">
                  <a:extLst>
                    <a:ext uri="{9D8B030D-6E8A-4147-A177-3AD203B41FA5}">
                      <a16:colId xmlns:a16="http://schemas.microsoft.com/office/drawing/2014/main" val="3006168762"/>
                    </a:ext>
                  </a:extLst>
                </a:gridCol>
                <a:gridCol w="1133218">
                  <a:extLst>
                    <a:ext uri="{9D8B030D-6E8A-4147-A177-3AD203B41FA5}">
                      <a16:colId xmlns:a16="http://schemas.microsoft.com/office/drawing/2014/main" val="4160195587"/>
                    </a:ext>
                  </a:extLst>
                </a:gridCol>
                <a:gridCol w="1491978">
                  <a:extLst>
                    <a:ext uri="{9D8B030D-6E8A-4147-A177-3AD203B41FA5}">
                      <a16:colId xmlns:a16="http://schemas.microsoft.com/office/drawing/2014/main" val="3347896428"/>
                    </a:ext>
                  </a:extLst>
                </a:gridCol>
              </a:tblGrid>
              <a:tr h="576727">
                <a:tc>
                  <a:txBody>
                    <a:bodyPr/>
                    <a:lstStyle/>
                    <a:p>
                      <a:pPr algn="ctr"/>
                      <a:r>
                        <a:rPr kumimoji="1" lang="ja-JP" altLang="en-US" sz="1050" dirty="0">
                          <a:latin typeface="メイリオ" panose="020B0604030504040204" pitchFamily="50" charset="-128"/>
                          <a:ea typeface="メイリオ" panose="020B0604030504040204" pitchFamily="50" charset="-128"/>
                        </a:rPr>
                        <a:t>成長</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倍率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ピーク月</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(件/月)</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日平均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(件/日)</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※30日/月換算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時間平均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(件/時)</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※8時間/日換算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分平均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件</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分</a:t>
                      </a: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閲覧人数</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同時セッション</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同時処理</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現状</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29,232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974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122</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0.105</a:t>
                      </a:r>
                    </a:p>
                  </a:txBody>
                  <a:tcPr anchor="ctr"/>
                </a:tc>
                <a:extLst>
                  <a:ext uri="{0D108BD9-81ED-4DB2-BD59-A6C34878D82A}">
                    <a16:rowId xmlns:a16="http://schemas.microsoft.com/office/drawing/2014/main" val="3640123824"/>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1.2</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35,078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1,169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146</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25</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0.125</a:t>
                      </a:r>
                    </a:p>
                  </a:txBody>
                  <a:tcPr anchor="ctr"/>
                </a:tc>
                <a:extLst>
                  <a:ext uri="{0D108BD9-81ED-4DB2-BD59-A6C34878D82A}">
                    <a16:rowId xmlns:a16="http://schemas.microsoft.com/office/drawing/2014/main" val="10001"/>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1.5</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43,848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1,462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183</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3.0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0.155</a:t>
                      </a:r>
                    </a:p>
                  </a:txBody>
                  <a:tcPr anchor="ctr"/>
                </a:tc>
                <a:extLst>
                  <a:ext uri="{0D108BD9-81ED-4DB2-BD59-A6C34878D82A}">
                    <a16:rowId xmlns:a16="http://schemas.microsoft.com/office/drawing/2014/main" val="2226395339"/>
                  </a:ext>
                </a:extLst>
              </a:tr>
              <a:tr h="3524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2</a:t>
                      </a:r>
                      <a:r>
                        <a:rPr lang="ja-JP" altLang="en-US" sz="1050" dirty="0">
                          <a:solidFill>
                            <a:schemeClr val="tx1"/>
                          </a:solidFill>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58,464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1,949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244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4.1</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0.205</a:t>
                      </a:r>
                    </a:p>
                  </a:txBody>
                  <a:tcPr anchor="ctr"/>
                </a:tc>
                <a:extLst>
                  <a:ext uri="{0D108BD9-81ED-4DB2-BD59-A6C34878D82A}">
                    <a16:rowId xmlns:a16="http://schemas.microsoft.com/office/drawing/2014/main" val="10002"/>
                  </a:ext>
                </a:extLst>
              </a:tr>
            </a:tbl>
          </a:graphicData>
        </a:graphic>
      </p:graphicFrame>
      <p:graphicFrame>
        <p:nvGraphicFramePr>
          <p:cNvPr id="16" name="表 15">
            <a:extLst>
              <a:ext uri="{FF2B5EF4-FFF2-40B4-BE49-F238E27FC236}">
                <a16:creationId xmlns:a16="http://schemas.microsoft.com/office/drawing/2014/main" id="{1E2FA97D-334D-5B51-9CFA-CD8651FE3374}"/>
              </a:ext>
            </a:extLst>
          </p:cNvPr>
          <p:cNvGraphicFramePr>
            <a:graphicFrameLocks noGrp="1"/>
          </p:cNvGraphicFramePr>
          <p:nvPr>
            <p:extLst>
              <p:ext uri="{D42A27DB-BD31-4B8C-83A1-F6EECF244321}">
                <p14:modId xmlns:p14="http://schemas.microsoft.com/office/powerpoint/2010/main" val="3492051934"/>
              </p:ext>
            </p:extLst>
          </p:nvPr>
        </p:nvGraphicFramePr>
        <p:xfrm>
          <a:off x="254537" y="5225364"/>
          <a:ext cx="6229219" cy="914400"/>
        </p:xfrm>
        <a:graphic>
          <a:graphicData uri="http://schemas.openxmlformats.org/drawingml/2006/table">
            <a:tbl>
              <a:tblPr firstRow="1" bandRow="1">
                <a:tableStyleId>{5C22544A-7EE6-4342-B048-85BDC9FD1C3A}</a:tableStyleId>
              </a:tblPr>
              <a:tblGrid>
                <a:gridCol w="1054286">
                  <a:extLst>
                    <a:ext uri="{9D8B030D-6E8A-4147-A177-3AD203B41FA5}">
                      <a16:colId xmlns:a16="http://schemas.microsoft.com/office/drawing/2014/main" val="20000"/>
                    </a:ext>
                  </a:extLst>
                </a:gridCol>
                <a:gridCol w="1052830">
                  <a:extLst>
                    <a:ext uri="{9D8B030D-6E8A-4147-A177-3AD203B41FA5}">
                      <a16:colId xmlns:a16="http://schemas.microsoft.com/office/drawing/2014/main" val="3343897986"/>
                    </a:ext>
                  </a:extLst>
                </a:gridCol>
                <a:gridCol w="908368">
                  <a:extLst>
                    <a:ext uri="{9D8B030D-6E8A-4147-A177-3AD203B41FA5}">
                      <a16:colId xmlns:a16="http://schemas.microsoft.com/office/drawing/2014/main" val="20001"/>
                    </a:ext>
                  </a:extLst>
                </a:gridCol>
                <a:gridCol w="1029018">
                  <a:extLst>
                    <a:ext uri="{9D8B030D-6E8A-4147-A177-3AD203B41FA5}">
                      <a16:colId xmlns:a16="http://schemas.microsoft.com/office/drawing/2014/main" val="1652644985"/>
                    </a:ext>
                  </a:extLst>
                </a:gridCol>
                <a:gridCol w="949450">
                  <a:extLst>
                    <a:ext uri="{9D8B030D-6E8A-4147-A177-3AD203B41FA5}">
                      <a16:colId xmlns:a16="http://schemas.microsoft.com/office/drawing/2014/main" val="20002"/>
                    </a:ext>
                  </a:extLst>
                </a:gridCol>
                <a:gridCol w="1235267">
                  <a:extLst>
                    <a:ext uri="{9D8B030D-6E8A-4147-A177-3AD203B41FA5}">
                      <a16:colId xmlns:a16="http://schemas.microsoft.com/office/drawing/2014/main" val="1473744288"/>
                    </a:ext>
                  </a:extLst>
                </a:gridCol>
              </a:tblGrid>
              <a:tr h="129540">
                <a:tc rowSpan="2">
                  <a:txBody>
                    <a:bodyPr/>
                    <a:lstStyle/>
                    <a:p>
                      <a:pPr algn="ctr"/>
                      <a:r>
                        <a:rPr kumimoji="1" lang="ja-JP" altLang="en-US" sz="1050" dirty="0">
                          <a:latin typeface="メイリオ" panose="020B0604030504040204" pitchFamily="50" charset="-128"/>
                          <a:ea typeface="メイリオ" panose="020B0604030504040204" pitchFamily="50" charset="-128"/>
                        </a:rPr>
                        <a:t>サーバ</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必要</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セッション数</a:t>
                      </a:r>
                    </a:p>
                  </a:txBody>
                  <a:tcPr anchor="ct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1</a:t>
                      </a:r>
                      <a:r>
                        <a:rPr kumimoji="1" lang="ja-JP" altLang="en-US" sz="1050" dirty="0">
                          <a:latin typeface="メイリオ" panose="020B0604030504040204" pitchFamily="50" charset="-128"/>
                          <a:ea typeface="メイリオ" panose="020B0604030504040204" pitchFamily="50" charset="-128"/>
                        </a:rPr>
                        <a:t>（標準）</a:t>
                      </a:r>
                    </a:p>
                  </a:txBody>
                  <a:tcPr/>
                </a:tc>
                <a:tc hMerge="1">
                  <a:txBody>
                    <a:bodyPr/>
                    <a:lstStyle/>
                    <a:p>
                      <a:endParaRPr kumimoji="1" lang="ja-JP" altLang="en-US" sz="1100" dirty="0"/>
                    </a:p>
                  </a:txBody>
                  <a:tcP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2</a:t>
                      </a:r>
                      <a:r>
                        <a:rPr kumimoji="1" lang="ja-JP" altLang="en-US" sz="1050" dirty="0">
                          <a:latin typeface="メイリオ" panose="020B0604030504040204" pitchFamily="50" charset="-128"/>
                          <a:ea typeface="メイリオ" panose="020B0604030504040204" pitchFamily="50" charset="-128"/>
                        </a:rPr>
                        <a:t>（拡張）</a:t>
                      </a:r>
                    </a:p>
                  </a:txBody>
                  <a:tcPr/>
                </a:tc>
                <a:tc hMerge="1">
                  <a:txBody>
                    <a:bodyPr/>
                    <a:lstStyle/>
                    <a:p>
                      <a:endParaRPr kumimoji="1" lang="ja-JP" altLang="en-US" sz="1100" dirty="0"/>
                    </a:p>
                  </a:txBody>
                  <a:tcPr/>
                </a:tc>
                <a:extLst>
                  <a:ext uri="{0D108BD9-81ED-4DB2-BD59-A6C34878D82A}">
                    <a16:rowId xmlns:a16="http://schemas.microsoft.com/office/drawing/2014/main" val="10000"/>
                  </a:ext>
                </a:extLst>
              </a:tr>
              <a:tr h="166496">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extLst>
                  <a:ext uri="{0D108BD9-81ED-4DB2-BD59-A6C34878D82A}">
                    <a16:rowId xmlns:a16="http://schemas.microsoft.com/office/drawing/2014/main" val="2802901355"/>
                  </a:ext>
                </a:extLst>
              </a:tr>
              <a:tr h="193547">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サーバ</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lang="en-US" altLang="ja-JP" sz="1050"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/4GB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=4</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4</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/8GB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4×2</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=8</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bl>
          </a:graphicData>
        </a:graphic>
      </p:graphicFrame>
      <p:sp>
        <p:nvSpPr>
          <p:cNvPr id="18" name="正方形/長方形 17">
            <a:extLst>
              <a:ext uri="{FF2B5EF4-FFF2-40B4-BE49-F238E27FC236}">
                <a16:creationId xmlns:a16="http://schemas.microsoft.com/office/drawing/2014/main" id="{D7C0EFEE-DF25-AE5D-D0D7-0DE9B29ACE38}"/>
              </a:ext>
            </a:extLst>
          </p:cNvPr>
          <p:cNvSpPr/>
          <p:nvPr/>
        </p:nvSpPr>
        <p:spPr>
          <a:xfrm>
            <a:off x="249897" y="2803106"/>
            <a:ext cx="8644203" cy="3972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1E31B30B-E272-F676-8A53-4300633CA6B3}"/>
              </a:ext>
            </a:extLst>
          </p:cNvPr>
          <p:cNvSpPr/>
          <p:nvPr/>
        </p:nvSpPr>
        <p:spPr>
          <a:xfrm>
            <a:off x="2350274" y="5225364"/>
            <a:ext cx="1961459"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002C819C-DB32-A9EB-4390-027BB45BE599}"/>
              </a:ext>
            </a:extLst>
          </p:cNvPr>
          <p:cNvSpPr txBox="1"/>
          <p:nvPr/>
        </p:nvSpPr>
        <p:spPr>
          <a:xfrm>
            <a:off x="249897" y="3237019"/>
            <a:ext cx="7678705" cy="769441"/>
          </a:xfrm>
          <a:prstGeom prst="rect">
            <a:avLst/>
          </a:prstGeom>
          <a:noFill/>
        </p:spPr>
        <p:txBody>
          <a:bodyPr wrap="none" rtlCol="0">
            <a:spAutoFit/>
          </a:bodyPr>
          <a:lstStyle/>
          <a:p>
            <a:r>
              <a:rPr lang="en-US" altLang="ja-JP" sz="1100" dirty="0">
                <a:latin typeface="メイリオ" panose="020B0604030504040204" pitchFamily="50" charset="-128"/>
                <a:ea typeface="メイリオ" panose="020B0604030504040204" pitchFamily="50" charset="-128"/>
              </a:rPr>
              <a:t>※ 営業日30日/月、営業8時間/日で慣らした値。ピーク日・時間帯の偏りは実績がないため考慮しておりません。</a:t>
            </a:r>
          </a:p>
          <a:p>
            <a:r>
              <a:rPr lang="en-US" altLang="ja-JP" sz="1100" dirty="0">
                <a:latin typeface="メイリオ" panose="020B0604030504040204" pitchFamily="50" charset="-128"/>
                <a:ea typeface="メイリオ" panose="020B0604030504040204" pitchFamily="50" charset="-128"/>
              </a:rPr>
              <a:t>　 ピーク1時間1,200件（1分20件）でスペックアップを検討、2,400件（1分40件）が上限となります。</a:t>
            </a:r>
          </a:p>
          <a:p>
            <a:r>
              <a:rPr lang="en-US" altLang="ja-JP" sz="1100" dirty="0">
                <a:latin typeface="メイリオ" panose="020B0604030504040204" pitchFamily="50" charset="-128"/>
                <a:ea typeface="メイリオ" panose="020B0604030504040204" pitchFamily="50" charset="-128"/>
              </a:rPr>
              <a:t>※ 成長倍率2倍を5年後の想定とします（8.（1/3）のアクティブユーザ2倍に対応）。</a:t>
            </a:r>
          </a:p>
          <a:p>
            <a:r>
              <a:rPr lang="en-US" altLang="ja-JP" sz="1100" dirty="0">
                <a:latin typeface="メイリオ" panose="020B0604030504040204" pitchFamily="50" charset="-128"/>
                <a:ea typeface="メイリオ" panose="020B0604030504040204" pitchFamily="50" charset="-128"/>
              </a:rPr>
              <a:t>※ 同時アクセス=分平均×滞在時間10分（注文基準の下限値。採用値は8.（1/3）の116名／5年後230名）</a:t>
            </a:r>
          </a:p>
          <a:p>
            <a:r>
              <a:rPr lang="en-US" altLang="ja-JP" sz="1100" dirty="0">
                <a:latin typeface="メイリオ" panose="020B0604030504040204" pitchFamily="50" charset="-128"/>
                <a:ea typeface="メイリオ" panose="020B0604030504040204" pitchFamily="50" charset="-128"/>
              </a:rPr>
              <a:t>※ 同時セッション=秒平均×当該処理3秒（内訳はフロント2、管理2）</a:t>
            </a:r>
          </a:p>
          <a:p>
            <a:r>
              <a:rPr lang="en-US" altLang="ja-JP" sz="1100" dirty="0">
                <a:latin typeface="メイリオ" panose="020B0604030504040204" pitchFamily="50" charset="-128"/>
                <a:ea typeface="メイリオ" panose="020B0604030504040204" pitchFamily="50" charset="-128"/>
              </a:rPr>
              <a:t>※ プラン2（拡張）はオプション（有償）のインフラ拡張となります（標準はプラン1の1台構成）。</a:t>
            </a:r>
          </a:p>
        </p:txBody>
      </p:sp>
    </p:spTree>
    <p:extLst>
      <p:ext uri="{BB962C8B-B14F-4D97-AF65-F5344CB8AC3E}">
        <p14:creationId xmlns:p14="http://schemas.microsoft.com/office/powerpoint/2010/main" val="361936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タイトル 1">
            <a:extLst>
              <a:ext uri="{FF2B5EF4-FFF2-40B4-BE49-F238E27FC236}">
                <a16:creationId xmlns:a16="http://schemas.microsoft.com/office/drawing/2014/main" id="{5FEC125A-1FE4-413C-BE7C-6A870848EA77}"/>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システム構成（3/3）</a:t>
            </a:r>
          </a:p>
        </p:txBody>
      </p:sp>
      <p:sp>
        <p:nvSpPr>
          <p:cNvPr id="28" name="テキスト ボックス 10">
            <a:extLst>
              <a:ext uri="{FF2B5EF4-FFF2-40B4-BE49-F238E27FC236}">
                <a16:creationId xmlns:a16="http://schemas.microsoft.com/office/drawing/2014/main" id="{9BBD17D0-9D7B-6B5D-041F-367658262291}"/>
              </a:ext>
            </a:extLst>
          </p:cNvPr>
          <p:cNvSpPr txBox="1">
            <a:spLocks noChangeArrowheads="1"/>
          </p:cNvSpPr>
          <p:nvPr/>
        </p:nvSpPr>
        <p:spPr bwMode="auto">
          <a:xfrm>
            <a:off x="169228" y="765791"/>
            <a:ext cx="8723251" cy="372410"/>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indent="0" fontAlgn="t">
              <a:lnSpc>
                <a:spcPct val="130000"/>
              </a:lnSpc>
              <a:spcBef>
                <a:spcPct val="50000"/>
              </a:spcBef>
              <a:defRPr/>
            </a:pPr>
            <a:r>
              <a:rPr lang="ja-JP" altLang="en-US" dirty="0">
                <a:latin typeface="メイリオ"/>
                <a:ea typeface="メイリオ"/>
                <a:cs typeface="メイリオ"/>
              </a:rPr>
              <a:t>ご提案のシステム構成を記載します。初期構成は同居1台構成、スケールアウトは有償オプションです。</a:t>
            </a:r>
            <a:endParaRPr lang="en-US" altLang="ja-JP" dirty="0">
              <a:latin typeface="メイリオ"/>
              <a:ea typeface="メイリオ"/>
              <a:cs typeface="メイリオ"/>
            </a:endParaRPr>
          </a:p>
        </p:txBody>
      </p:sp>
      <p:graphicFrame>
        <p:nvGraphicFramePr>
          <p:cNvPr id="39" name="表 38">
            <a:extLst>
              <a:ext uri="{FF2B5EF4-FFF2-40B4-BE49-F238E27FC236}">
                <a16:creationId xmlns:a16="http://schemas.microsoft.com/office/drawing/2014/main" id="{5EC9477D-DB47-8E89-E728-DCE040F1DBDA}"/>
              </a:ext>
            </a:extLst>
          </p:cNvPr>
          <p:cNvGraphicFramePr>
            <a:graphicFrameLocks noGrp="1"/>
          </p:cNvGraphicFramePr>
          <p:nvPr>
            <p:extLst>
              <p:ext uri="{D42A27DB-BD31-4B8C-83A1-F6EECF244321}">
                <p14:modId xmlns:p14="http://schemas.microsoft.com/office/powerpoint/2010/main" val="3332684574"/>
              </p:ext>
            </p:extLst>
          </p:nvPr>
        </p:nvGraphicFramePr>
        <p:xfrm>
          <a:off x="262604" y="3894556"/>
          <a:ext cx="8629874" cy="864096"/>
        </p:xfrm>
        <a:graphic>
          <a:graphicData uri="http://schemas.openxmlformats.org/drawingml/2006/table">
            <a:tbl>
              <a:tblPr firstRow="1" bandRow="1">
                <a:tableStyleId>{F5AB1C69-6EDB-4FF4-983F-18BD219EF322}</a:tableStyleId>
              </a:tblPr>
              <a:tblGrid>
                <a:gridCol w="890254">
                  <a:extLst>
                    <a:ext uri="{9D8B030D-6E8A-4147-A177-3AD203B41FA5}">
                      <a16:colId xmlns:a16="http://schemas.microsoft.com/office/drawing/2014/main" val="762062982"/>
                    </a:ext>
                  </a:extLst>
                </a:gridCol>
                <a:gridCol w="1780510">
                  <a:extLst>
                    <a:ext uri="{9D8B030D-6E8A-4147-A177-3AD203B41FA5}">
                      <a16:colId xmlns:a16="http://schemas.microsoft.com/office/drawing/2014/main" val="1241915895"/>
                    </a:ext>
                  </a:extLst>
                </a:gridCol>
                <a:gridCol w="1986370">
                  <a:extLst>
                    <a:ext uri="{9D8B030D-6E8A-4147-A177-3AD203B41FA5}">
                      <a16:colId xmlns:a16="http://schemas.microsoft.com/office/drawing/2014/main" val="4269367838"/>
                    </a:ext>
                  </a:extLst>
                </a:gridCol>
                <a:gridCol w="1986370">
                  <a:extLst>
                    <a:ext uri="{9D8B030D-6E8A-4147-A177-3AD203B41FA5}">
                      <a16:colId xmlns:a16="http://schemas.microsoft.com/office/drawing/2014/main" val="3883879864"/>
                    </a:ext>
                  </a:extLst>
                </a:gridCol>
                <a:gridCol w="1986370">
                  <a:extLst>
                    <a:ext uri="{9D8B030D-6E8A-4147-A177-3AD203B41FA5}">
                      <a16:colId xmlns:a16="http://schemas.microsoft.com/office/drawing/2014/main" val="1468306935"/>
                    </a:ext>
                  </a:extLst>
                </a:gridCol>
              </a:tblGrid>
              <a:tr h="288032">
                <a:tc rowSpan="3">
                  <a:txBody>
                    <a:bodyPr/>
                    <a:lstStyle/>
                    <a:p>
                      <a:pPr algn="ctr"/>
                      <a:r>
                        <a:rPr kumimoji="1" lang="ja-JP" altLang="en-US" sz="1100" b="1" dirty="0">
                          <a:solidFill>
                            <a:schemeClr val="bg1"/>
                          </a:solidFill>
                          <a:latin typeface="メイリオ" panose="020B0604030504040204" pitchFamily="50" charset="-128"/>
                          <a:ea typeface="メイリオ" panose="020B0604030504040204" pitchFamily="50" charset="-128"/>
                        </a:rPr>
                        <a:t>サーバ</a:t>
                      </a:r>
                      <a:endParaRPr kumimoji="1" lang="en-US" altLang="ja-JP" sz="11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bg1"/>
                          </a:solidFill>
                          <a:latin typeface="メイリオ" panose="020B0604030504040204" pitchFamily="50" charset="-128"/>
                          <a:ea typeface="メイリオ" panose="020B0604030504040204" pitchFamily="50" charset="-128"/>
                        </a:rPr>
                        <a:t>スペック</a:t>
                      </a:r>
                    </a:p>
                  </a:txBody>
                  <a:tcPr anchor="ctr">
                    <a:solidFill>
                      <a:srgbClr val="00B050"/>
                    </a:solidFill>
                  </a:tcPr>
                </a:tc>
                <a:tc>
                  <a:txBody>
                    <a:bodyPr/>
                    <a:lstStyle/>
                    <a:p>
                      <a:pPr algn="ctr"/>
                      <a:r>
                        <a:rPr kumimoji="1" lang="ja-JP" altLang="en-US" sz="1100" dirty="0">
                          <a:latin typeface="メイリオ" panose="020B0604030504040204" pitchFamily="50" charset="-128"/>
                          <a:ea typeface="メイリオ" panose="020B0604030504040204" pitchFamily="50" charset="-128"/>
                        </a:rPr>
                        <a:t>サーバ種別</a:t>
                      </a: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CPU</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Mem</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SSD</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extLst>
                  <a:ext uri="{0D108BD9-81ED-4DB2-BD59-A6C34878D82A}">
                    <a16:rowId xmlns:a16="http://schemas.microsoft.com/office/drawing/2014/main" val="3224176902"/>
                  </a:ext>
                </a:extLst>
              </a:tr>
              <a:tr h="288032">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LB</a:t>
                      </a:r>
                      <a:r>
                        <a:rPr kumimoji="1" lang="ja-JP" altLang="en-US" sz="1000" b="1" dirty="0">
                          <a:latin typeface="メイリオ" panose="020B0604030504040204" pitchFamily="50" charset="-128"/>
                          <a:ea typeface="メイリオ" panose="020B0604030504040204" pitchFamily="50" charset="-128"/>
                        </a:rPr>
                        <a:t>サーバ</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188358318"/>
                  </a:ext>
                </a:extLst>
              </a:tr>
              <a:tr h="288032">
                <a:tc vMerge="1">
                  <a:txBody>
                    <a:bodyPr/>
                    <a:lstStyle/>
                    <a:p>
                      <a:pPr algn="ctr"/>
                      <a:endParaRPr kumimoji="1" lang="ja-JP" altLang="en-US" sz="1000" b="1" dirty="0">
                        <a:solidFill>
                          <a:schemeClr val="bg1"/>
                        </a:solidFill>
                        <a:latin typeface="メイリオ" panose="020B0604030504040204" pitchFamily="50" charset="-128"/>
                        <a:ea typeface="メイリオ" panose="020B0604030504040204" pitchFamily="50" charset="-128"/>
                      </a:endParaRPr>
                    </a:p>
                  </a:txBody>
                  <a:tcPr anchor="ctr">
                    <a:solidFill>
                      <a:srgbClr val="4F81B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WEB</a:t>
                      </a:r>
                      <a:r>
                        <a:rPr kumimoji="1" lang="ja-JP" altLang="en-US" sz="1000" b="1" dirty="0">
                          <a:latin typeface="メイリオ" panose="020B0604030504040204" pitchFamily="50" charset="-128"/>
                          <a:ea typeface="メイリオ" panose="020B0604030504040204" pitchFamily="50" charset="-128"/>
                        </a:rPr>
                        <a:t>・</a:t>
                      </a:r>
                      <a:r>
                        <a:rPr kumimoji="1" lang="en-US" altLang="ja-JP" sz="1000" b="1" dirty="0">
                          <a:latin typeface="メイリオ" panose="020B0604030504040204" pitchFamily="50" charset="-128"/>
                          <a:ea typeface="メイリオ" panose="020B0604030504040204" pitchFamily="50" charset="-128"/>
                        </a:rPr>
                        <a:t>DB</a:t>
                      </a:r>
                      <a:r>
                        <a:rPr kumimoji="1" lang="ja-JP" altLang="en-US" sz="1000" b="1" dirty="0">
                          <a:latin typeface="メイリオ" panose="020B0604030504040204" pitchFamily="50" charset="-128"/>
                          <a:ea typeface="メイリオ" panose="020B0604030504040204" pitchFamily="50" charset="-128"/>
                        </a:rPr>
                        <a:t>サーバ（同居）</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4GB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100GB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746547364"/>
                  </a:ext>
                </a:extLst>
              </a:tr>
            </a:tbl>
          </a:graphicData>
        </a:graphic>
      </p:graphicFrame>
      <p:grpSp>
        <p:nvGrpSpPr>
          <p:cNvPr id="41" name="グループ化 40">
            <a:extLst>
              <a:ext uri="{FF2B5EF4-FFF2-40B4-BE49-F238E27FC236}">
                <a16:creationId xmlns:a16="http://schemas.microsoft.com/office/drawing/2014/main" id="{BE4406F1-FAFD-ADF9-4B61-F115A803CADF}"/>
              </a:ext>
            </a:extLst>
          </p:cNvPr>
          <p:cNvGrpSpPr/>
          <p:nvPr/>
        </p:nvGrpSpPr>
        <p:grpSpPr>
          <a:xfrm>
            <a:off x="1030036" y="1433197"/>
            <a:ext cx="6432663" cy="2283835"/>
            <a:chOff x="0" y="0"/>
            <a:chExt cx="6438899" cy="3222662"/>
          </a:xfrm>
        </p:grpSpPr>
        <p:grpSp>
          <p:nvGrpSpPr>
            <p:cNvPr id="42" name="グループ化 41">
              <a:extLst>
                <a:ext uri="{FF2B5EF4-FFF2-40B4-BE49-F238E27FC236}">
                  <a16:creationId xmlns:a16="http://schemas.microsoft.com/office/drawing/2014/main" id="{17C48277-8AB0-E291-BC9E-932F627AF22A}"/>
                </a:ext>
              </a:extLst>
            </p:cNvPr>
            <p:cNvGrpSpPr/>
            <p:nvPr/>
          </p:nvGrpSpPr>
          <p:grpSpPr>
            <a:xfrm>
              <a:off x="0" y="0"/>
              <a:ext cx="6438899" cy="3222662"/>
              <a:chOff x="0" y="0"/>
              <a:chExt cx="6484379" cy="3276000"/>
            </a:xfrm>
          </p:grpSpPr>
          <p:sp>
            <p:nvSpPr>
              <p:cNvPr id="45" name="テキスト ボックス 19">
                <a:extLst>
                  <a:ext uri="{FF2B5EF4-FFF2-40B4-BE49-F238E27FC236}">
                    <a16:creationId xmlns:a16="http://schemas.microsoft.com/office/drawing/2014/main" id="{0ED8AA7C-5D74-D8BD-8D64-C4785563849F}"/>
                  </a:ext>
                </a:extLst>
              </p:cNvPr>
              <p:cNvSpPr txBox="1"/>
              <p:nvPr/>
            </p:nvSpPr>
            <p:spPr>
              <a:xfrm>
                <a:off x="0" y="1193361"/>
                <a:ext cx="1434046" cy="348068"/>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インターネット</a:t>
                </a:r>
              </a:p>
            </p:txBody>
          </p:sp>
          <p:grpSp>
            <p:nvGrpSpPr>
              <p:cNvPr id="46" name="グループ化 45">
                <a:extLst>
                  <a:ext uri="{FF2B5EF4-FFF2-40B4-BE49-F238E27FC236}">
                    <a16:creationId xmlns:a16="http://schemas.microsoft.com/office/drawing/2014/main" id="{F13B81CB-561F-EB02-49E2-E566562086DD}"/>
                  </a:ext>
                </a:extLst>
              </p:cNvPr>
              <p:cNvGrpSpPr/>
              <p:nvPr/>
            </p:nvGrpSpPr>
            <p:grpSpPr>
              <a:xfrm>
                <a:off x="249398" y="0"/>
                <a:ext cx="6234981" cy="3276000"/>
                <a:chOff x="249398" y="0"/>
                <a:chExt cx="6234981" cy="3276000"/>
              </a:xfrm>
            </p:grpSpPr>
            <p:pic>
              <p:nvPicPr>
                <p:cNvPr id="47" name="Picture 8">
                  <a:extLst>
                    <a:ext uri="{FF2B5EF4-FFF2-40B4-BE49-F238E27FC236}">
                      <a16:creationId xmlns:a16="http://schemas.microsoft.com/office/drawing/2014/main" id="{58CF46AF-0C68-7F13-9DCB-F5C162E8FC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398" y="198494"/>
                  <a:ext cx="891693" cy="1031203"/>
                </a:xfrm>
                <a:prstGeom prst="rect">
                  <a:avLst/>
                </a:prstGeom>
                <a:noFill/>
                <a:extLst>
                  <a:ext uri="{909E8E84-426E-40DD-AFC4-6F175D3DCCD1}">
                    <a14:hiddenFill xmlns:a14="http://schemas.microsoft.com/office/drawing/2010/main">
                      <a:solidFill>
                        <a:srgbClr val="FFFFFF"/>
                      </a:solidFill>
                    </a14:hiddenFill>
                  </a:ext>
                </a:extLst>
              </p:spPr>
            </p:pic>
            <p:sp>
              <p:nvSpPr>
                <p:cNvPr id="48" name="テキスト ボックス 12">
                  <a:extLst>
                    <a:ext uri="{FF2B5EF4-FFF2-40B4-BE49-F238E27FC236}">
                      <a16:creationId xmlns:a16="http://schemas.microsoft.com/office/drawing/2014/main" id="{86145C13-A153-9D94-EA84-5C2D089AED10}"/>
                    </a:ext>
                  </a:extLst>
                </p:cNvPr>
                <p:cNvSpPr txBox="1"/>
                <p:nvPr/>
              </p:nvSpPr>
              <p:spPr>
                <a:xfrm>
                  <a:off x="3606822" y="642276"/>
                  <a:ext cx="129614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ロードバランサー</a:t>
                  </a:r>
                </a:p>
              </p:txBody>
            </p:sp>
            <p:sp>
              <p:nvSpPr>
                <p:cNvPr id="49" name="テキスト ボックス 16">
                  <a:extLst>
                    <a:ext uri="{FF2B5EF4-FFF2-40B4-BE49-F238E27FC236}">
                      <a16:creationId xmlns:a16="http://schemas.microsoft.com/office/drawing/2014/main" id="{F6F7B03D-79EA-749F-817E-C000FD49C4F3}"/>
                    </a:ext>
                  </a:extLst>
                </p:cNvPr>
                <p:cNvSpPr txBox="1"/>
                <p:nvPr/>
              </p:nvSpPr>
              <p:spPr>
                <a:xfrm>
                  <a:off x="2936846" y="2923449"/>
                  <a:ext cx="3118843"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プライベートネットワーク</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(VLAN</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p>
              </p:txBody>
            </p:sp>
            <p:sp>
              <p:nvSpPr>
                <p:cNvPr id="50" name="角丸四角形 93">
                  <a:extLst>
                    <a:ext uri="{FF2B5EF4-FFF2-40B4-BE49-F238E27FC236}">
                      <a16:creationId xmlns:a16="http://schemas.microsoft.com/office/drawing/2014/main" id="{69DC27CB-8F6B-89D1-B855-2347B3930CA7}"/>
                    </a:ext>
                  </a:extLst>
                </p:cNvPr>
                <p:cNvSpPr/>
                <p:nvPr/>
              </p:nvSpPr>
              <p:spPr>
                <a:xfrm>
                  <a:off x="1995192" y="0"/>
                  <a:ext cx="4489187" cy="3276000"/>
                </a:xfrm>
                <a:prstGeom prst="roundRect">
                  <a:avLst>
                    <a:gd name="adj" fmla="val 3291"/>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ja-JP"/>
                  </a:defPPr>
                  <a:lvl1pPr marL="0" indent="0" algn="l" defTabSz="457200" rtl="0" eaLnBrk="1" latinLnBrk="0" hangingPunct="1">
                    <a:defRPr kumimoji="1" sz="1800" kern="1200">
                      <a:solidFill>
                        <a:schemeClr val="lt1"/>
                      </a:solidFill>
                      <a:latin typeface="+mn-lt"/>
                      <a:ea typeface="+mn-ea"/>
                      <a:cs typeface="+mn-cs"/>
                    </a:defRPr>
                  </a:lvl1pPr>
                  <a:lvl2pPr marL="457200" indent="0" algn="l" defTabSz="457200" rtl="0" eaLnBrk="1" latinLnBrk="0" hangingPunct="1">
                    <a:defRPr kumimoji="1" sz="1800" kern="1200">
                      <a:solidFill>
                        <a:schemeClr val="lt1"/>
                      </a:solidFill>
                      <a:latin typeface="+mn-lt"/>
                      <a:ea typeface="+mn-ea"/>
                      <a:cs typeface="+mn-cs"/>
                    </a:defRPr>
                  </a:lvl2pPr>
                  <a:lvl3pPr marL="914400" indent="0" algn="l" defTabSz="457200" rtl="0" eaLnBrk="1" latinLnBrk="0" hangingPunct="1">
                    <a:defRPr kumimoji="1" sz="1800" kern="1200">
                      <a:solidFill>
                        <a:schemeClr val="lt1"/>
                      </a:solidFill>
                      <a:latin typeface="+mn-lt"/>
                      <a:ea typeface="+mn-ea"/>
                      <a:cs typeface="+mn-cs"/>
                    </a:defRPr>
                  </a:lvl3pPr>
                  <a:lvl4pPr marL="1371600" indent="0" algn="l" defTabSz="457200" rtl="0" eaLnBrk="1" latinLnBrk="0" hangingPunct="1">
                    <a:defRPr kumimoji="1" sz="1800" kern="1200">
                      <a:solidFill>
                        <a:schemeClr val="lt1"/>
                      </a:solidFill>
                      <a:latin typeface="+mn-lt"/>
                      <a:ea typeface="+mn-ea"/>
                      <a:cs typeface="+mn-cs"/>
                    </a:defRPr>
                  </a:lvl4pPr>
                  <a:lvl5pPr marL="1828800" indent="0" algn="l" defTabSz="457200" rtl="0" eaLnBrk="1" latinLnBrk="0" hangingPunct="1">
                    <a:defRPr kumimoji="1" sz="1800" kern="1200">
                      <a:solidFill>
                        <a:schemeClr val="lt1"/>
                      </a:solidFill>
                      <a:latin typeface="+mn-lt"/>
                      <a:ea typeface="+mn-ea"/>
                      <a:cs typeface="+mn-cs"/>
                    </a:defRPr>
                  </a:lvl5pPr>
                  <a:lvl6pPr marL="2286000" indent="0" algn="l" defTabSz="457200" rtl="0" eaLnBrk="1" latinLnBrk="0" hangingPunct="1">
                    <a:defRPr kumimoji="1" sz="1800" kern="1200">
                      <a:solidFill>
                        <a:schemeClr val="lt1"/>
                      </a:solidFill>
                      <a:latin typeface="+mn-lt"/>
                      <a:ea typeface="+mn-ea"/>
                      <a:cs typeface="+mn-cs"/>
                    </a:defRPr>
                  </a:lvl6pPr>
                  <a:lvl7pPr marL="2743200" indent="0" algn="l" defTabSz="457200" rtl="0" eaLnBrk="1" latinLnBrk="0" hangingPunct="1">
                    <a:defRPr kumimoji="1" sz="1800" kern="1200">
                      <a:solidFill>
                        <a:schemeClr val="lt1"/>
                      </a:solidFill>
                      <a:latin typeface="+mn-lt"/>
                      <a:ea typeface="+mn-ea"/>
                      <a:cs typeface="+mn-cs"/>
                    </a:defRPr>
                  </a:lvl7pPr>
                  <a:lvl8pPr marL="3200400" indent="0" algn="l" defTabSz="457200" rtl="0" eaLnBrk="1" latinLnBrk="0" hangingPunct="1">
                    <a:defRPr kumimoji="1" sz="1800" kern="1200">
                      <a:solidFill>
                        <a:schemeClr val="lt1"/>
                      </a:solidFill>
                      <a:latin typeface="+mn-lt"/>
                      <a:ea typeface="+mn-ea"/>
                      <a:cs typeface="+mn-cs"/>
                    </a:defRPr>
                  </a:lvl8pPr>
                  <a:lvl9pPr marL="3657600" indent="0" algn="l" defTabSz="457200" rtl="0" eaLnBrk="1" latinLnBrk="0" hangingPunct="1">
                    <a:defRPr kumimoji="1"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a:ln>
                      <a:noFill/>
                    </a:ln>
                    <a:solidFill>
                      <a:prstClr val="white"/>
                    </a:solidFill>
                    <a:effectLst/>
                    <a:uLnTx/>
                    <a:uFillTx/>
                    <a:latin typeface="Arial"/>
                    <a:ea typeface="ＭＳ Ｐゴシック"/>
                    <a:cs typeface="+mn-cs"/>
                  </a:endParaRPr>
                </a:p>
              </p:txBody>
            </p:sp>
            <p:pic>
              <p:nvPicPr>
                <p:cNvPr id="52" name="Picture 2">
                  <a:extLst>
                    <a:ext uri="{FF2B5EF4-FFF2-40B4-BE49-F238E27FC236}">
                      <a16:creationId xmlns:a16="http://schemas.microsoft.com/office/drawing/2014/main" id="{DA66E04A-AEE9-9CBA-4838-BA80A3179B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2995" y="633494"/>
                  <a:ext cx="673215" cy="175416"/>
                </a:xfrm>
                <a:prstGeom prst="rect">
                  <a:avLst/>
                </a:prstGeom>
                <a:noFill/>
                <a:extLst>
                  <a:ext uri="{909E8E84-426E-40DD-AFC4-6F175D3DCCD1}">
                    <a14:hiddenFill xmlns:a14="http://schemas.microsoft.com/office/drawing/2010/main">
                      <a:solidFill>
                        <a:srgbClr val="FFFFFF"/>
                      </a:solidFill>
                    </a14:hiddenFill>
                  </a:ext>
                </a:extLst>
              </p:spPr>
            </p:pic>
            <p:sp>
              <p:nvSpPr>
                <p:cNvPr id="53" name="テキスト ボックス 30">
                  <a:extLst>
                    <a:ext uri="{FF2B5EF4-FFF2-40B4-BE49-F238E27FC236}">
                      <a16:creationId xmlns:a16="http://schemas.microsoft.com/office/drawing/2014/main" id="{3AEBBE21-D140-C3E3-18FF-37A33E0D8742}"/>
                    </a:ext>
                  </a:extLst>
                </p:cNvPr>
                <p:cNvSpPr txBox="1"/>
                <p:nvPr/>
              </p:nvSpPr>
              <p:spPr>
                <a:xfrm>
                  <a:off x="4147131" y="1828090"/>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F/W</a:t>
                  </a:r>
                </a:p>
              </p:txBody>
            </p:sp>
            <p:pic>
              <p:nvPicPr>
                <p:cNvPr id="55" name="Picture 3">
                  <a:extLst>
                    <a:ext uri="{FF2B5EF4-FFF2-40B4-BE49-F238E27FC236}">
                      <a16:creationId xmlns:a16="http://schemas.microsoft.com/office/drawing/2014/main" id="{139C54E9-E10D-651C-1E03-6E8AADE6532E}"/>
                    </a:ext>
                  </a:extLst>
                </p:cNvPr>
                <p:cNvPicPr>
                  <a:picLocks noChangeAspect="1" noChangeArrowheads="1"/>
                </p:cNvPicPr>
                <p:nvPr/>
              </p:nvPicPr>
              <p:blipFill>
                <a:blip r:embed="rId5" cstate="print"/>
                <a:srcRect/>
                <a:stretch>
                  <a:fillRect/>
                </a:stretch>
              </p:blipFill>
              <p:spPr bwMode="auto">
                <a:xfrm>
                  <a:off x="2349422" y="541202"/>
                  <a:ext cx="573312" cy="360000"/>
                </a:xfrm>
                <a:prstGeom prst="rect">
                  <a:avLst/>
                </a:prstGeom>
                <a:noFill/>
              </p:spPr>
            </p:pic>
            <p:sp>
              <p:nvSpPr>
                <p:cNvPr id="56" name="テキスト ボックス 37">
                  <a:extLst>
                    <a:ext uri="{FF2B5EF4-FFF2-40B4-BE49-F238E27FC236}">
                      <a16:creationId xmlns:a16="http://schemas.microsoft.com/office/drawing/2014/main" id="{9CCB1681-EA85-7EA6-9EE1-A369625D530A}"/>
                    </a:ext>
                  </a:extLst>
                </p:cNvPr>
                <p:cNvSpPr txBox="1"/>
                <p:nvPr/>
              </p:nvSpPr>
              <p:spPr>
                <a:xfrm>
                  <a:off x="2412303" y="851388"/>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WAF</a:t>
                  </a:r>
                </a:p>
              </p:txBody>
            </p:sp>
            <p:cxnSp>
              <p:nvCxnSpPr>
                <p:cNvPr id="57" name="直線コネクタ 56">
                  <a:extLst>
                    <a:ext uri="{FF2B5EF4-FFF2-40B4-BE49-F238E27FC236}">
                      <a16:creationId xmlns:a16="http://schemas.microsoft.com/office/drawing/2014/main" id="{EBCC395C-FFA8-6558-019F-D9C88EB25620}"/>
                    </a:ext>
                  </a:extLst>
                </p:cNvPr>
                <p:cNvCxnSpPr>
                  <a:cxnSpLocks/>
                  <a:stCxn id="47" idx="3"/>
                  <a:endCxn id="55" idx="1"/>
                </p:cNvCxnSpPr>
                <p:nvPr/>
              </p:nvCxnSpPr>
              <p:spPr bwMode="auto">
                <a:xfrm>
                  <a:off x="1141091" y="714096"/>
                  <a:ext cx="1208331" cy="7107"/>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58" name="直線コネクタ 57">
                  <a:extLst>
                    <a:ext uri="{FF2B5EF4-FFF2-40B4-BE49-F238E27FC236}">
                      <a16:creationId xmlns:a16="http://schemas.microsoft.com/office/drawing/2014/main" id="{60319430-113D-CC84-E9F1-494F8EAFA1B1}"/>
                    </a:ext>
                  </a:extLst>
                </p:cNvPr>
                <p:cNvCxnSpPr>
                  <a:cxnSpLocks/>
                  <a:stCxn id="59" idx="1"/>
                  <a:endCxn id="61" idx="3"/>
                </p:cNvCxnSpPr>
                <p:nvPr/>
              </p:nvCxnSpPr>
              <p:spPr>
                <a:xfrm flipH="1">
                  <a:off x="4642142" y="1550251"/>
                  <a:ext cx="346225" cy="21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Picture 4">
                  <a:extLst>
                    <a:ext uri="{FF2B5EF4-FFF2-40B4-BE49-F238E27FC236}">
                      <a16:creationId xmlns:a16="http://schemas.microsoft.com/office/drawing/2014/main" id="{E41AAA00-187D-2090-4062-29CF5D1B309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8367" y="1247353"/>
                  <a:ext cx="836799" cy="605795"/>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3">
                  <a:extLst>
                    <a:ext uri="{FF2B5EF4-FFF2-40B4-BE49-F238E27FC236}">
                      <a16:creationId xmlns:a16="http://schemas.microsoft.com/office/drawing/2014/main" id="{632D272C-F995-D995-2CED-642CD3818330}"/>
                    </a:ext>
                  </a:extLst>
                </p:cNvPr>
                <p:cNvPicPr>
                  <a:picLocks noChangeAspect="1" noChangeArrowheads="1"/>
                </p:cNvPicPr>
                <p:nvPr/>
              </p:nvPicPr>
              <p:blipFill>
                <a:blip r:embed="rId5" cstate="print"/>
                <a:srcRect/>
                <a:stretch>
                  <a:fillRect/>
                </a:stretch>
              </p:blipFill>
              <p:spPr bwMode="auto">
                <a:xfrm>
                  <a:off x="4068830" y="1372359"/>
                  <a:ext cx="573312" cy="360000"/>
                </a:xfrm>
                <a:prstGeom prst="rect">
                  <a:avLst/>
                </a:prstGeom>
                <a:noFill/>
              </p:spPr>
            </p:pic>
            <p:cxnSp>
              <p:nvCxnSpPr>
                <p:cNvPr id="62" name="直線コネクタ 61">
                  <a:extLst>
                    <a:ext uri="{FF2B5EF4-FFF2-40B4-BE49-F238E27FC236}">
                      <a16:creationId xmlns:a16="http://schemas.microsoft.com/office/drawing/2014/main" id="{A266E215-CE3F-227D-EC69-EC22AF39958C}"/>
                    </a:ext>
                  </a:extLst>
                </p:cNvPr>
                <p:cNvCxnSpPr/>
                <p:nvPr/>
              </p:nvCxnSpPr>
              <p:spPr>
                <a:xfrm>
                  <a:off x="3571067" y="1300311"/>
                  <a:ext cx="0" cy="1548000"/>
                </a:xfrm>
                <a:prstGeom prst="line">
                  <a:avLst/>
                </a:prstGeom>
                <a:ln w="508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7D34E449-B043-C78A-1F15-87BF7DAF656E}"/>
                    </a:ext>
                  </a:extLst>
                </p:cNvPr>
                <p:cNvCxnSpPr>
                  <a:cxnSpLocks/>
                  <a:stCxn id="55" idx="3"/>
                  <a:endCxn id="52" idx="1"/>
                </p:cNvCxnSpPr>
                <p:nvPr/>
              </p:nvCxnSpPr>
              <p:spPr bwMode="auto">
                <a:xfrm>
                  <a:off x="2922734" y="721202"/>
                  <a:ext cx="261" cy="0"/>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128" name="カギ線コネクタ 97">
                  <a:extLst>
                    <a:ext uri="{FF2B5EF4-FFF2-40B4-BE49-F238E27FC236}">
                      <a16:creationId xmlns:a16="http://schemas.microsoft.com/office/drawing/2014/main" id="{58069FB8-E6C1-3991-4E95-3EA9E2CDF5E7}"/>
                    </a:ext>
                  </a:extLst>
                </p:cNvPr>
                <p:cNvCxnSpPr>
                  <a:cxnSpLocks/>
                  <a:stCxn id="52" idx="2"/>
                  <a:endCxn id="61" idx="1"/>
                </p:cNvCxnSpPr>
                <p:nvPr/>
              </p:nvCxnSpPr>
              <p:spPr bwMode="auto">
                <a:xfrm rot="16200000" flipH="1">
                  <a:off x="3292492" y="776020"/>
                  <a:ext cx="743449" cy="809227"/>
                </a:xfrm>
                <a:prstGeom prst="bentConnector2">
                  <a:avLst/>
                </a:prstGeom>
                <a:solidFill>
                  <a:srgbClr val="CCFFCC"/>
                </a:solidFill>
                <a:ln w="25400" cap="flat" cmpd="sng" algn="ctr">
                  <a:solidFill>
                    <a:srgbClr val="438086"/>
                  </a:solidFill>
                  <a:prstDash val="solid"/>
                  <a:round/>
                  <a:headEnd type="none" w="med" len="med"/>
                  <a:tailEnd type="none"/>
                </a:ln>
                <a:effectLst/>
              </p:spPr>
            </p:cxnSp>
            <p:sp>
              <p:nvSpPr>
                <p:cNvPr id="130" name="テキスト ボックス 107">
                  <a:extLst>
                    <a:ext uri="{FF2B5EF4-FFF2-40B4-BE49-F238E27FC236}">
                      <a16:creationId xmlns:a16="http://schemas.microsoft.com/office/drawing/2014/main" id="{2575E244-CA62-954A-3A26-7D6B75E3E411}"/>
                    </a:ext>
                  </a:extLst>
                </p:cNvPr>
                <p:cNvSpPr txBox="1"/>
                <p:nvPr/>
              </p:nvSpPr>
              <p:spPr>
                <a:xfrm>
                  <a:off x="5045342" y="1886897"/>
                  <a:ext cx="807381" cy="347645"/>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Web</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DB</a:t>
                  </a:r>
                </a:p>
              </p:txBody>
            </p:sp>
          </p:grpSp>
        </p:grpSp>
        <p:sp>
          <p:nvSpPr>
            <p:cNvPr id="43" name="テキスト ボックス 15">
              <a:extLst>
                <a:ext uri="{FF2B5EF4-FFF2-40B4-BE49-F238E27FC236}">
                  <a16:creationId xmlns:a16="http://schemas.microsoft.com/office/drawing/2014/main" id="{CF7DA05D-409D-A0EE-FE03-C3524F4B9712}"/>
                </a:ext>
              </a:extLst>
            </p:cNvPr>
            <p:cNvSpPr txBox="1"/>
            <p:nvPr/>
          </p:nvSpPr>
          <p:spPr>
            <a:xfrm>
              <a:off x="2490787" y="261938"/>
              <a:ext cx="2211723" cy="231570"/>
            </a:xfrm>
            <a:prstGeom prst="rect">
              <a:avLst/>
            </a:prstGeom>
            <a:noFill/>
          </p:spPr>
          <p:txBody>
            <a:bodyPr wrap="square" rtlCol="0">
              <a:no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グローバルネットワーク</a:t>
              </a:r>
            </a:p>
          </p:txBody>
        </p:sp>
      </p:grpSp>
    </p:spTree>
    <p:extLst>
      <p:ext uri="{BB962C8B-B14F-4D97-AF65-F5344CB8AC3E}">
        <p14:creationId xmlns:p14="http://schemas.microsoft.com/office/powerpoint/2010/main" val="3212893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pic>
        <p:nvPicPr>
          <p:cNvPr id="1526" name="Google Shape;1526;p70" descr="マーク600.jpg"/>
          <p:cNvPicPr preferRelativeResize="0"/>
          <p:nvPr/>
        </p:nvPicPr>
        <p:blipFill rotWithShape="1">
          <a:blip r:embed="rId3">
            <a:alphaModFix/>
          </a:blip>
          <a:srcRect/>
          <a:stretch/>
        </p:blipFill>
        <p:spPr>
          <a:xfrm>
            <a:off x="2883137" y="1301994"/>
            <a:ext cx="3376246" cy="2672862"/>
          </a:xfrm>
          <a:prstGeom prst="rect">
            <a:avLst/>
          </a:prstGeom>
          <a:noFill/>
          <a:ln>
            <a:noFill/>
          </a:ln>
        </p:spPr>
      </p:pic>
      <p:grpSp>
        <p:nvGrpSpPr>
          <p:cNvPr id="1527" name="Google Shape;1527;p70"/>
          <p:cNvGrpSpPr/>
          <p:nvPr/>
        </p:nvGrpSpPr>
        <p:grpSpPr>
          <a:xfrm>
            <a:off x="971601" y="5699112"/>
            <a:ext cx="3372688" cy="322177"/>
            <a:chOff x="1539968" y="5509105"/>
            <a:chExt cx="3372688" cy="349025"/>
          </a:xfrm>
        </p:grpSpPr>
        <p:sp>
          <p:nvSpPr>
            <p:cNvPr id="1528" name="Google Shape;1528;p70"/>
            <p:cNvSpPr txBox="1"/>
            <p:nvPr/>
          </p:nvSpPr>
          <p:spPr>
            <a:xfrm>
              <a:off x="1853391" y="5581132"/>
              <a:ext cx="3059265" cy="276998"/>
            </a:xfrm>
            <a:prstGeom prst="rect">
              <a:avLst/>
            </a:prstGeom>
            <a:noFill/>
            <a:ln>
              <a:noFill/>
            </a:ln>
          </p:spPr>
          <p:txBody>
            <a:bodyPr spcFirstLastPara="1" wrap="square" lIns="84392" tIns="42185" rIns="84392" bIns="42185" anchor="t" anchorCtr="0">
              <a:spAutoFit/>
            </a:bodyPr>
            <a:lstStyle/>
            <a:p>
              <a:r>
                <a:rPr lang="ja-JP" altLang="en-US" sz="1108">
                  <a:solidFill>
                    <a:srgbClr val="00A592"/>
                  </a:solidFill>
                  <a:latin typeface="Meiryo"/>
                  <a:ea typeface="Meiryo"/>
                  <a:cs typeface="Meiryo"/>
                  <a:sym typeface="Meiryo"/>
                </a:rPr>
                <a:t>東京都渋谷区恵比寿</a:t>
              </a:r>
              <a:r>
                <a:rPr lang="en-US" altLang="ja-JP" sz="1108">
                  <a:solidFill>
                    <a:srgbClr val="00A592"/>
                  </a:solidFill>
                  <a:latin typeface="Meiryo"/>
                  <a:ea typeface="Meiryo"/>
                  <a:cs typeface="Meiryo"/>
                  <a:sym typeface="Meiryo"/>
                </a:rPr>
                <a:t>4-6-1</a:t>
              </a:r>
              <a:r>
                <a:rPr lang="ja-JP" altLang="en-US" sz="1108">
                  <a:solidFill>
                    <a:srgbClr val="00A592"/>
                  </a:solidFill>
                  <a:latin typeface="Meiryo"/>
                  <a:ea typeface="Meiryo"/>
                  <a:cs typeface="Meiryo"/>
                  <a:sym typeface="Meiryo"/>
                </a:rPr>
                <a:t>　恵比寿</a:t>
              </a:r>
              <a:r>
                <a:rPr lang="en-US" altLang="ja-JP" sz="1108">
                  <a:solidFill>
                    <a:srgbClr val="00A592"/>
                  </a:solidFill>
                  <a:latin typeface="Meiryo"/>
                  <a:ea typeface="Meiryo"/>
                  <a:cs typeface="Meiryo"/>
                  <a:sym typeface="Meiryo"/>
                </a:rPr>
                <a:t>MF</a:t>
              </a:r>
              <a:r>
                <a:rPr lang="ja-JP" altLang="en-US" sz="1108">
                  <a:solidFill>
                    <a:srgbClr val="00A592"/>
                  </a:solidFill>
                  <a:latin typeface="Meiryo"/>
                  <a:ea typeface="Meiryo"/>
                  <a:cs typeface="Meiryo"/>
                  <a:sym typeface="Meiryo"/>
                </a:rPr>
                <a:t>ビル</a:t>
              </a:r>
              <a:r>
                <a:rPr lang="en-US" altLang="ja-JP" sz="1108">
                  <a:solidFill>
                    <a:srgbClr val="00A592"/>
                  </a:solidFill>
                  <a:latin typeface="Meiryo"/>
                  <a:ea typeface="Meiryo"/>
                  <a:cs typeface="Meiryo"/>
                  <a:sym typeface="Meiryo"/>
                </a:rPr>
                <a:t>3F</a:t>
              </a:r>
              <a:endParaRPr sz="1662"/>
            </a:p>
          </p:txBody>
        </p:sp>
        <p:pic>
          <p:nvPicPr>
            <p:cNvPr id="1529" name="Google Shape;1529;p70" descr="目的地アイコン4.png"/>
            <p:cNvPicPr preferRelativeResize="0"/>
            <p:nvPr/>
          </p:nvPicPr>
          <p:blipFill rotWithShape="1">
            <a:blip r:embed="rId4">
              <a:alphaModFix/>
            </a:blip>
            <a:srcRect/>
            <a:stretch/>
          </p:blipFill>
          <p:spPr>
            <a:xfrm>
              <a:off x="1539968" y="5509105"/>
              <a:ext cx="325120" cy="325120"/>
            </a:xfrm>
            <a:prstGeom prst="rect">
              <a:avLst/>
            </a:prstGeom>
            <a:noFill/>
            <a:ln>
              <a:noFill/>
            </a:ln>
          </p:spPr>
        </p:pic>
      </p:grpSp>
      <p:grpSp>
        <p:nvGrpSpPr>
          <p:cNvPr id="1530" name="Google Shape;1530;p70"/>
          <p:cNvGrpSpPr/>
          <p:nvPr/>
        </p:nvGrpSpPr>
        <p:grpSpPr>
          <a:xfrm>
            <a:off x="4674592" y="5706613"/>
            <a:ext cx="3470174" cy="314676"/>
            <a:chOff x="1446613" y="5805264"/>
            <a:chExt cx="3470174" cy="340899"/>
          </a:xfrm>
        </p:grpSpPr>
        <p:pic>
          <p:nvPicPr>
            <p:cNvPr id="1531" name="Google Shape;1531;p70" descr="受話器の線画アイコン.png"/>
            <p:cNvPicPr preferRelativeResize="0"/>
            <p:nvPr/>
          </p:nvPicPr>
          <p:blipFill rotWithShape="1">
            <a:blip r:embed="rId5">
              <a:alphaModFix/>
            </a:blip>
            <a:srcRect/>
            <a:stretch/>
          </p:blipFill>
          <p:spPr>
            <a:xfrm>
              <a:off x="1446613" y="5816707"/>
              <a:ext cx="329456" cy="329456"/>
            </a:xfrm>
            <a:prstGeom prst="rect">
              <a:avLst/>
            </a:prstGeom>
            <a:noFill/>
            <a:ln>
              <a:noFill/>
            </a:ln>
          </p:spPr>
        </p:pic>
        <p:pic>
          <p:nvPicPr>
            <p:cNvPr id="1532" name="Google Shape;1532;p70" descr="FAXのアイコン3.png"/>
            <p:cNvPicPr preferRelativeResize="0"/>
            <p:nvPr/>
          </p:nvPicPr>
          <p:blipFill rotWithShape="1">
            <a:blip r:embed="rId6">
              <a:alphaModFix/>
            </a:blip>
            <a:srcRect/>
            <a:stretch/>
          </p:blipFill>
          <p:spPr>
            <a:xfrm>
              <a:off x="3382784" y="5805264"/>
              <a:ext cx="325120" cy="325120"/>
            </a:xfrm>
            <a:prstGeom prst="rect">
              <a:avLst/>
            </a:prstGeom>
            <a:noFill/>
            <a:ln>
              <a:noFill/>
            </a:ln>
          </p:spPr>
        </p:pic>
        <p:sp>
          <p:nvSpPr>
            <p:cNvPr id="1533" name="Google Shape;1533;p70"/>
            <p:cNvSpPr txBox="1"/>
            <p:nvPr/>
          </p:nvSpPr>
          <p:spPr>
            <a:xfrm>
              <a:off x="1907704" y="5837906"/>
              <a:ext cx="1177578" cy="276998"/>
            </a:xfrm>
            <a:prstGeom prst="rect">
              <a:avLst/>
            </a:prstGeom>
            <a:noFill/>
            <a:ln>
              <a:noFill/>
            </a:ln>
          </p:spPr>
          <p:txBody>
            <a:bodyPr spcFirstLastPara="1" wrap="square" lIns="84392" tIns="42185" rIns="84392" bIns="42185" anchor="t" anchorCtr="0">
              <a:spAutoFit/>
            </a:bodyPr>
            <a:lstStyle/>
            <a:p>
              <a:r>
                <a:rPr lang="en-US" altLang="ja-JP" sz="1108">
                  <a:solidFill>
                    <a:srgbClr val="00A592"/>
                  </a:solidFill>
                  <a:latin typeface="Meiryo"/>
                  <a:ea typeface="Meiryo"/>
                  <a:cs typeface="Meiryo"/>
                  <a:sym typeface="Meiryo"/>
                </a:rPr>
                <a:t>03-3440-6100</a:t>
              </a:r>
              <a:endParaRPr sz="1662"/>
            </a:p>
          </p:txBody>
        </p:sp>
        <p:sp>
          <p:nvSpPr>
            <p:cNvPr id="1534" name="Google Shape;1534;p70"/>
            <p:cNvSpPr txBox="1"/>
            <p:nvPr/>
          </p:nvSpPr>
          <p:spPr>
            <a:xfrm>
              <a:off x="3739209" y="5858584"/>
              <a:ext cx="1177578" cy="276998"/>
            </a:xfrm>
            <a:prstGeom prst="rect">
              <a:avLst/>
            </a:prstGeom>
            <a:noFill/>
            <a:ln>
              <a:noFill/>
            </a:ln>
          </p:spPr>
          <p:txBody>
            <a:bodyPr spcFirstLastPara="1" wrap="square" lIns="84392" tIns="42185" rIns="84392" bIns="42185" anchor="t" anchorCtr="0">
              <a:spAutoFit/>
            </a:bodyPr>
            <a:lstStyle/>
            <a:p>
              <a:r>
                <a:rPr lang="en-US" altLang="ja-JP" sz="1108">
                  <a:solidFill>
                    <a:srgbClr val="00A592"/>
                  </a:solidFill>
                  <a:latin typeface="Meiryo"/>
                  <a:ea typeface="Meiryo"/>
                  <a:cs typeface="Meiryo"/>
                  <a:sym typeface="Meiryo"/>
                </a:rPr>
                <a:t>03-5791-2241</a:t>
              </a:r>
              <a:endParaRPr sz="1662"/>
            </a:p>
          </p:txBody>
        </p:sp>
      </p:grpSp>
      <p:sp>
        <p:nvSpPr>
          <p:cNvPr id="1535" name="Google Shape;1535;p70"/>
          <p:cNvSpPr txBox="1"/>
          <p:nvPr/>
        </p:nvSpPr>
        <p:spPr>
          <a:xfrm>
            <a:off x="1962803" y="3850326"/>
            <a:ext cx="5218396" cy="1306866"/>
          </a:xfrm>
          <a:prstGeom prst="rect">
            <a:avLst/>
          </a:prstGeom>
          <a:noFill/>
          <a:ln>
            <a:noFill/>
          </a:ln>
        </p:spPr>
        <p:txBody>
          <a:bodyPr spcFirstLastPara="1" wrap="square" lIns="84392" tIns="42185" rIns="84392" bIns="42185" anchor="t" anchorCtr="0">
            <a:noAutofit/>
          </a:bodyPr>
          <a:lstStyle/>
          <a:p>
            <a:pPr algn="ctr"/>
            <a:r>
              <a:rPr lang="en-US" altLang="ja-JP" sz="1662">
                <a:solidFill>
                  <a:srgbClr val="00A592"/>
                </a:solidFill>
                <a:latin typeface="Meiryo"/>
                <a:ea typeface="Meiryo"/>
                <a:cs typeface="Meiryo"/>
                <a:sym typeface="Meiryo"/>
              </a:rPr>
              <a:t>Technology changes the world</a:t>
            </a:r>
            <a:endParaRPr sz="1662"/>
          </a:p>
          <a:p>
            <a:pPr algn="ctr"/>
            <a:r>
              <a:rPr lang="ja-JP" altLang="en-US" sz="1662">
                <a:solidFill>
                  <a:srgbClr val="00A592"/>
                </a:solidFill>
                <a:latin typeface="Meiryo"/>
                <a:ea typeface="Meiryo"/>
                <a:cs typeface="Meiryo"/>
                <a:sym typeface="Meiryo"/>
              </a:rPr>
              <a:t>技術が世界を変える</a:t>
            </a:r>
            <a:endParaRPr sz="1662">
              <a:solidFill>
                <a:srgbClr val="00A592"/>
              </a:solidFill>
              <a:latin typeface="Meiryo"/>
              <a:ea typeface="Meiryo"/>
              <a:cs typeface="Meiryo"/>
              <a:sym typeface="Meiryo"/>
            </a:endParaRPr>
          </a:p>
          <a:p>
            <a:pPr algn="ctr"/>
            <a:endParaRPr sz="1662">
              <a:solidFill>
                <a:srgbClr val="00A592"/>
              </a:solidFill>
              <a:latin typeface="Meiryo"/>
              <a:ea typeface="Meiryo"/>
              <a:cs typeface="Meiryo"/>
              <a:sym typeface="Meiryo"/>
            </a:endParaRPr>
          </a:p>
          <a:p>
            <a:pPr algn="ctr"/>
            <a:r>
              <a:rPr lang="ja-JP" altLang="en-US" sz="1477">
                <a:solidFill>
                  <a:srgbClr val="00A592"/>
                </a:solidFill>
                <a:latin typeface="Meiryo"/>
                <a:ea typeface="Meiryo"/>
                <a:cs typeface="Meiryo"/>
                <a:sym typeface="Meiryo"/>
              </a:rPr>
              <a:t>株式会社フライトソリューションズ</a:t>
            </a:r>
            <a:endParaRPr sz="1477">
              <a:solidFill>
                <a:srgbClr val="00A592"/>
              </a:solidFill>
              <a:latin typeface="Meiryo"/>
              <a:ea typeface="Meiryo"/>
              <a:cs typeface="Meiryo"/>
              <a:sym typeface="Meiryo"/>
            </a:endParaRPr>
          </a:p>
        </p:txBody>
      </p:sp>
    </p:spTree>
  </p:cSld>
  <p:clrMapOvr>
    <a:masterClrMapping/>
  </p:clrMapOvr>
  <p:transition>
    <p:fade/>
  </p:transition>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D35DC5035CF21544854758570D244058" ma:contentTypeVersion="16" ma:contentTypeDescription="新しいドキュメントを作成します。" ma:contentTypeScope="" ma:versionID="3ad7ff9203f977c2019ce874e5898b03">
  <xsd:schema xmlns:xsd="http://www.w3.org/2001/XMLSchema" xmlns:xs="http://www.w3.org/2001/XMLSchema" xmlns:p="http://schemas.microsoft.com/office/2006/metadata/properties" xmlns:ns2="ef49d013-6fe6-434c-8d65-01c2536dc222" xmlns:ns3="fdb0f37b-23a4-4fc9-93ec-5a55c5240f41" targetNamespace="http://schemas.microsoft.com/office/2006/metadata/properties" ma:root="true" ma:fieldsID="a62f3f28b8bccccf368960a2c87b2f94" ns2:_="" ns3:_="">
    <xsd:import namespace="ef49d013-6fe6-434c-8d65-01c2536dc222"/>
    <xsd:import namespace="fdb0f37b-23a4-4fc9-93ec-5a55c5240f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49d013-6fe6-434c-8d65-01c2536dc2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22188174-de2f-4bda-b67f-2d940e9e379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db0f37b-23a4-4fc9-93ec-5a55c5240f41"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f0825dd8-45d0-4a73-acf0-b255fef527f7}" ma:internalName="TaxCatchAll" ma:showField="CatchAllData" ma:web="fdb0f37b-23a4-4fc9-93ec-5a55c5240f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f49d013-6fe6-434c-8d65-01c2536dc222">
      <Terms xmlns="http://schemas.microsoft.com/office/infopath/2007/PartnerControls"/>
    </lcf76f155ced4ddcb4097134ff3c332f>
    <TaxCatchAll xmlns="fdb0f37b-23a4-4fc9-93ec-5a55c5240f41" xsi:nil="true"/>
  </documentManagement>
</p:properties>
</file>

<file path=customXml/itemProps1.xml><?xml version="1.0" encoding="utf-8"?>
<ds:datastoreItem xmlns:ds="http://schemas.openxmlformats.org/officeDocument/2006/customXml" ds:itemID="{258BB318-585A-4869-B95F-AF3D0D947853}">
  <ds:schemaRefs>
    <ds:schemaRef ds:uri="http://schemas.microsoft.com/sharepoint/v3/contenttype/forms"/>
  </ds:schemaRefs>
</ds:datastoreItem>
</file>

<file path=customXml/itemProps2.xml><?xml version="1.0" encoding="utf-8"?>
<ds:datastoreItem xmlns:ds="http://schemas.openxmlformats.org/officeDocument/2006/customXml" ds:itemID="{00B4B15D-4C8F-41BC-A6FD-E051BDA50C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49d013-6fe6-434c-8d65-01c2536dc222"/>
    <ds:schemaRef ds:uri="fdb0f37b-23a4-4fc9-93ec-5a55c5240f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C01019-8018-45D3-92E7-A3E2CEC3D6E4}">
  <ds:schemaRefs>
    <ds:schemaRef ds:uri="http://schemas.microsoft.com/office/2006/metadata/properties"/>
    <ds:schemaRef ds:uri="http://schemas.microsoft.com/office/infopath/2007/PartnerControls"/>
    <ds:schemaRef ds:uri="ef49d013-6fe6-434c-8d65-01c2536dc222"/>
    <ds:schemaRef ds:uri="fdb0f37b-23a4-4fc9-93ec-5a55c5240f41"/>
  </ds:schemaRefs>
</ds:datastoreItem>
</file>

<file path=docProps/app.xml><?xml version="1.0" encoding="utf-8"?>
<Properties xmlns="http://schemas.openxmlformats.org/officeDocument/2006/extended-properties" xmlns:vt="http://schemas.openxmlformats.org/officeDocument/2006/docPropsVTypes">
  <TotalTime>2511</TotalTime>
  <Words>3536</Words>
  <Application>Microsoft Office PowerPoint</Application>
  <PresentationFormat>画面に合わせる (4:3)</PresentationFormat>
  <Paragraphs>603</Paragraphs>
  <Slides>15</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ＭＳ Ｐゴシック</vt:lpstr>
      <vt:lpstr>Meiryo</vt:lpstr>
      <vt:lpstr>Meiryo</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4.全体俯瞰</vt:lpstr>
      <vt:lpstr>5.対応内容一覧（1/2）</vt:lpstr>
      <vt:lpstr>5.対応内容一覧（2/2）</vt:lpstr>
      <vt:lpstr>6.対応内容説明 - 監視（システム構成）</vt:lpstr>
      <vt:lpstr>7.対応内容説明 - バックアップ</vt:lpstr>
      <vt:lpstr>8.対応内容説明 - セキュリティ（1/2）</vt:lpstr>
      <vt:lpstr>8.対応内容説明 - セキュリティ（2/2）</vt:lpstr>
      <vt:lpstr>PowerPoint プレゼンテーション</vt:lpstr>
      <vt:lpstr>PowerPoint プレゼンテーション</vt:lpstr>
      <vt:lpstr>PowerPoint プレゼンテーション</vt:lpstr>
      <vt:lpstr>PowerPoint プレゼンテーション</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EC-Rider inc,.</dc:creator>
  <cp:lastModifiedBy>masataka kozono</cp:lastModifiedBy>
  <cp:revision>32</cp:revision>
  <dcterms:created xsi:type="dcterms:W3CDTF">2014-05-27T06:18:00Z</dcterms:created>
  <dcterms:modified xsi:type="dcterms:W3CDTF">2026-09-15T11:59:35Z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0x010100D35DC5035CF21544854758570D244058</vt:lpwstr>
  </property>
  <property fmtid="{D5CDD505-2E9C-101B-9397-08002B2CF9AE}" pid="3" name="KSOProductBuildVer">
    <vt:lpwstr>1041-11.8.2.10339</vt:lpwstr>
  </property>
  <property fmtid="{D5CDD505-2E9C-101B-9397-08002B2CF9AE}" pid="4" name="MediaServiceImageTags">
    <vt:lpwstr/>
  </property>
</Properties>
</file>